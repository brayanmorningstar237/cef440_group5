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Be Vietnam Ultra-Bold" charset="1" panose="00000900000000000000"/>
      <p:regular r:id="rId38"/>
    </p:embeddedFont>
    <p:embeddedFont>
      <p:font typeface="Quicksand Medium" charset="1" panose="00000600000000000000"/>
      <p:regular r:id="rId39"/>
    </p:embeddedFont>
    <p:embeddedFont>
      <p:font typeface="Arimo Bold" charset="1" panose="020B0704020202020204"/>
      <p:regular r:id="rId40"/>
    </p:embeddedFont>
    <p:embeddedFont>
      <p:font typeface="Montserrat Medium" charset="1" panose="00000600000000000000"/>
      <p:regular r:id="rId41"/>
    </p:embeddedFont>
    <p:embeddedFont>
      <p:font typeface="Be Vietnam" charset="1" panose="000005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713668"/>
            <a:ext cx="10145594" cy="6750010"/>
          </a:xfrm>
          <a:custGeom>
            <a:avLst/>
            <a:gdLst/>
            <a:ahLst/>
            <a:cxnLst/>
            <a:rect r="r" b="b" t="t" l="l"/>
            <a:pathLst>
              <a:path h="6750010" w="10145594">
                <a:moveTo>
                  <a:pt x="0" y="0"/>
                </a:moveTo>
                <a:lnTo>
                  <a:pt x="10145594" y="0"/>
                </a:lnTo>
                <a:lnTo>
                  <a:pt x="10145594" y="6750010"/>
                </a:lnTo>
                <a:lnTo>
                  <a:pt x="0" y="6750010"/>
                </a:lnTo>
                <a:lnTo>
                  <a:pt x="0" y="0"/>
                </a:lnTo>
                <a:close/>
              </a:path>
            </a:pathLst>
          </a:custGeom>
          <a:blipFill>
            <a:blip r:embed="rId2"/>
            <a:stretch>
              <a:fillRect l="0" t="0" r="0" b="0"/>
            </a:stretch>
          </a:blipFill>
        </p:spPr>
      </p:sp>
      <p:sp>
        <p:nvSpPr>
          <p:cNvPr name="Freeform 3" id="3"/>
          <p:cNvSpPr/>
          <p:nvPr/>
        </p:nvSpPr>
        <p:spPr>
          <a:xfrm flipH="false" flipV="false" rot="0">
            <a:off x="9871528" y="3714915"/>
            <a:ext cx="9271511" cy="6168470"/>
          </a:xfrm>
          <a:custGeom>
            <a:avLst/>
            <a:gdLst/>
            <a:ahLst/>
            <a:cxnLst/>
            <a:rect r="r" b="b" t="t" l="l"/>
            <a:pathLst>
              <a:path h="6168470" w="9271511">
                <a:moveTo>
                  <a:pt x="0" y="0"/>
                </a:moveTo>
                <a:lnTo>
                  <a:pt x="9271511" y="0"/>
                </a:lnTo>
                <a:lnTo>
                  <a:pt x="9271511" y="6168469"/>
                </a:lnTo>
                <a:lnTo>
                  <a:pt x="0" y="6168469"/>
                </a:lnTo>
                <a:lnTo>
                  <a:pt x="0" y="0"/>
                </a:lnTo>
                <a:close/>
              </a:path>
            </a:pathLst>
          </a:custGeom>
          <a:blipFill>
            <a:blip r:embed="rId3"/>
            <a:stretch>
              <a:fillRect l="0" t="0" r="0" b="0"/>
            </a:stretch>
          </a:blipFill>
        </p:spPr>
      </p:sp>
      <p:sp>
        <p:nvSpPr>
          <p:cNvPr name="TextBox 4" id="4"/>
          <p:cNvSpPr txBox="true"/>
          <p:nvPr/>
        </p:nvSpPr>
        <p:spPr>
          <a:xfrm rot="0">
            <a:off x="1381051" y="3582982"/>
            <a:ext cx="8853878" cy="2396203"/>
          </a:xfrm>
          <a:prstGeom prst="rect">
            <a:avLst/>
          </a:prstGeom>
        </p:spPr>
        <p:txBody>
          <a:bodyPr anchor="t" rtlCol="false" tIns="0" lIns="0" bIns="0" rIns="0">
            <a:spAutoFit/>
          </a:bodyPr>
          <a:lstStyle/>
          <a:p>
            <a:pPr algn="l" marL="0" indent="0" lvl="0">
              <a:lnSpc>
                <a:spcPts val="4713"/>
              </a:lnSpc>
            </a:pPr>
            <a:r>
              <a:rPr lang="en-US" b="true" sz="4713" spc="-197">
                <a:solidFill>
                  <a:srgbClr val="000000"/>
                </a:solidFill>
                <a:latin typeface="Be Vietnam Ultra-Bold"/>
                <a:ea typeface="Be Vietnam Ultra-Bold"/>
                <a:cs typeface="Be Vietnam Ultra-Bold"/>
                <a:sym typeface="Be Vietnam Ultra-Bold"/>
              </a:rPr>
              <a:t>DESIGN AND IMPLEMENTATION OF A MOBILE APP FOR COLLECTION OF USER EXPERIENCE DATA FROM MOBILE NETWORK SUBSCRIBERS</a:t>
            </a:r>
          </a:p>
        </p:txBody>
      </p:sp>
      <p:sp>
        <p:nvSpPr>
          <p:cNvPr name="TextBox 5" id="5"/>
          <p:cNvSpPr txBox="true"/>
          <p:nvPr/>
        </p:nvSpPr>
        <p:spPr>
          <a:xfrm rot="0">
            <a:off x="1381051" y="6490091"/>
            <a:ext cx="2308373" cy="665742"/>
          </a:xfrm>
          <a:prstGeom prst="rect">
            <a:avLst/>
          </a:prstGeom>
        </p:spPr>
        <p:txBody>
          <a:bodyPr anchor="t" rtlCol="false" tIns="0" lIns="0" bIns="0" rIns="0">
            <a:spAutoFit/>
          </a:bodyPr>
          <a:lstStyle/>
          <a:p>
            <a:pPr algn="ctr">
              <a:lnSpc>
                <a:spcPts val="5116"/>
              </a:lnSpc>
              <a:spcBef>
                <a:spcPct val="0"/>
              </a:spcBef>
            </a:pPr>
            <a:r>
              <a:rPr lang="en-US" b="true" sz="4694" spc="-197">
                <a:solidFill>
                  <a:srgbClr val="000000"/>
                </a:solidFill>
                <a:latin typeface="Be Vietnam Ultra-Bold"/>
                <a:ea typeface="Be Vietnam Ultra-Bold"/>
                <a:cs typeface="Be Vietnam Ultra-Bold"/>
                <a:sym typeface="Be Vietnam Ultra-Bold"/>
              </a:rPr>
              <a:t>GROUP 5</a:t>
            </a:r>
          </a:p>
        </p:txBody>
      </p:sp>
      <p:sp>
        <p:nvSpPr>
          <p:cNvPr name="TextBox 6" id="6"/>
          <p:cNvSpPr txBox="true"/>
          <p:nvPr/>
        </p:nvSpPr>
        <p:spPr>
          <a:xfrm rot="0">
            <a:off x="7627096" y="6490091"/>
            <a:ext cx="1805836" cy="665742"/>
          </a:xfrm>
          <a:prstGeom prst="rect">
            <a:avLst/>
          </a:prstGeom>
        </p:spPr>
        <p:txBody>
          <a:bodyPr anchor="t" rtlCol="false" tIns="0" lIns="0" bIns="0" rIns="0">
            <a:spAutoFit/>
          </a:bodyPr>
          <a:lstStyle/>
          <a:p>
            <a:pPr algn="ctr">
              <a:lnSpc>
                <a:spcPts val="5116"/>
              </a:lnSpc>
              <a:spcBef>
                <a:spcPct val="0"/>
              </a:spcBef>
            </a:pPr>
            <a:r>
              <a:rPr lang="en-US" b="true" sz="4694" spc="-197">
                <a:solidFill>
                  <a:srgbClr val="000000"/>
                </a:solidFill>
                <a:latin typeface="Be Vietnam Ultra-Bold"/>
                <a:ea typeface="Be Vietnam Ultra-Bold"/>
                <a:cs typeface="Be Vietnam Ultra-Bold"/>
                <a:sym typeface="Be Vietnam Ultra-Bold"/>
              </a:rPr>
              <a:t>TASK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59724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1219200" y="3861038"/>
            <a:ext cx="8385935" cy="102489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PROJECT OVERVIEW</a:t>
            </a:r>
          </a:p>
        </p:txBody>
      </p:sp>
      <p:sp>
        <p:nvSpPr>
          <p:cNvPr name="TextBox 6" id="6"/>
          <p:cNvSpPr txBox="true"/>
          <p:nvPr/>
        </p:nvSpPr>
        <p:spPr>
          <a:xfrm rot="0">
            <a:off x="1219200" y="5237242"/>
            <a:ext cx="7570711" cy="3972887"/>
          </a:xfrm>
          <a:prstGeom prst="rect">
            <a:avLst/>
          </a:prstGeom>
        </p:spPr>
        <p:txBody>
          <a:bodyPr anchor="t" rtlCol="false" tIns="0" lIns="0" bIns="0" rIns="0">
            <a:spAutoFit/>
          </a:bodyPr>
          <a:lstStyle/>
          <a:p>
            <a:pPr algn="l" marL="0" indent="0" lvl="0">
              <a:lnSpc>
                <a:spcPts val="3152"/>
              </a:lnSpc>
            </a:pPr>
            <a:r>
              <a:rPr lang="en-US" b="true" sz="1946">
                <a:solidFill>
                  <a:srgbClr val="FFFFFF"/>
                </a:solidFill>
                <a:latin typeface="Quicksand Medium"/>
                <a:ea typeface="Quicksand Medium"/>
                <a:cs typeface="Quicksand Medium"/>
                <a:sym typeface="Quicksand Medium"/>
              </a:rPr>
              <a:t>Background</a:t>
            </a:r>
          </a:p>
          <a:p>
            <a:pPr algn="l" marL="0" indent="0" lvl="0">
              <a:lnSpc>
                <a:spcPts val="3152"/>
              </a:lnSpc>
            </a:pPr>
            <a:r>
              <a:rPr lang="en-US" b="true" sz="1946">
                <a:solidFill>
                  <a:srgbClr val="FFFFFF"/>
                </a:solidFill>
                <a:latin typeface="Quicksand Medium"/>
                <a:ea typeface="Quicksand Medium"/>
                <a:cs typeface="Quicksand Medium"/>
                <a:sym typeface="Quicksand Medium"/>
              </a:rPr>
              <a:t>Mobile network subscribers frequently experience poor service quality — including slow speeds, dropped connections, and dead zones. Traditional network monitoring relies on operator-side tools that lack real user perspective and geographic granularity.</a:t>
            </a:r>
          </a:p>
          <a:p>
            <a:pPr algn="l" marL="0" indent="0" lvl="0">
              <a:lnSpc>
                <a:spcPts val="3152"/>
              </a:lnSpc>
            </a:pPr>
            <a:r>
              <a:rPr lang="en-US" b="true" sz="1946">
                <a:solidFill>
                  <a:srgbClr val="FFFFFF"/>
                </a:solidFill>
                <a:latin typeface="Quicksand Medium"/>
                <a:ea typeface="Quicksand Medium"/>
                <a:cs typeface="Quicksand Medium"/>
                <a:sym typeface="Quicksand Medium"/>
              </a:rPr>
              <a:t>Proposed Solution</a:t>
            </a:r>
          </a:p>
          <a:p>
            <a:pPr algn="l" marL="0" indent="0" lvl="0">
              <a:lnSpc>
                <a:spcPts val="3152"/>
              </a:lnSpc>
            </a:pPr>
            <a:r>
              <a:rPr lang="en-US" b="true" sz="1946">
                <a:solidFill>
                  <a:srgbClr val="FFFFFF"/>
                </a:solidFill>
                <a:latin typeface="Quicksand Medium"/>
                <a:ea typeface="Quicksand Medium"/>
                <a:cs typeface="Quicksand Medium"/>
                <a:sym typeface="Quicksand Medium"/>
              </a:rPr>
              <a:t>The KiloBytes application addresses this gap by collecting Quality of Service (QoS) and Quality of Experience (QoE) data directly from subscribers. This user-centered approach enables accurate, real-time network performance insights from the field.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139A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7720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8873365"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PROBLEM STATEMENT</a:t>
            </a:r>
          </a:p>
        </p:txBody>
      </p:sp>
      <p:sp>
        <p:nvSpPr>
          <p:cNvPr name="TextBox 6" id="6"/>
          <p:cNvSpPr txBox="true"/>
          <p:nvPr/>
        </p:nvSpPr>
        <p:spPr>
          <a:xfrm rot="0">
            <a:off x="8873365" y="5227717"/>
            <a:ext cx="7570711" cy="3665295"/>
          </a:xfrm>
          <a:prstGeom prst="rect">
            <a:avLst/>
          </a:prstGeom>
        </p:spPr>
        <p:txBody>
          <a:bodyPr anchor="t" rtlCol="false" tIns="0" lIns="0" bIns="0" rIns="0">
            <a:spAutoFit/>
          </a:bodyPr>
          <a:lstStyle/>
          <a:p>
            <a:pPr algn="l" marL="0" indent="0" lvl="0">
              <a:lnSpc>
                <a:spcPts val="3237"/>
              </a:lnSpc>
            </a:pPr>
            <a:r>
              <a:rPr lang="en-US" b="true" sz="1998">
                <a:solidFill>
                  <a:srgbClr val="FFFFFF"/>
                </a:solidFill>
                <a:latin typeface="Quicksand Medium"/>
                <a:ea typeface="Quicksand Medium"/>
                <a:cs typeface="Quicksand Medium"/>
                <a:sym typeface="Quicksand Medium"/>
              </a:rPr>
              <a:t>• Lack of user-centered network data: Traditional monitoring fails to capture real subscriber experience.</a:t>
            </a:r>
          </a:p>
          <a:p>
            <a:pPr algn="l" marL="0" indent="0" lvl="0">
              <a:lnSpc>
                <a:spcPts val="3237"/>
              </a:lnSpc>
            </a:pPr>
            <a:r>
              <a:rPr lang="en-US" b="true" sz="1998">
                <a:solidFill>
                  <a:srgbClr val="FFFFFF"/>
                </a:solidFill>
                <a:latin typeface="Quicksand Medium"/>
                <a:ea typeface="Quicksand Medium"/>
                <a:cs typeface="Quicksand Medium"/>
                <a:sym typeface="Quicksand Medium"/>
              </a:rPr>
              <a:t>• Limited geographical visibility: Network quality issues are not mapped across coverage areas.</a:t>
            </a:r>
          </a:p>
          <a:p>
            <a:pPr algn="l" marL="0" indent="0" lvl="0">
              <a:lnSpc>
                <a:spcPts val="3237"/>
              </a:lnSpc>
            </a:pPr>
            <a:r>
              <a:rPr lang="en-US" b="true" sz="1998">
                <a:solidFill>
                  <a:srgbClr val="FFFFFF"/>
                </a:solidFill>
                <a:latin typeface="Quicksand Medium"/>
                <a:ea typeface="Quicksand Medium"/>
                <a:cs typeface="Quicksand Medium"/>
                <a:sym typeface="Quicksand Medium"/>
              </a:rPr>
              <a:t>• Difficulty identifying dead zones: Poor network zones remain undetected without crowd-sourced data.</a:t>
            </a:r>
          </a:p>
          <a:p>
            <a:pPr algn="l" marL="0" indent="0" lvl="0">
              <a:lnSpc>
                <a:spcPts val="3237"/>
              </a:lnSpc>
            </a:pPr>
            <a:r>
              <a:rPr lang="en-US" b="true" sz="1998">
                <a:solidFill>
                  <a:srgbClr val="FFFFFF"/>
                </a:solidFill>
                <a:latin typeface="Quicksand Medium"/>
                <a:ea typeface="Quicksand Medium"/>
                <a:cs typeface="Quicksand Medium"/>
                <a:sym typeface="Quicksand Medium"/>
              </a:rPr>
              <a:t>• Inadequate integration of QoS &amp; QoE: Technical metrics and user experience data are rarely combined for accurate assessment.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3181656"/>
            <a:ext cx="7924800" cy="1955099"/>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PROJECT OBJECTIVES</a:t>
            </a:r>
          </a:p>
        </p:txBody>
      </p:sp>
      <p:sp>
        <p:nvSpPr>
          <p:cNvPr name="TextBox 3" id="3"/>
          <p:cNvSpPr txBox="true"/>
          <p:nvPr/>
        </p:nvSpPr>
        <p:spPr>
          <a:xfrm rot="0">
            <a:off x="1219200" y="5288043"/>
            <a:ext cx="8281289" cy="16174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General Objective: Develop a mobile application to collect, store, and analyze user experience data from mobile network subscribers, providing accurate QoS and QoE insights for network performance assessment.</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29567"/>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Measure QoS Metrics</a:t>
            </a:r>
          </a:p>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Collect key network quality indicators including latency, jitter, packet loss, and download/upload speeds from subscriber devices in real time.</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391025"/>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Collect QoE Ratings &amp; Store Data</a:t>
            </a:r>
          </a:p>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Gather subjective user experience ratings on signal stability, browsing, and streaming. Store data locally via SQLite and sync to MongoDB cloud when online.</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52483"/>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Visualize &amp; Monitor Network Quality</a:t>
            </a:r>
          </a:p>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Visualize collected data geographically using heatmaps to identify poor network zones. Provide administrators with monitoring tools for advanced analysis and filtering.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Freeform 2" id="2"/>
          <p:cNvSpPr/>
          <p:nvPr/>
        </p:nvSpPr>
        <p:spPr>
          <a:xfrm flipH="false" flipV="false" rot="0">
            <a:off x="10688314" y="2171172"/>
            <a:ext cx="6964552" cy="5712194"/>
          </a:xfrm>
          <a:custGeom>
            <a:avLst/>
            <a:gdLst/>
            <a:ahLst/>
            <a:cxnLst/>
            <a:rect r="r" b="b" t="t" l="l"/>
            <a:pathLst>
              <a:path h="5712194" w="6964552">
                <a:moveTo>
                  <a:pt x="0" y="0"/>
                </a:moveTo>
                <a:lnTo>
                  <a:pt x="6964552" y="0"/>
                </a:lnTo>
                <a:lnTo>
                  <a:pt x="6964552" y="5712193"/>
                </a:lnTo>
                <a:lnTo>
                  <a:pt x="0" y="5712193"/>
                </a:lnTo>
                <a:lnTo>
                  <a:pt x="0" y="0"/>
                </a:lnTo>
                <a:close/>
              </a:path>
            </a:pathLst>
          </a:custGeom>
          <a:blipFill>
            <a:blip r:embed="rId2"/>
            <a:stretch>
              <a:fillRect l="0" t="0" r="0" b="0"/>
            </a:stretch>
          </a:blipFill>
        </p:spPr>
      </p:sp>
      <p:sp>
        <p:nvSpPr>
          <p:cNvPr name="TextBox 3" id="3"/>
          <p:cNvSpPr txBox="true"/>
          <p:nvPr/>
        </p:nvSpPr>
        <p:spPr>
          <a:xfrm rot="0">
            <a:off x="1219200" y="3181587"/>
            <a:ext cx="8936763" cy="1955167"/>
          </a:xfrm>
          <a:prstGeom prst="rect">
            <a:avLst/>
          </a:prstGeom>
        </p:spPr>
        <p:txBody>
          <a:bodyPr anchor="t" rtlCol="false" tIns="0" lIns="0" bIns="0" rIns="0">
            <a:spAutoFit/>
          </a:bodyPr>
          <a:lstStyle/>
          <a:p>
            <a:pPr algn="l" marL="0" indent="0" lvl="0">
              <a:lnSpc>
                <a:spcPts val="7630"/>
              </a:lnSpc>
            </a:pPr>
            <a:r>
              <a:rPr lang="en-US" b="true" sz="7000" spc="-294">
                <a:solidFill>
                  <a:srgbClr val="3139A8"/>
                </a:solidFill>
                <a:latin typeface="Be Vietnam Ultra-Bold"/>
                <a:ea typeface="Be Vietnam Ultra-Bold"/>
                <a:cs typeface="Be Vietnam Ultra-Bold"/>
                <a:sym typeface="Be Vietnam Ultra-Bold"/>
              </a:rPr>
              <a:t>WHY WE CHOSE THE NAME KILOBYTES</a:t>
            </a:r>
          </a:p>
        </p:txBody>
      </p:sp>
      <p:sp>
        <p:nvSpPr>
          <p:cNvPr name="TextBox 4" id="4"/>
          <p:cNvSpPr txBox="true"/>
          <p:nvPr/>
        </p:nvSpPr>
        <p:spPr>
          <a:xfrm rot="0">
            <a:off x="1219200" y="5288043"/>
            <a:ext cx="8618794" cy="2436495"/>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The name KiloBytes was carefully selected to reflect the core identity of our application:</a:t>
            </a:r>
          </a:p>
          <a:p>
            <a:pPr algn="l" marL="0" indent="0" lvl="0">
              <a:lnSpc>
                <a:spcPts val="3239"/>
              </a:lnSpc>
            </a:pPr>
            <a:r>
              <a:rPr lang="en-US" b="true" sz="1999">
                <a:solidFill>
                  <a:srgbClr val="3139A8"/>
                </a:solidFill>
                <a:latin typeface="Quicksand Medium"/>
                <a:ea typeface="Quicksand Medium"/>
                <a:cs typeface="Quicksand Medium"/>
                <a:sym typeface="Quicksand Medium"/>
              </a:rPr>
              <a:t>• Directly associated with digital communication and data transfer</a:t>
            </a:r>
          </a:p>
          <a:p>
            <a:pPr algn="l" marL="0" indent="0" lvl="0">
              <a:lnSpc>
                <a:spcPts val="3239"/>
              </a:lnSpc>
            </a:pPr>
            <a:r>
              <a:rPr lang="en-US" b="true" sz="1999">
                <a:solidFill>
                  <a:srgbClr val="3139A8"/>
                </a:solidFill>
                <a:latin typeface="Quicksand Medium"/>
                <a:ea typeface="Quicksand Medium"/>
                <a:cs typeface="Quicksand Medium"/>
                <a:sym typeface="Quicksand Medium"/>
              </a:rPr>
              <a:t>• Professional, technology-oriented, and easy to remember</a:t>
            </a:r>
          </a:p>
          <a:p>
            <a:pPr algn="l" marL="0" indent="0" lvl="0">
              <a:lnSpc>
                <a:spcPts val="3239"/>
              </a:lnSpc>
            </a:pPr>
            <a:r>
              <a:rPr lang="en-US" b="true" sz="1999">
                <a:solidFill>
                  <a:srgbClr val="3139A8"/>
                </a:solidFill>
                <a:latin typeface="Quicksand Medium"/>
                <a:ea typeface="Quicksand Medium"/>
                <a:cs typeface="Quicksand Medium"/>
                <a:sym typeface="Quicksand Medium"/>
              </a:rPr>
              <a:t>• Conveys precision in measuring network performance metrics</a:t>
            </a:r>
          </a:p>
          <a:p>
            <a:pPr algn="l" marL="0" indent="0" lvl="0">
              <a:lnSpc>
                <a:spcPts val="3239"/>
              </a:lnSpc>
            </a:pPr>
            <a:r>
              <a:rPr lang="en-US" b="true" sz="1999">
                <a:solidFill>
                  <a:srgbClr val="3139A8"/>
                </a:solidFill>
                <a:latin typeface="Quicksand Medium"/>
                <a:ea typeface="Quicksand Medium"/>
                <a:cs typeface="Quicksand Medium"/>
                <a:sym typeface="Quicksand Medium"/>
              </a:rPr>
              <a:t>• Suitable for standalone product deployment across platforms</a:t>
            </a:r>
          </a:p>
        </p:txBody>
      </p:sp>
      <p:sp>
        <p:nvSpPr>
          <p:cNvPr name="Freeform 5" id="5"/>
          <p:cNvSpPr/>
          <p:nvPr/>
        </p:nvSpPr>
        <p:spPr>
          <a:xfrm flipH="false" flipV="false" rot="0">
            <a:off x="9144000" y="7151568"/>
            <a:ext cx="5595088" cy="3722493"/>
          </a:xfrm>
          <a:custGeom>
            <a:avLst/>
            <a:gdLst/>
            <a:ahLst/>
            <a:cxnLst/>
            <a:rect r="r" b="b" t="t" l="l"/>
            <a:pathLst>
              <a:path h="3722493" w="5595088">
                <a:moveTo>
                  <a:pt x="0" y="0"/>
                </a:moveTo>
                <a:lnTo>
                  <a:pt x="5595088" y="0"/>
                </a:lnTo>
                <a:lnTo>
                  <a:pt x="5595088" y="3722492"/>
                </a:lnTo>
                <a:lnTo>
                  <a:pt x="0" y="3722492"/>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grpSp>
        <p:nvGrpSpPr>
          <p:cNvPr name="Group 2" id="2"/>
          <p:cNvGrpSpPr/>
          <p:nvPr/>
        </p:nvGrpSpPr>
        <p:grpSpPr>
          <a:xfrm rot="0">
            <a:off x="1153131" y="4527805"/>
            <a:ext cx="3823681" cy="4124847"/>
            <a:chOff x="0" y="0"/>
            <a:chExt cx="966960" cy="1043121"/>
          </a:xfrm>
        </p:grpSpPr>
        <p:sp>
          <p:nvSpPr>
            <p:cNvPr name="Freeform 3" id="3"/>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5383FF"/>
            </a:solidFill>
          </p:spPr>
        </p:sp>
        <p:sp>
          <p:nvSpPr>
            <p:cNvPr name="TextBox 4" id="4"/>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5" id="5"/>
          <p:cNvSpPr txBox="true"/>
          <p:nvPr/>
        </p:nvSpPr>
        <p:spPr>
          <a:xfrm rot="0">
            <a:off x="2474521" y="2796398"/>
            <a:ext cx="13338959" cy="1060451"/>
          </a:xfrm>
          <a:prstGeom prst="rect">
            <a:avLst/>
          </a:prstGeom>
        </p:spPr>
        <p:txBody>
          <a:bodyPr anchor="t" rtlCol="false" tIns="0" lIns="0" bIns="0" rIns="0">
            <a:spAutoFit/>
          </a:bodyPr>
          <a:lstStyle/>
          <a:p>
            <a:pPr algn="ctr" marL="0" indent="0" lvl="0">
              <a:lnSpc>
                <a:spcPts val="8000"/>
              </a:lnSpc>
            </a:pPr>
            <a:r>
              <a:rPr lang="en-US" b="true" sz="8000" spc="-336">
                <a:solidFill>
                  <a:srgbClr val="3139A8"/>
                </a:solidFill>
                <a:latin typeface="Be Vietnam Ultra-Bold"/>
                <a:ea typeface="Be Vietnam Ultra-Bold"/>
                <a:cs typeface="Be Vietnam Ultra-Bold"/>
                <a:sym typeface="Be Vietnam Ultra-Bold"/>
              </a:rPr>
              <a:t>DESIGN METHODOLOGY</a:t>
            </a:r>
          </a:p>
        </p:txBody>
      </p:sp>
      <p:sp>
        <p:nvSpPr>
          <p:cNvPr name="TextBox 6" id="6"/>
          <p:cNvSpPr txBox="true"/>
          <p:nvPr/>
        </p:nvSpPr>
        <p:spPr>
          <a:xfrm rot="0">
            <a:off x="1920748" y="5104156"/>
            <a:ext cx="2288447" cy="660823"/>
          </a:xfrm>
          <a:prstGeom prst="rect">
            <a:avLst/>
          </a:prstGeom>
        </p:spPr>
        <p:txBody>
          <a:bodyPr anchor="t" rtlCol="false" tIns="0" lIns="0" bIns="0" rIns="0">
            <a:spAutoFit/>
          </a:bodyPr>
          <a:lstStyle/>
          <a:p>
            <a:pPr algn="ctr" marL="0" indent="0" lvl="0">
              <a:lnSpc>
                <a:spcPts val="4910"/>
              </a:lnSpc>
            </a:pPr>
            <a:r>
              <a:rPr lang="en-US" b="true" sz="4767">
                <a:solidFill>
                  <a:srgbClr val="FFFFFF"/>
                </a:solidFill>
                <a:latin typeface="Arimo Bold"/>
                <a:ea typeface="Arimo Bold"/>
                <a:cs typeface="Arimo Bold"/>
                <a:sym typeface="Arimo Bold"/>
              </a:rPr>
              <a:t>Phase 1</a:t>
            </a:r>
          </a:p>
        </p:txBody>
      </p:sp>
      <p:sp>
        <p:nvSpPr>
          <p:cNvPr name="TextBox 7" id="7"/>
          <p:cNvSpPr txBox="true"/>
          <p:nvPr/>
        </p:nvSpPr>
        <p:spPr>
          <a:xfrm rot="0">
            <a:off x="1777417" y="5995084"/>
            <a:ext cx="2575110" cy="2071594"/>
          </a:xfrm>
          <a:prstGeom prst="rect">
            <a:avLst/>
          </a:prstGeom>
        </p:spPr>
        <p:txBody>
          <a:bodyPr anchor="t" rtlCol="false" tIns="0" lIns="0" bIns="0" rIns="0">
            <a:spAutoFit/>
          </a:bodyPr>
          <a:lstStyle/>
          <a:p>
            <a:pPr algn="ctr" marL="0" indent="0" lvl="0">
              <a:lnSpc>
                <a:spcPts val="2346"/>
              </a:lnSpc>
            </a:pPr>
            <a:r>
              <a:rPr lang="en-US" b="true" sz="1503">
                <a:solidFill>
                  <a:srgbClr val="FFFFFF"/>
                </a:solidFill>
                <a:latin typeface="Montserrat Medium"/>
                <a:ea typeface="Montserrat Medium"/>
                <a:cs typeface="Montserrat Medium"/>
                <a:sym typeface="Montserrat Medium"/>
              </a:rPr>
              <a:t>Requirements Analysis</a:t>
            </a:r>
          </a:p>
          <a:p>
            <a:pPr algn="ctr" marL="0" indent="0" lvl="0">
              <a:lnSpc>
                <a:spcPts val="2346"/>
              </a:lnSpc>
            </a:pPr>
            <a:r>
              <a:rPr lang="en-US" b="true" sz="1503">
                <a:solidFill>
                  <a:srgbClr val="FFFFFF"/>
                </a:solidFill>
                <a:latin typeface="Montserrat Medium"/>
                <a:ea typeface="Montserrat Medium"/>
                <a:cs typeface="Montserrat Medium"/>
                <a:sym typeface="Montserrat Medium"/>
              </a:rPr>
              <a:t>Gathering functional and non-functional requirements from stakeholders and mobile network subscribers to define app scope.</a:t>
            </a:r>
          </a:p>
        </p:txBody>
      </p:sp>
      <p:grpSp>
        <p:nvGrpSpPr>
          <p:cNvPr name="Group 8" id="8"/>
          <p:cNvGrpSpPr/>
          <p:nvPr/>
        </p:nvGrpSpPr>
        <p:grpSpPr>
          <a:xfrm rot="0">
            <a:off x="5223634" y="4527805"/>
            <a:ext cx="3823681" cy="4124847"/>
            <a:chOff x="0" y="0"/>
            <a:chExt cx="966960" cy="1043121"/>
          </a:xfrm>
        </p:grpSpPr>
        <p:sp>
          <p:nvSpPr>
            <p:cNvPr name="Freeform 9" id="9"/>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3139A8"/>
            </a:solidFill>
          </p:spPr>
        </p:sp>
        <p:sp>
          <p:nvSpPr>
            <p:cNvPr name="TextBox 10" id="10"/>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11" id="11"/>
          <p:cNvSpPr txBox="true"/>
          <p:nvPr/>
        </p:nvSpPr>
        <p:spPr>
          <a:xfrm rot="0">
            <a:off x="5991252" y="5104156"/>
            <a:ext cx="2288447" cy="660823"/>
          </a:xfrm>
          <a:prstGeom prst="rect">
            <a:avLst/>
          </a:prstGeom>
        </p:spPr>
        <p:txBody>
          <a:bodyPr anchor="t" rtlCol="false" tIns="0" lIns="0" bIns="0" rIns="0">
            <a:spAutoFit/>
          </a:bodyPr>
          <a:lstStyle/>
          <a:p>
            <a:pPr algn="ctr" marL="0" indent="0" lvl="0">
              <a:lnSpc>
                <a:spcPts val="4910"/>
              </a:lnSpc>
            </a:pPr>
            <a:r>
              <a:rPr lang="en-US" b="true" sz="4767">
                <a:solidFill>
                  <a:srgbClr val="FFFFFF"/>
                </a:solidFill>
                <a:latin typeface="Arimo Bold"/>
                <a:ea typeface="Arimo Bold"/>
                <a:cs typeface="Arimo Bold"/>
                <a:sym typeface="Arimo Bold"/>
              </a:rPr>
              <a:t>Phase 2</a:t>
            </a:r>
          </a:p>
        </p:txBody>
      </p:sp>
      <p:sp>
        <p:nvSpPr>
          <p:cNvPr name="TextBox 12" id="12"/>
          <p:cNvSpPr txBox="true"/>
          <p:nvPr/>
        </p:nvSpPr>
        <p:spPr>
          <a:xfrm rot="0">
            <a:off x="5847920" y="5995084"/>
            <a:ext cx="2575110" cy="2071594"/>
          </a:xfrm>
          <a:prstGeom prst="rect">
            <a:avLst/>
          </a:prstGeom>
        </p:spPr>
        <p:txBody>
          <a:bodyPr anchor="t" rtlCol="false" tIns="0" lIns="0" bIns="0" rIns="0">
            <a:spAutoFit/>
          </a:bodyPr>
          <a:lstStyle/>
          <a:p>
            <a:pPr algn="ctr" marL="0" indent="0" lvl="0">
              <a:lnSpc>
                <a:spcPts val="2346"/>
              </a:lnSpc>
            </a:pPr>
            <a:r>
              <a:rPr lang="en-US" b="true" sz="1503">
                <a:solidFill>
                  <a:srgbClr val="FFFFFF"/>
                </a:solidFill>
                <a:latin typeface="Montserrat Medium"/>
                <a:ea typeface="Montserrat Medium"/>
                <a:cs typeface="Montserrat Medium"/>
                <a:sym typeface="Montserrat Medium"/>
              </a:rPr>
              <a:t>Wireframing &amp; Prototype Design</a:t>
            </a:r>
          </a:p>
          <a:p>
            <a:pPr algn="ctr" marL="0" indent="0" lvl="0">
              <a:lnSpc>
                <a:spcPts val="2346"/>
              </a:lnSpc>
            </a:pPr>
            <a:r>
              <a:rPr lang="en-US" b="true" sz="1503">
                <a:solidFill>
                  <a:srgbClr val="FFFFFF"/>
                </a:solidFill>
                <a:latin typeface="Montserrat Medium"/>
                <a:ea typeface="Montserrat Medium"/>
                <a:cs typeface="Montserrat Medium"/>
                <a:sym typeface="Montserrat Medium"/>
              </a:rPr>
              <a:t>Creating low-fidelity wireframes and high-fidelity Figma prototypes to plan UI/UX before development begins.</a:t>
            </a:r>
          </a:p>
        </p:txBody>
      </p:sp>
      <p:grpSp>
        <p:nvGrpSpPr>
          <p:cNvPr name="Group 13" id="13"/>
          <p:cNvGrpSpPr/>
          <p:nvPr/>
        </p:nvGrpSpPr>
        <p:grpSpPr>
          <a:xfrm rot="0">
            <a:off x="9268431" y="4527805"/>
            <a:ext cx="3823681" cy="4124847"/>
            <a:chOff x="0" y="0"/>
            <a:chExt cx="966960" cy="1043121"/>
          </a:xfrm>
        </p:grpSpPr>
        <p:sp>
          <p:nvSpPr>
            <p:cNvPr name="Freeform 14" id="14"/>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5383FF"/>
            </a:solidFill>
          </p:spPr>
        </p:sp>
        <p:sp>
          <p:nvSpPr>
            <p:cNvPr name="TextBox 15" id="15"/>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16" id="16"/>
          <p:cNvSpPr txBox="true"/>
          <p:nvPr/>
        </p:nvSpPr>
        <p:spPr>
          <a:xfrm rot="0">
            <a:off x="10036048" y="5104156"/>
            <a:ext cx="2288447" cy="660823"/>
          </a:xfrm>
          <a:prstGeom prst="rect">
            <a:avLst/>
          </a:prstGeom>
        </p:spPr>
        <p:txBody>
          <a:bodyPr anchor="t" rtlCol="false" tIns="0" lIns="0" bIns="0" rIns="0">
            <a:spAutoFit/>
          </a:bodyPr>
          <a:lstStyle/>
          <a:p>
            <a:pPr algn="ctr" marL="0" indent="0" lvl="0">
              <a:lnSpc>
                <a:spcPts val="4910"/>
              </a:lnSpc>
            </a:pPr>
            <a:r>
              <a:rPr lang="en-US" b="true" sz="4767">
                <a:solidFill>
                  <a:srgbClr val="FFFFFF"/>
                </a:solidFill>
                <a:latin typeface="Arimo Bold"/>
                <a:ea typeface="Arimo Bold"/>
                <a:cs typeface="Arimo Bold"/>
                <a:sym typeface="Arimo Bold"/>
              </a:rPr>
              <a:t>Phase 3</a:t>
            </a:r>
          </a:p>
        </p:txBody>
      </p:sp>
      <p:sp>
        <p:nvSpPr>
          <p:cNvPr name="TextBox 17" id="17"/>
          <p:cNvSpPr txBox="true"/>
          <p:nvPr/>
        </p:nvSpPr>
        <p:spPr>
          <a:xfrm rot="0">
            <a:off x="9892717" y="5995084"/>
            <a:ext cx="2575110" cy="2071594"/>
          </a:xfrm>
          <a:prstGeom prst="rect">
            <a:avLst/>
          </a:prstGeom>
        </p:spPr>
        <p:txBody>
          <a:bodyPr anchor="t" rtlCol="false" tIns="0" lIns="0" bIns="0" rIns="0">
            <a:spAutoFit/>
          </a:bodyPr>
          <a:lstStyle/>
          <a:p>
            <a:pPr algn="ctr" marL="0" indent="0" lvl="0">
              <a:lnSpc>
                <a:spcPts val="2346"/>
              </a:lnSpc>
            </a:pPr>
            <a:r>
              <a:rPr lang="en-US" b="true" sz="1503">
                <a:solidFill>
                  <a:srgbClr val="FFFFFF"/>
                </a:solidFill>
                <a:latin typeface="Montserrat Medium"/>
                <a:ea typeface="Montserrat Medium"/>
                <a:cs typeface="Montserrat Medium"/>
                <a:sym typeface="Montserrat Medium"/>
              </a:rPr>
              <a:t>Implementation &amp; Evaluation</a:t>
            </a:r>
          </a:p>
          <a:p>
            <a:pPr algn="ctr" marL="0" indent="0" lvl="0">
              <a:lnSpc>
                <a:spcPts val="2346"/>
              </a:lnSpc>
            </a:pPr>
            <a:r>
              <a:rPr lang="en-US" b="true" sz="1503">
                <a:solidFill>
                  <a:srgbClr val="FFFFFF"/>
                </a:solidFill>
                <a:latin typeface="Montserrat Medium"/>
                <a:ea typeface="Montserrat Medium"/>
                <a:cs typeface="Montserrat Medium"/>
                <a:sym typeface="Montserrat Medium"/>
              </a:rPr>
              <a:t>Coding the frontend with React Native and backend with Node.js, followed by iterative evaluation and user feedback.</a:t>
            </a:r>
          </a:p>
        </p:txBody>
      </p:sp>
      <p:grpSp>
        <p:nvGrpSpPr>
          <p:cNvPr name="Group 18" id="18"/>
          <p:cNvGrpSpPr/>
          <p:nvPr/>
        </p:nvGrpSpPr>
        <p:grpSpPr>
          <a:xfrm rot="0">
            <a:off x="13311188" y="4527805"/>
            <a:ext cx="3823681" cy="4124847"/>
            <a:chOff x="0" y="0"/>
            <a:chExt cx="966960" cy="1043121"/>
          </a:xfrm>
        </p:grpSpPr>
        <p:sp>
          <p:nvSpPr>
            <p:cNvPr name="Freeform 19" id="19"/>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3139A8"/>
            </a:solidFill>
          </p:spPr>
        </p:sp>
        <p:sp>
          <p:nvSpPr>
            <p:cNvPr name="TextBox 20" id="20"/>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21" id="21"/>
          <p:cNvSpPr txBox="true"/>
          <p:nvPr/>
        </p:nvSpPr>
        <p:spPr>
          <a:xfrm rot="0">
            <a:off x="14078805" y="5104156"/>
            <a:ext cx="2288447" cy="660823"/>
          </a:xfrm>
          <a:prstGeom prst="rect">
            <a:avLst/>
          </a:prstGeom>
        </p:spPr>
        <p:txBody>
          <a:bodyPr anchor="t" rtlCol="false" tIns="0" lIns="0" bIns="0" rIns="0">
            <a:spAutoFit/>
          </a:bodyPr>
          <a:lstStyle/>
          <a:p>
            <a:pPr algn="ctr" marL="0" indent="0" lvl="0">
              <a:lnSpc>
                <a:spcPts val="4910"/>
              </a:lnSpc>
            </a:pPr>
            <a:r>
              <a:rPr lang="en-US" b="true" sz="4767">
                <a:solidFill>
                  <a:srgbClr val="FFFFFF"/>
                </a:solidFill>
                <a:latin typeface="Arimo Bold"/>
                <a:ea typeface="Arimo Bold"/>
                <a:cs typeface="Arimo Bold"/>
                <a:sym typeface="Arimo Bold"/>
              </a:rPr>
              <a:t>Phase 4</a:t>
            </a:r>
          </a:p>
        </p:txBody>
      </p:sp>
      <p:sp>
        <p:nvSpPr>
          <p:cNvPr name="TextBox 22" id="22"/>
          <p:cNvSpPr txBox="true"/>
          <p:nvPr/>
        </p:nvSpPr>
        <p:spPr>
          <a:xfrm rot="0">
            <a:off x="13935473" y="5995084"/>
            <a:ext cx="2575110" cy="2071594"/>
          </a:xfrm>
          <a:prstGeom prst="rect">
            <a:avLst/>
          </a:prstGeom>
        </p:spPr>
        <p:txBody>
          <a:bodyPr anchor="t" rtlCol="false" tIns="0" lIns="0" bIns="0" rIns="0">
            <a:spAutoFit/>
          </a:bodyPr>
          <a:lstStyle/>
          <a:p>
            <a:pPr algn="ctr" marL="0" indent="0" lvl="0">
              <a:lnSpc>
                <a:spcPts val="2346"/>
              </a:lnSpc>
            </a:pPr>
            <a:r>
              <a:rPr lang="en-US" b="true" sz="1503">
                <a:solidFill>
                  <a:srgbClr val="FFFFFF"/>
                </a:solidFill>
                <a:latin typeface="Montserrat Medium"/>
                <a:ea typeface="Montserrat Medium"/>
                <a:cs typeface="Montserrat Medium"/>
                <a:sym typeface="Montserrat Medium"/>
              </a:rPr>
              <a:t>Testing &amp; Deployment</a:t>
            </a:r>
          </a:p>
          <a:p>
            <a:pPr algn="ctr" marL="0" indent="0" lvl="0">
              <a:lnSpc>
                <a:spcPts val="2346"/>
              </a:lnSpc>
            </a:pPr>
            <a:r>
              <a:rPr lang="en-US" b="true" sz="1503">
                <a:solidFill>
                  <a:srgbClr val="FFFFFF"/>
                </a:solidFill>
                <a:latin typeface="Montserrat Medium"/>
                <a:ea typeface="Montserrat Medium"/>
                <a:cs typeface="Montserrat Medium"/>
                <a:sym typeface="Montserrat Medium"/>
              </a:rPr>
              <a:t>Rigorous testing of features including measurement engine, offline sync, heatmap, and cross-platform deployment.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p:nvPr/>
        </p:nvGrpSpPr>
        <p:grpSpPr>
          <a:xfrm rot="0">
            <a:off x="10100733" y="-633455"/>
            <a:ext cx="9434011" cy="11553911"/>
            <a:chOff x="0" y="0"/>
            <a:chExt cx="2385741" cy="2921836"/>
          </a:xfrm>
        </p:grpSpPr>
        <p:sp>
          <p:nvSpPr>
            <p:cNvPr name="Freeform 3" id="3"/>
            <p:cNvSpPr/>
            <p:nvPr/>
          </p:nvSpPr>
          <p:spPr>
            <a:xfrm flipH="false" flipV="false" rot="0">
              <a:off x="0" y="0"/>
              <a:ext cx="2385741" cy="2921836"/>
            </a:xfrm>
            <a:custGeom>
              <a:avLst/>
              <a:gdLst/>
              <a:ahLst/>
              <a:cxnLst/>
              <a:rect r="r" b="b" t="t" l="l"/>
              <a:pathLst>
                <a:path h="2921836" w="2385741">
                  <a:moveTo>
                    <a:pt x="0" y="0"/>
                  </a:moveTo>
                  <a:lnTo>
                    <a:pt x="2385741" y="0"/>
                  </a:lnTo>
                  <a:lnTo>
                    <a:pt x="2385741" y="2921836"/>
                  </a:lnTo>
                  <a:lnTo>
                    <a:pt x="0" y="2921836"/>
                  </a:lnTo>
                  <a:close/>
                </a:path>
              </a:pathLst>
            </a:custGeom>
            <a:solidFill>
              <a:srgbClr val="F1EBE5"/>
            </a:solidFill>
          </p:spPr>
        </p:sp>
        <p:sp>
          <p:nvSpPr>
            <p:cNvPr name="TextBox 4" id="4"/>
            <p:cNvSpPr txBox="true"/>
            <p:nvPr/>
          </p:nvSpPr>
          <p:spPr>
            <a:xfrm>
              <a:off x="0" y="19050"/>
              <a:ext cx="2385741" cy="2902786"/>
            </a:xfrm>
            <a:prstGeom prst="rect">
              <a:avLst/>
            </a:prstGeom>
          </p:spPr>
          <p:txBody>
            <a:bodyPr anchor="ctr" rtlCol="false" tIns="50800" lIns="50800" bIns="50800" rIns="50800"/>
            <a:lstStyle/>
            <a:p>
              <a:pPr algn="ctr" marL="0" indent="0" lvl="0">
                <a:lnSpc>
                  <a:spcPts val="2266"/>
                </a:lnSpc>
              </a:pPr>
            </a:p>
          </p:txBody>
        </p:sp>
      </p:grpSp>
      <p:sp>
        <p:nvSpPr>
          <p:cNvPr name="Freeform 5" id="5"/>
          <p:cNvSpPr/>
          <p:nvPr/>
        </p:nvSpPr>
        <p:spPr>
          <a:xfrm flipH="false" flipV="false" rot="0">
            <a:off x="11288189" y="1476670"/>
            <a:ext cx="6499463" cy="6426344"/>
          </a:xfrm>
          <a:custGeom>
            <a:avLst/>
            <a:gdLst/>
            <a:ahLst/>
            <a:cxnLst/>
            <a:rect r="r" b="b" t="t" l="l"/>
            <a:pathLst>
              <a:path h="6426344" w="6499463">
                <a:moveTo>
                  <a:pt x="0" y="0"/>
                </a:moveTo>
                <a:lnTo>
                  <a:pt x="6499463" y="0"/>
                </a:lnTo>
                <a:lnTo>
                  <a:pt x="6499463" y="6426344"/>
                </a:lnTo>
                <a:lnTo>
                  <a:pt x="0" y="6426344"/>
                </a:lnTo>
                <a:lnTo>
                  <a:pt x="0" y="0"/>
                </a:lnTo>
                <a:close/>
              </a:path>
            </a:pathLst>
          </a:custGeom>
          <a:blipFill>
            <a:blip r:embed="rId2"/>
            <a:stretch>
              <a:fillRect l="0" t="0" r="0" b="0"/>
            </a:stretch>
          </a:blipFill>
        </p:spPr>
      </p:sp>
      <p:sp>
        <p:nvSpPr>
          <p:cNvPr name="TextBox 6" id="6"/>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FIGMA DESIGN PROCESS</a:t>
            </a:r>
          </a:p>
        </p:txBody>
      </p:sp>
      <p:sp>
        <p:nvSpPr>
          <p:cNvPr name="TextBox 7" id="7"/>
          <p:cNvSpPr txBox="true"/>
          <p:nvPr/>
        </p:nvSpPr>
        <p:spPr>
          <a:xfrm rot="0">
            <a:off x="1219200" y="5246767"/>
            <a:ext cx="7570711" cy="3952688"/>
          </a:xfrm>
          <a:prstGeom prst="rect">
            <a:avLst/>
          </a:prstGeom>
        </p:spPr>
        <p:txBody>
          <a:bodyPr anchor="t" rtlCol="false" tIns="0" lIns="0" bIns="0" rIns="0">
            <a:spAutoFit/>
          </a:bodyPr>
          <a:lstStyle/>
          <a:p>
            <a:pPr algn="l" marL="0" indent="0" lvl="0">
              <a:lnSpc>
                <a:spcPts val="2898"/>
              </a:lnSpc>
            </a:pPr>
            <a:r>
              <a:rPr lang="en-US" b="true" sz="1789">
                <a:solidFill>
                  <a:srgbClr val="FFFFFF"/>
                </a:solidFill>
                <a:latin typeface="Quicksand Medium"/>
                <a:ea typeface="Quicksand Medium"/>
                <a:cs typeface="Quicksand Medium"/>
                <a:sym typeface="Quicksand Medium"/>
              </a:rPr>
              <a:t>Our UI/UX design followed a structured process:</a:t>
            </a:r>
          </a:p>
          <a:p>
            <a:pPr algn="l" marL="0" indent="0" lvl="0">
              <a:lnSpc>
                <a:spcPts val="2898"/>
              </a:lnSpc>
            </a:pPr>
            <a:r>
              <a:rPr lang="en-US" b="true" sz="1789">
                <a:solidFill>
                  <a:srgbClr val="FFFFFF"/>
                </a:solidFill>
                <a:latin typeface="Quicksand Medium"/>
                <a:ea typeface="Quicksand Medium"/>
                <a:cs typeface="Quicksand Medium"/>
                <a:sym typeface="Quicksand Medium"/>
              </a:rPr>
              <a:t>• Initial Wireframes: Low-fidelity sketches outlining core screens and layout structure</a:t>
            </a:r>
          </a:p>
          <a:p>
            <a:pPr algn="l" marL="0" indent="0" lvl="0">
              <a:lnSpc>
                <a:spcPts val="2898"/>
              </a:lnSpc>
            </a:pPr>
            <a:r>
              <a:rPr lang="en-US" b="true" sz="1789">
                <a:solidFill>
                  <a:srgbClr val="FFFFFF"/>
                </a:solidFill>
                <a:latin typeface="Quicksand Medium"/>
                <a:ea typeface="Quicksand Medium"/>
                <a:cs typeface="Quicksand Medium"/>
                <a:sym typeface="Quicksand Medium"/>
              </a:rPr>
              <a:t>• User Flow Design: Mapping navigation paths between app screens for intuitive interaction</a:t>
            </a:r>
          </a:p>
          <a:p>
            <a:pPr algn="l" marL="0" indent="0" lvl="0">
              <a:lnSpc>
                <a:spcPts val="2898"/>
              </a:lnSpc>
            </a:pPr>
            <a:r>
              <a:rPr lang="en-US" b="true" sz="1789">
                <a:solidFill>
                  <a:srgbClr val="FFFFFF"/>
                </a:solidFill>
                <a:latin typeface="Quicksand Medium"/>
                <a:ea typeface="Quicksand Medium"/>
                <a:cs typeface="Quicksand Medium"/>
                <a:sym typeface="Quicksand Medium"/>
              </a:rPr>
              <a:t>• Layout Planning: Defining spacing, grid systems, and component placement</a:t>
            </a:r>
          </a:p>
          <a:p>
            <a:pPr algn="l" marL="0" indent="0" lvl="0">
              <a:lnSpc>
                <a:spcPts val="2898"/>
              </a:lnSpc>
            </a:pPr>
            <a:r>
              <a:rPr lang="en-US" b="true" sz="1789">
                <a:solidFill>
                  <a:srgbClr val="FFFFFF"/>
                </a:solidFill>
                <a:latin typeface="Quicksand Medium"/>
                <a:ea typeface="Quicksand Medium"/>
                <a:cs typeface="Quicksand Medium"/>
                <a:sym typeface="Quicksand Medium"/>
              </a:rPr>
              <a:t>• High-Fidelity Prototypes: Detailed, interactive mockups reflecting final visual design</a:t>
            </a:r>
          </a:p>
          <a:p>
            <a:pPr algn="l" marL="0" indent="0" lvl="0">
              <a:lnSpc>
                <a:spcPts val="2898"/>
              </a:lnSpc>
            </a:pPr>
            <a:r>
              <a:rPr lang="en-US" b="true" sz="1789">
                <a:solidFill>
                  <a:srgbClr val="FFFFFF"/>
                </a:solidFill>
                <a:latin typeface="Quicksand Medium"/>
                <a:ea typeface="Quicksand Medium"/>
                <a:cs typeface="Quicksand Medium"/>
                <a:sym typeface="Quicksand Medium"/>
              </a:rPr>
              <a:t>• Design Review: Thorough evaluation and feedback cycles before development handoff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Freeform 2" id="2"/>
          <p:cNvSpPr/>
          <p:nvPr/>
        </p:nvSpPr>
        <p:spPr>
          <a:xfrm flipH="false" flipV="false" rot="0">
            <a:off x="10923662" y="1690657"/>
            <a:ext cx="6540132" cy="6540132"/>
          </a:xfrm>
          <a:custGeom>
            <a:avLst/>
            <a:gdLst/>
            <a:ahLst/>
            <a:cxnLst/>
            <a:rect r="r" b="b" t="t" l="l"/>
            <a:pathLst>
              <a:path h="6540132" w="6540132">
                <a:moveTo>
                  <a:pt x="0" y="0"/>
                </a:moveTo>
                <a:lnTo>
                  <a:pt x="6540132" y="0"/>
                </a:lnTo>
                <a:lnTo>
                  <a:pt x="6540132" y="6540132"/>
                </a:lnTo>
                <a:lnTo>
                  <a:pt x="0" y="6540132"/>
                </a:lnTo>
                <a:lnTo>
                  <a:pt x="0" y="0"/>
                </a:lnTo>
                <a:close/>
              </a:path>
            </a:pathLst>
          </a:custGeom>
          <a:blipFill>
            <a:blip r:embed="rId2"/>
            <a:stretch>
              <a:fillRect l="0" t="0" r="0" b="0"/>
            </a:stretch>
          </a:blipFill>
        </p:spPr>
      </p:sp>
      <p:sp>
        <p:nvSpPr>
          <p:cNvPr name="TextBox 3" id="3"/>
          <p:cNvSpPr txBox="true"/>
          <p:nvPr/>
        </p:nvSpPr>
        <p:spPr>
          <a:xfrm rot="0">
            <a:off x="1219200" y="2219562"/>
            <a:ext cx="8936763" cy="2917192"/>
          </a:xfrm>
          <a:prstGeom prst="rect">
            <a:avLst/>
          </a:prstGeom>
        </p:spPr>
        <p:txBody>
          <a:bodyPr anchor="t" rtlCol="false" tIns="0" lIns="0" bIns="0" rIns="0">
            <a:spAutoFit/>
          </a:bodyPr>
          <a:lstStyle/>
          <a:p>
            <a:pPr algn="l" marL="0" indent="0" lvl="0">
              <a:lnSpc>
                <a:spcPts val="7630"/>
              </a:lnSpc>
            </a:pPr>
            <a:r>
              <a:rPr lang="en-US" b="true" sz="7000" spc="-294">
                <a:solidFill>
                  <a:srgbClr val="3139A8"/>
                </a:solidFill>
                <a:latin typeface="Be Vietnam Ultra-Bold"/>
                <a:ea typeface="Be Vietnam Ultra-Bold"/>
                <a:cs typeface="Be Vietnam Ultra-Bold"/>
                <a:sym typeface="Be Vietnam Ultra-Bold"/>
              </a:rPr>
              <a:t>WHY BLUE?</a:t>
            </a:r>
          </a:p>
          <a:p>
            <a:pPr algn="l" marL="0" indent="0" lvl="0">
              <a:lnSpc>
                <a:spcPts val="7630"/>
              </a:lnSpc>
            </a:pPr>
            <a:r>
              <a:rPr lang="en-US" b="true" sz="7000" spc="-294">
                <a:solidFill>
                  <a:srgbClr val="3139A8"/>
                </a:solidFill>
                <a:latin typeface="Be Vietnam Ultra-Bold"/>
                <a:ea typeface="Be Vietnam Ultra-Bold"/>
                <a:cs typeface="Be Vietnam Ultra-Bold"/>
                <a:sym typeface="Be Vietnam Ultra-Bold"/>
              </a:rPr>
              <a:t>THE COLOR OF TRUST &amp; TECHNOLOGY</a:t>
            </a:r>
          </a:p>
        </p:txBody>
      </p:sp>
      <p:sp>
        <p:nvSpPr>
          <p:cNvPr name="TextBox 4" id="4"/>
          <p:cNvSpPr txBox="true"/>
          <p:nvPr/>
        </p:nvSpPr>
        <p:spPr>
          <a:xfrm rot="0">
            <a:off x="1219200" y="5288043"/>
            <a:ext cx="8618794" cy="2846070"/>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Blue was selected as the primary color for KiloBytes because it universally conveys trust, reliability, and professionalism — core values for a network monitoring application. Blue is strongly associated with technology, communication, and digital innovation, making it ideal for an app focused on mobile network performance. It promotes a calm, focused user experience while reinforcing confidence in the data presented.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59724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SYSTEM ARCHITECTURE</a:t>
            </a:r>
          </a:p>
        </p:txBody>
      </p:sp>
      <p:sp>
        <p:nvSpPr>
          <p:cNvPr name="TextBox 6" id="6"/>
          <p:cNvSpPr txBox="true"/>
          <p:nvPr/>
        </p:nvSpPr>
        <p:spPr>
          <a:xfrm rot="0">
            <a:off x="1219200" y="5246767"/>
            <a:ext cx="7570711" cy="3952688"/>
          </a:xfrm>
          <a:prstGeom prst="rect">
            <a:avLst/>
          </a:prstGeom>
        </p:spPr>
        <p:txBody>
          <a:bodyPr anchor="t" rtlCol="false" tIns="0" lIns="0" bIns="0" rIns="0">
            <a:spAutoFit/>
          </a:bodyPr>
          <a:lstStyle/>
          <a:p>
            <a:pPr algn="l" marL="0" indent="0" lvl="0">
              <a:lnSpc>
                <a:spcPts val="2898"/>
              </a:lnSpc>
            </a:pPr>
            <a:r>
              <a:rPr lang="en-US" b="true" sz="1789">
                <a:solidFill>
                  <a:srgbClr val="FFFFFF"/>
                </a:solidFill>
                <a:latin typeface="Quicksand Medium"/>
                <a:ea typeface="Quicksand Medium"/>
                <a:cs typeface="Quicksand Medium"/>
                <a:sym typeface="Quicksand Medium"/>
              </a:rPr>
              <a:t>The KiloBytes system is built on a layered architecture with five core components:</a:t>
            </a:r>
          </a:p>
          <a:p>
            <a:pPr algn="l" marL="0" indent="0" lvl="0">
              <a:lnSpc>
                <a:spcPts val="2898"/>
              </a:lnSpc>
            </a:pPr>
            <a:r>
              <a:rPr lang="en-US" b="true" sz="1789">
                <a:solidFill>
                  <a:srgbClr val="FFFFFF"/>
                </a:solidFill>
                <a:latin typeface="Quicksand Medium"/>
                <a:ea typeface="Quicksand Medium"/>
                <a:cs typeface="Quicksand Medium"/>
                <a:sym typeface="Quicksand Medium"/>
              </a:rPr>
              <a:t>• Subscriber App – React Native mobile client for data collection</a:t>
            </a:r>
          </a:p>
          <a:p>
            <a:pPr algn="l" marL="0" indent="0" lvl="0">
              <a:lnSpc>
                <a:spcPts val="2898"/>
              </a:lnSpc>
            </a:pPr>
            <a:r>
              <a:rPr lang="en-US" b="true" sz="1789">
                <a:solidFill>
                  <a:srgbClr val="FFFFFF"/>
                </a:solidFill>
                <a:latin typeface="Quicksand Medium"/>
                <a:ea typeface="Quicksand Medium"/>
                <a:cs typeface="Quicksand Medium"/>
                <a:sym typeface="Quicksand Medium"/>
              </a:rPr>
              <a:t>• REST API – Handles communication between app and backend</a:t>
            </a:r>
          </a:p>
          <a:p>
            <a:pPr algn="l" marL="0" indent="0" lvl="0">
              <a:lnSpc>
                <a:spcPts val="2898"/>
              </a:lnSpc>
            </a:pPr>
            <a:r>
              <a:rPr lang="en-US" b="true" sz="1789">
                <a:solidFill>
                  <a:srgbClr val="FFFFFF"/>
                </a:solidFill>
                <a:latin typeface="Quicksand Medium"/>
                <a:ea typeface="Quicksand Medium"/>
                <a:cs typeface="Quicksand Medium"/>
                <a:sym typeface="Quicksand Medium"/>
              </a:rPr>
              <a:t>• Node.js Backend – Processes requests and business logic</a:t>
            </a:r>
          </a:p>
          <a:p>
            <a:pPr algn="l" marL="0" indent="0" lvl="0">
              <a:lnSpc>
                <a:spcPts val="2898"/>
              </a:lnSpc>
            </a:pPr>
            <a:r>
              <a:rPr lang="en-US" b="true" sz="1789">
                <a:solidFill>
                  <a:srgbClr val="FFFFFF"/>
                </a:solidFill>
                <a:latin typeface="Quicksand Medium"/>
                <a:ea typeface="Quicksand Medium"/>
                <a:cs typeface="Quicksand Medium"/>
                <a:sym typeface="Quicksand Medium"/>
              </a:rPr>
              <a:t>• MongoDB Database – Cloud storage for all network measurements</a:t>
            </a:r>
          </a:p>
          <a:p>
            <a:pPr algn="l" marL="0" indent="0" lvl="0">
              <a:lnSpc>
                <a:spcPts val="2898"/>
              </a:lnSpc>
            </a:pPr>
            <a:r>
              <a:rPr lang="en-US" b="true" sz="1789">
                <a:solidFill>
                  <a:srgbClr val="FFFFFF"/>
                </a:solidFill>
                <a:latin typeface="Quicksand Medium"/>
                <a:ea typeface="Quicksand Medium"/>
                <a:cs typeface="Quicksand Medium"/>
                <a:sym typeface="Quicksand Medium"/>
              </a:rPr>
              <a:t>• Administrator Dashboard – Web interface for monitoring and analysis</a:t>
            </a:r>
          </a:p>
          <a:p>
            <a:pPr algn="l" marL="0" indent="0" lvl="0">
              <a:lnSpc>
                <a:spcPts val="2898"/>
              </a:lnSpc>
            </a:pPr>
            <a:r>
              <a:rPr lang="en-US" b="true" sz="1789">
                <a:solidFill>
                  <a:srgbClr val="FFFFFF"/>
                </a:solidFill>
                <a:latin typeface="Quicksand Medium"/>
                <a:ea typeface="Quicksand Medium"/>
                <a:cs typeface="Quicksand Medium"/>
                <a:sym typeface="Quicksand Medium"/>
              </a:rPr>
              <a:t>Data flows from the mobile app through the REST API to the Node.js backend, where it is persisted in MongoDB and made available to the admin dashboard for analysis.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grpSp>
        <p:nvGrpSpPr>
          <p:cNvPr name="Group 2" id="2"/>
          <p:cNvGrpSpPr/>
          <p:nvPr/>
        </p:nvGrpSpPr>
        <p:grpSpPr>
          <a:xfrm rot="0">
            <a:off x="5010777" y="4527805"/>
            <a:ext cx="3823681" cy="4124847"/>
            <a:chOff x="0" y="0"/>
            <a:chExt cx="966960" cy="1043121"/>
          </a:xfrm>
        </p:grpSpPr>
        <p:sp>
          <p:nvSpPr>
            <p:cNvPr name="Freeform 3" id="3"/>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5383FF"/>
            </a:solidFill>
          </p:spPr>
        </p:sp>
        <p:sp>
          <p:nvSpPr>
            <p:cNvPr name="TextBox 4" id="4"/>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5" id="5"/>
          <p:cNvSpPr txBox="true"/>
          <p:nvPr/>
        </p:nvSpPr>
        <p:spPr>
          <a:xfrm rot="0">
            <a:off x="2474521" y="2796398"/>
            <a:ext cx="13338959" cy="1060451"/>
          </a:xfrm>
          <a:prstGeom prst="rect">
            <a:avLst/>
          </a:prstGeom>
        </p:spPr>
        <p:txBody>
          <a:bodyPr anchor="t" rtlCol="false" tIns="0" lIns="0" bIns="0" rIns="0">
            <a:spAutoFit/>
          </a:bodyPr>
          <a:lstStyle/>
          <a:p>
            <a:pPr algn="ctr" marL="0" indent="0" lvl="0">
              <a:lnSpc>
                <a:spcPts val="8000"/>
              </a:lnSpc>
            </a:pPr>
            <a:r>
              <a:rPr lang="en-US" b="true" sz="8000" spc="-336">
                <a:solidFill>
                  <a:srgbClr val="3139A8"/>
                </a:solidFill>
                <a:latin typeface="Be Vietnam Ultra-Bold"/>
                <a:ea typeface="Be Vietnam Ultra-Bold"/>
                <a:cs typeface="Be Vietnam Ultra-Bold"/>
                <a:sym typeface="Be Vietnam Ultra-Bold"/>
              </a:rPr>
              <a:t>TECHNOLOGY STACK</a:t>
            </a:r>
          </a:p>
        </p:txBody>
      </p:sp>
      <p:sp>
        <p:nvSpPr>
          <p:cNvPr name="TextBox 6" id="6"/>
          <p:cNvSpPr txBox="true"/>
          <p:nvPr/>
        </p:nvSpPr>
        <p:spPr>
          <a:xfrm rot="0">
            <a:off x="5778394" y="5094631"/>
            <a:ext cx="2288447" cy="554222"/>
          </a:xfrm>
          <a:prstGeom prst="rect">
            <a:avLst/>
          </a:prstGeom>
        </p:spPr>
        <p:txBody>
          <a:bodyPr anchor="t" rtlCol="false" tIns="0" lIns="0" bIns="0" rIns="0">
            <a:spAutoFit/>
          </a:bodyPr>
          <a:lstStyle/>
          <a:p>
            <a:pPr algn="ctr" marL="0" indent="0" lvl="0">
              <a:lnSpc>
                <a:spcPts val="4103"/>
              </a:lnSpc>
            </a:pPr>
            <a:r>
              <a:rPr lang="en-US" b="true" sz="3983">
                <a:solidFill>
                  <a:srgbClr val="FFFFFF"/>
                </a:solidFill>
                <a:latin typeface="Arimo Bold"/>
                <a:ea typeface="Arimo Bold"/>
                <a:cs typeface="Arimo Bold"/>
                <a:sym typeface="Arimo Bold"/>
              </a:rPr>
              <a:t>Frontend</a:t>
            </a:r>
          </a:p>
        </p:txBody>
      </p:sp>
      <p:sp>
        <p:nvSpPr>
          <p:cNvPr name="TextBox 7" id="7"/>
          <p:cNvSpPr txBox="true"/>
          <p:nvPr/>
        </p:nvSpPr>
        <p:spPr>
          <a:xfrm rot="0">
            <a:off x="5635062" y="6004609"/>
            <a:ext cx="2575110" cy="2049706"/>
          </a:xfrm>
          <a:prstGeom prst="rect">
            <a:avLst/>
          </a:prstGeom>
        </p:spPr>
        <p:txBody>
          <a:bodyPr anchor="t" rtlCol="false" tIns="0" lIns="0" bIns="0" rIns="0">
            <a:spAutoFit/>
          </a:bodyPr>
          <a:lstStyle/>
          <a:p>
            <a:pPr algn="ctr" marL="0" indent="0" lvl="0">
              <a:lnSpc>
                <a:spcPts val="2090"/>
              </a:lnSpc>
            </a:pPr>
            <a:r>
              <a:rPr lang="en-US" b="true" sz="1340">
                <a:solidFill>
                  <a:srgbClr val="FFFFFF"/>
                </a:solidFill>
                <a:latin typeface="Montserrat Medium"/>
                <a:ea typeface="Montserrat Medium"/>
                <a:cs typeface="Montserrat Medium"/>
                <a:sym typeface="Montserrat Medium"/>
              </a:rPr>
              <a:t>React Native – Cross-platform mobile development</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Expo – Build and deployment toolchain</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React Navigation – Screen and tab navigation</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React Hooks – State and lifecycle management</a:t>
            </a:r>
          </a:p>
        </p:txBody>
      </p:sp>
      <p:grpSp>
        <p:nvGrpSpPr>
          <p:cNvPr name="Group 8" id="8"/>
          <p:cNvGrpSpPr/>
          <p:nvPr/>
        </p:nvGrpSpPr>
        <p:grpSpPr>
          <a:xfrm rot="0">
            <a:off x="13901639" y="4527805"/>
            <a:ext cx="3823681" cy="4124847"/>
            <a:chOff x="0" y="0"/>
            <a:chExt cx="966960" cy="1043121"/>
          </a:xfrm>
        </p:grpSpPr>
        <p:sp>
          <p:nvSpPr>
            <p:cNvPr name="Freeform 9" id="9"/>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3139A8"/>
            </a:solidFill>
          </p:spPr>
        </p:sp>
        <p:sp>
          <p:nvSpPr>
            <p:cNvPr name="TextBox 10" id="10"/>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11" id="11"/>
          <p:cNvSpPr txBox="true"/>
          <p:nvPr/>
        </p:nvSpPr>
        <p:spPr>
          <a:xfrm rot="0">
            <a:off x="14669256" y="5094631"/>
            <a:ext cx="2288447" cy="554222"/>
          </a:xfrm>
          <a:prstGeom prst="rect">
            <a:avLst/>
          </a:prstGeom>
        </p:spPr>
        <p:txBody>
          <a:bodyPr anchor="t" rtlCol="false" tIns="0" lIns="0" bIns="0" rIns="0">
            <a:spAutoFit/>
          </a:bodyPr>
          <a:lstStyle/>
          <a:p>
            <a:pPr algn="ctr" marL="0" indent="0" lvl="0">
              <a:lnSpc>
                <a:spcPts val="4103"/>
              </a:lnSpc>
            </a:pPr>
            <a:r>
              <a:rPr lang="en-US" b="true" sz="3983">
                <a:solidFill>
                  <a:srgbClr val="FFFFFF"/>
                </a:solidFill>
                <a:latin typeface="Arimo Bold"/>
                <a:ea typeface="Arimo Bold"/>
                <a:cs typeface="Arimo Bold"/>
                <a:sym typeface="Arimo Bold"/>
              </a:rPr>
              <a:t>Backend</a:t>
            </a:r>
          </a:p>
        </p:txBody>
      </p:sp>
      <p:sp>
        <p:nvSpPr>
          <p:cNvPr name="TextBox 12" id="12"/>
          <p:cNvSpPr txBox="true"/>
          <p:nvPr/>
        </p:nvSpPr>
        <p:spPr>
          <a:xfrm rot="0">
            <a:off x="14525924" y="6004609"/>
            <a:ext cx="2575110" cy="2049706"/>
          </a:xfrm>
          <a:prstGeom prst="rect">
            <a:avLst/>
          </a:prstGeom>
        </p:spPr>
        <p:txBody>
          <a:bodyPr anchor="t" rtlCol="false" tIns="0" lIns="0" bIns="0" rIns="0">
            <a:spAutoFit/>
          </a:bodyPr>
          <a:lstStyle/>
          <a:p>
            <a:pPr algn="ctr" marL="0" indent="0" lvl="0">
              <a:lnSpc>
                <a:spcPts val="2090"/>
              </a:lnSpc>
            </a:pPr>
            <a:r>
              <a:rPr lang="en-US" b="true" sz="1340">
                <a:solidFill>
                  <a:srgbClr val="FFFFFF"/>
                </a:solidFill>
                <a:latin typeface="Montserrat Medium"/>
                <a:ea typeface="Montserrat Medium"/>
                <a:cs typeface="Montserrat Medium"/>
                <a:sym typeface="Montserrat Medium"/>
              </a:rPr>
              <a:t>Node.js – Server-side JavaScript runtime</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Express.js – RESTful API framework</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MongoDB – Cloud NoSQL database</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REST API – Client-server communication</a:t>
            </a:r>
          </a:p>
        </p:txBody>
      </p:sp>
      <p:grpSp>
        <p:nvGrpSpPr>
          <p:cNvPr name="Group 13" id="13"/>
          <p:cNvGrpSpPr/>
          <p:nvPr/>
        </p:nvGrpSpPr>
        <p:grpSpPr>
          <a:xfrm rot="0">
            <a:off x="9268431" y="4527805"/>
            <a:ext cx="3823681" cy="4124847"/>
            <a:chOff x="0" y="0"/>
            <a:chExt cx="966960" cy="1043121"/>
          </a:xfrm>
        </p:grpSpPr>
        <p:sp>
          <p:nvSpPr>
            <p:cNvPr name="Freeform 14" id="14"/>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5383FF"/>
            </a:solidFill>
          </p:spPr>
        </p:sp>
        <p:sp>
          <p:nvSpPr>
            <p:cNvPr name="TextBox 15" id="15"/>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16" id="16"/>
          <p:cNvSpPr txBox="true"/>
          <p:nvPr/>
        </p:nvSpPr>
        <p:spPr>
          <a:xfrm rot="0">
            <a:off x="10036048" y="5094631"/>
            <a:ext cx="2288447" cy="554222"/>
          </a:xfrm>
          <a:prstGeom prst="rect">
            <a:avLst/>
          </a:prstGeom>
        </p:spPr>
        <p:txBody>
          <a:bodyPr anchor="t" rtlCol="false" tIns="0" lIns="0" bIns="0" rIns="0">
            <a:spAutoFit/>
          </a:bodyPr>
          <a:lstStyle/>
          <a:p>
            <a:pPr algn="ctr" marL="0" indent="0" lvl="0">
              <a:lnSpc>
                <a:spcPts val="4103"/>
              </a:lnSpc>
            </a:pPr>
            <a:r>
              <a:rPr lang="en-US" b="true" sz="3983">
                <a:solidFill>
                  <a:srgbClr val="FFFFFF"/>
                </a:solidFill>
                <a:latin typeface="Arimo Bold"/>
                <a:ea typeface="Arimo Bold"/>
                <a:cs typeface="Arimo Bold"/>
                <a:sym typeface="Arimo Bold"/>
              </a:rPr>
              <a:t>Database</a:t>
            </a:r>
          </a:p>
        </p:txBody>
      </p:sp>
      <p:sp>
        <p:nvSpPr>
          <p:cNvPr name="TextBox 17" id="17"/>
          <p:cNvSpPr txBox="true"/>
          <p:nvPr/>
        </p:nvSpPr>
        <p:spPr>
          <a:xfrm rot="0">
            <a:off x="9892717" y="6004609"/>
            <a:ext cx="2575110" cy="1533866"/>
          </a:xfrm>
          <a:prstGeom prst="rect">
            <a:avLst/>
          </a:prstGeom>
        </p:spPr>
        <p:txBody>
          <a:bodyPr anchor="t" rtlCol="false" tIns="0" lIns="0" bIns="0" rIns="0">
            <a:spAutoFit/>
          </a:bodyPr>
          <a:lstStyle/>
          <a:p>
            <a:pPr algn="ctr" marL="0" indent="0" lvl="0">
              <a:lnSpc>
                <a:spcPts val="2090"/>
              </a:lnSpc>
            </a:pPr>
            <a:r>
              <a:rPr lang="en-US" b="true" sz="1340">
                <a:solidFill>
                  <a:srgbClr val="FFFFFF"/>
                </a:solidFill>
                <a:latin typeface="Montserrat Medium"/>
                <a:ea typeface="Montserrat Medium"/>
                <a:cs typeface="Montserrat Medium"/>
                <a:sym typeface="Montserrat Medium"/>
              </a:rPr>
              <a:t>MongoDB – Cloud-based data storage and sync</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SQLite – Local offline storage on device</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Async data sync between local and cloud</a:t>
            </a:r>
          </a:p>
        </p:txBody>
      </p:sp>
      <p:grpSp>
        <p:nvGrpSpPr>
          <p:cNvPr name="Group 18" id="18"/>
          <p:cNvGrpSpPr/>
          <p:nvPr/>
        </p:nvGrpSpPr>
        <p:grpSpPr>
          <a:xfrm rot="0">
            <a:off x="377470" y="4527805"/>
            <a:ext cx="3823681" cy="4124847"/>
            <a:chOff x="0" y="0"/>
            <a:chExt cx="966960" cy="1043121"/>
          </a:xfrm>
        </p:grpSpPr>
        <p:sp>
          <p:nvSpPr>
            <p:cNvPr name="Freeform 19" id="19"/>
            <p:cNvSpPr/>
            <p:nvPr/>
          </p:nvSpPr>
          <p:spPr>
            <a:xfrm flipH="false" flipV="false" rot="0">
              <a:off x="0" y="0"/>
              <a:ext cx="966960" cy="1043121"/>
            </a:xfrm>
            <a:custGeom>
              <a:avLst/>
              <a:gdLst/>
              <a:ahLst/>
              <a:cxnLst/>
              <a:rect r="r" b="b" t="t" l="l"/>
              <a:pathLst>
                <a:path h="1043121" w="966960">
                  <a:moveTo>
                    <a:pt x="0" y="0"/>
                  </a:moveTo>
                  <a:lnTo>
                    <a:pt x="966960" y="0"/>
                  </a:lnTo>
                  <a:lnTo>
                    <a:pt x="966960" y="1043121"/>
                  </a:lnTo>
                  <a:lnTo>
                    <a:pt x="0" y="1043121"/>
                  </a:lnTo>
                  <a:close/>
                </a:path>
              </a:pathLst>
            </a:custGeom>
            <a:solidFill>
              <a:srgbClr val="3139A8"/>
            </a:solidFill>
          </p:spPr>
        </p:sp>
        <p:sp>
          <p:nvSpPr>
            <p:cNvPr name="TextBox 20" id="20"/>
            <p:cNvSpPr txBox="true"/>
            <p:nvPr/>
          </p:nvSpPr>
          <p:spPr>
            <a:xfrm>
              <a:off x="0" y="19050"/>
              <a:ext cx="966960" cy="1024071"/>
            </a:xfrm>
            <a:prstGeom prst="rect">
              <a:avLst/>
            </a:prstGeom>
          </p:spPr>
          <p:txBody>
            <a:bodyPr anchor="ctr" rtlCol="false" tIns="50800" lIns="50800" bIns="50800" rIns="50800"/>
            <a:lstStyle/>
            <a:p>
              <a:pPr algn="ctr" marL="0" indent="0" lvl="0">
                <a:lnSpc>
                  <a:spcPts val="2266"/>
                </a:lnSpc>
              </a:pPr>
            </a:p>
          </p:txBody>
        </p:sp>
      </p:grpSp>
      <p:sp>
        <p:nvSpPr>
          <p:cNvPr name="TextBox 21" id="21"/>
          <p:cNvSpPr txBox="true"/>
          <p:nvPr/>
        </p:nvSpPr>
        <p:spPr>
          <a:xfrm rot="0">
            <a:off x="1145088" y="5094631"/>
            <a:ext cx="2288447" cy="554222"/>
          </a:xfrm>
          <a:prstGeom prst="rect">
            <a:avLst/>
          </a:prstGeom>
        </p:spPr>
        <p:txBody>
          <a:bodyPr anchor="t" rtlCol="false" tIns="0" lIns="0" bIns="0" rIns="0">
            <a:spAutoFit/>
          </a:bodyPr>
          <a:lstStyle/>
          <a:p>
            <a:pPr algn="ctr" marL="0" indent="0" lvl="0">
              <a:lnSpc>
                <a:spcPts val="4103"/>
              </a:lnSpc>
            </a:pPr>
            <a:r>
              <a:rPr lang="en-US" b="true" sz="3983">
                <a:solidFill>
                  <a:srgbClr val="FFFFFF"/>
                </a:solidFill>
                <a:latin typeface="Arimo Bold"/>
                <a:ea typeface="Arimo Bold"/>
                <a:cs typeface="Arimo Bold"/>
                <a:sym typeface="Arimo Bold"/>
              </a:rPr>
              <a:t>Tools</a:t>
            </a:r>
          </a:p>
        </p:txBody>
      </p:sp>
      <p:sp>
        <p:nvSpPr>
          <p:cNvPr name="TextBox 22" id="22"/>
          <p:cNvSpPr txBox="true"/>
          <p:nvPr/>
        </p:nvSpPr>
        <p:spPr>
          <a:xfrm rot="0">
            <a:off x="1001756" y="6004609"/>
            <a:ext cx="2575110" cy="1533866"/>
          </a:xfrm>
          <a:prstGeom prst="rect">
            <a:avLst/>
          </a:prstGeom>
        </p:spPr>
        <p:txBody>
          <a:bodyPr anchor="t" rtlCol="false" tIns="0" lIns="0" bIns="0" rIns="0">
            <a:spAutoFit/>
          </a:bodyPr>
          <a:lstStyle/>
          <a:p>
            <a:pPr algn="ctr" marL="0" indent="0" lvl="0">
              <a:lnSpc>
                <a:spcPts val="2090"/>
              </a:lnSpc>
            </a:pPr>
            <a:r>
              <a:rPr lang="en-US" b="true" sz="1340">
                <a:solidFill>
                  <a:srgbClr val="FFFFFF"/>
                </a:solidFill>
                <a:latin typeface="Montserrat Medium"/>
                <a:ea typeface="Montserrat Medium"/>
                <a:cs typeface="Montserrat Medium"/>
                <a:sym typeface="Montserrat Medium"/>
              </a:rPr>
              <a:t>Figma – UI/UX wireframing and prototyping</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GitHub – Version control and collaboration</a:t>
            </a:r>
          </a:p>
          <a:p>
            <a:pPr algn="ctr" marL="0" indent="0" lvl="0">
              <a:lnSpc>
                <a:spcPts val="2090"/>
              </a:lnSpc>
            </a:pPr>
            <a:r>
              <a:rPr lang="en-US" b="true" sz="1340">
                <a:solidFill>
                  <a:srgbClr val="FFFFFF"/>
                </a:solidFill>
                <a:latin typeface="Montserrat Medium"/>
                <a:ea typeface="Montserrat Medium"/>
                <a:cs typeface="Montserrat Medium"/>
                <a:sym typeface="Montserrat Medium"/>
              </a:rPr>
              <a:t>Expo Location – GPS and geolocation services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p:nvPr/>
        </p:nvGrpSpPr>
        <p:grpSpPr>
          <a:xfrm rot="0">
            <a:off x="10100733" y="-633455"/>
            <a:ext cx="9434011" cy="11553911"/>
            <a:chOff x="0" y="0"/>
            <a:chExt cx="2385741" cy="2921836"/>
          </a:xfrm>
        </p:grpSpPr>
        <p:sp>
          <p:nvSpPr>
            <p:cNvPr name="Freeform 3" id="3"/>
            <p:cNvSpPr/>
            <p:nvPr/>
          </p:nvSpPr>
          <p:spPr>
            <a:xfrm flipH="false" flipV="false" rot="0">
              <a:off x="0" y="0"/>
              <a:ext cx="2385741" cy="2921836"/>
            </a:xfrm>
            <a:custGeom>
              <a:avLst/>
              <a:gdLst/>
              <a:ahLst/>
              <a:cxnLst/>
              <a:rect r="r" b="b" t="t" l="l"/>
              <a:pathLst>
                <a:path h="2921836" w="2385741">
                  <a:moveTo>
                    <a:pt x="0" y="0"/>
                  </a:moveTo>
                  <a:lnTo>
                    <a:pt x="2385741" y="0"/>
                  </a:lnTo>
                  <a:lnTo>
                    <a:pt x="2385741" y="2921836"/>
                  </a:lnTo>
                  <a:lnTo>
                    <a:pt x="0" y="2921836"/>
                  </a:lnTo>
                  <a:close/>
                </a:path>
              </a:pathLst>
            </a:custGeom>
            <a:solidFill>
              <a:srgbClr val="F1EBE5"/>
            </a:solidFill>
          </p:spPr>
        </p:sp>
        <p:sp>
          <p:nvSpPr>
            <p:cNvPr name="TextBox 4" id="4"/>
            <p:cNvSpPr txBox="true"/>
            <p:nvPr/>
          </p:nvSpPr>
          <p:spPr>
            <a:xfrm>
              <a:off x="0" y="19050"/>
              <a:ext cx="2385741" cy="2902786"/>
            </a:xfrm>
            <a:prstGeom prst="rect">
              <a:avLst/>
            </a:prstGeom>
          </p:spPr>
          <p:txBody>
            <a:bodyPr anchor="ctr" rtlCol="false" tIns="50800" lIns="50800" bIns="50800" rIns="50800"/>
            <a:lstStyle/>
            <a:p>
              <a:pPr algn="ctr" marL="0" indent="0" lvl="0">
                <a:lnSpc>
                  <a:spcPts val="2266"/>
                </a:lnSpc>
              </a:pPr>
            </a:p>
          </p:txBody>
        </p:sp>
      </p:grpSp>
      <p:sp>
        <p:nvSpPr>
          <p:cNvPr name="Freeform 5" id="5"/>
          <p:cNvSpPr/>
          <p:nvPr/>
        </p:nvSpPr>
        <p:spPr>
          <a:xfrm flipH="false" flipV="false" rot="0">
            <a:off x="11641502" y="261560"/>
            <a:ext cx="5844704" cy="6776468"/>
          </a:xfrm>
          <a:custGeom>
            <a:avLst/>
            <a:gdLst/>
            <a:ahLst/>
            <a:cxnLst/>
            <a:rect r="r" b="b" t="t" l="l"/>
            <a:pathLst>
              <a:path h="6776468" w="5844704">
                <a:moveTo>
                  <a:pt x="0" y="0"/>
                </a:moveTo>
                <a:lnTo>
                  <a:pt x="5844704" y="0"/>
                </a:lnTo>
                <a:lnTo>
                  <a:pt x="5844704" y="6776468"/>
                </a:lnTo>
                <a:lnTo>
                  <a:pt x="0" y="6776468"/>
                </a:lnTo>
                <a:lnTo>
                  <a:pt x="0" y="0"/>
                </a:lnTo>
                <a:close/>
              </a:path>
            </a:pathLst>
          </a:custGeom>
          <a:blipFill>
            <a:blip r:embed="rId2"/>
            <a:stretch>
              <a:fillRect l="0" t="0" r="0" b="0"/>
            </a:stretch>
          </a:blipFill>
        </p:spPr>
      </p:sp>
      <p:sp>
        <p:nvSpPr>
          <p:cNvPr name="TextBox 6" id="6"/>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FRONTEND IMPLEMENTATION</a:t>
            </a:r>
          </a:p>
        </p:txBody>
      </p:sp>
      <p:sp>
        <p:nvSpPr>
          <p:cNvPr name="TextBox 7" id="7"/>
          <p:cNvSpPr txBox="true"/>
          <p:nvPr/>
        </p:nvSpPr>
        <p:spPr>
          <a:xfrm rot="0">
            <a:off x="1219200" y="5227717"/>
            <a:ext cx="7570711" cy="3255720"/>
          </a:xfrm>
          <a:prstGeom prst="rect">
            <a:avLst/>
          </a:prstGeom>
        </p:spPr>
        <p:txBody>
          <a:bodyPr anchor="t" rtlCol="false" tIns="0" lIns="0" bIns="0" rIns="0">
            <a:spAutoFit/>
          </a:bodyPr>
          <a:lstStyle/>
          <a:p>
            <a:pPr algn="l" marL="0" indent="0" lvl="0">
              <a:lnSpc>
                <a:spcPts val="3237"/>
              </a:lnSpc>
            </a:pPr>
            <a:r>
              <a:rPr lang="en-US" b="true" sz="1998">
                <a:solidFill>
                  <a:srgbClr val="FFFFFF"/>
                </a:solidFill>
                <a:latin typeface="Quicksand Medium"/>
                <a:ea typeface="Quicksand Medium"/>
                <a:cs typeface="Quicksand Medium"/>
                <a:sym typeface="Quicksand Medium"/>
              </a:rPr>
              <a:t>• Component-Based Architecture: Modular, reusable UI components for scalability and maintainability across the app.</a:t>
            </a:r>
          </a:p>
          <a:p>
            <a:pPr algn="l" marL="0" indent="0" lvl="0">
              <a:lnSpc>
                <a:spcPts val="3237"/>
              </a:lnSpc>
            </a:pPr>
            <a:r>
              <a:rPr lang="en-US" b="true" sz="1998">
                <a:solidFill>
                  <a:srgbClr val="FFFFFF"/>
                </a:solidFill>
                <a:latin typeface="Quicksand Medium"/>
                <a:ea typeface="Quicksand Medium"/>
                <a:cs typeface="Quicksand Medium"/>
                <a:sym typeface="Quicksand Medium"/>
              </a:rPr>
              <a:t>• React Navigation: Multi-screen navigation system with stack and tab navigators for seamless user flow.</a:t>
            </a:r>
          </a:p>
          <a:p>
            <a:pPr algn="l" marL="0" indent="0" lvl="0">
              <a:lnSpc>
                <a:spcPts val="3237"/>
              </a:lnSpc>
            </a:pPr>
            <a:r>
              <a:rPr lang="en-US" b="true" sz="1998">
                <a:solidFill>
                  <a:srgbClr val="FFFFFF"/>
                </a:solidFill>
                <a:latin typeface="Quicksand Medium"/>
                <a:ea typeface="Quicksand Medium"/>
                <a:cs typeface="Quicksand Medium"/>
                <a:sym typeface="Quicksand Medium"/>
              </a:rPr>
              <a:t>• State Management: React Hooks (useState, useEffect) manage local and shared application state efficiently.</a:t>
            </a:r>
          </a:p>
          <a:p>
            <a:pPr algn="l" marL="0" indent="0" lvl="0">
              <a:lnSpc>
                <a:spcPts val="3237"/>
              </a:lnSpc>
            </a:pPr>
            <a:r>
              <a:rPr lang="en-US" b="true" sz="1998">
                <a:solidFill>
                  <a:srgbClr val="FFFFFF"/>
                </a:solidFill>
                <a:latin typeface="Quicksand Medium"/>
                <a:ea typeface="Quicksand Medium"/>
                <a:cs typeface="Quicksand Medium"/>
                <a:sym typeface="Quicksand Medium"/>
              </a:rPr>
              <a:t>• API Integration: Axios-based service layer handles RESTful communication with the Node.js backend securely.</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2219631"/>
            <a:ext cx="7924800" cy="2917124"/>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TECHNICAL FEATURES OVERVIEW</a:t>
            </a:r>
          </a:p>
        </p:txBody>
      </p:sp>
      <p:sp>
        <p:nvSpPr>
          <p:cNvPr name="TextBox 3" id="3"/>
          <p:cNvSpPr txBox="true"/>
          <p:nvPr/>
        </p:nvSpPr>
        <p:spPr>
          <a:xfrm rot="0">
            <a:off x="1219200" y="5288043"/>
            <a:ext cx="8281289" cy="16174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The KiloBytes application is built around five core technical pillars, each designed to deliver accurate, reliable, and user-friendly network experience data collection. Together, these features form a comprehensive mobile platform for QoS and QoE monitoring.</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29567"/>
            <a:ext cx="4022366" cy="95251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Network Measurement Engine</a:t>
            </a:r>
          </a:p>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Automatically measures key QoS metrics including latency, jitter, packet loss, and download/upload speeds in real time.</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391025"/>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QoE Data Collection</a:t>
            </a:r>
          </a:p>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Allows subscribers to rate their subjective experience — signal stability, browsing performance, and streaming quality — combining user feedback with technical data.</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52483"/>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Offline Storage &amp; Sync, Heatmap Visualization, and Security &amp; Authentication — ensuring data persistence, geographic insights, and secure multi-role access across the platform.</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3139A8"/>
        </a:solidFill>
      </p:bgPr>
    </p:bg>
    <p:spTree>
      <p:nvGrpSpPr>
        <p:cNvPr id="1" name=""/>
        <p:cNvGrpSpPr/>
        <p:nvPr/>
      </p:nvGrpSpPr>
      <p:grpSpPr>
        <a:xfrm>
          <a:off x="0" y="0"/>
          <a:ext cx="0" cy="0"/>
          <a:chOff x="0" y="0"/>
          <a:chExt cx="0" cy="0"/>
        </a:xfrm>
      </p:grpSpPr>
      <p:sp>
        <p:nvSpPr>
          <p:cNvPr name="TextBox 2" id="2"/>
          <p:cNvSpPr txBox="true"/>
          <p:nvPr/>
        </p:nvSpPr>
        <p:spPr>
          <a:xfrm rot="0">
            <a:off x="4951032" y="1090276"/>
            <a:ext cx="8385935" cy="3071196"/>
          </a:xfrm>
          <a:prstGeom prst="rect">
            <a:avLst/>
          </a:prstGeom>
        </p:spPr>
        <p:txBody>
          <a:bodyPr anchor="t" rtlCol="false" tIns="0" lIns="0" bIns="0" rIns="0">
            <a:spAutoFit/>
          </a:bodyPr>
          <a:lstStyle/>
          <a:p>
            <a:pPr algn="ctr" marL="0" indent="0" lvl="0">
              <a:lnSpc>
                <a:spcPts val="12020"/>
              </a:lnSpc>
            </a:pPr>
            <a:r>
              <a:rPr lang="en-US" b="true" sz="10544" spc="-442">
                <a:solidFill>
                  <a:srgbClr val="FFFFFF"/>
                </a:solidFill>
                <a:latin typeface="Be Vietnam Ultra-Bold"/>
                <a:ea typeface="Be Vietnam Ultra-Bold"/>
                <a:cs typeface="Be Vietnam Ultra-Bold"/>
                <a:sym typeface="Be Vietnam Ultra-Bold"/>
              </a:rPr>
              <a:t>4 KEY</a:t>
            </a:r>
          </a:p>
          <a:p>
            <a:pPr algn="ctr" marL="0" indent="0" lvl="0">
              <a:lnSpc>
                <a:spcPts val="12020"/>
              </a:lnSpc>
            </a:pPr>
            <a:r>
              <a:rPr lang="en-US" b="true" sz="10544" spc="-442">
                <a:solidFill>
                  <a:srgbClr val="FFFFFF"/>
                </a:solidFill>
                <a:latin typeface="Be Vietnam Ultra-Bold"/>
                <a:ea typeface="Be Vietnam Ultra-Bold"/>
                <a:cs typeface="Be Vietnam Ultra-Bold"/>
                <a:sym typeface="Be Vietnam Ultra-Bold"/>
              </a:rPr>
              <a:t>METRICS</a:t>
            </a:r>
          </a:p>
        </p:txBody>
      </p:sp>
      <p:sp>
        <p:nvSpPr>
          <p:cNvPr name="TextBox 3" id="3"/>
          <p:cNvSpPr txBox="true"/>
          <p:nvPr/>
        </p:nvSpPr>
        <p:spPr>
          <a:xfrm rot="0">
            <a:off x="2907979" y="6055042"/>
            <a:ext cx="12472043" cy="2026995"/>
          </a:xfrm>
          <a:prstGeom prst="rect">
            <a:avLst/>
          </a:prstGeom>
        </p:spPr>
        <p:txBody>
          <a:bodyPr anchor="t" rtlCol="false" tIns="0" lIns="0" bIns="0" rIns="0">
            <a:spAutoFit/>
          </a:bodyPr>
          <a:lstStyle/>
          <a:p>
            <a:pPr algn="ctr" marL="0" indent="0" lvl="0">
              <a:lnSpc>
                <a:spcPts val="3237"/>
              </a:lnSpc>
            </a:pPr>
            <a:r>
              <a:rPr lang="en-US" b="true" sz="1998">
                <a:solidFill>
                  <a:srgbClr val="FFFFFF"/>
                </a:solidFill>
                <a:latin typeface="Quicksand Medium"/>
                <a:ea typeface="Quicksand Medium"/>
                <a:cs typeface="Quicksand Medium"/>
                <a:sym typeface="Quicksand Medium"/>
              </a:rPr>
              <a:t>Latency: Measures the average response time (in ms) for data packets to travel from the device to the server and back. Jitter: Captures variation in latency over successive measurements, indicating network stability. Packet Loss: Calculates the percentage of failed or dropped requests during a test session. Download &amp; Upload Speed: Records throughput in Mbps to assess real-world data transfer performance for subscribers.</a:t>
            </a:r>
          </a:p>
        </p:txBody>
      </p:sp>
      <p:sp>
        <p:nvSpPr>
          <p:cNvPr name="TextBox 4" id="4"/>
          <p:cNvSpPr txBox="true"/>
          <p:nvPr/>
        </p:nvSpPr>
        <p:spPr>
          <a:xfrm rot="0">
            <a:off x="3557183" y="4340542"/>
            <a:ext cx="11173634" cy="1438248"/>
          </a:xfrm>
          <a:prstGeom prst="rect">
            <a:avLst/>
          </a:prstGeom>
        </p:spPr>
        <p:txBody>
          <a:bodyPr anchor="t" rtlCol="false" tIns="0" lIns="0" bIns="0" rIns="0">
            <a:spAutoFit/>
          </a:bodyPr>
          <a:lstStyle/>
          <a:p>
            <a:pPr algn="ctr" marL="0" indent="0" lvl="0">
              <a:lnSpc>
                <a:spcPts val="5695"/>
              </a:lnSpc>
              <a:spcBef>
                <a:spcPct val="0"/>
              </a:spcBef>
            </a:pPr>
            <a:r>
              <a:rPr lang="en-US" b="true" sz="4996" spc="-209">
                <a:solidFill>
                  <a:srgbClr val="FFFFFF"/>
                </a:solidFill>
                <a:latin typeface="Be Vietnam Ultra-Bold"/>
                <a:ea typeface="Be Vietnam Ultra-Bold"/>
                <a:cs typeface="Be Vietnam Ultra-Bold"/>
                <a:sym typeface="Be Vietnam Ultra-Bold"/>
              </a:rPr>
              <a:t>NETWORK MEASUREMENT ENGINE: METRICS MEASURED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139A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7720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8873365"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LOCATION COLLECTION</a:t>
            </a:r>
          </a:p>
        </p:txBody>
      </p:sp>
      <p:sp>
        <p:nvSpPr>
          <p:cNvPr name="TextBox 6" id="6"/>
          <p:cNvSpPr txBox="true"/>
          <p:nvPr/>
        </p:nvSpPr>
        <p:spPr>
          <a:xfrm rot="0">
            <a:off x="8873365" y="5227717"/>
            <a:ext cx="7570711" cy="2436495"/>
          </a:xfrm>
          <a:prstGeom prst="rect">
            <a:avLst/>
          </a:prstGeom>
        </p:spPr>
        <p:txBody>
          <a:bodyPr anchor="t" rtlCol="false" tIns="0" lIns="0" bIns="0" rIns="0">
            <a:spAutoFit/>
          </a:bodyPr>
          <a:lstStyle/>
          <a:p>
            <a:pPr algn="l" marL="0" indent="0" lvl="0">
              <a:lnSpc>
                <a:spcPts val="3239"/>
              </a:lnSpc>
            </a:pPr>
            <a:r>
              <a:rPr lang="en-US" b="true" sz="1999">
                <a:solidFill>
                  <a:srgbClr val="FFFFFF"/>
                </a:solidFill>
                <a:latin typeface="Quicksand Medium"/>
                <a:ea typeface="Quicksand Medium"/>
                <a:cs typeface="Quicksand Medium"/>
                <a:sym typeface="Quicksand Medium"/>
              </a:rPr>
              <a:t>GPS coordinates and accuracy are collected in real-time during each measurement session. Reverse geocoding is applied to identify the subscriber's city and country from raw coordinates. This geographic data enables the generation of network quality heatmaps and supports detailed geographic analysis of mobile network performance across regions.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p:nvPr/>
        </p:nvGrpSpPr>
        <p:grpSpPr>
          <a:xfrm rot="0">
            <a:off x="10100733" y="-633455"/>
            <a:ext cx="9434011" cy="11553911"/>
            <a:chOff x="0" y="0"/>
            <a:chExt cx="2385741" cy="2921836"/>
          </a:xfrm>
        </p:grpSpPr>
        <p:sp>
          <p:nvSpPr>
            <p:cNvPr name="Freeform 3" id="3"/>
            <p:cNvSpPr/>
            <p:nvPr/>
          </p:nvSpPr>
          <p:spPr>
            <a:xfrm flipH="false" flipV="false" rot="0">
              <a:off x="0" y="0"/>
              <a:ext cx="2385741" cy="2921836"/>
            </a:xfrm>
            <a:custGeom>
              <a:avLst/>
              <a:gdLst/>
              <a:ahLst/>
              <a:cxnLst/>
              <a:rect r="r" b="b" t="t" l="l"/>
              <a:pathLst>
                <a:path h="2921836" w="2385741">
                  <a:moveTo>
                    <a:pt x="0" y="0"/>
                  </a:moveTo>
                  <a:lnTo>
                    <a:pt x="2385741" y="0"/>
                  </a:lnTo>
                  <a:lnTo>
                    <a:pt x="2385741" y="2921836"/>
                  </a:lnTo>
                  <a:lnTo>
                    <a:pt x="0" y="2921836"/>
                  </a:lnTo>
                  <a:close/>
                </a:path>
              </a:pathLst>
            </a:custGeom>
            <a:solidFill>
              <a:srgbClr val="F1EBE5"/>
            </a:solidFill>
          </p:spPr>
        </p:sp>
        <p:sp>
          <p:nvSpPr>
            <p:cNvPr name="TextBox 4" id="4"/>
            <p:cNvSpPr txBox="true"/>
            <p:nvPr/>
          </p:nvSpPr>
          <p:spPr>
            <a:xfrm>
              <a:off x="0" y="19050"/>
              <a:ext cx="2385741" cy="2902786"/>
            </a:xfrm>
            <a:prstGeom prst="rect">
              <a:avLst/>
            </a:prstGeom>
          </p:spPr>
          <p:txBody>
            <a:bodyPr anchor="ctr" rtlCol="false" tIns="50800" lIns="50800" bIns="50800" rIns="50800"/>
            <a:lstStyle/>
            <a:p>
              <a:pPr algn="ctr" marL="0" indent="0" lvl="0">
                <a:lnSpc>
                  <a:spcPts val="2266"/>
                </a:lnSpc>
              </a:pPr>
            </a:p>
          </p:txBody>
        </p:sp>
      </p:grpSp>
      <p:sp>
        <p:nvSpPr>
          <p:cNvPr name="Freeform 5" id="5"/>
          <p:cNvSpPr/>
          <p:nvPr/>
        </p:nvSpPr>
        <p:spPr>
          <a:xfrm flipH="false" flipV="false" rot="0">
            <a:off x="11971864" y="958210"/>
            <a:ext cx="5736116" cy="7547521"/>
          </a:xfrm>
          <a:custGeom>
            <a:avLst/>
            <a:gdLst/>
            <a:ahLst/>
            <a:cxnLst/>
            <a:rect r="r" b="b" t="t" l="l"/>
            <a:pathLst>
              <a:path h="7547521" w="5736116">
                <a:moveTo>
                  <a:pt x="0" y="0"/>
                </a:moveTo>
                <a:lnTo>
                  <a:pt x="5736115" y="0"/>
                </a:lnTo>
                <a:lnTo>
                  <a:pt x="5736115" y="7547521"/>
                </a:lnTo>
                <a:lnTo>
                  <a:pt x="0" y="7547521"/>
                </a:lnTo>
                <a:lnTo>
                  <a:pt x="0" y="0"/>
                </a:lnTo>
                <a:close/>
              </a:path>
            </a:pathLst>
          </a:custGeom>
          <a:blipFill>
            <a:blip r:embed="rId2"/>
            <a:stretch>
              <a:fillRect l="0" t="0" r="0" b="0"/>
            </a:stretch>
          </a:blipFill>
        </p:spPr>
      </p:sp>
      <p:sp>
        <p:nvSpPr>
          <p:cNvPr name="TextBox 6" id="6"/>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QOE DATA COLLECTION</a:t>
            </a:r>
          </a:p>
        </p:txBody>
      </p:sp>
      <p:sp>
        <p:nvSpPr>
          <p:cNvPr name="TextBox 7" id="7"/>
          <p:cNvSpPr txBox="true"/>
          <p:nvPr/>
        </p:nvSpPr>
        <p:spPr>
          <a:xfrm rot="0">
            <a:off x="1219200" y="5227717"/>
            <a:ext cx="7570711" cy="2846070"/>
          </a:xfrm>
          <a:prstGeom prst="rect">
            <a:avLst/>
          </a:prstGeom>
        </p:spPr>
        <p:txBody>
          <a:bodyPr anchor="t" rtlCol="false" tIns="0" lIns="0" bIns="0" rIns="0">
            <a:spAutoFit/>
          </a:bodyPr>
          <a:lstStyle/>
          <a:p>
            <a:pPr algn="l" marL="0" indent="0" lvl="0">
              <a:lnSpc>
                <a:spcPts val="3239"/>
              </a:lnSpc>
            </a:pPr>
            <a:r>
              <a:rPr lang="en-US" b="true" sz="1999">
                <a:solidFill>
                  <a:srgbClr val="FFFFFF"/>
                </a:solidFill>
                <a:latin typeface="Quicksand Medium"/>
                <a:ea typeface="Quicksand Medium"/>
                <a:cs typeface="Quicksand Medium"/>
                <a:sym typeface="Quicksand Medium"/>
              </a:rPr>
              <a:t>Subscribers rate their network experience across key dimensions including signal stability, browsing performance, and streaming quality. The KiloBytes app presents an intuitive QoE form after each measurement session, combining objective technical metrics with subjective user feedback to deliver a comprehensive view of real-world network performance.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59724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1219200" y="1841776"/>
            <a:ext cx="8385935" cy="3044152"/>
          </a:xfrm>
          <a:prstGeom prst="rect">
            <a:avLst/>
          </a:prstGeom>
        </p:spPr>
        <p:txBody>
          <a:bodyPr anchor="t" rtlCol="false" tIns="0" lIns="0" bIns="0" rIns="0">
            <a:spAutoFit/>
          </a:bodyPr>
          <a:lstStyle/>
          <a:p>
            <a:pPr algn="l" marL="0" indent="0" lvl="0">
              <a:lnSpc>
                <a:spcPts val="7974"/>
              </a:lnSpc>
            </a:pPr>
            <a:r>
              <a:rPr lang="en-US" b="true" sz="6995" spc="-293">
                <a:solidFill>
                  <a:srgbClr val="FFFFFF"/>
                </a:solidFill>
                <a:latin typeface="Be Vietnam Ultra-Bold"/>
                <a:ea typeface="Be Vietnam Ultra-Bold"/>
                <a:cs typeface="Be Vietnam Ultra-Bold"/>
                <a:sym typeface="Be Vietnam Ultra-Bold"/>
              </a:rPr>
              <a:t>OFFLINE STORAGE AND SYNCHRONIZATION</a:t>
            </a:r>
          </a:p>
        </p:txBody>
      </p:sp>
      <p:sp>
        <p:nvSpPr>
          <p:cNvPr name="TextBox 6" id="6"/>
          <p:cNvSpPr txBox="true"/>
          <p:nvPr/>
        </p:nvSpPr>
        <p:spPr>
          <a:xfrm rot="0">
            <a:off x="1219200" y="5227717"/>
            <a:ext cx="7570711" cy="2436495"/>
          </a:xfrm>
          <a:prstGeom prst="rect">
            <a:avLst/>
          </a:prstGeom>
        </p:spPr>
        <p:txBody>
          <a:bodyPr anchor="t" rtlCol="false" tIns="0" lIns="0" bIns="0" rIns="0">
            <a:spAutoFit/>
          </a:bodyPr>
          <a:lstStyle/>
          <a:p>
            <a:pPr algn="l" marL="0" indent="0" lvl="0">
              <a:lnSpc>
                <a:spcPts val="3239"/>
              </a:lnSpc>
            </a:pPr>
            <a:r>
              <a:rPr lang="en-US" b="true" sz="1999">
                <a:solidFill>
                  <a:srgbClr val="FFFFFF"/>
                </a:solidFill>
                <a:latin typeface="Quicksand Medium"/>
                <a:ea typeface="Quicksand Medium"/>
                <a:cs typeface="Quicksand Medium"/>
                <a:sym typeface="Quicksand Medium"/>
              </a:rPr>
              <a:t>KiloBytes uses SQLite for local on-device storage, ensuring measurements are saved even without internet connectivity. Once a connection is restored, data automatically synchronizes with the MongoDB cloud database — guaranteeing no data loss and seamless continuity between offline and online states.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139A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7720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8873365"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AUTHENTICATION AND SECURITY</a:t>
            </a:r>
          </a:p>
        </p:txBody>
      </p:sp>
      <p:sp>
        <p:nvSpPr>
          <p:cNvPr name="TextBox 6" id="6"/>
          <p:cNvSpPr txBox="true"/>
          <p:nvPr/>
        </p:nvSpPr>
        <p:spPr>
          <a:xfrm rot="0">
            <a:off x="8873365" y="5246767"/>
            <a:ext cx="7570711" cy="3952688"/>
          </a:xfrm>
          <a:prstGeom prst="rect">
            <a:avLst/>
          </a:prstGeom>
        </p:spPr>
        <p:txBody>
          <a:bodyPr anchor="t" rtlCol="false" tIns="0" lIns="0" bIns="0" rIns="0">
            <a:spAutoFit/>
          </a:bodyPr>
          <a:lstStyle/>
          <a:p>
            <a:pPr algn="l" marL="0" indent="0" lvl="0">
              <a:lnSpc>
                <a:spcPts val="2898"/>
              </a:lnSpc>
            </a:pPr>
            <a:r>
              <a:rPr lang="en-US" b="true" sz="1789">
                <a:solidFill>
                  <a:srgbClr val="FFFFFF"/>
                </a:solidFill>
                <a:latin typeface="Quicksand Medium"/>
                <a:ea typeface="Quicksand Medium"/>
                <a:cs typeface="Quicksand Medium"/>
                <a:sym typeface="Quicksand Medium"/>
              </a:rPr>
              <a:t>The KiloBytes app implements a robust login system that secures access for all users. Authentication is required before any data collection or dashboard interaction begins.</a:t>
            </a:r>
          </a:p>
          <a:p>
            <a:pPr algn="l" marL="0" indent="0" lvl="0">
              <a:lnSpc>
                <a:spcPts val="2898"/>
              </a:lnSpc>
            </a:pPr>
            <a:r>
              <a:rPr lang="en-US" b="true" sz="1789">
                <a:solidFill>
                  <a:srgbClr val="FFFFFF"/>
                </a:solidFill>
                <a:latin typeface="Quicksand Medium"/>
                <a:ea typeface="Quicksand Medium"/>
                <a:cs typeface="Quicksand Medium"/>
                <a:sym typeface="Quicksand Medium"/>
              </a:rPr>
              <a:t>• Login System: Credentials verified before granting access to app features</a:t>
            </a:r>
          </a:p>
          <a:p>
            <a:pPr algn="l" marL="0" indent="0" lvl="0">
              <a:lnSpc>
                <a:spcPts val="2898"/>
              </a:lnSpc>
            </a:pPr>
            <a:r>
              <a:rPr lang="en-US" b="true" sz="1789">
                <a:solidFill>
                  <a:srgbClr val="FFFFFF"/>
                </a:solidFill>
                <a:latin typeface="Quicksand Medium"/>
                <a:ea typeface="Quicksand Medium"/>
                <a:cs typeface="Quicksand Medium"/>
                <a:sym typeface="Quicksand Medium"/>
              </a:rPr>
              <a:t>• User Roles: Two distinct roles — Subscriber (data collection) and Administrator (monitoring &amp; analysis)</a:t>
            </a:r>
          </a:p>
          <a:p>
            <a:pPr algn="l" marL="0" indent="0" lvl="0">
              <a:lnSpc>
                <a:spcPts val="2898"/>
              </a:lnSpc>
            </a:pPr>
            <a:r>
              <a:rPr lang="en-US" b="true" sz="1789">
                <a:solidFill>
                  <a:srgbClr val="FFFFFF"/>
                </a:solidFill>
                <a:latin typeface="Quicksand Medium"/>
                <a:ea typeface="Quicksand Medium"/>
                <a:cs typeface="Quicksand Medium"/>
                <a:sym typeface="Quicksand Medium"/>
              </a:rPr>
              <a:t>• Secure Communication: Encrypted data exchange between the mobile app and the Node.js backend via REST API</a:t>
            </a:r>
          </a:p>
          <a:p>
            <a:pPr algn="l" marL="0" indent="0" lvl="0">
              <a:lnSpc>
                <a:spcPts val="2898"/>
              </a:lnSpc>
            </a:pPr>
            <a:r>
              <a:rPr lang="en-US" b="true" sz="1789">
                <a:solidFill>
                  <a:srgbClr val="FFFFFF"/>
                </a:solidFill>
                <a:latin typeface="Quicksand Medium"/>
                <a:ea typeface="Quicksand Medium"/>
                <a:cs typeface="Quicksand Medium"/>
                <a:sym typeface="Quicksand Medium"/>
              </a:rPr>
              <a:t>• Session Management: Tokens used to maintain secure, authenticated sessions throughout app use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Freeform 2" id="2"/>
          <p:cNvSpPr/>
          <p:nvPr/>
        </p:nvSpPr>
        <p:spPr>
          <a:xfrm flipH="false" flipV="false" rot="0">
            <a:off x="11081585" y="-205667"/>
            <a:ext cx="6562579" cy="11029545"/>
          </a:xfrm>
          <a:custGeom>
            <a:avLst/>
            <a:gdLst/>
            <a:ahLst/>
            <a:cxnLst/>
            <a:rect r="r" b="b" t="t" l="l"/>
            <a:pathLst>
              <a:path h="11029545" w="6562579">
                <a:moveTo>
                  <a:pt x="0" y="0"/>
                </a:moveTo>
                <a:lnTo>
                  <a:pt x="6562579" y="0"/>
                </a:lnTo>
                <a:lnTo>
                  <a:pt x="6562579" y="11029544"/>
                </a:lnTo>
                <a:lnTo>
                  <a:pt x="0" y="11029544"/>
                </a:lnTo>
                <a:lnTo>
                  <a:pt x="0" y="0"/>
                </a:lnTo>
                <a:close/>
              </a:path>
            </a:pathLst>
          </a:custGeom>
          <a:blipFill>
            <a:blip r:embed="rId2"/>
            <a:stretch>
              <a:fillRect l="0" t="0" r="0" b="0"/>
            </a:stretch>
          </a:blipFill>
        </p:spPr>
      </p:sp>
      <p:sp>
        <p:nvSpPr>
          <p:cNvPr name="TextBox 3" id="3"/>
          <p:cNvSpPr txBox="true"/>
          <p:nvPr/>
        </p:nvSpPr>
        <p:spPr>
          <a:xfrm rot="0">
            <a:off x="1219200" y="4143612"/>
            <a:ext cx="8936763" cy="993142"/>
          </a:xfrm>
          <a:prstGeom prst="rect">
            <a:avLst/>
          </a:prstGeom>
        </p:spPr>
        <p:txBody>
          <a:bodyPr anchor="t" rtlCol="false" tIns="0" lIns="0" bIns="0" rIns="0">
            <a:spAutoFit/>
          </a:bodyPr>
          <a:lstStyle/>
          <a:p>
            <a:pPr algn="l" marL="0" indent="0" lvl="0">
              <a:lnSpc>
                <a:spcPts val="7630"/>
              </a:lnSpc>
            </a:pPr>
            <a:r>
              <a:rPr lang="en-US" b="true" sz="7000" spc="-294">
                <a:solidFill>
                  <a:srgbClr val="3139A8"/>
                </a:solidFill>
                <a:latin typeface="Be Vietnam Ultra-Bold"/>
                <a:ea typeface="Be Vietnam Ultra-Bold"/>
                <a:cs typeface="Be Vietnam Ultra-Bold"/>
                <a:sym typeface="Be Vietnam Ultra-Bold"/>
              </a:rPr>
              <a:t>HOME DASHBOARD</a:t>
            </a:r>
          </a:p>
        </p:txBody>
      </p:sp>
      <p:sp>
        <p:nvSpPr>
          <p:cNvPr name="TextBox 4" id="4"/>
          <p:cNvSpPr txBox="true"/>
          <p:nvPr/>
        </p:nvSpPr>
        <p:spPr>
          <a:xfrm rot="0">
            <a:off x="1219200" y="5288043"/>
            <a:ext cx="8618794" cy="2436495"/>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The central hub of the KiloBytes app provides seamless access to all core features:</a:t>
            </a:r>
          </a:p>
          <a:p>
            <a:pPr algn="l" marL="0" indent="0" lvl="0">
              <a:lnSpc>
                <a:spcPts val="3239"/>
              </a:lnSpc>
            </a:pPr>
            <a:r>
              <a:rPr lang="en-US" b="true" sz="1999">
                <a:solidFill>
                  <a:srgbClr val="3139A8"/>
                </a:solidFill>
                <a:latin typeface="Quicksand Medium"/>
                <a:ea typeface="Quicksand Medium"/>
                <a:cs typeface="Quicksand Medium"/>
                <a:sym typeface="Quicksand Medium"/>
              </a:rPr>
              <a:t>• Start Measurement – Initiate real-time QoS/QoE data collection</a:t>
            </a:r>
          </a:p>
          <a:p>
            <a:pPr algn="l" marL="0" indent="0" lvl="0">
              <a:lnSpc>
                <a:spcPts val="3239"/>
              </a:lnSpc>
            </a:pPr>
            <a:r>
              <a:rPr lang="en-US" b="true" sz="1999">
                <a:solidFill>
                  <a:srgbClr val="3139A8"/>
                </a:solidFill>
                <a:latin typeface="Quicksand Medium"/>
                <a:ea typeface="Quicksand Medium"/>
                <a:cs typeface="Quicksand Medium"/>
                <a:sym typeface="Quicksand Medium"/>
              </a:rPr>
              <a:t>• View History – Browse past measurement records and trends</a:t>
            </a:r>
          </a:p>
          <a:p>
            <a:pPr algn="l" marL="0" indent="0" lvl="0">
              <a:lnSpc>
                <a:spcPts val="3239"/>
              </a:lnSpc>
            </a:pPr>
            <a:r>
              <a:rPr lang="en-US" b="true" sz="1999">
                <a:solidFill>
                  <a:srgbClr val="3139A8"/>
                </a:solidFill>
                <a:latin typeface="Quicksand Medium"/>
                <a:ea typeface="Quicksand Medium"/>
                <a:cs typeface="Quicksand Medium"/>
                <a:sym typeface="Quicksand Medium"/>
              </a:rPr>
              <a:t>• Access Heatmap – Explore geographic network quality visualization</a:t>
            </a:r>
          </a:p>
          <a:p>
            <a:pPr algn="l" marL="0" indent="0" lvl="0">
              <a:lnSpc>
                <a:spcPts val="3239"/>
              </a:lnSpc>
            </a:pPr>
            <a:r>
              <a:rPr lang="en-US" b="true" sz="1999">
                <a:solidFill>
                  <a:srgbClr val="3139A8"/>
                </a:solidFill>
                <a:latin typeface="Quicksand Medium"/>
                <a:ea typeface="Quicksand Medium"/>
                <a:cs typeface="Quicksand Medium"/>
                <a:sym typeface="Quicksand Medium"/>
              </a:rPr>
              <a:t>• Settings – Manage account preferences and sync options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3181656"/>
            <a:ext cx="7924800" cy="1955099"/>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MEASUREMENT INTERFACE</a:t>
            </a:r>
          </a:p>
        </p:txBody>
      </p:sp>
      <p:sp>
        <p:nvSpPr>
          <p:cNvPr name="TextBox 3" id="3"/>
          <p:cNvSpPr txBox="true"/>
          <p:nvPr/>
        </p:nvSpPr>
        <p:spPr>
          <a:xfrm rot="0">
            <a:off x="1219200" y="5288043"/>
            <a:ext cx="8281289" cy="1617345"/>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The measurement interface guides subscribers through a seamless testing process. Real-time metrics are collected and displayed instantly, followed by a QoE feedback form to capture subjective user experience alongside technical data.</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39092"/>
            <a:ext cx="4022366" cy="98107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User Initiates Test: The subscriber taps the "Start Measurement" button on the home dashboard to begin the network performance test session.</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400550"/>
            <a:ext cx="4022366" cy="98107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Real-Time Metrics Collection: Latency, jitter, packet loss, download and upload speeds are measured live and displayed dynamically on screen as the test runs.</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62008"/>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Results &amp; QoE Form: Calculated results are presented to the user, followed by the QoE rating form where subscribers evaluate signal stability, browsing, and streaming quality.</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3139A8"/>
        </a:solidFill>
      </p:bgPr>
    </p:bg>
    <p:spTree>
      <p:nvGrpSpPr>
        <p:cNvPr id="1" name=""/>
        <p:cNvGrpSpPr/>
        <p:nvPr/>
      </p:nvGrpSpPr>
      <p:grpSpPr>
        <a:xfrm>
          <a:off x="0" y="0"/>
          <a:ext cx="0" cy="0"/>
          <a:chOff x="0" y="0"/>
          <a:chExt cx="0" cy="0"/>
        </a:xfrm>
      </p:grpSpPr>
      <p:sp>
        <p:nvSpPr>
          <p:cNvPr name="TextBox 2" id="2"/>
          <p:cNvSpPr txBox="true"/>
          <p:nvPr/>
        </p:nvSpPr>
        <p:spPr>
          <a:xfrm rot="0">
            <a:off x="4951032" y="2202213"/>
            <a:ext cx="8385935" cy="1959259"/>
          </a:xfrm>
          <a:prstGeom prst="rect">
            <a:avLst/>
          </a:prstGeom>
        </p:spPr>
        <p:txBody>
          <a:bodyPr anchor="t" rtlCol="false" tIns="0" lIns="0" bIns="0" rIns="0">
            <a:spAutoFit/>
          </a:bodyPr>
          <a:lstStyle/>
          <a:p>
            <a:pPr algn="ctr" marL="0" indent="0" lvl="0">
              <a:lnSpc>
                <a:spcPts val="15242"/>
              </a:lnSpc>
            </a:pPr>
            <a:r>
              <a:rPr lang="en-US" b="true" sz="13370" spc="-561">
                <a:solidFill>
                  <a:srgbClr val="FFFFFF"/>
                </a:solidFill>
                <a:latin typeface="Be Vietnam Ultra-Bold"/>
                <a:ea typeface="Be Vietnam Ultra-Bold"/>
                <a:cs typeface="Be Vietnam Ultra-Bold"/>
                <a:sym typeface="Be Vietnam Ultra-Bold"/>
              </a:rPr>
              <a:t>REAL-TIME</a:t>
            </a:r>
          </a:p>
        </p:txBody>
      </p:sp>
      <p:sp>
        <p:nvSpPr>
          <p:cNvPr name="TextBox 3" id="3"/>
          <p:cNvSpPr txBox="true"/>
          <p:nvPr/>
        </p:nvSpPr>
        <p:spPr>
          <a:xfrm rot="0">
            <a:off x="2907979" y="6055042"/>
            <a:ext cx="12472043" cy="2436570"/>
          </a:xfrm>
          <a:prstGeom prst="rect">
            <a:avLst/>
          </a:prstGeom>
        </p:spPr>
        <p:txBody>
          <a:bodyPr anchor="t" rtlCol="false" tIns="0" lIns="0" bIns="0" rIns="0">
            <a:spAutoFit/>
          </a:bodyPr>
          <a:lstStyle/>
          <a:p>
            <a:pPr algn="ctr" marL="0" indent="0" lvl="0">
              <a:lnSpc>
                <a:spcPts val="3237"/>
              </a:lnSpc>
            </a:pPr>
            <a:r>
              <a:rPr lang="en-US" b="true" sz="1998">
                <a:solidFill>
                  <a:srgbClr val="FFFFFF"/>
                </a:solidFill>
                <a:latin typeface="Quicksand Medium"/>
                <a:ea typeface="Quicksand Medium"/>
                <a:cs typeface="Quicksand Medium"/>
                <a:sym typeface="Quicksand Medium"/>
              </a:rPr>
              <a:t>The KiloBytes app features an animated speedometer gauge that displays download and upload speeds in real time during network tests. As the measurement runs, the gauge needle sweeps dynamically to reflect current speed values, giving users immediate, intuitive feedback on their network performance. The visual design uses color-coded zones — green for fast speeds, orange for moderate, and red for slow — making results easy to interpret at a glance. This real-time display enhances user engagement and ensures transparency throughout the measurement process.</a:t>
            </a:r>
          </a:p>
        </p:txBody>
      </p:sp>
      <p:sp>
        <p:nvSpPr>
          <p:cNvPr name="TextBox 4" id="4"/>
          <p:cNvSpPr txBox="true"/>
          <p:nvPr/>
        </p:nvSpPr>
        <p:spPr>
          <a:xfrm rot="0">
            <a:off x="3557183" y="4340542"/>
            <a:ext cx="11173634" cy="1438248"/>
          </a:xfrm>
          <a:prstGeom prst="rect">
            <a:avLst/>
          </a:prstGeom>
        </p:spPr>
        <p:txBody>
          <a:bodyPr anchor="t" rtlCol="false" tIns="0" lIns="0" bIns="0" rIns="0">
            <a:spAutoFit/>
          </a:bodyPr>
          <a:lstStyle/>
          <a:p>
            <a:pPr algn="ctr" marL="0" indent="0" lvl="0">
              <a:lnSpc>
                <a:spcPts val="5695"/>
              </a:lnSpc>
              <a:spcBef>
                <a:spcPct val="0"/>
              </a:spcBef>
            </a:pPr>
            <a:r>
              <a:rPr lang="en-US" b="true" sz="4996" spc="-209">
                <a:solidFill>
                  <a:srgbClr val="FFFFFF"/>
                </a:solidFill>
                <a:latin typeface="Be Vietnam Ultra-Bold"/>
                <a:ea typeface="Be Vietnam Ultra-Bold"/>
                <a:cs typeface="Be Vietnam Ultra-Bold"/>
                <a:sym typeface="Be Vietnam Ultra-Bold"/>
              </a:rPr>
              <a:t>SPEEDOMETER: INSTANT VISUAL FEEDBACK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p:nvPr/>
        </p:nvGrpSpPr>
        <p:grpSpPr>
          <a:xfrm rot="0">
            <a:off x="10100733" y="-633455"/>
            <a:ext cx="9434011" cy="11553911"/>
            <a:chOff x="0" y="0"/>
            <a:chExt cx="2385741" cy="2921836"/>
          </a:xfrm>
        </p:grpSpPr>
        <p:sp>
          <p:nvSpPr>
            <p:cNvPr name="Freeform 3" id="3"/>
            <p:cNvSpPr/>
            <p:nvPr/>
          </p:nvSpPr>
          <p:spPr>
            <a:xfrm flipH="false" flipV="false" rot="0">
              <a:off x="0" y="0"/>
              <a:ext cx="2385741" cy="2921836"/>
            </a:xfrm>
            <a:custGeom>
              <a:avLst/>
              <a:gdLst/>
              <a:ahLst/>
              <a:cxnLst/>
              <a:rect r="r" b="b" t="t" l="l"/>
              <a:pathLst>
                <a:path h="2921836" w="2385741">
                  <a:moveTo>
                    <a:pt x="0" y="0"/>
                  </a:moveTo>
                  <a:lnTo>
                    <a:pt x="2385741" y="0"/>
                  </a:lnTo>
                  <a:lnTo>
                    <a:pt x="2385741" y="2921836"/>
                  </a:lnTo>
                  <a:lnTo>
                    <a:pt x="0" y="2921836"/>
                  </a:lnTo>
                  <a:close/>
                </a:path>
              </a:pathLst>
            </a:custGeom>
            <a:solidFill>
              <a:srgbClr val="F1EBE5"/>
            </a:solidFill>
          </p:spPr>
        </p:sp>
        <p:sp>
          <p:nvSpPr>
            <p:cNvPr name="TextBox 4" id="4"/>
            <p:cNvSpPr txBox="true"/>
            <p:nvPr/>
          </p:nvSpPr>
          <p:spPr>
            <a:xfrm>
              <a:off x="0" y="19050"/>
              <a:ext cx="2385741" cy="2902786"/>
            </a:xfrm>
            <a:prstGeom prst="rect">
              <a:avLst/>
            </a:prstGeom>
          </p:spPr>
          <p:txBody>
            <a:bodyPr anchor="ctr" rtlCol="false" tIns="50800" lIns="50800" bIns="50800" rIns="50800"/>
            <a:lstStyle/>
            <a:p>
              <a:pPr algn="ctr" marL="0" indent="0" lvl="0">
                <a:lnSpc>
                  <a:spcPts val="2266"/>
                </a:lnSpc>
              </a:pPr>
            </a:p>
          </p:txBody>
        </p:sp>
      </p:grpSp>
      <p:sp>
        <p:nvSpPr>
          <p:cNvPr name="Freeform 5" id="5"/>
          <p:cNvSpPr/>
          <p:nvPr/>
        </p:nvSpPr>
        <p:spPr>
          <a:xfrm flipH="false" flipV="false" rot="0">
            <a:off x="11824115" y="279609"/>
            <a:ext cx="5565849" cy="8579343"/>
          </a:xfrm>
          <a:custGeom>
            <a:avLst/>
            <a:gdLst/>
            <a:ahLst/>
            <a:cxnLst/>
            <a:rect r="r" b="b" t="t" l="l"/>
            <a:pathLst>
              <a:path h="8579343" w="5565849">
                <a:moveTo>
                  <a:pt x="0" y="0"/>
                </a:moveTo>
                <a:lnTo>
                  <a:pt x="5565849" y="0"/>
                </a:lnTo>
                <a:lnTo>
                  <a:pt x="5565849" y="8579343"/>
                </a:lnTo>
                <a:lnTo>
                  <a:pt x="0" y="8579343"/>
                </a:lnTo>
                <a:lnTo>
                  <a:pt x="0" y="0"/>
                </a:lnTo>
                <a:close/>
              </a:path>
            </a:pathLst>
          </a:custGeom>
          <a:blipFill>
            <a:blip r:embed="rId2"/>
            <a:stretch>
              <a:fillRect l="0" t="0" r="0" b="0"/>
            </a:stretch>
          </a:blipFill>
        </p:spPr>
      </p:sp>
      <p:sp>
        <p:nvSpPr>
          <p:cNvPr name="TextBox 6" id="6"/>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HISTORICAL RECORDS</a:t>
            </a:r>
          </a:p>
        </p:txBody>
      </p:sp>
      <p:sp>
        <p:nvSpPr>
          <p:cNvPr name="TextBox 7" id="7"/>
          <p:cNvSpPr txBox="true"/>
          <p:nvPr/>
        </p:nvSpPr>
        <p:spPr>
          <a:xfrm rot="0">
            <a:off x="1219200" y="5227717"/>
            <a:ext cx="7570711" cy="3255720"/>
          </a:xfrm>
          <a:prstGeom prst="rect">
            <a:avLst/>
          </a:prstGeom>
        </p:spPr>
        <p:txBody>
          <a:bodyPr anchor="t" rtlCol="false" tIns="0" lIns="0" bIns="0" rIns="0">
            <a:spAutoFit/>
          </a:bodyPr>
          <a:lstStyle/>
          <a:p>
            <a:pPr algn="l" marL="0" indent="0" lvl="0">
              <a:lnSpc>
                <a:spcPts val="3237"/>
              </a:lnSpc>
            </a:pPr>
            <a:r>
              <a:rPr lang="en-US" b="true" sz="1998">
                <a:solidFill>
                  <a:srgbClr val="FFFFFF"/>
                </a:solidFill>
                <a:latin typeface="Quicksand Medium"/>
                <a:ea typeface="Quicksand Medium"/>
                <a:cs typeface="Quicksand Medium"/>
                <a:sym typeface="Quicksand Medium"/>
              </a:rPr>
              <a:t>KiloBytes stores all past measurements locally and syncs them to the cloud, allowing users to review their complete network history at any time.</a:t>
            </a:r>
          </a:p>
          <a:p>
            <a:pPr algn="l" marL="0" indent="0" lvl="0">
              <a:lnSpc>
                <a:spcPts val="3237"/>
              </a:lnSpc>
            </a:pPr>
            <a:r>
              <a:rPr lang="en-US" b="true" sz="1998">
                <a:solidFill>
                  <a:srgbClr val="FFFFFF"/>
                </a:solidFill>
                <a:latin typeface="Quicksand Medium"/>
                <a:ea typeface="Quicksand Medium"/>
                <a:cs typeface="Quicksand Medium"/>
                <a:sym typeface="Quicksand Medium"/>
              </a:rPr>
              <a:t>• View past download and upload speeds</a:t>
            </a:r>
          </a:p>
          <a:p>
            <a:pPr algn="l" marL="0" indent="0" lvl="0">
              <a:lnSpc>
                <a:spcPts val="3237"/>
              </a:lnSpc>
            </a:pPr>
            <a:r>
              <a:rPr lang="en-US" b="true" sz="1998">
                <a:solidFill>
                  <a:srgbClr val="FFFFFF"/>
                </a:solidFill>
                <a:latin typeface="Quicksand Medium"/>
                <a:ea typeface="Quicksand Medium"/>
                <a:cs typeface="Quicksand Medium"/>
                <a:sym typeface="Quicksand Medium"/>
              </a:rPr>
              <a:t>• Track latency, jitter, and packet loss over time</a:t>
            </a:r>
          </a:p>
          <a:p>
            <a:pPr algn="l" marL="0" indent="0" lvl="0">
              <a:lnSpc>
                <a:spcPts val="3237"/>
              </a:lnSpc>
            </a:pPr>
            <a:r>
              <a:rPr lang="en-US" b="true" sz="1998">
                <a:solidFill>
                  <a:srgbClr val="FFFFFF"/>
                </a:solidFill>
                <a:latin typeface="Quicksand Medium"/>
                <a:ea typeface="Quicksand Medium"/>
                <a:cs typeface="Quicksand Medium"/>
                <a:sym typeface="Quicksand Medium"/>
              </a:rPr>
              <a:t>• Access location, date, and time for each record</a:t>
            </a:r>
          </a:p>
          <a:p>
            <a:pPr algn="l" marL="0" indent="0" lvl="0">
              <a:lnSpc>
                <a:spcPts val="3237"/>
              </a:lnSpc>
            </a:pPr>
            <a:r>
              <a:rPr lang="en-US" b="true" sz="1998">
                <a:solidFill>
                  <a:srgbClr val="FFFFFF"/>
                </a:solidFill>
                <a:latin typeface="Quicksand Medium"/>
                <a:ea typeface="Quicksand Medium"/>
                <a:cs typeface="Quicksand Medium"/>
                <a:sym typeface="Quicksand Medium"/>
              </a:rPr>
              <a:t>• Identify personal usage trends and patterns</a:t>
            </a:r>
          </a:p>
          <a:p>
            <a:pPr algn="l" marL="0" indent="0" lvl="0">
              <a:lnSpc>
                <a:spcPts val="3237"/>
              </a:lnSpc>
            </a:pPr>
            <a:r>
              <a:rPr lang="en-US" b="true" sz="1998">
                <a:solidFill>
                  <a:srgbClr val="FFFFFF"/>
                </a:solidFill>
                <a:latin typeface="Quicksand Medium"/>
                <a:ea typeface="Quicksand Medium"/>
                <a:cs typeface="Quicksand Medium"/>
                <a:sym typeface="Quicksand Medium"/>
              </a:rPr>
              <a:t>• Supports informed decisions through personal data analysis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59724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1219200" y="3861038"/>
            <a:ext cx="8385935" cy="102489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HEATMAP OVERVIEW</a:t>
            </a:r>
          </a:p>
        </p:txBody>
      </p:sp>
      <p:sp>
        <p:nvSpPr>
          <p:cNvPr name="TextBox 6" id="6"/>
          <p:cNvSpPr txBox="true"/>
          <p:nvPr/>
        </p:nvSpPr>
        <p:spPr>
          <a:xfrm rot="0">
            <a:off x="1219200" y="5227717"/>
            <a:ext cx="7570711" cy="3255720"/>
          </a:xfrm>
          <a:prstGeom prst="rect">
            <a:avLst/>
          </a:prstGeom>
        </p:spPr>
        <p:txBody>
          <a:bodyPr anchor="t" rtlCol="false" tIns="0" lIns="0" bIns="0" rIns="0">
            <a:spAutoFit/>
          </a:bodyPr>
          <a:lstStyle/>
          <a:p>
            <a:pPr algn="l" marL="0" indent="0" lvl="0">
              <a:lnSpc>
                <a:spcPts val="3237"/>
              </a:lnSpc>
            </a:pPr>
            <a:r>
              <a:rPr lang="en-US" b="true" sz="1998">
                <a:solidFill>
                  <a:srgbClr val="FFFFFF"/>
                </a:solidFill>
                <a:latin typeface="Quicksand Medium"/>
                <a:ea typeface="Quicksand Medium"/>
                <a:cs typeface="Quicksand Medium"/>
                <a:sym typeface="Quicksand Medium"/>
              </a:rPr>
              <a:t>The KiloBytes heatmap converts collected network data into a color-coded geographic visualization, providing instant insights into network quality across different locations.</a:t>
            </a:r>
          </a:p>
          <a:p>
            <a:pPr algn="l" marL="0" indent="0" lvl="0">
              <a:lnSpc>
                <a:spcPts val="3237"/>
              </a:lnSpc>
            </a:pPr>
            <a:r>
              <a:rPr lang="en-US" b="true" sz="1998">
                <a:solidFill>
                  <a:srgbClr val="FFFFFF"/>
                </a:solidFill>
                <a:latin typeface="Quicksand Medium"/>
                <a:ea typeface="Quicksand Medium"/>
                <a:cs typeface="Quicksand Medium"/>
                <a:sym typeface="Quicksand Medium"/>
              </a:rPr>
              <a:t>• Color-coded markers highlight network performance zones</a:t>
            </a:r>
          </a:p>
          <a:p>
            <a:pPr algn="l" marL="0" indent="0" lvl="0">
              <a:lnSpc>
                <a:spcPts val="3237"/>
              </a:lnSpc>
            </a:pPr>
            <a:r>
              <a:rPr lang="en-US" b="true" sz="1998">
                <a:solidFill>
                  <a:srgbClr val="FFFFFF"/>
                </a:solidFill>
                <a:latin typeface="Quicksand Medium"/>
                <a:ea typeface="Quicksand Medium"/>
                <a:cs typeface="Quicksand Medium"/>
                <a:sym typeface="Quicksand Medium"/>
              </a:rPr>
              <a:t>• Identifies poor network areas and dead zones at a glance</a:t>
            </a:r>
          </a:p>
          <a:p>
            <a:pPr algn="l" marL="0" indent="0" lvl="0">
              <a:lnSpc>
                <a:spcPts val="3237"/>
              </a:lnSpc>
            </a:pPr>
            <a:r>
              <a:rPr lang="en-US" b="true" sz="1998">
                <a:solidFill>
                  <a:srgbClr val="FFFFFF"/>
                </a:solidFill>
                <a:latin typeface="Quicksand Medium"/>
                <a:ea typeface="Quicksand Medium"/>
                <a:cs typeface="Quicksand Medium"/>
                <a:sym typeface="Quicksand Medium"/>
              </a:rPr>
              <a:t>• Enables comparison of network quality across regions</a:t>
            </a:r>
          </a:p>
          <a:p>
            <a:pPr algn="l" marL="0" indent="0" lvl="0">
              <a:lnSpc>
                <a:spcPts val="3237"/>
              </a:lnSpc>
            </a:pPr>
            <a:r>
              <a:rPr lang="en-US" b="true" sz="1998">
                <a:solidFill>
                  <a:srgbClr val="FFFFFF"/>
                </a:solidFill>
                <a:latin typeface="Quicksand Medium"/>
                <a:ea typeface="Quicksand Medium"/>
                <a:cs typeface="Quicksand Medium"/>
                <a:sym typeface="Quicksand Medium"/>
              </a:rPr>
              <a:t>• Helps subscribers and admins make data-driven decisions</a:t>
            </a:r>
          </a:p>
          <a:p>
            <a:pPr algn="l" marL="0" indent="0" lvl="0">
              <a:lnSpc>
                <a:spcPts val="3237"/>
              </a:lnSpc>
            </a:pPr>
            <a:r>
              <a:rPr lang="en-US" b="true" sz="1998">
                <a:solidFill>
                  <a:srgbClr val="FFFFFF"/>
                </a:solidFill>
                <a:latin typeface="Quicksand Medium"/>
                <a:ea typeface="Quicksand Medium"/>
                <a:cs typeface="Quicksand Medium"/>
                <a:sym typeface="Quicksand Medium"/>
              </a:rPr>
              <a:t>• Interactive map interface for seamless exploration</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3181656"/>
            <a:ext cx="7924800" cy="1955099"/>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HEATMAP TECHNICAL DESIGN</a:t>
            </a:r>
          </a:p>
        </p:txBody>
      </p:sp>
      <p:sp>
        <p:nvSpPr>
          <p:cNvPr name="TextBox 3" id="3"/>
          <p:cNvSpPr txBox="true"/>
          <p:nvPr/>
        </p:nvSpPr>
        <p:spPr>
          <a:xfrm rot="0">
            <a:off x="1219200" y="5288043"/>
            <a:ext cx="8281289" cy="16174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The heatmap uses a color-coded marker system to represent network quality visually. Each marker reflects real measured data collected from subscribers, enabling intuitive geographic analysis of network performance across different locations and zones.</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29567"/>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Marker Colors: Green indicates Good network quality, Orange indicates Moderate performance, and Red indicates Poor connectivity. Colors are assigned based on computed latency and speed thresholds from collected measurements.</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391025"/>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Density Circles: Each marker displays a surrounding radius circle whose size scales proportionally with measured latency. Higher latency produces a larger circle, visually emphasizing areas with degraded network response times.</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52483"/>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Interactive Markers: Tapping any marker on the heatmap reveals detailed measurement information including latency, download speed, upload speed, packet loss, QoE rating, date, and the subscriber's location at time of measurement.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139A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477201" y="1121159"/>
            <a:ext cx="6042413" cy="8044682"/>
            <a:chOff x="0" y="0"/>
            <a:chExt cx="3663950" cy="4878070"/>
          </a:xfrm>
        </p:grpSpPr>
        <p:sp>
          <p:nvSpPr>
            <p:cNvPr name="Freeform 3" id="3"/>
            <p:cNvSpPr/>
            <p:nvPr/>
          </p:nvSpPr>
          <p:spPr>
            <a:xfrm flipH="false" flipV="false" rot="0">
              <a:off x="31750" y="31750"/>
              <a:ext cx="3600450" cy="4814570"/>
            </a:xfrm>
            <a:custGeom>
              <a:avLst/>
              <a:gdLst/>
              <a:ahLst/>
              <a:cxnLst/>
              <a:rect r="r" b="b" t="t" l="l"/>
              <a:pathLst>
                <a:path h="4814570" w="3600450">
                  <a:moveTo>
                    <a:pt x="0" y="0"/>
                  </a:moveTo>
                  <a:lnTo>
                    <a:pt x="3600450" y="0"/>
                  </a:lnTo>
                  <a:lnTo>
                    <a:pt x="3600450" y="4814570"/>
                  </a:lnTo>
                  <a:lnTo>
                    <a:pt x="0" y="4814570"/>
                  </a:lnTo>
                  <a:close/>
                </a:path>
              </a:pathLst>
            </a:custGeom>
            <a:blipFill>
              <a:blip r:embed="rId2"/>
              <a:stretch>
                <a:fillRect l="0" t="-105" r="0" b="-105"/>
              </a:stretch>
            </a:blipFill>
          </p:spPr>
        </p:sp>
        <p:sp>
          <p:nvSpPr>
            <p:cNvPr name="Freeform 4" id="4"/>
            <p:cNvSpPr/>
            <p:nvPr/>
          </p:nvSpPr>
          <p:spPr>
            <a:xfrm flipH="false" flipV="false" rot="0">
              <a:off x="0" y="0"/>
              <a:ext cx="3663950" cy="4878070"/>
            </a:xfrm>
            <a:custGeom>
              <a:avLst/>
              <a:gdLst/>
              <a:ahLst/>
              <a:cxnLst/>
              <a:rect r="r" b="b" t="t" l="l"/>
              <a:pathLst>
                <a:path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sp>
      </p:grpSp>
      <p:sp>
        <p:nvSpPr>
          <p:cNvPr name="TextBox 5" id="5"/>
          <p:cNvSpPr txBox="true"/>
          <p:nvPr/>
        </p:nvSpPr>
        <p:spPr>
          <a:xfrm rot="0">
            <a:off x="8873365"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ADMINISTRATIVE DASHBOARD</a:t>
            </a:r>
          </a:p>
        </p:txBody>
      </p:sp>
      <p:sp>
        <p:nvSpPr>
          <p:cNvPr name="TextBox 6" id="6"/>
          <p:cNvSpPr txBox="true"/>
          <p:nvPr/>
        </p:nvSpPr>
        <p:spPr>
          <a:xfrm rot="0">
            <a:off x="8873365" y="5227717"/>
            <a:ext cx="7570711" cy="3255720"/>
          </a:xfrm>
          <a:prstGeom prst="rect">
            <a:avLst/>
          </a:prstGeom>
        </p:spPr>
        <p:txBody>
          <a:bodyPr anchor="t" rtlCol="false" tIns="0" lIns="0" bIns="0" rIns="0">
            <a:spAutoFit/>
          </a:bodyPr>
          <a:lstStyle/>
          <a:p>
            <a:pPr algn="l" marL="0" indent="0" lvl="0">
              <a:lnSpc>
                <a:spcPts val="3237"/>
              </a:lnSpc>
            </a:pPr>
            <a:r>
              <a:rPr lang="en-US" b="true" sz="1998">
                <a:solidFill>
                  <a:srgbClr val="FFFFFF"/>
                </a:solidFill>
                <a:latin typeface="Quicksand Medium"/>
                <a:ea typeface="Quicksand Medium"/>
                <a:cs typeface="Quicksand Medium"/>
                <a:sym typeface="Quicksand Medium"/>
              </a:rPr>
              <a:t>The admin dashboard provides network administrators with comprehensive monitoring tools. Administrators can view all registered subscribers and their collected measurement data, analyze network quality across different geographic locations and user segments, and apply advanced filtering options to drill down into specific metrics. This centralized control panel enables data-driven decisions for improving mobile network performance and subscriber experience.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6C892"/>
        </a:solidFill>
      </p:bgPr>
    </p:bg>
    <p:spTree>
      <p:nvGrpSpPr>
        <p:cNvPr id="1" name=""/>
        <p:cNvGrpSpPr/>
        <p:nvPr/>
      </p:nvGrpSpPr>
      <p:grpSpPr>
        <a:xfrm>
          <a:off x="0" y="0"/>
          <a:ext cx="0" cy="0"/>
          <a:chOff x="0" y="0"/>
          <a:chExt cx="0" cy="0"/>
        </a:xfrm>
      </p:grpSpPr>
      <p:grpSp>
        <p:nvGrpSpPr>
          <p:cNvPr name="Group 2" id="2"/>
          <p:cNvGrpSpPr/>
          <p:nvPr/>
        </p:nvGrpSpPr>
        <p:grpSpPr>
          <a:xfrm rot="0">
            <a:off x="10100733" y="-633455"/>
            <a:ext cx="9434011" cy="11553911"/>
            <a:chOff x="0" y="0"/>
            <a:chExt cx="2385741" cy="2921836"/>
          </a:xfrm>
        </p:grpSpPr>
        <p:sp>
          <p:nvSpPr>
            <p:cNvPr name="Freeform 3" id="3"/>
            <p:cNvSpPr/>
            <p:nvPr/>
          </p:nvSpPr>
          <p:spPr>
            <a:xfrm flipH="false" flipV="false" rot="0">
              <a:off x="0" y="0"/>
              <a:ext cx="2385741" cy="2921836"/>
            </a:xfrm>
            <a:custGeom>
              <a:avLst/>
              <a:gdLst/>
              <a:ahLst/>
              <a:cxnLst/>
              <a:rect r="r" b="b" t="t" l="l"/>
              <a:pathLst>
                <a:path h="2921836" w="2385741">
                  <a:moveTo>
                    <a:pt x="0" y="0"/>
                  </a:moveTo>
                  <a:lnTo>
                    <a:pt x="2385741" y="0"/>
                  </a:lnTo>
                  <a:lnTo>
                    <a:pt x="2385741" y="2921836"/>
                  </a:lnTo>
                  <a:lnTo>
                    <a:pt x="0" y="2921836"/>
                  </a:lnTo>
                  <a:close/>
                </a:path>
              </a:pathLst>
            </a:custGeom>
            <a:solidFill>
              <a:srgbClr val="F1EBE5"/>
            </a:solidFill>
          </p:spPr>
        </p:sp>
        <p:sp>
          <p:nvSpPr>
            <p:cNvPr name="TextBox 4" id="4"/>
            <p:cNvSpPr txBox="true"/>
            <p:nvPr/>
          </p:nvSpPr>
          <p:spPr>
            <a:xfrm>
              <a:off x="0" y="19050"/>
              <a:ext cx="2385741" cy="2902786"/>
            </a:xfrm>
            <a:prstGeom prst="rect">
              <a:avLst/>
            </a:prstGeom>
          </p:spPr>
          <p:txBody>
            <a:bodyPr anchor="ctr" rtlCol="false" tIns="50800" lIns="50800" bIns="50800" rIns="50800"/>
            <a:lstStyle/>
            <a:p>
              <a:pPr algn="ctr" marL="0" indent="0" lvl="0">
                <a:lnSpc>
                  <a:spcPts val="2266"/>
                </a:lnSpc>
              </a:pPr>
            </a:p>
          </p:txBody>
        </p:sp>
      </p:grpSp>
      <p:sp>
        <p:nvSpPr>
          <p:cNvPr name="Freeform 5" id="5"/>
          <p:cNvSpPr/>
          <p:nvPr/>
        </p:nvSpPr>
        <p:spPr>
          <a:xfrm flipH="false" flipV="false" rot="0">
            <a:off x="12492738" y="584441"/>
            <a:ext cx="4124039" cy="8166414"/>
          </a:xfrm>
          <a:custGeom>
            <a:avLst/>
            <a:gdLst/>
            <a:ahLst/>
            <a:cxnLst/>
            <a:rect r="r" b="b" t="t" l="l"/>
            <a:pathLst>
              <a:path h="8166414" w="4124039">
                <a:moveTo>
                  <a:pt x="0" y="0"/>
                </a:moveTo>
                <a:lnTo>
                  <a:pt x="4124039" y="0"/>
                </a:lnTo>
                <a:lnTo>
                  <a:pt x="4124039" y="8166414"/>
                </a:lnTo>
                <a:lnTo>
                  <a:pt x="0" y="8166414"/>
                </a:lnTo>
                <a:lnTo>
                  <a:pt x="0" y="0"/>
                </a:lnTo>
                <a:close/>
              </a:path>
            </a:pathLst>
          </a:custGeom>
          <a:blipFill>
            <a:blip r:embed="rId2"/>
            <a:stretch>
              <a:fillRect l="0" t="0" r="0" b="0"/>
            </a:stretch>
          </a:blipFill>
        </p:spPr>
      </p:sp>
      <p:sp>
        <p:nvSpPr>
          <p:cNvPr name="TextBox 6" id="6"/>
          <p:cNvSpPr txBox="true"/>
          <p:nvPr/>
        </p:nvSpPr>
        <p:spPr>
          <a:xfrm rot="0">
            <a:off x="1219200" y="2851388"/>
            <a:ext cx="8385935" cy="2034540"/>
          </a:xfrm>
          <a:prstGeom prst="rect">
            <a:avLst/>
          </a:prstGeom>
        </p:spPr>
        <p:txBody>
          <a:bodyPr anchor="t" rtlCol="false" tIns="0" lIns="0" bIns="0" rIns="0">
            <a:spAutoFit/>
          </a:bodyPr>
          <a:lstStyle/>
          <a:p>
            <a:pPr algn="l" marL="0" indent="0" lvl="0">
              <a:lnSpc>
                <a:spcPts val="7979"/>
              </a:lnSpc>
            </a:pPr>
            <a:r>
              <a:rPr lang="en-US" b="true" sz="6999" spc="-293">
                <a:solidFill>
                  <a:srgbClr val="FFFFFF"/>
                </a:solidFill>
                <a:latin typeface="Be Vietnam Ultra-Bold"/>
                <a:ea typeface="Be Vietnam Ultra-Bold"/>
                <a:cs typeface="Be Vietnam Ultra-Bold"/>
                <a:sym typeface="Be Vietnam Ultra-Bold"/>
              </a:rPr>
              <a:t>ADVANCED FILTERING</a:t>
            </a:r>
          </a:p>
        </p:txBody>
      </p:sp>
      <p:sp>
        <p:nvSpPr>
          <p:cNvPr name="TextBox 7" id="7"/>
          <p:cNvSpPr txBox="true"/>
          <p:nvPr/>
        </p:nvSpPr>
        <p:spPr>
          <a:xfrm rot="0">
            <a:off x="1219200" y="5246767"/>
            <a:ext cx="7570711" cy="3749281"/>
          </a:xfrm>
          <a:prstGeom prst="rect">
            <a:avLst/>
          </a:prstGeom>
        </p:spPr>
        <p:txBody>
          <a:bodyPr anchor="t" rtlCol="false" tIns="0" lIns="0" bIns="0" rIns="0">
            <a:spAutoFit/>
          </a:bodyPr>
          <a:lstStyle/>
          <a:p>
            <a:pPr algn="l" marL="0" indent="0" lvl="0">
              <a:lnSpc>
                <a:spcPts val="2711"/>
              </a:lnSpc>
            </a:pPr>
            <a:r>
              <a:rPr lang="en-US" b="true" sz="1674">
                <a:solidFill>
                  <a:srgbClr val="FFFFFF"/>
                </a:solidFill>
                <a:latin typeface="Quicksand Medium"/>
                <a:ea typeface="Quicksand Medium"/>
                <a:cs typeface="Quicksand Medium"/>
                <a:sym typeface="Quicksand Medium"/>
              </a:rPr>
              <a:t>The KiloBytes admin dashboard features powerful filtering tools for in-depth network analysis:</a:t>
            </a:r>
          </a:p>
          <a:p>
            <a:pPr algn="l" marL="0" indent="0" lvl="0">
              <a:lnSpc>
                <a:spcPts val="2711"/>
              </a:lnSpc>
            </a:pPr>
            <a:r>
              <a:rPr lang="en-US" b="true" sz="1674">
                <a:solidFill>
                  <a:srgbClr val="FFFFFF"/>
                </a:solidFill>
                <a:latin typeface="Quicksand Medium"/>
                <a:ea typeface="Quicksand Medium"/>
                <a:cs typeface="Quicksand Medium"/>
                <a:sym typeface="Quicksand Medium"/>
              </a:rPr>
              <a:t>• Filter by Location: Narrow results to specific cities or regions for targeted insights.</a:t>
            </a:r>
          </a:p>
          <a:p>
            <a:pPr algn="l" marL="0" indent="0" lvl="0">
              <a:lnSpc>
                <a:spcPts val="2711"/>
              </a:lnSpc>
            </a:pPr>
            <a:r>
              <a:rPr lang="en-US" b="true" sz="1674">
                <a:solidFill>
                  <a:srgbClr val="FFFFFF"/>
                </a:solidFill>
                <a:latin typeface="Quicksand Medium"/>
                <a:ea typeface="Quicksand Medium"/>
                <a:cs typeface="Quicksand Medium"/>
                <a:sym typeface="Quicksand Medium"/>
              </a:rPr>
              <a:t>• Filter by User: Isolate individual subscriber data for personalized analysis.</a:t>
            </a:r>
          </a:p>
          <a:p>
            <a:pPr algn="l" marL="0" indent="0" lvl="0">
              <a:lnSpc>
                <a:spcPts val="2711"/>
              </a:lnSpc>
            </a:pPr>
            <a:r>
              <a:rPr lang="en-US" b="true" sz="1674">
                <a:solidFill>
                  <a:srgbClr val="FFFFFF"/>
                </a:solidFill>
                <a:latin typeface="Quicksand Medium"/>
                <a:ea typeface="Quicksand Medium"/>
                <a:cs typeface="Quicksand Medium"/>
                <a:sym typeface="Quicksand Medium"/>
              </a:rPr>
              <a:t>• Filter by Quality Metrics: Sort by latency, speed, packet loss, or QoE ratings.</a:t>
            </a:r>
          </a:p>
          <a:p>
            <a:pPr algn="l" marL="0" indent="0" lvl="0">
              <a:lnSpc>
                <a:spcPts val="2711"/>
              </a:lnSpc>
            </a:pPr>
            <a:r>
              <a:rPr lang="en-US" b="true" sz="1674">
                <a:solidFill>
                  <a:srgbClr val="FFFFFF"/>
                </a:solidFill>
                <a:latin typeface="Quicksand Medium"/>
                <a:ea typeface="Quicksand Medium"/>
                <a:cs typeface="Quicksand Medium"/>
                <a:sym typeface="Quicksand Medium"/>
              </a:rPr>
              <a:t>• Automatic Map Focus: The heatmap auto-zooms to the filtered area for instant geographic context.</a:t>
            </a:r>
          </a:p>
          <a:p>
            <a:pPr algn="l" marL="0" indent="0" lvl="0">
              <a:lnSpc>
                <a:spcPts val="2711"/>
              </a:lnSpc>
            </a:pPr>
            <a:r>
              <a:rPr lang="en-US" b="true" sz="1674">
                <a:solidFill>
                  <a:srgbClr val="FFFFFF"/>
                </a:solidFill>
                <a:latin typeface="Quicksand Medium"/>
                <a:ea typeface="Quicksand Medium"/>
                <a:cs typeface="Quicksand Medium"/>
                <a:sym typeface="Quicksand Medium"/>
              </a:rPr>
              <a:t>• Supports detailed network analysis, enabling administrators to identify problem zones efficiently.</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4143681"/>
            <a:ext cx="7924800" cy="993074"/>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KEY ACHIEVEMENTS</a:t>
            </a:r>
          </a:p>
        </p:txBody>
      </p:sp>
      <p:sp>
        <p:nvSpPr>
          <p:cNvPr name="TextBox 3" id="3"/>
          <p:cNvSpPr txBox="true"/>
          <p:nvPr/>
        </p:nvSpPr>
        <p:spPr>
          <a:xfrm rot="0">
            <a:off x="1219200" y="5288043"/>
            <a:ext cx="8281289" cy="1617345"/>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The KiloBytes application successfully delivered on all major project goals, demonstrating strong technical execution and practical deployment of mobile network data collection and visualization capabilities.</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39092"/>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Successful collection of both QoS metrics (latency, jitter, packet loss, download/upload speed) and QoE subjective ratings directly from mobile network subscribers.</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400550"/>
            <a:ext cx="4022366" cy="98107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Offline storage support implemented using SQLite, with automatic synchronization to MongoDB cloud database when internet connectivity is restored.</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62008"/>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Heatmap visualization and administrative dashboard fully completed, enabling geographic network quality analysis and cross-platform deployment on both iOS and Android.</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3181656"/>
            <a:ext cx="7924800" cy="1955099"/>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CHALLENGES ENCOUNTERED</a:t>
            </a:r>
          </a:p>
        </p:txBody>
      </p:sp>
      <p:sp>
        <p:nvSpPr>
          <p:cNvPr name="TextBox 3" id="3"/>
          <p:cNvSpPr txBox="true"/>
          <p:nvPr/>
        </p:nvSpPr>
        <p:spPr>
          <a:xfrm rot="0">
            <a:off x="1219200" y="5288043"/>
            <a:ext cx="8281289" cy="32557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Throughout the development of the KiloBytes application, several significant challenges were encountered:</a:t>
            </a:r>
          </a:p>
          <a:p>
            <a:pPr algn="l" marL="0" indent="0" lvl="0">
              <a:lnSpc>
                <a:spcPts val="3237"/>
              </a:lnSpc>
            </a:pPr>
            <a:r>
              <a:rPr lang="en-US" b="true" sz="1998">
                <a:solidFill>
                  <a:srgbClr val="3139A8"/>
                </a:solidFill>
                <a:latin typeface="Quicksand Medium"/>
                <a:ea typeface="Quicksand Medium"/>
                <a:cs typeface="Quicksand Medium"/>
                <a:sym typeface="Quicksand Medium"/>
              </a:rPr>
              <a:t>• Mobile Performance Optimization: Ensuring smooth UX while running intensive network measurements required careful resource management and performance tuning.</a:t>
            </a:r>
          </a:p>
          <a:p>
            <a:pPr algn="l" marL="0" indent="0" lvl="0">
              <a:lnSpc>
                <a:spcPts val="3237"/>
              </a:lnSpc>
            </a:pPr>
            <a:r>
              <a:rPr lang="en-US" b="true" sz="1998">
                <a:solidFill>
                  <a:srgbClr val="3139A8"/>
                </a:solidFill>
                <a:latin typeface="Quicksand Medium"/>
                <a:ea typeface="Quicksand Medium"/>
                <a:cs typeface="Quicksand Medium"/>
                <a:sym typeface="Quicksand Medium"/>
              </a:rPr>
              <a:t>• Visualization of Large Datasets: Rendering large volumes of measurement data on mobile heatmaps demanded efficient data handling and rendering strategies.</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29567"/>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GPS Inconsistencies: Inaccurate or fluctuating GPS signals affected the precision of location data collected during network measurements, impacting heatmap reliability.</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391025"/>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Network Fluctuations: Unstable network conditions during test execution led to inconsistent measurement results, making it difficult to ensure data accuracy and repeatability.</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52483"/>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Synchronization Issues: Managing reliable data sync between local SQLite storage and the MongoDB cloud database posed challenges, especially under intermittent connectivity conditions.</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4143681"/>
            <a:ext cx="7924800" cy="993074"/>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LESSONS LEARNED</a:t>
            </a:r>
          </a:p>
        </p:txBody>
      </p:sp>
      <p:sp>
        <p:nvSpPr>
          <p:cNvPr name="TextBox 3" id="3"/>
          <p:cNvSpPr txBox="true"/>
          <p:nvPr/>
        </p:nvSpPr>
        <p:spPr>
          <a:xfrm rot="0">
            <a:off x="1219200" y="5288043"/>
            <a:ext cx="8281289" cy="16174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Reflecting on the KiloBytes project, our team gained valuable insights across multiple dimensions of mobile app development — from design methodology to technical implementation and data management.</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29567"/>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Importance of prototyping and iterative design: Early wireframing in Figma allowed us to identify usability issues before coding, saving significant development time and improving the final UI quality.</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391025"/>
            <a:ext cx="4022366" cy="1190638"/>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Value of user feedback for usability improvements: Incorporating user feedback during testing revealed real-world usage patterns and helped refine the QoE rating interface and navigation flow.</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52483"/>
            <a:ext cx="4022366" cy="1428763"/>
          </a:xfrm>
          <a:prstGeom prst="rect">
            <a:avLst/>
          </a:prstGeom>
        </p:spPr>
        <p:txBody>
          <a:bodyPr anchor="t" rtlCol="false" tIns="0" lIns="0" bIns="0" rIns="0">
            <a:spAutoFit/>
          </a:bodyPr>
          <a:lstStyle/>
          <a:p>
            <a:pPr algn="l" marL="0" indent="0" lvl="0">
              <a:lnSpc>
                <a:spcPts val="1948"/>
              </a:lnSpc>
            </a:pPr>
            <a:r>
              <a:rPr lang="en-US" b="true" sz="1498" strike="noStrike" u="none">
                <a:solidFill>
                  <a:srgbClr val="FFFFFF"/>
                </a:solidFill>
                <a:latin typeface="Quicksand Medium"/>
                <a:ea typeface="Quicksand Medium"/>
                <a:cs typeface="Quicksand Medium"/>
                <a:sym typeface="Quicksand Medium"/>
              </a:rPr>
              <a:t>Mobile app architecture, geospatial visualization, and data synchronization: We deepened our understanding of component-based architecture, GPS-based heatmap rendering, and reliable offline-to-cloud sync strategies.</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3181656"/>
            <a:ext cx="7924800" cy="1955099"/>
          </a:xfrm>
          <a:prstGeom prst="rect">
            <a:avLst/>
          </a:prstGeom>
        </p:spPr>
        <p:txBody>
          <a:bodyPr anchor="t" rtlCol="false" tIns="0" lIns="0" bIns="0" rIns="0">
            <a:spAutoFit/>
          </a:bodyPr>
          <a:lstStyle/>
          <a:p>
            <a:pPr algn="l" marL="0" indent="0" lvl="0">
              <a:lnSpc>
                <a:spcPts val="7624"/>
              </a:lnSpc>
            </a:pPr>
            <a:r>
              <a:rPr lang="en-US" b="true" sz="6995" spc="-293">
                <a:solidFill>
                  <a:srgbClr val="3139A8"/>
                </a:solidFill>
                <a:latin typeface="Be Vietnam Ultra-Bold"/>
                <a:ea typeface="Be Vietnam Ultra-Bold"/>
                <a:cs typeface="Be Vietnam Ultra-Bold"/>
                <a:sym typeface="Be Vietnam Ultra-Bold"/>
              </a:rPr>
              <a:t>FUTURE IMPROVEMENTS</a:t>
            </a:r>
          </a:p>
        </p:txBody>
      </p:sp>
      <p:sp>
        <p:nvSpPr>
          <p:cNvPr name="TextBox 3" id="3"/>
          <p:cNvSpPr txBox="true"/>
          <p:nvPr/>
        </p:nvSpPr>
        <p:spPr>
          <a:xfrm rot="0">
            <a:off x="1219200" y="5288043"/>
            <a:ext cx="8281289" cy="2026920"/>
          </a:xfrm>
          <a:prstGeom prst="rect">
            <a:avLst/>
          </a:prstGeom>
        </p:spPr>
        <p:txBody>
          <a:bodyPr anchor="t" rtlCol="false" tIns="0" lIns="0" bIns="0" rIns="0">
            <a:spAutoFit/>
          </a:bodyPr>
          <a:lstStyle/>
          <a:p>
            <a:pPr algn="l" marL="0" indent="0" lvl="0">
              <a:lnSpc>
                <a:spcPts val="3239"/>
              </a:lnSpc>
            </a:pPr>
            <a:r>
              <a:rPr lang="en-US" b="true" sz="1999">
                <a:solidFill>
                  <a:srgbClr val="3139A8"/>
                </a:solidFill>
                <a:latin typeface="Quicksand Medium"/>
                <a:ea typeface="Quicksand Medium"/>
                <a:cs typeface="Quicksand Medium"/>
                <a:sym typeface="Quicksand Medium"/>
              </a:rPr>
              <a:t>The KiloBytes application has significant potential for growth. Planned enhancements include machine learning-based predictions, real-time monitoring, advanced analytics, comparative provider reports, and push notifications to deliver a more powerful and user-friendly network assessment platform.</a:t>
            </a:r>
          </a:p>
        </p:txBody>
      </p:sp>
      <p:grpSp>
        <p:nvGrpSpPr>
          <p:cNvPr name="Group 4" id="4"/>
          <p:cNvGrpSpPr/>
          <p:nvPr/>
        </p:nvGrpSpPr>
        <p:grpSpPr>
          <a:xfrm rot="0">
            <a:off x="10423089" y="1365020"/>
            <a:ext cx="6836211" cy="2434044"/>
            <a:chOff x="0" y="0"/>
            <a:chExt cx="2132037" cy="759115"/>
          </a:xfrm>
        </p:grpSpPr>
        <p:sp>
          <p:nvSpPr>
            <p:cNvPr name="Freeform 5" id="5"/>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sp>
        <p:sp>
          <p:nvSpPr>
            <p:cNvPr name="TextBox 6" id="6"/>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0423089" y="3925191"/>
            <a:ext cx="6836211" cy="2434044"/>
            <a:chOff x="0" y="0"/>
            <a:chExt cx="2132037" cy="759115"/>
          </a:xfrm>
        </p:grpSpPr>
        <p:sp>
          <p:nvSpPr>
            <p:cNvPr name="Freeform 8" id="8"/>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sp>
        <p:sp>
          <p:nvSpPr>
            <p:cNvPr name="TextBox 9" id="9"/>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0423089" y="6487936"/>
            <a:ext cx="6836211" cy="2434044"/>
            <a:chOff x="0" y="0"/>
            <a:chExt cx="2132037" cy="759115"/>
          </a:xfrm>
        </p:grpSpPr>
        <p:sp>
          <p:nvSpPr>
            <p:cNvPr name="Freeform 11" id="11"/>
            <p:cNvSpPr/>
            <p:nvPr/>
          </p:nvSpPr>
          <p:spPr>
            <a:xfrm flipH="false" flipV="false" rot="0">
              <a:off x="0" y="0"/>
              <a:ext cx="2132037" cy="759115"/>
            </a:xfrm>
            <a:custGeom>
              <a:avLst/>
              <a:gdLst/>
              <a:ahLst/>
              <a:cxnLst/>
              <a:rect r="r" b="b" t="t" l="l"/>
              <a:pathLst>
                <a:path h="759115" w="2132037">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sp>
        <p:sp>
          <p:nvSpPr>
            <p:cNvPr name="TextBox 12" id="12"/>
            <p:cNvSpPr txBox="true"/>
            <p:nvPr/>
          </p:nvSpPr>
          <p:spPr>
            <a:xfrm>
              <a:off x="0" y="-38100"/>
              <a:ext cx="2132037" cy="79721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0944755" y="2004578"/>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4" id="14"/>
          <p:cNvSpPr txBox="true"/>
          <p:nvPr/>
        </p:nvSpPr>
        <p:spPr>
          <a:xfrm rot="0">
            <a:off x="12750858" y="1839092"/>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Machine Learning for Network Quality Predictions: Integrate ML models to predict network degradation, identify patterns, and proactively alert users and administrators about potential issues.</a:t>
            </a:r>
          </a:p>
        </p:txBody>
      </p:sp>
      <p:sp>
        <p:nvSpPr>
          <p:cNvPr name="TextBox 15" id="15"/>
          <p:cNvSpPr txBox="true"/>
          <p:nvPr/>
        </p:nvSpPr>
        <p:spPr>
          <a:xfrm rot="0">
            <a:off x="10944755" y="4566035"/>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6" id="16"/>
          <p:cNvSpPr txBox="true"/>
          <p:nvPr/>
        </p:nvSpPr>
        <p:spPr>
          <a:xfrm rot="0">
            <a:off x="12750858" y="4400550"/>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Real-Time Network Monitoring &amp; Advanced Analytics: Enable live network monitoring with detailed reporting dashboards, comparative analysis between network providers, and trend-based insights.</a:t>
            </a:r>
          </a:p>
        </p:txBody>
      </p:sp>
      <p:sp>
        <p:nvSpPr>
          <p:cNvPr name="TextBox 17" id="17"/>
          <p:cNvSpPr txBox="true"/>
          <p:nvPr/>
        </p:nvSpPr>
        <p:spPr>
          <a:xfrm rot="0">
            <a:off x="10926960" y="7127493"/>
            <a:ext cx="1427669" cy="993074"/>
          </a:xfrm>
          <a:prstGeom prst="rect">
            <a:avLst/>
          </a:prstGeom>
        </p:spPr>
        <p:txBody>
          <a:bodyPr anchor="t" rtlCol="false" tIns="0" lIns="0" bIns="0" rIns="0">
            <a:spAutoFit/>
          </a:bodyPr>
          <a:lstStyle/>
          <a:p>
            <a:pPr algn="l" marL="0" indent="0" lvl="0">
              <a:lnSpc>
                <a:spcPts val="7624"/>
              </a:lnSpc>
              <a:spcBef>
                <a:spcPct val="0"/>
              </a:spcBef>
            </a:pPr>
          </a:p>
        </p:txBody>
      </p:sp>
      <p:sp>
        <p:nvSpPr>
          <p:cNvPr name="TextBox 18" id="18"/>
          <p:cNvSpPr txBox="true"/>
          <p:nvPr/>
        </p:nvSpPr>
        <p:spPr>
          <a:xfrm rot="0">
            <a:off x="12733063" y="6962008"/>
            <a:ext cx="4022366" cy="1228725"/>
          </a:xfrm>
          <a:prstGeom prst="rect">
            <a:avLst/>
          </a:prstGeom>
        </p:spPr>
        <p:txBody>
          <a:bodyPr anchor="t" rtlCol="false" tIns="0" lIns="0" bIns="0" rIns="0">
            <a:spAutoFit/>
          </a:bodyPr>
          <a:lstStyle/>
          <a:p>
            <a:pPr algn="l" marL="0" indent="0" lvl="0">
              <a:lnSpc>
                <a:spcPts val="1950"/>
              </a:lnSpc>
            </a:pPr>
            <a:r>
              <a:rPr lang="en-US" b="true" sz="1500" strike="noStrike" u="none">
                <a:solidFill>
                  <a:srgbClr val="FFFFFF"/>
                </a:solidFill>
                <a:latin typeface="Quicksand Medium"/>
                <a:ea typeface="Quicksand Medium"/>
                <a:cs typeface="Quicksand Medium"/>
                <a:sym typeface="Quicksand Medium"/>
              </a:rPr>
              <a:t>Push Notifications &amp; User Alerts: Implement intelligent push notifications to inform subscribers of network quality changes, measurement reminders, and personalized performance summaries.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Freeform 2" id="2"/>
          <p:cNvSpPr/>
          <p:nvPr/>
        </p:nvSpPr>
        <p:spPr>
          <a:xfrm flipH="false" flipV="false" rot="0">
            <a:off x="10124793" y="759569"/>
            <a:ext cx="6883115" cy="8810387"/>
          </a:xfrm>
          <a:custGeom>
            <a:avLst/>
            <a:gdLst/>
            <a:ahLst/>
            <a:cxnLst/>
            <a:rect r="r" b="b" t="t" l="l"/>
            <a:pathLst>
              <a:path h="8810387" w="6883115">
                <a:moveTo>
                  <a:pt x="0" y="0"/>
                </a:moveTo>
                <a:lnTo>
                  <a:pt x="6883115" y="0"/>
                </a:lnTo>
                <a:lnTo>
                  <a:pt x="6883115" y="8810387"/>
                </a:lnTo>
                <a:lnTo>
                  <a:pt x="0" y="8810387"/>
                </a:lnTo>
                <a:lnTo>
                  <a:pt x="0" y="0"/>
                </a:lnTo>
                <a:close/>
              </a:path>
            </a:pathLst>
          </a:custGeom>
          <a:blipFill>
            <a:blip r:embed="rId2"/>
            <a:stretch>
              <a:fillRect l="0" t="0" r="0" b="0"/>
            </a:stretch>
          </a:blipFill>
        </p:spPr>
      </p:sp>
      <p:sp>
        <p:nvSpPr>
          <p:cNvPr name="TextBox 3" id="3"/>
          <p:cNvSpPr txBox="true"/>
          <p:nvPr/>
        </p:nvSpPr>
        <p:spPr>
          <a:xfrm rot="0">
            <a:off x="1219200" y="4143612"/>
            <a:ext cx="8936763" cy="993142"/>
          </a:xfrm>
          <a:prstGeom prst="rect">
            <a:avLst/>
          </a:prstGeom>
        </p:spPr>
        <p:txBody>
          <a:bodyPr anchor="t" rtlCol="false" tIns="0" lIns="0" bIns="0" rIns="0">
            <a:spAutoFit/>
          </a:bodyPr>
          <a:lstStyle/>
          <a:p>
            <a:pPr algn="l" marL="0" indent="0" lvl="0">
              <a:lnSpc>
                <a:spcPts val="7630"/>
              </a:lnSpc>
            </a:pPr>
            <a:r>
              <a:rPr lang="en-US" b="true" sz="7000" spc="-294">
                <a:solidFill>
                  <a:srgbClr val="3139A8"/>
                </a:solidFill>
                <a:latin typeface="Be Vietnam Ultra-Bold"/>
                <a:ea typeface="Be Vietnam Ultra-Bold"/>
                <a:cs typeface="Be Vietnam Ultra-Bold"/>
                <a:sym typeface="Be Vietnam Ultra-Bold"/>
              </a:rPr>
              <a:t>CONCLUSION</a:t>
            </a:r>
          </a:p>
        </p:txBody>
      </p:sp>
      <p:sp>
        <p:nvSpPr>
          <p:cNvPr name="TextBox 4" id="4"/>
          <p:cNvSpPr txBox="true"/>
          <p:nvPr/>
        </p:nvSpPr>
        <p:spPr>
          <a:xfrm rot="0">
            <a:off x="1219200" y="5288043"/>
            <a:ext cx="8618794" cy="3255720"/>
          </a:xfrm>
          <a:prstGeom prst="rect">
            <a:avLst/>
          </a:prstGeom>
        </p:spPr>
        <p:txBody>
          <a:bodyPr anchor="t" rtlCol="false" tIns="0" lIns="0" bIns="0" rIns="0">
            <a:spAutoFit/>
          </a:bodyPr>
          <a:lstStyle/>
          <a:p>
            <a:pPr algn="l" marL="0" indent="0" lvl="0">
              <a:lnSpc>
                <a:spcPts val="3237"/>
              </a:lnSpc>
            </a:pPr>
            <a:r>
              <a:rPr lang="en-US" b="true" sz="1998">
                <a:solidFill>
                  <a:srgbClr val="3139A8"/>
                </a:solidFill>
                <a:latin typeface="Quicksand Medium"/>
                <a:ea typeface="Quicksand Medium"/>
                <a:cs typeface="Quicksand Medium"/>
                <a:sym typeface="Quicksand Medium"/>
              </a:rPr>
              <a:t>KiloBytes delivers a comprehensive platform for collecting and visualizing QoS and QoE data directly from mobile network subscribers. By combining objective technical metrics with subjective user experience ratings, it provides richer and more accurate network performance insights. The application demonstrates the potential of mobile technology in network performance assessment and encourages data-driven decision making in the telecommunications sector.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sp>
        <p:nvSpPr>
          <p:cNvPr name="TextBox 2" id="2"/>
          <p:cNvSpPr txBox="true"/>
          <p:nvPr/>
        </p:nvSpPr>
        <p:spPr>
          <a:xfrm rot="0">
            <a:off x="1219200" y="1890776"/>
            <a:ext cx="8385935" cy="2060433"/>
          </a:xfrm>
          <a:prstGeom prst="rect">
            <a:avLst/>
          </a:prstGeom>
        </p:spPr>
        <p:txBody>
          <a:bodyPr anchor="t" rtlCol="false" tIns="0" lIns="0" bIns="0" rIns="0">
            <a:spAutoFit/>
          </a:bodyPr>
          <a:lstStyle/>
          <a:p>
            <a:pPr algn="l" marL="0" indent="0" lvl="0">
              <a:lnSpc>
                <a:spcPts val="7994"/>
              </a:lnSpc>
            </a:pPr>
            <a:r>
              <a:rPr lang="en-US" b="true" sz="7994" spc="-335">
                <a:solidFill>
                  <a:srgbClr val="3139A8"/>
                </a:solidFill>
                <a:latin typeface="Be Vietnam Ultra-Bold"/>
                <a:ea typeface="Be Vietnam Ultra-Bold"/>
                <a:cs typeface="Be Vietnam Ultra-Bold"/>
                <a:sym typeface="Be Vietnam Ultra-Bold"/>
              </a:rPr>
              <a:t>APPLICATION SHOWCASE</a:t>
            </a:r>
          </a:p>
        </p:txBody>
      </p:sp>
      <p:sp>
        <p:nvSpPr>
          <p:cNvPr name="TextBox 3" id="3"/>
          <p:cNvSpPr txBox="true"/>
          <p:nvPr/>
        </p:nvSpPr>
        <p:spPr>
          <a:xfrm rot="0">
            <a:off x="1219200" y="4302522"/>
            <a:ext cx="7570711" cy="4772429"/>
          </a:xfrm>
          <a:prstGeom prst="rect">
            <a:avLst/>
          </a:prstGeom>
        </p:spPr>
        <p:txBody>
          <a:bodyPr anchor="t" rtlCol="false" tIns="0" lIns="0" bIns="0" rIns="0">
            <a:spAutoFit/>
          </a:bodyPr>
          <a:lstStyle/>
          <a:p>
            <a:pPr algn="l" marL="0" indent="0" lvl="0">
              <a:lnSpc>
                <a:spcPts val="3169"/>
              </a:lnSpc>
            </a:pPr>
            <a:r>
              <a:rPr lang="en-US" b="true" sz="1956">
                <a:solidFill>
                  <a:srgbClr val="3139A8"/>
                </a:solidFill>
                <a:latin typeface="Quicksand Medium"/>
                <a:ea typeface="Quicksand Medium"/>
                <a:cs typeface="Quicksand Medium"/>
                <a:sym typeface="Quicksand Medium"/>
              </a:rPr>
              <a:t>A visual gallery of the KiloBytes application screens, highlighting the intuitive blue-themed UI design and core features:</a:t>
            </a:r>
          </a:p>
          <a:p>
            <a:pPr algn="l" marL="0" indent="0" lvl="0">
              <a:lnSpc>
                <a:spcPts val="3169"/>
              </a:lnSpc>
            </a:pPr>
            <a:r>
              <a:rPr lang="en-US" b="true" sz="1956">
                <a:solidFill>
                  <a:srgbClr val="3139A8"/>
                </a:solidFill>
                <a:latin typeface="Quicksand Medium"/>
                <a:ea typeface="Quicksand Medium"/>
                <a:cs typeface="Quicksand Medium"/>
                <a:sym typeface="Quicksand Medium"/>
              </a:rPr>
              <a:t>• Home Dashboard — Start measurements, view history, access heatmap</a:t>
            </a:r>
          </a:p>
          <a:p>
            <a:pPr algn="l" marL="0" indent="0" lvl="0">
              <a:lnSpc>
                <a:spcPts val="3169"/>
              </a:lnSpc>
            </a:pPr>
            <a:r>
              <a:rPr lang="en-US" b="true" sz="1956">
                <a:solidFill>
                  <a:srgbClr val="3139A8"/>
                </a:solidFill>
                <a:latin typeface="Quicksand Medium"/>
                <a:ea typeface="Quicksand Medium"/>
                <a:cs typeface="Quicksand Medium"/>
                <a:sym typeface="Quicksand Medium"/>
              </a:rPr>
              <a:t>• Speedometer — Animated real-time download/upload speed gauge</a:t>
            </a:r>
          </a:p>
          <a:p>
            <a:pPr algn="l" marL="0" indent="0" lvl="0">
              <a:lnSpc>
                <a:spcPts val="3169"/>
              </a:lnSpc>
            </a:pPr>
            <a:r>
              <a:rPr lang="en-US" b="true" sz="1956">
                <a:solidFill>
                  <a:srgbClr val="3139A8"/>
                </a:solidFill>
                <a:latin typeface="Quicksand Medium"/>
                <a:ea typeface="Quicksand Medium"/>
                <a:cs typeface="Quicksand Medium"/>
                <a:sym typeface="Quicksand Medium"/>
              </a:rPr>
              <a:t>• QoE Rating Screen — User experience feedback interface</a:t>
            </a:r>
          </a:p>
          <a:p>
            <a:pPr algn="l" marL="0" indent="0" lvl="0">
              <a:lnSpc>
                <a:spcPts val="3169"/>
              </a:lnSpc>
            </a:pPr>
            <a:r>
              <a:rPr lang="en-US" b="true" sz="1956">
                <a:solidFill>
                  <a:srgbClr val="3139A8"/>
                </a:solidFill>
                <a:latin typeface="Quicksand Medium"/>
                <a:ea typeface="Quicksand Medium"/>
                <a:cs typeface="Quicksand Medium"/>
                <a:sym typeface="Quicksand Medium"/>
              </a:rPr>
              <a:t>• Heatmap — Geographic network quality visualization</a:t>
            </a:r>
          </a:p>
          <a:p>
            <a:pPr algn="l" marL="0" indent="0" lvl="0">
              <a:lnSpc>
                <a:spcPts val="3169"/>
              </a:lnSpc>
            </a:pPr>
            <a:r>
              <a:rPr lang="en-US" b="true" sz="1956">
                <a:solidFill>
                  <a:srgbClr val="3139A8"/>
                </a:solidFill>
                <a:latin typeface="Quicksand Medium"/>
                <a:ea typeface="Quicksand Medium"/>
                <a:cs typeface="Quicksand Medium"/>
                <a:sym typeface="Quicksand Medium"/>
              </a:rPr>
              <a:t>• Administrator Dashboard — Subscriber data monitoring and filtering</a:t>
            </a:r>
          </a:p>
          <a:p>
            <a:pPr algn="l" marL="0" indent="0" lvl="0">
              <a:lnSpc>
                <a:spcPts val="3169"/>
              </a:lnSpc>
            </a:pPr>
            <a:r>
              <a:rPr lang="en-US" b="true" sz="1956">
                <a:solidFill>
                  <a:srgbClr val="3139A8"/>
                </a:solidFill>
                <a:latin typeface="Quicksand Medium"/>
                <a:ea typeface="Quicksand Medium"/>
                <a:cs typeface="Quicksand Medium"/>
                <a:sym typeface="Quicksand Medium"/>
              </a:rPr>
              <a:t>Clean, modern, and cross-platform design built with React Native and Expo.</a:t>
            </a:r>
          </a:p>
        </p:txBody>
      </p:sp>
      <p:grpSp>
        <p:nvGrpSpPr>
          <p:cNvPr name="Group 4" id="4"/>
          <p:cNvGrpSpPr>
            <a:grpSpLocks noChangeAspect="true"/>
          </p:cNvGrpSpPr>
          <p:nvPr/>
        </p:nvGrpSpPr>
        <p:grpSpPr>
          <a:xfrm rot="0">
            <a:off x="9945531" y="1486616"/>
            <a:ext cx="7313769" cy="7313769"/>
            <a:chOff x="0" y="0"/>
            <a:chExt cx="3282950" cy="3282950"/>
          </a:xfrm>
        </p:grpSpPr>
        <p:sp>
          <p:nvSpPr>
            <p:cNvPr name="Freeform 5" id="5"/>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2"/>
              <a:stretch>
                <a:fillRect l="0" t="0" r="0"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1EBE5"/>
        </a:solidFill>
      </p:bgPr>
    </p:bg>
    <p:spTree>
      <p:nvGrpSpPr>
        <p:cNvPr id="1" name=""/>
        <p:cNvGrpSpPr/>
        <p:nvPr/>
      </p:nvGrpSpPr>
      <p:grpSpPr>
        <a:xfrm>
          <a:off x="0" y="0"/>
          <a:ext cx="0" cy="0"/>
          <a:chOff x="0" y="0"/>
          <a:chExt cx="0" cy="0"/>
        </a:xfrm>
      </p:grpSpPr>
      <p:grpSp>
        <p:nvGrpSpPr>
          <p:cNvPr name="Group 2" id="2"/>
          <p:cNvGrpSpPr/>
          <p:nvPr/>
        </p:nvGrpSpPr>
        <p:grpSpPr>
          <a:xfrm rot="0">
            <a:off x="-444633" y="9730382"/>
            <a:ext cx="19177267" cy="1113237"/>
            <a:chOff x="0" y="0"/>
            <a:chExt cx="5050803" cy="293198"/>
          </a:xfrm>
        </p:grpSpPr>
        <p:sp>
          <p:nvSpPr>
            <p:cNvPr name="Freeform 3" id="3"/>
            <p:cNvSpPr/>
            <p:nvPr/>
          </p:nvSpPr>
          <p:spPr>
            <a:xfrm flipH="false" flipV="false" rot="0">
              <a:off x="0" y="0"/>
              <a:ext cx="5050803" cy="293198"/>
            </a:xfrm>
            <a:custGeom>
              <a:avLst/>
              <a:gdLst/>
              <a:ahLst/>
              <a:cxnLst/>
              <a:rect r="r" b="b" t="t" l="l"/>
              <a:pathLst>
                <a:path h="293198" w="5050803">
                  <a:moveTo>
                    <a:pt x="0" y="0"/>
                  </a:moveTo>
                  <a:lnTo>
                    <a:pt x="5050803" y="0"/>
                  </a:lnTo>
                  <a:lnTo>
                    <a:pt x="5050803" y="293198"/>
                  </a:lnTo>
                  <a:lnTo>
                    <a:pt x="0" y="293198"/>
                  </a:lnTo>
                  <a:close/>
                </a:path>
              </a:pathLst>
            </a:custGeom>
            <a:solidFill>
              <a:srgbClr val="5383FF"/>
            </a:solidFill>
          </p:spPr>
        </p:sp>
        <p:sp>
          <p:nvSpPr>
            <p:cNvPr name="TextBox 4" id="4"/>
            <p:cNvSpPr txBox="true"/>
            <p:nvPr/>
          </p:nvSpPr>
          <p:spPr>
            <a:xfrm>
              <a:off x="0" y="-38100"/>
              <a:ext cx="5050803" cy="3312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444633" y="-556618"/>
            <a:ext cx="19177267" cy="1113237"/>
            <a:chOff x="0" y="0"/>
            <a:chExt cx="5050803" cy="293198"/>
          </a:xfrm>
        </p:grpSpPr>
        <p:sp>
          <p:nvSpPr>
            <p:cNvPr name="Freeform 6" id="6"/>
            <p:cNvSpPr/>
            <p:nvPr/>
          </p:nvSpPr>
          <p:spPr>
            <a:xfrm flipH="false" flipV="false" rot="0">
              <a:off x="0" y="0"/>
              <a:ext cx="5050803" cy="293198"/>
            </a:xfrm>
            <a:custGeom>
              <a:avLst/>
              <a:gdLst/>
              <a:ahLst/>
              <a:cxnLst/>
              <a:rect r="r" b="b" t="t" l="l"/>
              <a:pathLst>
                <a:path h="293198" w="5050803">
                  <a:moveTo>
                    <a:pt x="0" y="0"/>
                  </a:moveTo>
                  <a:lnTo>
                    <a:pt x="5050803" y="0"/>
                  </a:lnTo>
                  <a:lnTo>
                    <a:pt x="5050803" y="293198"/>
                  </a:lnTo>
                  <a:lnTo>
                    <a:pt x="0" y="293198"/>
                  </a:lnTo>
                  <a:close/>
                </a:path>
              </a:pathLst>
            </a:custGeom>
            <a:solidFill>
              <a:srgbClr val="06C892"/>
            </a:solidFill>
          </p:spPr>
        </p:sp>
        <p:sp>
          <p:nvSpPr>
            <p:cNvPr name="TextBox 7" id="7"/>
            <p:cNvSpPr txBox="true"/>
            <p:nvPr/>
          </p:nvSpPr>
          <p:spPr>
            <a:xfrm>
              <a:off x="0" y="-38100"/>
              <a:ext cx="5050803" cy="3312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0078407" y="1167499"/>
            <a:ext cx="7217132" cy="6955511"/>
          </a:xfrm>
          <a:custGeom>
            <a:avLst/>
            <a:gdLst/>
            <a:ahLst/>
            <a:cxnLst/>
            <a:rect r="r" b="b" t="t" l="l"/>
            <a:pathLst>
              <a:path h="6955511" w="7217132">
                <a:moveTo>
                  <a:pt x="0" y="0"/>
                </a:moveTo>
                <a:lnTo>
                  <a:pt x="7217133" y="0"/>
                </a:lnTo>
                <a:lnTo>
                  <a:pt x="7217133" y="6955511"/>
                </a:lnTo>
                <a:lnTo>
                  <a:pt x="0" y="6955511"/>
                </a:lnTo>
                <a:lnTo>
                  <a:pt x="0" y="0"/>
                </a:lnTo>
                <a:close/>
              </a:path>
            </a:pathLst>
          </a:custGeom>
          <a:blipFill>
            <a:blip r:embed="rId2"/>
            <a:stretch>
              <a:fillRect l="0" t="0" r="0" b="0"/>
            </a:stretch>
          </a:blipFill>
        </p:spPr>
      </p:sp>
      <p:sp>
        <p:nvSpPr>
          <p:cNvPr name="TextBox 9" id="9"/>
          <p:cNvSpPr txBox="true"/>
          <p:nvPr/>
        </p:nvSpPr>
        <p:spPr>
          <a:xfrm rot="0">
            <a:off x="1219200" y="4767453"/>
            <a:ext cx="7924800" cy="2764917"/>
          </a:xfrm>
          <a:prstGeom prst="rect">
            <a:avLst/>
          </a:prstGeom>
        </p:spPr>
        <p:txBody>
          <a:bodyPr anchor="t" rtlCol="false" tIns="0" lIns="0" bIns="0" rIns="0">
            <a:spAutoFit/>
          </a:bodyPr>
          <a:lstStyle/>
          <a:p>
            <a:pPr algn="l" marL="0" indent="0" lvl="0">
              <a:lnSpc>
                <a:spcPts val="10583"/>
              </a:lnSpc>
            </a:pPr>
            <a:r>
              <a:rPr lang="en-US" b="true" sz="11025" spc="-463">
                <a:solidFill>
                  <a:srgbClr val="3139A8"/>
                </a:solidFill>
                <a:latin typeface="Be Vietnam Ultra-Bold"/>
                <a:ea typeface="Be Vietnam Ultra-Bold"/>
                <a:cs typeface="Be Vietnam Ultra-Bold"/>
                <a:sym typeface="Be Vietnam Ultra-Bold"/>
              </a:rPr>
              <a:t>THANK YOU!</a:t>
            </a:r>
          </a:p>
          <a:p>
            <a:pPr algn="l" marL="0" indent="0" lvl="0">
              <a:lnSpc>
                <a:spcPts val="10583"/>
              </a:lnSpc>
            </a:pPr>
            <a:r>
              <a:rPr lang="en-US" b="true" sz="11025" spc="-463">
                <a:solidFill>
                  <a:srgbClr val="3139A8"/>
                </a:solidFill>
                <a:latin typeface="Be Vietnam Ultra-Bold"/>
                <a:ea typeface="Be Vietnam Ultra-Bold"/>
                <a:cs typeface="Be Vietnam Ultra-Bold"/>
                <a:sym typeface="Be Vietnam Ultra-Bold"/>
              </a:rPr>
              <a:t>QUESTIONS?</a:t>
            </a:r>
          </a:p>
        </p:txBody>
      </p:sp>
      <p:sp>
        <p:nvSpPr>
          <p:cNvPr name="TextBox 10" id="10"/>
          <p:cNvSpPr txBox="true"/>
          <p:nvPr/>
        </p:nvSpPr>
        <p:spPr>
          <a:xfrm rot="0">
            <a:off x="1219200" y="1044595"/>
            <a:ext cx="8602534" cy="338435"/>
          </a:xfrm>
          <a:prstGeom prst="rect">
            <a:avLst/>
          </a:prstGeom>
        </p:spPr>
        <p:txBody>
          <a:bodyPr anchor="t" rtlCol="false" tIns="0" lIns="0" bIns="0" rIns="0">
            <a:spAutoFit/>
          </a:bodyPr>
          <a:lstStyle/>
          <a:p>
            <a:pPr algn="l" marL="0" indent="0" lvl="0">
              <a:lnSpc>
                <a:spcPts val="2657"/>
              </a:lnSpc>
              <a:spcBef>
                <a:spcPct val="0"/>
              </a:spcBef>
            </a:pPr>
            <a:r>
              <a:rPr lang="en-US" sz="2373" spc="-99">
                <a:solidFill>
                  <a:srgbClr val="090147"/>
                </a:solidFill>
                <a:latin typeface="Be Vietnam"/>
                <a:ea typeface="Be Vietnam"/>
                <a:cs typeface="Be Vietnam"/>
                <a:sym typeface="Be Vietnam"/>
              </a:rPr>
              <a:t>KILOBYTES – MOBILE NETWORK USER EXPERIENCE APP | CEF440</a:t>
            </a:r>
          </a:p>
        </p:txBody>
      </p:sp>
      <p:sp>
        <p:nvSpPr>
          <p:cNvPr name="TextBox 11" id="11"/>
          <p:cNvSpPr txBox="true"/>
          <p:nvPr/>
        </p:nvSpPr>
        <p:spPr>
          <a:xfrm rot="0">
            <a:off x="1219200" y="8984508"/>
            <a:ext cx="8602534" cy="338435"/>
          </a:xfrm>
          <a:prstGeom prst="rect">
            <a:avLst/>
          </a:prstGeom>
        </p:spPr>
        <p:txBody>
          <a:bodyPr anchor="t" rtlCol="false" tIns="0" lIns="0" bIns="0" rIns="0">
            <a:spAutoFit/>
          </a:bodyPr>
          <a:lstStyle/>
          <a:p>
            <a:pPr algn="l" marL="0" indent="0" lvl="0">
              <a:lnSpc>
                <a:spcPts val="2657"/>
              </a:lnSpc>
              <a:spcBef>
                <a:spcPct val="0"/>
              </a:spcBef>
            </a:pPr>
            <a:r>
              <a:rPr lang="en-US" sz="2373" spc="-99">
                <a:solidFill>
                  <a:srgbClr val="090147"/>
                </a:solidFill>
                <a:latin typeface="Be Vietnam"/>
                <a:ea typeface="Be Vietnam"/>
                <a:cs typeface="Be Vietnam"/>
                <a:sym typeface="Be Vietnam"/>
              </a:rPr>
              <a:t>UNIVERSITY OF BUEA – FACULTY OF ENGINEERING &amp;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DAHL9N8fblA</dc:identifier>
  <dcterms:modified xsi:type="dcterms:W3CDTF">2011-08-01T06:04:30Z</dcterms:modified>
  <cp:revision>1</cp:revision>
  <dc:title>KiloBytes App: UX Data Collection</dc:title>
</cp:coreProperties>
</file>