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Garet Ultra-Bold" charset="1" panose="00000000000000000000"/>
      <p:regular r:id="rId23"/>
    </p:embeddedFont>
    <p:embeddedFont>
      <p:font typeface="Garet"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216105">
            <a:off x="-4876060" y="-1603792"/>
            <a:ext cx="11809520" cy="21344736"/>
            <a:chOff x="0" y="0"/>
            <a:chExt cx="3110326" cy="5621659"/>
          </a:xfrm>
        </p:grpSpPr>
        <p:sp>
          <p:nvSpPr>
            <p:cNvPr name="Freeform 3" id="3"/>
            <p:cNvSpPr/>
            <p:nvPr/>
          </p:nvSpPr>
          <p:spPr>
            <a:xfrm flipH="false" flipV="false" rot="0">
              <a:off x="0" y="0"/>
              <a:ext cx="3110326" cy="5621659"/>
            </a:xfrm>
            <a:custGeom>
              <a:avLst/>
              <a:gdLst/>
              <a:ahLst/>
              <a:cxnLst/>
              <a:rect r="r" b="b" t="t" l="l"/>
              <a:pathLst>
                <a:path h="5621659" w="3110326">
                  <a:moveTo>
                    <a:pt x="0" y="0"/>
                  </a:moveTo>
                  <a:lnTo>
                    <a:pt x="3110326" y="0"/>
                  </a:lnTo>
                  <a:lnTo>
                    <a:pt x="3110326" y="5621659"/>
                  </a:lnTo>
                  <a:lnTo>
                    <a:pt x="0" y="5621659"/>
                  </a:lnTo>
                  <a:close/>
                </a:path>
              </a:pathLst>
            </a:custGeom>
            <a:solidFill>
              <a:srgbClr val="001E3A"/>
            </a:solidFill>
          </p:spPr>
        </p:sp>
        <p:sp>
          <p:nvSpPr>
            <p:cNvPr name="TextBox 4" id="4"/>
            <p:cNvSpPr txBox="true"/>
            <p:nvPr/>
          </p:nvSpPr>
          <p:spPr>
            <a:xfrm>
              <a:off x="0" y="-38100"/>
              <a:ext cx="3110326" cy="565975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4931087" y="-301025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3625653" y="7276745"/>
            <a:ext cx="6020510" cy="602051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2394857" y="1558011"/>
            <a:ext cx="7170978" cy="717097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grpSp>
        <p:nvGrpSpPr>
          <p:cNvPr name="Group 13" id="13"/>
          <p:cNvGrpSpPr/>
          <p:nvPr/>
        </p:nvGrpSpPr>
        <p:grpSpPr>
          <a:xfrm rot="0">
            <a:off x="7196506" y="7276745"/>
            <a:ext cx="1589834" cy="158983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16" id="16"/>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10204003" y="3774982"/>
            <a:ext cx="7715839" cy="4421112"/>
          </a:xfrm>
          <a:prstGeom prst="rect">
            <a:avLst/>
          </a:prstGeom>
        </p:spPr>
        <p:txBody>
          <a:bodyPr anchor="t" rtlCol="false" tIns="0" lIns="0" bIns="0" rIns="0">
            <a:spAutoFit/>
          </a:bodyPr>
          <a:lstStyle/>
          <a:p>
            <a:pPr algn="l" marL="0" indent="0" lvl="0">
              <a:lnSpc>
                <a:spcPts val="5746"/>
              </a:lnSpc>
            </a:pPr>
            <a:r>
              <a:rPr lang="en-US" b="true" sz="6924">
                <a:solidFill>
                  <a:srgbClr val="001E3A"/>
                </a:solidFill>
                <a:latin typeface="Garet Ultra-Bold"/>
                <a:ea typeface="Garet Ultra-Bold"/>
                <a:cs typeface="Garet Ultra-Bold"/>
                <a:sym typeface="Garet Ultra-Bold"/>
              </a:rPr>
              <a:t>Design and Implementation of a Mobile App for Collection of User Experience Data</a:t>
            </a:r>
          </a:p>
        </p:txBody>
      </p:sp>
      <p:sp>
        <p:nvSpPr>
          <p:cNvPr name="TextBox 19" id="19"/>
          <p:cNvSpPr txBox="true"/>
          <p:nvPr/>
        </p:nvSpPr>
        <p:spPr>
          <a:xfrm rot="0">
            <a:off x="10204003" y="8189830"/>
            <a:ext cx="5617015" cy="1286822"/>
          </a:xfrm>
          <a:prstGeom prst="rect">
            <a:avLst/>
          </a:prstGeom>
        </p:spPr>
        <p:txBody>
          <a:bodyPr anchor="t" rtlCol="false" tIns="0" lIns="0" bIns="0" rIns="0">
            <a:spAutoFit/>
          </a:bodyPr>
          <a:lstStyle/>
          <a:p>
            <a:pPr algn="l" marL="0" indent="0" lvl="0">
              <a:lnSpc>
                <a:spcPts val="5197"/>
              </a:lnSpc>
            </a:pPr>
            <a:r>
              <a:rPr lang="en-US" sz="3712">
                <a:solidFill>
                  <a:srgbClr val="001E3A"/>
                </a:solidFill>
                <a:latin typeface="Garet"/>
                <a:ea typeface="Garet"/>
                <a:cs typeface="Garet"/>
                <a:sym typeface="Garet"/>
              </a:rPr>
              <a:t>Requirements Gathering and Analysis </a:t>
            </a:r>
          </a:p>
        </p:txBody>
      </p:sp>
      <p:sp>
        <p:nvSpPr>
          <p:cNvPr name="TextBox 20" id="20"/>
          <p:cNvSpPr txBox="true"/>
          <p:nvPr/>
        </p:nvSpPr>
        <p:spPr>
          <a:xfrm rot="0">
            <a:off x="10204003" y="2425165"/>
            <a:ext cx="6666796" cy="1103505"/>
          </a:xfrm>
          <a:prstGeom prst="rect">
            <a:avLst/>
          </a:prstGeom>
        </p:spPr>
        <p:txBody>
          <a:bodyPr anchor="t" rtlCol="false" tIns="0" lIns="0" bIns="0" rIns="0">
            <a:spAutoFit/>
          </a:bodyPr>
          <a:lstStyle/>
          <a:p>
            <a:pPr algn="l" marL="0" indent="0" lvl="0">
              <a:lnSpc>
                <a:spcPts val="4416"/>
              </a:lnSpc>
            </a:pPr>
            <a:r>
              <a:rPr lang="en-US" sz="3154">
                <a:solidFill>
                  <a:srgbClr val="001E3A"/>
                </a:solidFill>
                <a:latin typeface="Garet"/>
                <a:ea typeface="Garet"/>
                <a:cs typeface="Garet"/>
                <a:sym typeface="Garet"/>
              </a:rPr>
              <a:t>University of Buea | CEF440 – Group 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567321"/>
            <a:ext cx="14168470" cy="1423341"/>
          </a:xfrm>
          <a:prstGeom prst="rect">
            <a:avLst/>
          </a:prstGeom>
        </p:spPr>
        <p:txBody>
          <a:bodyPr anchor="t" rtlCol="false" tIns="0" lIns="0" bIns="0" rIns="0">
            <a:spAutoFit/>
          </a:bodyPr>
          <a:lstStyle/>
          <a:p>
            <a:pPr algn="l" marL="0" indent="0" lvl="0">
              <a:lnSpc>
                <a:spcPts val="10167"/>
              </a:lnSpc>
            </a:pPr>
            <a:r>
              <a:rPr lang="en-US" b="true" sz="12249">
                <a:solidFill>
                  <a:srgbClr val="001E3A"/>
                </a:solidFill>
                <a:latin typeface="Garet Ultra-Bold"/>
                <a:ea typeface="Garet Ultra-Bold"/>
                <a:cs typeface="Garet Ultra-Bold"/>
                <a:sym typeface="Garet Ultra-Bold"/>
              </a:rPr>
              <a:t>Introduction</a:t>
            </a:r>
          </a:p>
        </p:txBody>
      </p:sp>
      <p:sp>
        <p:nvSpPr>
          <p:cNvPr name="TextBox 11" id="11"/>
          <p:cNvSpPr txBox="true"/>
          <p:nvPr/>
        </p:nvSpPr>
        <p:spPr>
          <a:xfrm rot="0">
            <a:off x="2059765" y="4209788"/>
            <a:ext cx="14168470" cy="3948091"/>
          </a:xfrm>
          <a:prstGeom prst="rect">
            <a:avLst/>
          </a:prstGeom>
        </p:spPr>
        <p:txBody>
          <a:bodyPr anchor="t" rtlCol="false" tIns="0" lIns="0" bIns="0" rIns="0">
            <a:spAutoFit/>
          </a:bodyPr>
          <a:lstStyle/>
          <a:p>
            <a:pPr algn="l" marL="0" indent="0" lvl="0">
              <a:lnSpc>
                <a:spcPts val="3938"/>
              </a:lnSpc>
            </a:pPr>
            <a:r>
              <a:rPr lang="en-US" sz="2813">
                <a:solidFill>
                  <a:srgbClr val="001E3A"/>
                </a:solidFill>
                <a:latin typeface="Garet"/>
                <a:ea typeface="Garet"/>
                <a:cs typeface="Garet"/>
                <a:sym typeface="Garet"/>
              </a:rPr>
              <a:t>Current Quality of Service (QoS) monitoring systems rely primarily on technical metrics, creating a significant gap: they lack real user experience data. This project aims to develop a mobile application for collecting Quality of Experience (QoE) data directly from mobile network subscribers in Cameroon. By capturing subjective feedback alongside objective measurements, the app will provide network operators with complementary insights into actual user satisfaction, enabling more informed decisions for network optimization and service improvement.</a:t>
            </a:r>
          </a:p>
        </p:txBody>
      </p:sp>
      <p:sp>
        <p:nvSpPr>
          <p:cNvPr name="TextBox 12" id="12"/>
          <p:cNvSpPr txBox="true"/>
          <p:nvPr/>
        </p:nvSpPr>
        <p:spPr>
          <a:xfrm rot="0">
            <a:off x="14250620" y="9239250"/>
            <a:ext cx="1865504" cy="223038"/>
          </a:xfrm>
          <a:prstGeom prst="rect">
            <a:avLst/>
          </a:prstGeom>
        </p:spPr>
        <p:txBody>
          <a:bodyPr anchor="t" rtlCol="false" tIns="0" lIns="0" bIns="0" rIns="0">
            <a:spAutoFit/>
          </a:bodyPr>
          <a:lstStyle/>
          <a:p>
            <a:pPr algn="l" marL="0" indent="0" lvl="0">
              <a:lnSpc>
                <a:spcPts val="1883"/>
              </a:lnSpc>
            </a:pPr>
            <a:r>
              <a:rPr lang="en-US" sz="1345">
                <a:solidFill>
                  <a:srgbClr val="001E3A"/>
                </a:solidFill>
                <a:latin typeface="Garet"/>
                <a:ea typeface="Garet"/>
                <a:cs typeface="Garet"/>
                <a:sym typeface="Garet"/>
              </a:rPr>
              <a:t>University of Buea</a:t>
            </a:r>
          </a:p>
        </p:txBody>
      </p:sp>
      <p:sp>
        <p:nvSpPr>
          <p:cNvPr name="TextBox 13" id="13"/>
          <p:cNvSpPr txBox="true"/>
          <p:nvPr/>
        </p:nvSpPr>
        <p:spPr>
          <a:xfrm rot="0">
            <a:off x="14250620" y="9433689"/>
            <a:ext cx="3008680" cy="268629"/>
          </a:xfrm>
          <a:prstGeom prst="rect">
            <a:avLst/>
          </a:prstGeom>
        </p:spPr>
        <p:txBody>
          <a:bodyPr anchor="t" rtlCol="false" tIns="0" lIns="0" bIns="0" rIns="0">
            <a:spAutoFit/>
          </a:bodyPr>
          <a:lstStyle/>
          <a:p>
            <a:pPr algn="l" marL="0" indent="0" lvl="0">
              <a:lnSpc>
                <a:spcPts val="2216"/>
              </a:lnSpc>
            </a:pPr>
            <a:r>
              <a:rPr lang="en-US" sz="1583">
                <a:solidFill>
                  <a:srgbClr val="001E3A"/>
                </a:solidFill>
                <a:latin typeface="Garet"/>
                <a:ea typeface="Garet"/>
                <a:cs typeface="Garet"/>
                <a:sym typeface="Garet"/>
              </a:rPr>
              <a:t>CEF440 – Group 5</a:t>
            </a:r>
          </a:p>
        </p:txBody>
      </p:sp>
      <p:sp>
        <p:nvSpPr>
          <p:cNvPr name="TextBox 14" id="14"/>
          <p:cNvSpPr txBox="true"/>
          <p:nvPr/>
        </p:nvSpPr>
        <p:spPr>
          <a:xfrm rot="0">
            <a:off x="13691401" y="9363075"/>
            <a:ext cx="559219" cy="339118"/>
          </a:xfrm>
          <a:prstGeom prst="rect">
            <a:avLst/>
          </a:prstGeom>
        </p:spPr>
        <p:txBody>
          <a:bodyPr anchor="t" rtlCol="false" tIns="0" lIns="0" bIns="0" rIns="0">
            <a:spAutoFit/>
          </a:bodyPr>
          <a:lstStyle/>
          <a:p>
            <a:pPr algn="ctr" marL="0" indent="0" lvl="0">
              <a:lnSpc>
                <a:spcPts val="2438"/>
              </a:lnSpc>
            </a:pPr>
            <a:r>
              <a:rPr lang="en-US" b="true" sz="2938">
                <a:solidFill>
                  <a:srgbClr val="001E3A"/>
                </a:solidFill>
                <a:latin typeface="Garet Ultra-Bold"/>
                <a:ea typeface="Garet Ultra-Bold"/>
                <a:cs typeface="Garet Ultra-Bold"/>
                <a:sym typeface="Garet Ultra-Bold"/>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567321"/>
            <a:ext cx="14168470" cy="1423341"/>
          </a:xfrm>
          <a:prstGeom prst="rect">
            <a:avLst/>
          </a:prstGeom>
        </p:spPr>
        <p:txBody>
          <a:bodyPr anchor="t" rtlCol="false" tIns="0" lIns="0" bIns="0" rIns="0">
            <a:spAutoFit/>
          </a:bodyPr>
          <a:lstStyle/>
          <a:p>
            <a:pPr algn="l" marL="0" indent="0" lvl="0">
              <a:lnSpc>
                <a:spcPts val="10167"/>
              </a:lnSpc>
            </a:pPr>
            <a:r>
              <a:rPr lang="en-US" b="true" sz="12249">
                <a:solidFill>
                  <a:srgbClr val="001E3A"/>
                </a:solidFill>
                <a:latin typeface="Garet Ultra-Bold"/>
                <a:ea typeface="Garet Ultra-Bold"/>
                <a:cs typeface="Garet Ultra-Bold"/>
                <a:sym typeface="Garet Ultra-Bold"/>
              </a:rPr>
              <a:t>Methodology</a:t>
            </a:r>
          </a:p>
        </p:txBody>
      </p:sp>
      <p:sp>
        <p:nvSpPr>
          <p:cNvPr name="TextBox 11" id="11"/>
          <p:cNvSpPr txBox="true"/>
          <p:nvPr/>
        </p:nvSpPr>
        <p:spPr>
          <a:xfrm rot="0">
            <a:off x="2059765" y="4209788"/>
            <a:ext cx="14168470" cy="3452791"/>
          </a:xfrm>
          <a:prstGeom prst="rect">
            <a:avLst/>
          </a:prstGeom>
        </p:spPr>
        <p:txBody>
          <a:bodyPr anchor="t" rtlCol="false" tIns="0" lIns="0" bIns="0" rIns="0">
            <a:spAutoFit/>
          </a:bodyPr>
          <a:lstStyle/>
          <a:p>
            <a:pPr algn="l" marL="0" indent="0" lvl="0">
              <a:lnSpc>
                <a:spcPts val="3938"/>
              </a:lnSpc>
            </a:pPr>
            <a:r>
              <a:rPr lang="en-US" sz="2813">
                <a:solidFill>
                  <a:srgbClr val="001E3A"/>
                </a:solidFill>
                <a:latin typeface="Garet"/>
                <a:ea typeface="Garet"/>
                <a:cs typeface="Garet"/>
                <a:sym typeface="Garet"/>
              </a:rPr>
              <a:t>Our research employed a structured questionnaire targeting mobile network subscribers in Cameroon. The survey captured comprehensive data across five key dimensions: device characteristics, network usage patterns, interaction preferences, privacy concerns, and adoption willingness. With over 50 responses collected, we applied descriptive statistics to analyze user behaviors and requirements. This data-driven approach informed the app's feature prioritization and technical architecture decisions.</a:t>
            </a:r>
          </a:p>
        </p:txBody>
      </p:sp>
      <p:sp>
        <p:nvSpPr>
          <p:cNvPr name="TextBox 12" id="12"/>
          <p:cNvSpPr txBox="true"/>
          <p:nvPr/>
        </p:nvSpPr>
        <p:spPr>
          <a:xfrm rot="0">
            <a:off x="14250620" y="9239250"/>
            <a:ext cx="1865504" cy="223038"/>
          </a:xfrm>
          <a:prstGeom prst="rect">
            <a:avLst/>
          </a:prstGeom>
        </p:spPr>
        <p:txBody>
          <a:bodyPr anchor="t" rtlCol="false" tIns="0" lIns="0" bIns="0" rIns="0">
            <a:spAutoFit/>
          </a:bodyPr>
          <a:lstStyle/>
          <a:p>
            <a:pPr algn="l" marL="0" indent="0" lvl="0">
              <a:lnSpc>
                <a:spcPts val="1883"/>
              </a:lnSpc>
            </a:pPr>
            <a:r>
              <a:rPr lang="en-US" sz="1345">
                <a:solidFill>
                  <a:srgbClr val="001E3A"/>
                </a:solidFill>
                <a:latin typeface="Garet"/>
                <a:ea typeface="Garet"/>
                <a:cs typeface="Garet"/>
                <a:sym typeface="Garet"/>
              </a:rPr>
              <a:t>University of Buea</a:t>
            </a:r>
          </a:p>
        </p:txBody>
      </p:sp>
      <p:sp>
        <p:nvSpPr>
          <p:cNvPr name="TextBox 13" id="13"/>
          <p:cNvSpPr txBox="true"/>
          <p:nvPr/>
        </p:nvSpPr>
        <p:spPr>
          <a:xfrm rot="0">
            <a:off x="14250620" y="9433689"/>
            <a:ext cx="3008680" cy="268629"/>
          </a:xfrm>
          <a:prstGeom prst="rect">
            <a:avLst/>
          </a:prstGeom>
        </p:spPr>
        <p:txBody>
          <a:bodyPr anchor="t" rtlCol="false" tIns="0" lIns="0" bIns="0" rIns="0">
            <a:spAutoFit/>
          </a:bodyPr>
          <a:lstStyle/>
          <a:p>
            <a:pPr algn="l" marL="0" indent="0" lvl="0">
              <a:lnSpc>
                <a:spcPts val="2216"/>
              </a:lnSpc>
            </a:pPr>
            <a:r>
              <a:rPr lang="en-US" sz="1583">
                <a:solidFill>
                  <a:srgbClr val="001E3A"/>
                </a:solidFill>
                <a:latin typeface="Garet"/>
                <a:ea typeface="Garet"/>
                <a:cs typeface="Garet"/>
                <a:sym typeface="Garet"/>
              </a:rPr>
              <a:t>CEF440 – Group 5</a:t>
            </a:r>
          </a:p>
        </p:txBody>
      </p:sp>
      <p:sp>
        <p:nvSpPr>
          <p:cNvPr name="TextBox 14" id="14"/>
          <p:cNvSpPr txBox="true"/>
          <p:nvPr/>
        </p:nvSpPr>
        <p:spPr>
          <a:xfrm rot="0">
            <a:off x="13691401" y="9363075"/>
            <a:ext cx="559219" cy="339118"/>
          </a:xfrm>
          <a:prstGeom prst="rect">
            <a:avLst/>
          </a:prstGeom>
        </p:spPr>
        <p:txBody>
          <a:bodyPr anchor="t" rtlCol="false" tIns="0" lIns="0" bIns="0" rIns="0">
            <a:spAutoFit/>
          </a:bodyPr>
          <a:lstStyle/>
          <a:p>
            <a:pPr algn="ctr" marL="0" indent="0" lvl="0">
              <a:lnSpc>
                <a:spcPts val="2438"/>
              </a:lnSpc>
            </a:pPr>
            <a:r>
              <a:rPr lang="en-US" b="true" sz="2938">
                <a:solidFill>
                  <a:srgbClr val="001E3A"/>
                </a:solidFill>
                <a:latin typeface="Garet Ultra-Bold"/>
                <a:ea typeface="Garet Ultra-Bold"/>
                <a:cs typeface="Garet Ultra-Bold"/>
                <a:sym typeface="Garet Ultra-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395871"/>
            <a:ext cx="14168470" cy="863833"/>
          </a:xfrm>
          <a:prstGeom prst="rect">
            <a:avLst/>
          </a:prstGeom>
        </p:spPr>
        <p:txBody>
          <a:bodyPr anchor="t" rtlCol="false" tIns="0" lIns="0" bIns="0" rIns="0">
            <a:spAutoFit/>
          </a:bodyPr>
          <a:lstStyle/>
          <a:p>
            <a:pPr algn="l" marL="0" indent="0" lvl="0">
              <a:lnSpc>
                <a:spcPts val="6173"/>
              </a:lnSpc>
            </a:pPr>
            <a:r>
              <a:rPr lang="en-US" b="true" sz="7437">
                <a:solidFill>
                  <a:srgbClr val="001E3A"/>
                </a:solidFill>
                <a:latin typeface="Garet Ultra-Bold"/>
                <a:ea typeface="Garet Ultra-Bold"/>
                <a:cs typeface="Garet Ultra-Bold"/>
                <a:sym typeface="Garet Ultra-Bold"/>
              </a:rPr>
              <a:t>User Technical Environment</a:t>
            </a:r>
          </a:p>
        </p:txBody>
      </p:sp>
      <p:sp>
        <p:nvSpPr>
          <p:cNvPr name="TextBox 11" id="11"/>
          <p:cNvSpPr txBox="true"/>
          <p:nvPr/>
        </p:nvSpPr>
        <p:spPr>
          <a:xfrm rot="0">
            <a:off x="4463329" y="4209788"/>
            <a:ext cx="10552228" cy="1746013"/>
          </a:xfrm>
          <a:prstGeom prst="rect">
            <a:avLst/>
          </a:prstGeom>
        </p:spPr>
        <p:txBody>
          <a:bodyPr anchor="t" rtlCol="false" tIns="0" lIns="0" bIns="0" rIns="0">
            <a:spAutoFit/>
          </a:bodyPr>
          <a:lstStyle/>
          <a:p>
            <a:pPr algn="l" marL="0" indent="0" lvl="0">
              <a:lnSpc>
                <a:spcPts val="3513"/>
              </a:lnSpc>
            </a:pPr>
            <a:r>
              <a:rPr lang="en-US" sz="2509">
                <a:solidFill>
                  <a:srgbClr val="001E3A"/>
                </a:solidFill>
                <a:latin typeface="Garet"/>
                <a:ea typeface="Garet"/>
                <a:cs typeface="Garet"/>
                <a:sym typeface="Garet"/>
              </a:rPr>
              <a:t>75.9% of respondents use Android smartphones, with 50% running Android 13 or newer. A notable minority use iOS devices, establishing a clear requirement for cross-platform app development to ensure broad accessibility.</a:t>
            </a:r>
          </a:p>
        </p:txBody>
      </p:sp>
      <p:grpSp>
        <p:nvGrpSpPr>
          <p:cNvPr name="Group 12" id="12"/>
          <p:cNvGrpSpPr/>
          <p:nvPr/>
        </p:nvGrpSpPr>
        <p:grpSpPr>
          <a:xfrm rot="0">
            <a:off x="3272443" y="4266938"/>
            <a:ext cx="876562" cy="87656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5" id="15"/>
          <p:cNvSpPr txBox="true"/>
          <p:nvPr/>
        </p:nvSpPr>
        <p:spPr>
          <a:xfrm rot="0">
            <a:off x="4463329" y="6410900"/>
            <a:ext cx="10552228" cy="1746013"/>
          </a:xfrm>
          <a:prstGeom prst="rect">
            <a:avLst/>
          </a:prstGeom>
        </p:spPr>
        <p:txBody>
          <a:bodyPr anchor="t" rtlCol="false" tIns="0" lIns="0" bIns="0" rIns="0">
            <a:spAutoFit/>
          </a:bodyPr>
          <a:lstStyle/>
          <a:p>
            <a:pPr algn="l" marL="0" indent="0" lvl="0">
              <a:lnSpc>
                <a:spcPts val="3513"/>
              </a:lnSpc>
            </a:pPr>
            <a:r>
              <a:rPr lang="en-US" sz="2509">
                <a:solidFill>
                  <a:srgbClr val="001E3A"/>
                </a:solidFill>
                <a:latin typeface="Garet"/>
                <a:ea typeface="Garet"/>
                <a:cs typeface="Garet"/>
                <a:sym typeface="Garet"/>
              </a:rPr>
              <a:t>Significant dual-SIM usage was identified among subscribers. This presents a critical technical requirement: the app must accurately detect and identify the active data SIM to correctly attribute network experience data to the appropriate carrier.</a:t>
            </a:r>
          </a:p>
        </p:txBody>
      </p:sp>
      <p:grpSp>
        <p:nvGrpSpPr>
          <p:cNvPr name="Group 16" id="16"/>
          <p:cNvGrpSpPr/>
          <p:nvPr/>
        </p:nvGrpSpPr>
        <p:grpSpPr>
          <a:xfrm rot="0">
            <a:off x="3272443" y="6468050"/>
            <a:ext cx="876562" cy="87656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9" id="19"/>
          <p:cNvSpPr txBox="true"/>
          <p:nvPr/>
        </p:nvSpPr>
        <p:spPr>
          <a:xfrm rot="0">
            <a:off x="14250620" y="9229725"/>
            <a:ext cx="1865504" cy="208643"/>
          </a:xfrm>
          <a:prstGeom prst="rect">
            <a:avLst/>
          </a:prstGeom>
        </p:spPr>
        <p:txBody>
          <a:bodyPr anchor="t" rtlCol="false" tIns="0" lIns="0" bIns="0" rIns="0">
            <a:spAutoFit/>
          </a:bodyPr>
          <a:lstStyle/>
          <a:p>
            <a:pPr algn="l" marL="0" indent="0" lvl="0">
              <a:lnSpc>
                <a:spcPts val="1679"/>
              </a:lnSpc>
            </a:pPr>
            <a:r>
              <a:rPr lang="en-US" sz="1199">
                <a:solidFill>
                  <a:srgbClr val="001E3A"/>
                </a:solidFill>
                <a:latin typeface="Garet"/>
                <a:ea typeface="Garet"/>
                <a:cs typeface="Garet"/>
                <a:sym typeface="Garet"/>
              </a:rPr>
              <a:t>University of Buea</a:t>
            </a:r>
          </a:p>
        </p:txBody>
      </p:sp>
      <p:sp>
        <p:nvSpPr>
          <p:cNvPr name="TextBox 20" id="20"/>
          <p:cNvSpPr txBox="true"/>
          <p:nvPr/>
        </p:nvSpPr>
        <p:spPr>
          <a:xfrm rot="0">
            <a:off x="14250620" y="9443214"/>
            <a:ext cx="3008680" cy="478729"/>
          </a:xfrm>
          <a:prstGeom prst="rect">
            <a:avLst/>
          </a:prstGeom>
        </p:spPr>
        <p:txBody>
          <a:bodyPr anchor="t" rtlCol="false" tIns="0" lIns="0" bIns="0" rIns="0">
            <a:spAutoFit/>
          </a:bodyPr>
          <a:lstStyle/>
          <a:p>
            <a:pPr algn="l" marL="0" indent="0" lvl="0">
              <a:lnSpc>
                <a:spcPts val="1977"/>
              </a:lnSpc>
            </a:pPr>
            <a:r>
              <a:rPr lang="en-US" sz="1412">
                <a:solidFill>
                  <a:srgbClr val="001E3A"/>
                </a:solidFill>
                <a:latin typeface="Garet"/>
                <a:ea typeface="Garet"/>
                <a:cs typeface="Garet"/>
                <a:sym typeface="Garet"/>
              </a:rPr>
              <a:t>CEF440 – Internet and Mobile Programming</a:t>
            </a:r>
          </a:p>
        </p:txBody>
      </p:sp>
      <p:sp>
        <p:nvSpPr>
          <p:cNvPr name="TextBox 21" id="21"/>
          <p:cNvSpPr txBox="true"/>
          <p:nvPr/>
        </p:nvSpPr>
        <p:spPr>
          <a:xfrm rot="0">
            <a:off x="13691401" y="9324975"/>
            <a:ext cx="559219" cy="202069"/>
          </a:xfrm>
          <a:prstGeom prst="rect">
            <a:avLst/>
          </a:prstGeom>
        </p:spPr>
        <p:txBody>
          <a:bodyPr anchor="t" rtlCol="false" tIns="0" lIns="0" bIns="0" rIns="0">
            <a:spAutoFit/>
          </a:bodyPr>
          <a:lstStyle/>
          <a:p>
            <a:pPr algn="ctr" marL="0" indent="0" lvl="0">
              <a:lnSpc>
                <a:spcPts val="1480"/>
              </a:lnSpc>
            </a:pPr>
            <a:r>
              <a:rPr lang="en-US" b="true" sz="1783">
                <a:solidFill>
                  <a:srgbClr val="001E3A"/>
                </a:solidFill>
                <a:latin typeface="Garet Ultra-Bold"/>
                <a:ea typeface="Garet Ultra-Bold"/>
                <a:cs typeface="Garet Ultra-Bold"/>
                <a:sym typeface="Garet Ultra-Bold"/>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386346"/>
            <a:ext cx="14168470" cy="1585197"/>
          </a:xfrm>
          <a:prstGeom prst="rect">
            <a:avLst/>
          </a:prstGeom>
        </p:spPr>
        <p:txBody>
          <a:bodyPr anchor="t" rtlCol="false" tIns="0" lIns="0" bIns="0" rIns="0">
            <a:spAutoFit/>
          </a:bodyPr>
          <a:lstStyle/>
          <a:p>
            <a:pPr algn="l" marL="0" indent="0" lvl="0">
              <a:lnSpc>
                <a:spcPts val="5960"/>
              </a:lnSpc>
            </a:pPr>
            <a:r>
              <a:rPr lang="en-US" b="true" sz="7180">
                <a:solidFill>
                  <a:srgbClr val="001E3A"/>
                </a:solidFill>
                <a:latin typeface="Garet Ultra-Bold"/>
                <a:ea typeface="Garet Ultra-Bold"/>
                <a:cs typeface="Garet Ultra-Bold"/>
                <a:sym typeface="Garet Ultra-Bold"/>
              </a:rPr>
              <a:t>Network Experience Analysis</a:t>
            </a:r>
          </a:p>
        </p:txBody>
      </p:sp>
      <p:sp>
        <p:nvSpPr>
          <p:cNvPr name="TextBox 11" id="11"/>
          <p:cNvSpPr txBox="true"/>
          <p:nvPr/>
        </p:nvSpPr>
        <p:spPr>
          <a:xfrm rot="0">
            <a:off x="4463329" y="4209788"/>
            <a:ext cx="10552228" cy="2184163"/>
          </a:xfrm>
          <a:prstGeom prst="rect">
            <a:avLst/>
          </a:prstGeom>
        </p:spPr>
        <p:txBody>
          <a:bodyPr anchor="t" rtlCol="false" tIns="0" lIns="0" bIns="0" rIns="0">
            <a:spAutoFit/>
          </a:bodyPr>
          <a:lstStyle/>
          <a:p>
            <a:pPr algn="l" marL="0" indent="0" lvl="0">
              <a:lnSpc>
                <a:spcPts val="3513"/>
              </a:lnSpc>
            </a:pPr>
            <a:r>
              <a:rPr lang="en-US" sz="2509">
                <a:solidFill>
                  <a:srgbClr val="001E3A"/>
                </a:solidFill>
                <a:latin typeface="Garet"/>
                <a:ea typeface="Garet"/>
                <a:cs typeface="Garet"/>
                <a:sym typeface="Garet"/>
              </a:rPr>
              <a:t>Users report frequent poor network conditions including slow download/upload speeds, weak signal strength, and intermittent connectivity. These issues persist across different locations and times of day, highlighting the need for comprehensive monitoring.</a:t>
            </a:r>
          </a:p>
        </p:txBody>
      </p:sp>
      <p:grpSp>
        <p:nvGrpSpPr>
          <p:cNvPr name="Group 12" id="12"/>
          <p:cNvGrpSpPr/>
          <p:nvPr/>
        </p:nvGrpSpPr>
        <p:grpSpPr>
          <a:xfrm rot="0">
            <a:off x="3272443" y="4266938"/>
            <a:ext cx="876562" cy="87656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5" id="15"/>
          <p:cNvSpPr txBox="true"/>
          <p:nvPr/>
        </p:nvSpPr>
        <p:spPr>
          <a:xfrm rot="0">
            <a:off x="4463329" y="6410900"/>
            <a:ext cx="10552228" cy="1746013"/>
          </a:xfrm>
          <a:prstGeom prst="rect">
            <a:avLst/>
          </a:prstGeom>
        </p:spPr>
        <p:txBody>
          <a:bodyPr anchor="t" rtlCol="false" tIns="0" lIns="0" bIns="0" rIns="0">
            <a:spAutoFit/>
          </a:bodyPr>
          <a:lstStyle/>
          <a:p>
            <a:pPr algn="l" marL="0" indent="0" lvl="0">
              <a:lnSpc>
                <a:spcPts val="3513"/>
              </a:lnSpc>
            </a:pPr>
            <a:r>
              <a:rPr lang="en-US" sz="2509">
                <a:solidFill>
                  <a:srgbClr val="001E3A"/>
                </a:solidFill>
                <a:latin typeface="Garet"/>
                <a:ea typeface="Garet"/>
                <a:cs typeface="Garet"/>
                <a:sym typeface="Garet"/>
              </a:rPr>
              <a:t>Continuous monitoring of key metrics is essential: latency, jitter, packet loss, and signal strength. Objective measurements must be complemented by subjective user feedback to capture the complete Quality of Experience picture.</a:t>
            </a:r>
          </a:p>
        </p:txBody>
      </p:sp>
      <p:grpSp>
        <p:nvGrpSpPr>
          <p:cNvPr name="Group 16" id="16"/>
          <p:cNvGrpSpPr/>
          <p:nvPr/>
        </p:nvGrpSpPr>
        <p:grpSpPr>
          <a:xfrm rot="0">
            <a:off x="3272443" y="6468050"/>
            <a:ext cx="876562" cy="87656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9" id="19"/>
          <p:cNvSpPr txBox="true"/>
          <p:nvPr/>
        </p:nvSpPr>
        <p:spPr>
          <a:xfrm rot="0">
            <a:off x="14250620" y="9229725"/>
            <a:ext cx="1865504" cy="208643"/>
          </a:xfrm>
          <a:prstGeom prst="rect">
            <a:avLst/>
          </a:prstGeom>
        </p:spPr>
        <p:txBody>
          <a:bodyPr anchor="t" rtlCol="false" tIns="0" lIns="0" bIns="0" rIns="0">
            <a:spAutoFit/>
          </a:bodyPr>
          <a:lstStyle/>
          <a:p>
            <a:pPr algn="l" marL="0" indent="0" lvl="0">
              <a:lnSpc>
                <a:spcPts val="1679"/>
              </a:lnSpc>
            </a:pPr>
            <a:r>
              <a:rPr lang="en-US" sz="1199">
                <a:solidFill>
                  <a:srgbClr val="001E3A"/>
                </a:solidFill>
                <a:latin typeface="Garet"/>
                <a:ea typeface="Garet"/>
                <a:cs typeface="Garet"/>
                <a:sym typeface="Garet"/>
              </a:rPr>
              <a:t>University of Buea</a:t>
            </a:r>
          </a:p>
        </p:txBody>
      </p:sp>
      <p:sp>
        <p:nvSpPr>
          <p:cNvPr name="TextBox 20" id="20"/>
          <p:cNvSpPr txBox="true"/>
          <p:nvPr/>
        </p:nvSpPr>
        <p:spPr>
          <a:xfrm rot="0">
            <a:off x="14250620" y="9443214"/>
            <a:ext cx="3008680" cy="478729"/>
          </a:xfrm>
          <a:prstGeom prst="rect">
            <a:avLst/>
          </a:prstGeom>
        </p:spPr>
        <p:txBody>
          <a:bodyPr anchor="t" rtlCol="false" tIns="0" lIns="0" bIns="0" rIns="0">
            <a:spAutoFit/>
          </a:bodyPr>
          <a:lstStyle/>
          <a:p>
            <a:pPr algn="l" marL="0" indent="0" lvl="0">
              <a:lnSpc>
                <a:spcPts val="1977"/>
              </a:lnSpc>
            </a:pPr>
            <a:r>
              <a:rPr lang="en-US" sz="1412">
                <a:solidFill>
                  <a:srgbClr val="001E3A"/>
                </a:solidFill>
                <a:latin typeface="Garet"/>
                <a:ea typeface="Garet"/>
                <a:cs typeface="Garet"/>
                <a:sym typeface="Garet"/>
              </a:rPr>
              <a:t>CEF440 – Internet and Mobile Programming</a:t>
            </a:r>
          </a:p>
        </p:txBody>
      </p:sp>
      <p:sp>
        <p:nvSpPr>
          <p:cNvPr name="TextBox 21" id="21"/>
          <p:cNvSpPr txBox="true"/>
          <p:nvPr/>
        </p:nvSpPr>
        <p:spPr>
          <a:xfrm rot="0">
            <a:off x="13691401" y="9315450"/>
            <a:ext cx="559219" cy="201590"/>
          </a:xfrm>
          <a:prstGeom prst="rect">
            <a:avLst/>
          </a:prstGeom>
        </p:spPr>
        <p:txBody>
          <a:bodyPr anchor="t" rtlCol="false" tIns="0" lIns="0" bIns="0" rIns="0">
            <a:spAutoFit/>
          </a:bodyPr>
          <a:lstStyle/>
          <a:p>
            <a:pPr algn="ctr" marL="0" indent="0" lvl="0">
              <a:lnSpc>
                <a:spcPts val="1429"/>
              </a:lnSpc>
            </a:pPr>
            <a:r>
              <a:rPr lang="en-US" b="true" sz="1722">
                <a:solidFill>
                  <a:srgbClr val="001E3A"/>
                </a:solidFill>
                <a:latin typeface="Garet Ultra-Bold"/>
                <a:ea typeface="Garet Ultra-Bold"/>
                <a:cs typeface="Garet Ultra-Bold"/>
                <a:sym typeface="Garet Ultra-Bold"/>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386346"/>
            <a:ext cx="14168470" cy="1585197"/>
          </a:xfrm>
          <a:prstGeom prst="rect">
            <a:avLst/>
          </a:prstGeom>
        </p:spPr>
        <p:txBody>
          <a:bodyPr anchor="t" rtlCol="false" tIns="0" lIns="0" bIns="0" rIns="0">
            <a:spAutoFit/>
          </a:bodyPr>
          <a:lstStyle/>
          <a:p>
            <a:pPr algn="l" marL="0" indent="0" lvl="0">
              <a:lnSpc>
                <a:spcPts val="5960"/>
              </a:lnSpc>
            </a:pPr>
            <a:r>
              <a:rPr lang="en-US" b="true" sz="7180">
                <a:solidFill>
                  <a:srgbClr val="001E3A"/>
                </a:solidFill>
                <a:latin typeface="Garet Ultra-Bold"/>
                <a:ea typeface="Garet Ultra-Bold"/>
                <a:cs typeface="Garet Ultra-Bold"/>
                <a:sym typeface="Garet Ultra-Bold"/>
              </a:rPr>
              <a:t>User Interaction and Feedback Preferences</a:t>
            </a:r>
          </a:p>
        </p:txBody>
      </p:sp>
      <p:sp>
        <p:nvSpPr>
          <p:cNvPr name="TextBox 11" id="11"/>
          <p:cNvSpPr txBox="true"/>
          <p:nvPr/>
        </p:nvSpPr>
        <p:spPr>
          <a:xfrm rot="0">
            <a:off x="4463329" y="4209788"/>
            <a:ext cx="10552228" cy="1746013"/>
          </a:xfrm>
          <a:prstGeom prst="rect">
            <a:avLst/>
          </a:prstGeom>
        </p:spPr>
        <p:txBody>
          <a:bodyPr anchor="t" rtlCol="false" tIns="0" lIns="0" bIns="0" rIns="0">
            <a:spAutoFit/>
          </a:bodyPr>
          <a:lstStyle/>
          <a:p>
            <a:pPr algn="l" marL="0" indent="0" lvl="0">
              <a:lnSpc>
                <a:spcPts val="3513"/>
              </a:lnSpc>
            </a:pPr>
            <a:r>
              <a:rPr lang="en-US" sz="2509">
                <a:solidFill>
                  <a:srgbClr val="001E3A"/>
                </a:solidFill>
                <a:latin typeface="Garet"/>
                <a:ea typeface="Garet"/>
                <a:cs typeface="Garet"/>
                <a:sym typeface="Garet"/>
              </a:rPr>
              <a:t>Users prefer minimal, non-intrusive interaction when providing feedback. Rating scales and emoji-based responses are favored, with most willing to spend less than 10 seconds on feedback submission.</a:t>
            </a:r>
          </a:p>
        </p:txBody>
      </p:sp>
      <p:grpSp>
        <p:nvGrpSpPr>
          <p:cNvPr name="Group 12" id="12"/>
          <p:cNvGrpSpPr/>
          <p:nvPr/>
        </p:nvGrpSpPr>
        <p:grpSpPr>
          <a:xfrm rot="0">
            <a:off x="3272443" y="4266938"/>
            <a:ext cx="876562" cy="87656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5" id="15"/>
          <p:cNvSpPr txBox="true"/>
          <p:nvPr/>
        </p:nvSpPr>
        <p:spPr>
          <a:xfrm rot="0">
            <a:off x="4463329" y="6410900"/>
            <a:ext cx="10552228" cy="1307863"/>
          </a:xfrm>
          <a:prstGeom prst="rect">
            <a:avLst/>
          </a:prstGeom>
        </p:spPr>
        <p:txBody>
          <a:bodyPr anchor="t" rtlCol="false" tIns="0" lIns="0" bIns="0" rIns="0">
            <a:spAutoFit/>
          </a:bodyPr>
          <a:lstStyle/>
          <a:p>
            <a:pPr algn="l" marL="0" indent="0" lvl="0">
              <a:lnSpc>
                <a:spcPts val="3513"/>
              </a:lnSpc>
            </a:pPr>
            <a:r>
              <a:rPr lang="en-US" sz="2509">
                <a:solidFill>
                  <a:srgbClr val="001E3A"/>
                </a:solidFill>
                <a:latin typeface="Garet"/>
                <a:ea typeface="Garet"/>
                <a:cs typeface="Garet"/>
                <a:sym typeface="Garet"/>
              </a:rPr>
              <a:t>Key requirements include fast, intuitive interfaces and context-aware feedback triggers that activate intelligently after network issues occur, ensuring timely and relevant user input collection.</a:t>
            </a:r>
          </a:p>
        </p:txBody>
      </p:sp>
      <p:grpSp>
        <p:nvGrpSpPr>
          <p:cNvPr name="Group 16" id="16"/>
          <p:cNvGrpSpPr/>
          <p:nvPr/>
        </p:nvGrpSpPr>
        <p:grpSpPr>
          <a:xfrm rot="0">
            <a:off x="3272443" y="6468050"/>
            <a:ext cx="876562" cy="87656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9" id="19"/>
          <p:cNvSpPr txBox="true"/>
          <p:nvPr/>
        </p:nvSpPr>
        <p:spPr>
          <a:xfrm rot="0">
            <a:off x="14250620" y="9229725"/>
            <a:ext cx="1865504" cy="208643"/>
          </a:xfrm>
          <a:prstGeom prst="rect">
            <a:avLst/>
          </a:prstGeom>
        </p:spPr>
        <p:txBody>
          <a:bodyPr anchor="t" rtlCol="false" tIns="0" lIns="0" bIns="0" rIns="0">
            <a:spAutoFit/>
          </a:bodyPr>
          <a:lstStyle/>
          <a:p>
            <a:pPr algn="l" marL="0" indent="0" lvl="0">
              <a:lnSpc>
                <a:spcPts val="1679"/>
              </a:lnSpc>
            </a:pPr>
            <a:r>
              <a:rPr lang="en-US" sz="1199">
                <a:solidFill>
                  <a:srgbClr val="001E3A"/>
                </a:solidFill>
                <a:latin typeface="Garet"/>
                <a:ea typeface="Garet"/>
                <a:cs typeface="Garet"/>
                <a:sym typeface="Garet"/>
              </a:rPr>
              <a:t>University of Buea</a:t>
            </a:r>
          </a:p>
        </p:txBody>
      </p:sp>
      <p:sp>
        <p:nvSpPr>
          <p:cNvPr name="TextBox 20" id="20"/>
          <p:cNvSpPr txBox="true"/>
          <p:nvPr/>
        </p:nvSpPr>
        <p:spPr>
          <a:xfrm rot="0">
            <a:off x="14250620" y="9443214"/>
            <a:ext cx="3008680" cy="478729"/>
          </a:xfrm>
          <a:prstGeom prst="rect">
            <a:avLst/>
          </a:prstGeom>
        </p:spPr>
        <p:txBody>
          <a:bodyPr anchor="t" rtlCol="false" tIns="0" lIns="0" bIns="0" rIns="0">
            <a:spAutoFit/>
          </a:bodyPr>
          <a:lstStyle/>
          <a:p>
            <a:pPr algn="l" marL="0" indent="0" lvl="0">
              <a:lnSpc>
                <a:spcPts val="1977"/>
              </a:lnSpc>
            </a:pPr>
            <a:r>
              <a:rPr lang="en-US" sz="1412">
                <a:solidFill>
                  <a:srgbClr val="001E3A"/>
                </a:solidFill>
                <a:latin typeface="Garet"/>
                <a:ea typeface="Garet"/>
                <a:cs typeface="Garet"/>
                <a:sym typeface="Garet"/>
              </a:rPr>
              <a:t>CEF440 – Internet and Mobile Programming</a:t>
            </a:r>
          </a:p>
        </p:txBody>
      </p:sp>
      <p:sp>
        <p:nvSpPr>
          <p:cNvPr name="TextBox 21" id="21"/>
          <p:cNvSpPr txBox="true"/>
          <p:nvPr/>
        </p:nvSpPr>
        <p:spPr>
          <a:xfrm rot="0">
            <a:off x="13691401" y="9315450"/>
            <a:ext cx="559219" cy="201590"/>
          </a:xfrm>
          <a:prstGeom prst="rect">
            <a:avLst/>
          </a:prstGeom>
        </p:spPr>
        <p:txBody>
          <a:bodyPr anchor="t" rtlCol="false" tIns="0" lIns="0" bIns="0" rIns="0">
            <a:spAutoFit/>
          </a:bodyPr>
          <a:lstStyle/>
          <a:p>
            <a:pPr algn="ctr" marL="0" indent="0" lvl="0">
              <a:lnSpc>
                <a:spcPts val="1429"/>
              </a:lnSpc>
            </a:pPr>
            <a:r>
              <a:rPr lang="en-US" b="true" sz="1722">
                <a:solidFill>
                  <a:srgbClr val="001E3A"/>
                </a:solidFill>
                <a:latin typeface="Garet Ultra-Bold"/>
                <a:ea typeface="Garet Ultra-Bold"/>
                <a:cs typeface="Garet Ultra-Bold"/>
                <a:sym typeface="Garet Ultra-Bold"/>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424446"/>
            <a:ext cx="14168470" cy="907002"/>
          </a:xfrm>
          <a:prstGeom prst="rect">
            <a:avLst/>
          </a:prstGeom>
        </p:spPr>
        <p:txBody>
          <a:bodyPr anchor="t" rtlCol="false" tIns="0" lIns="0" bIns="0" rIns="0">
            <a:spAutoFit/>
          </a:bodyPr>
          <a:lstStyle/>
          <a:p>
            <a:pPr algn="l" marL="0" indent="0" lvl="0">
              <a:lnSpc>
                <a:spcPts val="6599"/>
              </a:lnSpc>
            </a:pPr>
            <a:r>
              <a:rPr lang="en-US" b="true" sz="7950">
                <a:solidFill>
                  <a:srgbClr val="001E3A"/>
                </a:solidFill>
                <a:latin typeface="Garet Ultra-Bold"/>
                <a:ea typeface="Garet Ultra-Bold"/>
                <a:cs typeface="Garet Ultra-Bold"/>
                <a:sym typeface="Garet Ultra-Bold"/>
              </a:rPr>
              <a:t>Privacy and Trust Analysis</a:t>
            </a:r>
          </a:p>
        </p:txBody>
      </p:sp>
      <p:sp>
        <p:nvSpPr>
          <p:cNvPr name="TextBox 11" id="11"/>
          <p:cNvSpPr txBox="true"/>
          <p:nvPr/>
        </p:nvSpPr>
        <p:spPr>
          <a:xfrm rot="0">
            <a:off x="4463329" y="4219313"/>
            <a:ext cx="10552228" cy="1773978"/>
          </a:xfrm>
          <a:prstGeom prst="rect">
            <a:avLst/>
          </a:prstGeom>
        </p:spPr>
        <p:txBody>
          <a:bodyPr anchor="t" rtlCol="false" tIns="0" lIns="0" bIns="0" rIns="0">
            <a:spAutoFit/>
          </a:bodyPr>
          <a:lstStyle/>
          <a:p>
            <a:pPr algn="l" marL="0" indent="0" lvl="0">
              <a:lnSpc>
                <a:spcPts val="3546"/>
              </a:lnSpc>
            </a:pPr>
            <a:r>
              <a:rPr lang="en-US" sz="2533">
                <a:solidFill>
                  <a:srgbClr val="001E3A"/>
                </a:solidFill>
                <a:latin typeface="Garet"/>
                <a:ea typeface="Garet"/>
                <a:cs typeface="Garet"/>
                <a:sym typeface="Garet"/>
              </a:rPr>
              <a:t>Privacy concerns strongly affect app acceptance. Users express conditional consent for background data collection only when processes are transparent and controllable. Major concerns include location tracking and background activity monitoring.</a:t>
            </a:r>
          </a:p>
        </p:txBody>
      </p:sp>
      <p:grpSp>
        <p:nvGrpSpPr>
          <p:cNvPr name="Group 12" id="12"/>
          <p:cNvGrpSpPr/>
          <p:nvPr/>
        </p:nvGrpSpPr>
        <p:grpSpPr>
          <a:xfrm rot="0">
            <a:off x="3272443" y="4266938"/>
            <a:ext cx="876562" cy="87656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5" id="15"/>
          <p:cNvSpPr txBox="true"/>
          <p:nvPr/>
        </p:nvSpPr>
        <p:spPr>
          <a:xfrm rot="0">
            <a:off x="4463329" y="6420425"/>
            <a:ext cx="10552228" cy="2221653"/>
          </a:xfrm>
          <a:prstGeom prst="rect">
            <a:avLst/>
          </a:prstGeom>
        </p:spPr>
        <p:txBody>
          <a:bodyPr anchor="t" rtlCol="false" tIns="0" lIns="0" bIns="0" rIns="0">
            <a:spAutoFit/>
          </a:bodyPr>
          <a:lstStyle/>
          <a:p>
            <a:pPr algn="l" marL="0" indent="0" lvl="0">
              <a:lnSpc>
                <a:spcPts val="3546"/>
              </a:lnSpc>
            </a:pPr>
            <a:r>
              <a:rPr lang="en-US" sz="2533">
                <a:solidFill>
                  <a:srgbClr val="001E3A"/>
                </a:solidFill>
                <a:latin typeface="Garet"/>
                <a:ea typeface="Garet"/>
                <a:cs typeface="Garet"/>
                <a:sym typeface="Garet"/>
              </a:rPr>
              <a:t>Required measures: data anonymization, minimal data collection, clear communication about usage, explicit commitment to no access to personal information, and user-controlled permission settings. Trust is built through transparency.</a:t>
            </a:r>
          </a:p>
        </p:txBody>
      </p:sp>
      <p:grpSp>
        <p:nvGrpSpPr>
          <p:cNvPr name="Group 16" id="16"/>
          <p:cNvGrpSpPr/>
          <p:nvPr/>
        </p:nvGrpSpPr>
        <p:grpSpPr>
          <a:xfrm rot="0">
            <a:off x="3272443" y="6468050"/>
            <a:ext cx="876562" cy="87656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9" id="19"/>
          <p:cNvSpPr txBox="true"/>
          <p:nvPr/>
        </p:nvSpPr>
        <p:spPr>
          <a:xfrm rot="0">
            <a:off x="14250620" y="9229725"/>
            <a:ext cx="1865504" cy="211803"/>
          </a:xfrm>
          <a:prstGeom prst="rect">
            <a:avLst/>
          </a:prstGeom>
        </p:spPr>
        <p:txBody>
          <a:bodyPr anchor="t" rtlCol="false" tIns="0" lIns="0" bIns="0" rIns="0">
            <a:spAutoFit/>
          </a:bodyPr>
          <a:lstStyle/>
          <a:p>
            <a:pPr algn="l" marL="0" indent="0" lvl="0">
              <a:lnSpc>
                <a:spcPts val="1696"/>
              </a:lnSpc>
            </a:pPr>
            <a:r>
              <a:rPr lang="en-US" sz="1211">
                <a:solidFill>
                  <a:srgbClr val="001E3A"/>
                </a:solidFill>
                <a:latin typeface="Garet"/>
                <a:ea typeface="Garet"/>
                <a:cs typeface="Garet"/>
                <a:sym typeface="Garet"/>
              </a:rPr>
              <a:t>University of Buea</a:t>
            </a:r>
          </a:p>
        </p:txBody>
      </p:sp>
      <p:sp>
        <p:nvSpPr>
          <p:cNvPr name="TextBox 20" id="20"/>
          <p:cNvSpPr txBox="true"/>
          <p:nvPr/>
        </p:nvSpPr>
        <p:spPr>
          <a:xfrm rot="0">
            <a:off x="14250620" y="9443214"/>
            <a:ext cx="3008680" cy="234673"/>
          </a:xfrm>
          <a:prstGeom prst="rect">
            <a:avLst/>
          </a:prstGeom>
        </p:spPr>
        <p:txBody>
          <a:bodyPr anchor="t" rtlCol="false" tIns="0" lIns="0" bIns="0" rIns="0">
            <a:spAutoFit/>
          </a:bodyPr>
          <a:lstStyle/>
          <a:p>
            <a:pPr algn="l" marL="0" indent="0" lvl="0">
              <a:lnSpc>
                <a:spcPts val="1995"/>
              </a:lnSpc>
            </a:pPr>
            <a:r>
              <a:rPr lang="en-US" sz="1425">
                <a:solidFill>
                  <a:srgbClr val="001E3A"/>
                </a:solidFill>
                <a:latin typeface="Garet"/>
                <a:ea typeface="Garet"/>
                <a:cs typeface="Garet"/>
                <a:sym typeface="Garet"/>
              </a:rPr>
              <a:t>CEF440 – Group 5</a:t>
            </a:r>
          </a:p>
        </p:txBody>
      </p:sp>
      <p:sp>
        <p:nvSpPr>
          <p:cNvPr name="TextBox 21" id="21"/>
          <p:cNvSpPr txBox="true"/>
          <p:nvPr/>
        </p:nvSpPr>
        <p:spPr>
          <a:xfrm rot="0">
            <a:off x="13691401" y="9334500"/>
            <a:ext cx="559219" cy="212555"/>
          </a:xfrm>
          <a:prstGeom prst="rect">
            <a:avLst/>
          </a:prstGeom>
        </p:spPr>
        <p:txBody>
          <a:bodyPr anchor="t" rtlCol="false" tIns="0" lIns="0" bIns="0" rIns="0">
            <a:spAutoFit/>
          </a:bodyPr>
          <a:lstStyle/>
          <a:p>
            <a:pPr algn="ctr" marL="0" indent="0" lvl="0">
              <a:lnSpc>
                <a:spcPts val="1582"/>
              </a:lnSpc>
            </a:pPr>
            <a:r>
              <a:rPr lang="en-US" b="true" sz="1907">
                <a:solidFill>
                  <a:srgbClr val="001E3A"/>
                </a:solidFill>
                <a:latin typeface="Garet Ultra-Bold"/>
                <a:ea typeface="Garet Ultra-Bold"/>
                <a:cs typeface="Garet Ultra-Bold"/>
                <a:sym typeface="Garet Ultra-Bold"/>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453021"/>
            <a:ext cx="14168470" cy="1081606"/>
          </a:xfrm>
          <a:prstGeom prst="rect">
            <a:avLst/>
          </a:prstGeom>
        </p:spPr>
        <p:txBody>
          <a:bodyPr anchor="t" rtlCol="false" tIns="0" lIns="0" bIns="0" rIns="0">
            <a:spAutoFit/>
          </a:bodyPr>
          <a:lstStyle/>
          <a:p>
            <a:pPr algn="l" marL="0" indent="0" lvl="0">
              <a:lnSpc>
                <a:spcPts val="7664"/>
              </a:lnSpc>
            </a:pPr>
            <a:r>
              <a:rPr lang="en-US" b="true" sz="9234">
                <a:solidFill>
                  <a:srgbClr val="001E3A"/>
                </a:solidFill>
                <a:latin typeface="Garet Ultra-Bold"/>
                <a:ea typeface="Garet Ultra-Bold"/>
                <a:cs typeface="Garet Ultra-Bold"/>
                <a:sym typeface="Garet Ultra-Bold"/>
              </a:rPr>
              <a:t>SYSTEM CONSTRAINTS</a:t>
            </a:r>
          </a:p>
        </p:txBody>
      </p:sp>
      <p:sp>
        <p:nvSpPr>
          <p:cNvPr name="TextBox 11" id="11"/>
          <p:cNvSpPr txBox="true"/>
          <p:nvPr/>
        </p:nvSpPr>
        <p:spPr>
          <a:xfrm rot="0">
            <a:off x="3634428" y="4209788"/>
            <a:ext cx="5352409" cy="5689363"/>
          </a:xfrm>
          <a:prstGeom prst="rect">
            <a:avLst/>
          </a:prstGeom>
        </p:spPr>
        <p:txBody>
          <a:bodyPr anchor="t" rtlCol="false" tIns="0" lIns="0" bIns="0" rIns="0">
            <a:spAutoFit/>
          </a:bodyPr>
          <a:lstStyle/>
          <a:p>
            <a:pPr algn="l" marL="0" indent="0" lvl="0">
              <a:lnSpc>
                <a:spcPts val="3513"/>
              </a:lnSpc>
            </a:pPr>
            <a:r>
              <a:rPr lang="en-US" sz="2509">
                <a:solidFill>
                  <a:srgbClr val="001E3A"/>
                </a:solidFill>
                <a:latin typeface="Garet"/>
                <a:ea typeface="Garet"/>
                <a:cs typeface="Garet"/>
                <a:sym typeface="Garet"/>
              </a:rPr>
              <a:t>Device &amp; Battery Limitations</a:t>
            </a:r>
          </a:p>
          <a:p>
            <a:pPr algn="l" marL="0" indent="0" lvl="0">
              <a:lnSpc>
                <a:spcPts val="3513"/>
              </a:lnSpc>
            </a:pPr>
            <a:r>
              <a:rPr lang="en-US" sz="2509">
                <a:solidFill>
                  <a:srgbClr val="001E3A"/>
                </a:solidFill>
                <a:latin typeface="Garet"/>
                <a:ea typeface="Garet"/>
                <a:cs typeface="Garet"/>
                <a:sym typeface="Garet"/>
              </a:rPr>
              <a:t>• Battery sensitivity: Users highly aware of apps draining power</a:t>
            </a:r>
          </a:p>
          <a:p>
            <a:pPr algn="l" marL="0" indent="0" lvl="0">
              <a:lnSpc>
                <a:spcPts val="3513"/>
              </a:lnSpc>
            </a:pPr>
            <a:r>
              <a:rPr lang="en-US" sz="2509">
                <a:solidFill>
                  <a:srgbClr val="001E3A"/>
                </a:solidFill>
                <a:latin typeface="Garet"/>
                <a:ea typeface="Garet"/>
                <a:cs typeface="Garet"/>
                <a:sym typeface="Garet"/>
              </a:rPr>
              <a:t>• Low-end devices: Limited RAM, storage, and processing capabilities common in target market</a:t>
            </a:r>
          </a:p>
          <a:p>
            <a:pPr algn="l" marL="0" indent="0" lvl="0">
              <a:lnSpc>
                <a:spcPts val="3513"/>
              </a:lnSpc>
            </a:pPr>
            <a:r>
              <a:rPr lang="en-US" sz="2509">
                <a:solidFill>
                  <a:srgbClr val="001E3A"/>
                </a:solidFill>
                <a:latin typeface="Garet"/>
                <a:ea typeface="Garet"/>
                <a:cs typeface="Garet"/>
                <a:sym typeface="Garet"/>
              </a:rPr>
              <a:t>• Background activity must be minimized to preserve battery life</a:t>
            </a:r>
          </a:p>
          <a:p>
            <a:pPr algn="l" marL="0" indent="0" lvl="0">
              <a:lnSpc>
                <a:spcPts val="3513"/>
              </a:lnSpc>
            </a:pPr>
            <a:r>
              <a:rPr lang="en-US" sz="2509">
                <a:solidFill>
                  <a:srgbClr val="001E3A"/>
                </a:solidFill>
                <a:latin typeface="Garet"/>
                <a:ea typeface="Garet"/>
                <a:cs typeface="Garet"/>
                <a:sym typeface="Garet"/>
              </a:rPr>
              <a:t>• Energy-efficient algorithms required for continuous monitoring</a:t>
            </a:r>
          </a:p>
        </p:txBody>
      </p:sp>
      <p:grpSp>
        <p:nvGrpSpPr>
          <p:cNvPr name="Group 12" id="12"/>
          <p:cNvGrpSpPr/>
          <p:nvPr/>
        </p:nvGrpSpPr>
        <p:grpSpPr>
          <a:xfrm rot="0">
            <a:off x="2443542" y="4266938"/>
            <a:ext cx="876562" cy="87656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5" id="15"/>
          <p:cNvSpPr txBox="true"/>
          <p:nvPr/>
        </p:nvSpPr>
        <p:spPr>
          <a:xfrm rot="0">
            <a:off x="10492049" y="4209788"/>
            <a:ext cx="5352409" cy="5689363"/>
          </a:xfrm>
          <a:prstGeom prst="rect">
            <a:avLst/>
          </a:prstGeom>
        </p:spPr>
        <p:txBody>
          <a:bodyPr anchor="t" rtlCol="false" tIns="0" lIns="0" bIns="0" rIns="0">
            <a:spAutoFit/>
          </a:bodyPr>
          <a:lstStyle/>
          <a:p>
            <a:pPr algn="l" marL="0" indent="0" lvl="0">
              <a:lnSpc>
                <a:spcPts val="3513"/>
              </a:lnSpc>
            </a:pPr>
            <a:r>
              <a:rPr lang="en-US" sz="2509">
                <a:solidFill>
                  <a:srgbClr val="001E3A"/>
                </a:solidFill>
                <a:latin typeface="Garet"/>
                <a:ea typeface="Garet"/>
                <a:cs typeface="Garet"/>
                <a:sym typeface="Garet"/>
              </a:rPr>
              <a:t>Design Requirements</a:t>
            </a:r>
          </a:p>
          <a:p>
            <a:pPr algn="l" marL="0" indent="0" lvl="0">
              <a:lnSpc>
                <a:spcPts val="3513"/>
              </a:lnSpc>
            </a:pPr>
            <a:r>
              <a:rPr lang="en-US" sz="2509">
                <a:solidFill>
                  <a:srgbClr val="001E3A"/>
                </a:solidFill>
                <a:latin typeface="Garet"/>
                <a:ea typeface="Garet"/>
                <a:cs typeface="Garet"/>
                <a:sym typeface="Garet"/>
              </a:rPr>
              <a:t>• Offline-first storage: Cache data locally during connectivity gaps</a:t>
            </a:r>
          </a:p>
          <a:p>
            <a:pPr algn="l" marL="0" indent="0" lvl="0">
              <a:lnSpc>
                <a:spcPts val="3513"/>
              </a:lnSpc>
            </a:pPr>
            <a:r>
              <a:rPr lang="en-US" sz="2509">
                <a:solidFill>
                  <a:srgbClr val="001E3A"/>
                </a:solidFill>
                <a:latin typeface="Garet"/>
                <a:ea typeface="Garet"/>
                <a:cs typeface="Garet"/>
                <a:sym typeface="Garet"/>
              </a:rPr>
              <a:t>• Adaptive syncing: Upload data only when conditions are favorable</a:t>
            </a:r>
          </a:p>
          <a:p>
            <a:pPr algn="l" marL="0" indent="0" lvl="0">
              <a:lnSpc>
                <a:spcPts val="3513"/>
              </a:lnSpc>
            </a:pPr>
            <a:r>
              <a:rPr lang="en-US" sz="2509">
                <a:solidFill>
                  <a:srgbClr val="001E3A"/>
                </a:solidFill>
                <a:latin typeface="Garet"/>
                <a:ea typeface="Garet"/>
                <a:cs typeface="Garet"/>
                <a:sym typeface="Garet"/>
              </a:rPr>
              <a:t>• Minimal background processes to reduce resource consumption</a:t>
            </a:r>
          </a:p>
          <a:p>
            <a:pPr algn="l" marL="0" indent="0" lvl="0">
              <a:lnSpc>
                <a:spcPts val="3513"/>
              </a:lnSpc>
            </a:pPr>
            <a:r>
              <a:rPr lang="en-US" sz="2509">
                <a:solidFill>
                  <a:srgbClr val="001E3A"/>
                </a:solidFill>
                <a:latin typeface="Garet"/>
                <a:ea typeface="Garet"/>
                <a:cs typeface="Garet"/>
                <a:sym typeface="Garet"/>
              </a:rPr>
              <a:t>• Graceful degradation on unstable networks</a:t>
            </a:r>
          </a:p>
          <a:p>
            <a:pPr algn="l" marL="0" indent="0" lvl="0">
              <a:lnSpc>
                <a:spcPts val="3513"/>
              </a:lnSpc>
            </a:pPr>
            <a:r>
              <a:rPr lang="en-US" sz="2509">
                <a:solidFill>
                  <a:srgbClr val="001E3A"/>
                </a:solidFill>
                <a:latin typeface="Garet"/>
                <a:ea typeface="Garet"/>
                <a:cs typeface="Garet"/>
                <a:sym typeface="Garet"/>
              </a:rPr>
              <a:t>• Lightweight data formats to reduce transmission costs</a:t>
            </a:r>
          </a:p>
        </p:txBody>
      </p:sp>
      <p:grpSp>
        <p:nvGrpSpPr>
          <p:cNvPr name="Group 16" id="16"/>
          <p:cNvGrpSpPr/>
          <p:nvPr/>
        </p:nvGrpSpPr>
        <p:grpSpPr>
          <a:xfrm rot="0">
            <a:off x="9301162" y="4266938"/>
            <a:ext cx="876562" cy="87656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9" id="19"/>
          <p:cNvSpPr txBox="true"/>
          <p:nvPr/>
        </p:nvSpPr>
        <p:spPr>
          <a:xfrm rot="0">
            <a:off x="14250620" y="9229725"/>
            <a:ext cx="1865504" cy="208643"/>
          </a:xfrm>
          <a:prstGeom prst="rect">
            <a:avLst/>
          </a:prstGeom>
        </p:spPr>
        <p:txBody>
          <a:bodyPr anchor="t" rtlCol="false" tIns="0" lIns="0" bIns="0" rIns="0">
            <a:spAutoFit/>
          </a:bodyPr>
          <a:lstStyle/>
          <a:p>
            <a:pPr algn="l" marL="0" indent="0" lvl="0">
              <a:lnSpc>
                <a:spcPts val="1679"/>
              </a:lnSpc>
            </a:pPr>
            <a:r>
              <a:rPr lang="en-US" sz="1199">
                <a:solidFill>
                  <a:srgbClr val="001E3A"/>
                </a:solidFill>
                <a:latin typeface="Garet"/>
                <a:ea typeface="Garet"/>
                <a:cs typeface="Garet"/>
                <a:sym typeface="Garet"/>
              </a:rPr>
              <a:t>University of Buea</a:t>
            </a:r>
          </a:p>
        </p:txBody>
      </p:sp>
      <p:sp>
        <p:nvSpPr>
          <p:cNvPr name="TextBox 20" id="20"/>
          <p:cNvSpPr txBox="true"/>
          <p:nvPr/>
        </p:nvSpPr>
        <p:spPr>
          <a:xfrm rot="0">
            <a:off x="14250620" y="9443214"/>
            <a:ext cx="3008680" cy="230955"/>
          </a:xfrm>
          <a:prstGeom prst="rect">
            <a:avLst/>
          </a:prstGeom>
        </p:spPr>
        <p:txBody>
          <a:bodyPr anchor="t" rtlCol="false" tIns="0" lIns="0" bIns="0" rIns="0">
            <a:spAutoFit/>
          </a:bodyPr>
          <a:lstStyle/>
          <a:p>
            <a:pPr algn="l" marL="0" indent="0" lvl="0">
              <a:lnSpc>
                <a:spcPts val="1977"/>
              </a:lnSpc>
            </a:pPr>
            <a:r>
              <a:rPr lang="en-US" sz="1412">
                <a:solidFill>
                  <a:srgbClr val="001E3A"/>
                </a:solidFill>
                <a:latin typeface="Garet"/>
                <a:ea typeface="Garet"/>
                <a:cs typeface="Garet"/>
                <a:sym typeface="Garet"/>
              </a:rPr>
              <a:t>CEF440 - Group 5</a:t>
            </a:r>
          </a:p>
        </p:txBody>
      </p:sp>
      <p:sp>
        <p:nvSpPr>
          <p:cNvPr name="TextBox 21" id="21"/>
          <p:cNvSpPr txBox="true"/>
          <p:nvPr/>
        </p:nvSpPr>
        <p:spPr>
          <a:xfrm rot="0">
            <a:off x="13691401" y="9334500"/>
            <a:ext cx="559219" cy="255467"/>
          </a:xfrm>
          <a:prstGeom prst="rect">
            <a:avLst/>
          </a:prstGeom>
        </p:spPr>
        <p:txBody>
          <a:bodyPr anchor="t" rtlCol="false" tIns="0" lIns="0" bIns="0" rIns="0">
            <a:spAutoFit/>
          </a:bodyPr>
          <a:lstStyle/>
          <a:p>
            <a:pPr algn="ctr" marL="0" indent="0" lvl="0">
              <a:lnSpc>
                <a:spcPts val="1838"/>
              </a:lnSpc>
            </a:pPr>
            <a:r>
              <a:rPr lang="en-US" b="true" sz="2214">
                <a:solidFill>
                  <a:srgbClr val="001E3A"/>
                </a:solidFill>
                <a:latin typeface="Garet Ultra-Bold"/>
                <a:ea typeface="Garet Ultra-Bold"/>
                <a:cs typeface="Garet Ultra-Bold"/>
                <a:sym typeface="Garet Ultra-Bold"/>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386346"/>
            <a:ext cx="14168470" cy="1585197"/>
          </a:xfrm>
          <a:prstGeom prst="rect">
            <a:avLst/>
          </a:prstGeom>
        </p:spPr>
        <p:txBody>
          <a:bodyPr anchor="t" rtlCol="false" tIns="0" lIns="0" bIns="0" rIns="0">
            <a:spAutoFit/>
          </a:bodyPr>
          <a:lstStyle/>
          <a:p>
            <a:pPr algn="l" marL="0" indent="0" lvl="0">
              <a:lnSpc>
                <a:spcPts val="5960"/>
              </a:lnSpc>
            </a:pPr>
            <a:r>
              <a:rPr lang="en-US" b="true" sz="7180">
                <a:solidFill>
                  <a:srgbClr val="001E3A"/>
                </a:solidFill>
                <a:latin typeface="Garet Ultra-Bold"/>
                <a:ea typeface="Garet Ultra-Bold"/>
                <a:cs typeface="Garet Ultra-Bold"/>
                <a:sym typeface="Garet Ultra-Bold"/>
              </a:rPr>
              <a:t>User Motivation and Adoption Factors</a:t>
            </a:r>
          </a:p>
        </p:txBody>
      </p:sp>
      <p:sp>
        <p:nvSpPr>
          <p:cNvPr name="TextBox 11" id="11"/>
          <p:cNvSpPr txBox="true"/>
          <p:nvPr/>
        </p:nvSpPr>
        <p:spPr>
          <a:xfrm rot="0">
            <a:off x="4463329" y="4219313"/>
            <a:ext cx="10552228" cy="1773978"/>
          </a:xfrm>
          <a:prstGeom prst="rect">
            <a:avLst/>
          </a:prstGeom>
        </p:spPr>
        <p:txBody>
          <a:bodyPr anchor="t" rtlCol="false" tIns="0" lIns="0" bIns="0" rIns="0">
            <a:spAutoFit/>
          </a:bodyPr>
          <a:lstStyle/>
          <a:p>
            <a:pPr algn="l" marL="0" indent="0" lvl="0">
              <a:lnSpc>
                <a:spcPts val="3546"/>
              </a:lnSpc>
            </a:pPr>
            <a:r>
              <a:rPr lang="en-US" sz="2533">
                <a:solidFill>
                  <a:srgbClr val="001E3A"/>
                </a:solidFill>
                <a:latin typeface="Garet"/>
                <a:ea typeface="Garet"/>
                <a:cs typeface="Garet"/>
                <a:sym typeface="Garet"/>
              </a:rPr>
              <a:t>Retention depends on providing tangible benefits to users. Key motivators include access to personal network insights, visibility into their own connectivity performance, and the sense of contributing to broader network improvements in Cameroon.</a:t>
            </a:r>
          </a:p>
        </p:txBody>
      </p:sp>
      <p:grpSp>
        <p:nvGrpSpPr>
          <p:cNvPr name="Group 12" id="12"/>
          <p:cNvGrpSpPr/>
          <p:nvPr/>
        </p:nvGrpSpPr>
        <p:grpSpPr>
          <a:xfrm rot="0">
            <a:off x="3272443" y="4266938"/>
            <a:ext cx="876562" cy="87656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5" id="15"/>
          <p:cNvSpPr txBox="true"/>
          <p:nvPr/>
        </p:nvSpPr>
        <p:spPr>
          <a:xfrm rot="0">
            <a:off x="4463329" y="6420425"/>
            <a:ext cx="10552228" cy="1773978"/>
          </a:xfrm>
          <a:prstGeom prst="rect">
            <a:avLst/>
          </a:prstGeom>
        </p:spPr>
        <p:txBody>
          <a:bodyPr anchor="t" rtlCol="false" tIns="0" lIns="0" bIns="0" rIns="0">
            <a:spAutoFit/>
          </a:bodyPr>
          <a:lstStyle/>
          <a:p>
            <a:pPr algn="l" marL="0" indent="0" lvl="0">
              <a:lnSpc>
                <a:spcPts val="3546"/>
              </a:lnSpc>
            </a:pPr>
            <a:r>
              <a:rPr lang="en-US" sz="2533">
                <a:solidFill>
                  <a:srgbClr val="001E3A"/>
                </a:solidFill>
                <a:latin typeface="Garet"/>
                <a:ea typeface="Garet"/>
                <a:cs typeface="Garet"/>
                <a:sym typeface="Garet"/>
              </a:rPr>
              <a:t>Suggested user-facing features to drive engagement include simple dashboards displaying network quality metrics, performance summaries over time, and easy-to-understand visualizations that help users see the value of their participation.</a:t>
            </a:r>
          </a:p>
        </p:txBody>
      </p:sp>
      <p:grpSp>
        <p:nvGrpSpPr>
          <p:cNvPr name="Group 16" id="16"/>
          <p:cNvGrpSpPr/>
          <p:nvPr/>
        </p:nvGrpSpPr>
        <p:grpSpPr>
          <a:xfrm rot="0">
            <a:off x="3272443" y="6468050"/>
            <a:ext cx="876562" cy="87656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9" id="19"/>
          <p:cNvSpPr txBox="true"/>
          <p:nvPr/>
        </p:nvSpPr>
        <p:spPr>
          <a:xfrm rot="0">
            <a:off x="14250620" y="9229725"/>
            <a:ext cx="1865504" cy="211803"/>
          </a:xfrm>
          <a:prstGeom prst="rect">
            <a:avLst/>
          </a:prstGeom>
        </p:spPr>
        <p:txBody>
          <a:bodyPr anchor="t" rtlCol="false" tIns="0" lIns="0" bIns="0" rIns="0">
            <a:spAutoFit/>
          </a:bodyPr>
          <a:lstStyle/>
          <a:p>
            <a:pPr algn="l" marL="0" indent="0" lvl="0">
              <a:lnSpc>
                <a:spcPts val="1696"/>
              </a:lnSpc>
            </a:pPr>
            <a:r>
              <a:rPr lang="en-US" sz="1211">
                <a:solidFill>
                  <a:srgbClr val="001E3A"/>
                </a:solidFill>
                <a:latin typeface="Garet"/>
                <a:ea typeface="Garet"/>
                <a:cs typeface="Garet"/>
                <a:sym typeface="Garet"/>
              </a:rPr>
              <a:t>University of Buea</a:t>
            </a:r>
          </a:p>
        </p:txBody>
      </p:sp>
      <p:sp>
        <p:nvSpPr>
          <p:cNvPr name="TextBox 20" id="20"/>
          <p:cNvSpPr txBox="true"/>
          <p:nvPr/>
        </p:nvSpPr>
        <p:spPr>
          <a:xfrm rot="0">
            <a:off x="14250620" y="9443214"/>
            <a:ext cx="3008680" cy="234673"/>
          </a:xfrm>
          <a:prstGeom prst="rect">
            <a:avLst/>
          </a:prstGeom>
        </p:spPr>
        <p:txBody>
          <a:bodyPr anchor="t" rtlCol="false" tIns="0" lIns="0" bIns="0" rIns="0">
            <a:spAutoFit/>
          </a:bodyPr>
          <a:lstStyle/>
          <a:p>
            <a:pPr algn="l" marL="0" indent="0" lvl="0">
              <a:lnSpc>
                <a:spcPts val="1995"/>
              </a:lnSpc>
            </a:pPr>
            <a:r>
              <a:rPr lang="en-US" sz="1425">
                <a:solidFill>
                  <a:srgbClr val="001E3A"/>
                </a:solidFill>
                <a:latin typeface="Garet"/>
                <a:ea typeface="Garet"/>
                <a:cs typeface="Garet"/>
                <a:sym typeface="Garet"/>
              </a:rPr>
              <a:t>CEF440 – Group 5</a:t>
            </a:r>
          </a:p>
        </p:txBody>
      </p:sp>
      <p:sp>
        <p:nvSpPr>
          <p:cNvPr name="TextBox 21" id="21"/>
          <p:cNvSpPr txBox="true"/>
          <p:nvPr/>
        </p:nvSpPr>
        <p:spPr>
          <a:xfrm rot="0">
            <a:off x="13691401" y="9315450"/>
            <a:ext cx="559219" cy="201590"/>
          </a:xfrm>
          <a:prstGeom prst="rect">
            <a:avLst/>
          </a:prstGeom>
        </p:spPr>
        <p:txBody>
          <a:bodyPr anchor="t" rtlCol="false" tIns="0" lIns="0" bIns="0" rIns="0">
            <a:spAutoFit/>
          </a:bodyPr>
          <a:lstStyle/>
          <a:p>
            <a:pPr algn="ctr" marL="0" indent="0" lvl="0">
              <a:lnSpc>
                <a:spcPts val="1429"/>
              </a:lnSpc>
            </a:pPr>
            <a:r>
              <a:rPr lang="en-US" b="true" sz="1722">
                <a:solidFill>
                  <a:srgbClr val="001E3A"/>
                </a:solidFill>
                <a:latin typeface="Garet Ultra-Bold"/>
                <a:ea typeface="Garet Ultra-Bold"/>
                <a:cs typeface="Garet Ultra-Bold"/>
                <a:sym typeface="Garet Ultra-Bold"/>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386346"/>
            <a:ext cx="14168470" cy="1585197"/>
          </a:xfrm>
          <a:prstGeom prst="rect">
            <a:avLst/>
          </a:prstGeom>
        </p:spPr>
        <p:txBody>
          <a:bodyPr anchor="t" rtlCol="false" tIns="0" lIns="0" bIns="0" rIns="0">
            <a:spAutoFit/>
          </a:bodyPr>
          <a:lstStyle/>
          <a:p>
            <a:pPr algn="l" marL="0" indent="0" lvl="0">
              <a:lnSpc>
                <a:spcPts val="5960"/>
              </a:lnSpc>
            </a:pPr>
            <a:r>
              <a:rPr lang="en-US" b="true" sz="7180">
                <a:solidFill>
                  <a:srgbClr val="001E3A"/>
                </a:solidFill>
                <a:latin typeface="Garet Ultra-Bold"/>
                <a:ea typeface="Garet Ultra-Bold"/>
                <a:cs typeface="Garet Ultra-Bold"/>
                <a:sym typeface="Garet Ultra-Bold"/>
              </a:rPr>
              <a:t>Language and Localisation Preferences</a:t>
            </a:r>
          </a:p>
        </p:txBody>
      </p:sp>
      <p:sp>
        <p:nvSpPr>
          <p:cNvPr name="TextBox 11" id="11"/>
          <p:cNvSpPr txBox="true"/>
          <p:nvPr/>
        </p:nvSpPr>
        <p:spPr>
          <a:xfrm rot="0">
            <a:off x="2192763" y="4209788"/>
            <a:ext cx="8473430" cy="3648905"/>
          </a:xfrm>
          <a:prstGeom prst="rect">
            <a:avLst/>
          </a:prstGeom>
        </p:spPr>
        <p:txBody>
          <a:bodyPr anchor="t" rtlCol="false" tIns="0" lIns="0" bIns="0" rIns="0">
            <a:spAutoFit/>
          </a:bodyPr>
          <a:lstStyle/>
          <a:p>
            <a:pPr algn="l" marL="0" indent="0" lvl="0">
              <a:lnSpc>
                <a:spcPts val="3629"/>
              </a:lnSpc>
            </a:pPr>
            <a:r>
              <a:rPr lang="en-US" sz="2592">
                <a:solidFill>
                  <a:srgbClr val="001E3A"/>
                </a:solidFill>
                <a:latin typeface="Garet"/>
                <a:ea typeface="Garet"/>
                <a:cs typeface="Garet"/>
                <a:sym typeface="Garet"/>
              </a:rPr>
              <a:t>Our survey reveals clear language preferences among mobile subscribers. Nearly half (49.1%) prefer English as their primary interface language, while 43.4% favor a bilingual English and French option. A smaller group prefers French only. For the Central African context, the app will default to English with an easy option to switch to French, ensuring accessibility for all users in Cameroon.</a:t>
            </a:r>
          </a:p>
        </p:txBody>
      </p:sp>
      <p:pic>
        <p:nvPicPr>
          <p:cNvPr name="Picture 12" id="12"/>
          <p:cNvPicPr>
            <a:picLocks noChangeAspect="true"/>
          </p:cNvPicPr>
          <p:nvPr/>
        </p:nvPicPr>
        <p:blipFill>
          <a:blip r:embed="rId6"/>
          <a:stretch>
            <a:fillRect/>
          </a:stretch>
        </p:blipFill>
        <p:spPr>
          <a:xfrm rot="0">
            <a:off x="10513632" y="3883322"/>
            <a:ext cx="6089023" cy="4382252"/>
          </a:xfrm>
          <a:prstGeom prst="rect">
            <a:avLst/>
          </a:prstGeom>
        </p:spPr>
      </p:pic>
      <p:sp>
        <p:nvSpPr>
          <p:cNvPr name="TextBox 13" id="13"/>
          <p:cNvSpPr txBox="true"/>
          <p:nvPr/>
        </p:nvSpPr>
        <p:spPr>
          <a:xfrm rot="0">
            <a:off x="14250620" y="9229725"/>
            <a:ext cx="1865504" cy="214538"/>
          </a:xfrm>
          <a:prstGeom prst="rect">
            <a:avLst/>
          </a:prstGeom>
        </p:spPr>
        <p:txBody>
          <a:bodyPr anchor="t" rtlCol="false" tIns="0" lIns="0" bIns="0" rIns="0">
            <a:spAutoFit/>
          </a:bodyPr>
          <a:lstStyle/>
          <a:p>
            <a:pPr algn="l" marL="0" indent="0" lvl="0">
              <a:lnSpc>
                <a:spcPts val="1735"/>
              </a:lnSpc>
            </a:pPr>
            <a:r>
              <a:rPr lang="en-US" sz="1239">
                <a:solidFill>
                  <a:srgbClr val="001E3A"/>
                </a:solidFill>
                <a:latin typeface="Garet"/>
                <a:ea typeface="Garet"/>
                <a:cs typeface="Garet"/>
                <a:sym typeface="Garet"/>
              </a:rPr>
              <a:t>University of Buea</a:t>
            </a:r>
          </a:p>
        </p:txBody>
      </p:sp>
      <p:sp>
        <p:nvSpPr>
          <p:cNvPr name="TextBox 14" id="14"/>
          <p:cNvSpPr txBox="true"/>
          <p:nvPr/>
        </p:nvSpPr>
        <p:spPr>
          <a:xfrm rot="0">
            <a:off x="14250620" y="9433689"/>
            <a:ext cx="3008680" cy="247418"/>
          </a:xfrm>
          <a:prstGeom prst="rect">
            <a:avLst/>
          </a:prstGeom>
        </p:spPr>
        <p:txBody>
          <a:bodyPr anchor="t" rtlCol="false" tIns="0" lIns="0" bIns="0" rIns="0">
            <a:spAutoFit/>
          </a:bodyPr>
          <a:lstStyle/>
          <a:p>
            <a:pPr algn="l" marL="0" indent="0" lvl="0">
              <a:lnSpc>
                <a:spcPts val="2042"/>
              </a:lnSpc>
            </a:pPr>
            <a:r>
              <a:rPr lang="en-US" sz="1458">
                <a:solidFill>
                  <a:srgbClr val="001E3A"/>
                </a:solidFill>
                <a:latin typeface="Garet"/>
                <a:ea typeface="Garet"/>
                <a:cs typeface="Garet"/>
                <a:sym typeface="Garet"/>
              </a:rPr>
              <a:t>CEF440 – Group 5</a:t>
            </a:r>
          </a:p>
        </p:txBody>
      </p:sp>
      <p:sp>
        <p:nvSpPr>
          <p:cNvPr name="TextBox 15" id="15"/>
          <p:cNvSpPr txBox="true"/>
          <p:nvPr/>
        </p:nvSpPr>
        <p:spPr>
          <a:xfrm rot="0">
            <a:off x="13691401" y="9315450"/>
            <a:ext cx="559219" cy="201590"/>
          </a:xfrm>
          <a:prstGeom prst="rect">
            <a:avLst/>
          </a:prstGeom>
        </p:spPr>
        <p:txBody>
          <a:bodyPr anchor="t" rtlCol="false" tIns="0" lIns="0" bIns="0" rIns="0">
            <a:spAutoFit/>
          </a:bodyPr>
          <a:lstStyle/>
          <a:p>
            <a:pPr algn="ctr" marL="0" indent="0" lvl="0">
              <a:lnSpc>
                <a:spcPts val="1429"/>
              </a:lnSpc>
            </a:pPr>
            <a:r>
              <a:rPr lang="en-US" b="true" sz="1722">
                <a:solidFill>
                  <a:srgbClr val="001E3A"/>
                </a:solidFill>
                <a:latin typeface="Garet Ultra-Bold"/>
                <a:ea typeface="Garet Ultra-Bold"/>
                <a:cs typeface="Garet Ultra-Bold"/>
                <a:sym typeface="Garet Ultra-Bold"/>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433971"/>
            <a:ext cx="14168470" cy="1034941"/>
          </a:xfrm>
          <a:prstGeom prst="rect">
            <a:avLst/>
          </a:prstGeom>
        </p:spPr>
        <p:txBody>
          <a:bodyPr anchor="t" rtlCol="false" tIns="0" lIns="0" bIns="0" rIns="0">
            <a:spAutoFit/>
          </a:bodyPr>
          <a:lstStyle/>
          <a:p>
            <a:pPr algn="l" marL="0" indent="0" lvl="0">
              <a:lnSpc>
                <a:spcPts val="7344"/>
              </a:lnSpc>
            </a:pPr>
            <a:r>
              <a:rPr lang="en-US" b="true" sz="8849">
                <a:solidFill>
                  <a:srgbClr val="001E3A"/>
                </a:solidFill>
                <a:latin typeface="Garet Ultra-Bold"/>
                <a:ea typeface="Garet Ultra-Bold"/>
                <a:cs typeface="Garet Ultra-Bold"/>
                <a:sym typeface="Garet Ultra-Bold"/>
              </a:rPr>
              <a:t>TECHNOLOGY ANALYSIS</a:t>
            </a:r>
          </a:p>
        </p:txBody>
      </p:sp>
      <p:sp>
        <p:nvSpPr>
          <p:cNvPr name="TextBox 11" id="11"/>
          <p:cNvSpPr txBox="true"/>
          <p:nvPr/>
        </p:nvSpPr>
        <p:spPr>
          <a:xfrm rot="0">
            <a:off x="3634428" y="4209788"/>
            <a:ext cx="5352409" cy="4106480"/>
          </a:xfrm>
          <a:prstGeom prst="rect">
            <a:avLst/>
          </a:prstGeom>
        </p:spPr>
        <p:txBody>
          <a:bodyPr anchor="t" rtlCol="false" tIns="0" lIns="0" bIns="0" rIns="0">
            <a:spAutoFit/>
          </a:bodyPr>
          <a:lstStyle/>
          <a:p>
            <a:pPr algn="l" marL="0" indent="0" lvl="0">
              <a:lnSpc>
                <a:spcPts val="3608"/>
              </a:lnSpc>
            </a:pPr>
            <a:r>
              <a:rPr lang="en-US" sz="2577">
                <a:solidFill>
                  <a:srgbClr val="001E3A"/>
                </a:solidFill>
                <a:latin typeface="Garet"/>
                <a:ea typeface="Garet"/>
                <a:cs typeface="Garet"/>
                <a:sym typeface="Garet"/>
              </a:rPr>
              <a:t>Python &amp; Go</a:t>
            </a:r>
          </a:p>
          <a:p>
            <a:pPr algn="l" marL="0" indent="0" lvl="0">
              <a:lnSpc>
                <a:spcPts val="3608"/>
              </a:lnSpc>
            </a:pPr>
            <a:r>
              <a:rPr lang="en-US" sz="2577">
                <a:solidFill>
                  <a:srgbClr val="001E3A"/>
                </a:solidFill>
                <a:latin typeface="Garet"/>
                <a:ea typeface="Garet"/>
                <a:cs typeface="Garet"/>
                <a:sym typeface="Garet"/>
              </a:rPr>
              <a:t>• Python: Rapid development, extensive libraries for data processing and analysis</a:t>
            </a:r>
          </a:p>
          <a:p>
            <a:pPr algn="l" marL="0" indent="0" lvl="0">
              <a:lnSpc>
                <a:spcPts val="3608"/>
              </a:lnSpc>
            </a:pPr>
            <a:r>
              <a:rPr lang="en-US" sz="2577">
                <a:solidFill>
                  <a:srgbClr val="001E3A"/>
                </a:solidFill>
                <a:latin typeface="Garet"/>
                <a:ea typeface="Garet"/>
                <a:cs typeface="Garet"/>
                <a:sym typeface="Garet"/>
              </a:rPr>
              <a:t>• Go: Excellent for high concurrency, efficient for backend services</a:t>
            </a:r>
          </a:p>
          <a:p>
            <a:pPr algn="l" marL="0" indent="0" lvl="0">
              <a:lnSpc>
                <a:spcPts val="3608"/>
              </a:lnSpc>
            </a:pPr>
            <a:r>
              <a:rPr lang="en-US" sz="2577">
                <a:solidFill>
                  <a:srgbClr val="001E3A"/>
                </a:solidFill>
                <a:latin typeface="Garet"/>
                <a:ea typeface="Garet"/>
                <a:cs typeface="Garet"/>
                <a:sym typeface="Garet"/>
              </a:rPr>
              <a:t>• Critical: Backend handles data aggregation and storage</a:t>
            </a:r>
          </a:p>
        </p:txBody>
      </p:sp>
      <p:grpSp>
        <p:nvGrpSpPr>
          <p:cNvPr name="Group 12" id="12"/>
          <p:cNvGrpSpPr/>
          <p:nvPr/>
        </p:nvGrpSpPr>
        <p:grpSpPr>
          <a:xfrm rot="0">
            <a:off x="2443542" y="4266938"/>
            <a:ext cx="876562" cy="87656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5" id="15"/>
          <p:cNvSpPr txBox="true"/>
          <p:nvPr/>
        </p:nvSpPr>
        <p:spPr>
          <a:xfrm rot="0">
            <a:off x="10492049" y="4209788"/>
            <a:ext cx="5352409" cy="4563680"/>
          </a:xfrm>
          <a:prstGeom prst="rect">
            <a:avLst/>
          </a:prstGeom>
        </p:spPr>
        <p:txBody>
          <a:bodyPr anchor="t" rtlCol="false" tIns="0" lIns="0" bIns="0" rIns="0">
            <a:spAutoFit/>
          </a:bodyPr>
          <a:lstStyle/>
          <a:p>
            <a:pPr algn="l" marL="0" indent="0" lvl="0">
              <a:lnSpc>
                <a:spcPts val="3608"/>
              </a:lnSpc>
            </a:pPr>
            <a:r>
              <a:rPr lang="en-US" sz="2577">
                <a:solidFill>
                  <a:srgbClr val="001E3A"/>
                </a:solidFill>
                <a:latin typeface="Garet"/>
                <a:ea typeface="Garet"/>
                <a:cs typeface="Garet"/>
                <a:sym typeface="Garet"/>
              </a:rPr>
              <a:t>C/C++ &amp; Rust</a:t>
            </a:r>
          </a:p>
          <a:p>
            <a:pPr algn="l" marL="0" indent="0" lvl="0">
              <a:lnSpc>
                <a:spcPts val="3608"/>
              </a:lnSpc>
            </a:pPr>
            <a:r>
              <a:rPr lang="en-US" sz="2577">
                <a:solidFill>
                  <a:srgbClr val="001E3A"/>
                </a:solidFill>
                <a:latin typeface="Garet"/>
                <a:ea typeface="Garet"/>
                <a:cs typeface="Garet"/>
                <a:sym typeface="Garet"/>
              </a:rPr>
              <a:t>• C/C++: High precision for network measurements, but complex memory management</a:t>
            </a:r>
          </a:p>
          <a:p>
            <a:pPr algn="l" marL="0" indent="0" lvl="0">
              <a:lnSpc>
                <a:spcPts val="3608"/>
              </a:lnSpc>
            </a:pPr>
            <a:r>
              <a:rPr lang="en-US" sz="2577">
                <a:solidFill>
                  <a:srgbClr val="001E3A"/>
                </a:solidFill>
                <a:latin typeface="Garet"/>
                <a:ea typeface="Garet"/>
                <a:cs typeface="Garet"/>
                <a:sym typeface="Garet"/>
              </a:rPr>
              <a:t>• Rust: Performance and memory safety, steep learning curve</a:t>
            </a:r>
          </a:p>
          <a:p>
            <a:pPr algn="l" marL="0" indent="0" lvl="0">
              <a:lnSpc>
                <a:spcPts val="3608"/>
              </a:lnSpc>
            </a:pPr>
            <a:r>
              <a:rPr lang="en-US" sz="2577">
                <a:solidFill>
                  <a:srgbClr val="001E3A"/>
                </a:solidFill>
                <a:latin typeface="Garet"/>
                <a:ea typeface="Garet"/>
                <a:cs typeface="Garet"/>
                <a:sym typeface="Garet"/>
              </a:rPr>
              <a:t>• Critical: Mobile device performs actual network measurements</a:t>
            </a:r>
          </a:p>
        </p:txBody>
      </p:sp>
      <p:grpSp>
        <p:nvGrpSpPr>
          <p:cNvPr name="Group 16" id="16"/>
          <p:cNvGrpSpPr/>
          <p:nvPr/>
        </p:nvGrpSpPr>
        <p:grpSpPr>
          <a:xfrm rot="0">
            <a:off x="9301162" y="4266938"/>
            <a:ext cx="876562" cy="87656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9" id="19"/>
          <p:cNvSpPr txBox="true"/>
          <p:nvPr/>
        </p:nvSpPr>
        <p:spPr>
          <a:xfrm rot="0">
            <a:off x="14250620" y="9229725"/>
            <a:ext cx="1865504" cy="214717"/>
          </a:xfrm>
          <a:prstGeom prst="rect">
            <a:avLst/>
          </a:prstGeom>
        </p:spPr>
        <p:txBody>
          <a:bodyPr anchor="t" rtlCol="false" tIns="0" lIns="0" bIns="0" rIns="0">
            <a:spAutoFit/>
          </a:bodyPr>
          <a:lstStyle/>
          <a:p>
            <a:pPr algn="l" marL="0" indent="0" lvl="0">
              <a:lnSpc>
                <a:spcPts val="1725"/>
              </a:lnSpc>
            </a:pPr>
            <a:r>
              <a:rPr lang="en-US" sz="1232">
                <a:solidFill>
                  <a:srgbClr val="001E3A"/>
                </a:solidFill>
                <a:latin typeface="Garet"/>
                <a:ea typeface="Garet"/>
                <a:cs typeface="Garet"/>
                <a:sym typeface="Garet"/>
              </a:rPr>
              <a:t>University of Buea</a:t>
            </a:r>
          </a:p>
        </p:txBody>
      </p:sp>
      <p:sp>
        <p:nvSpPr>
          <p:cNvPr name="TextBox 20" id="20"/>
          <p:cNvSpPr txBox="true"/>
          <p:nvPr/>
        </p:nvSpPr>
        <p:spPr>
          <a:xfrm rot="0">
            <a:off x="14250620" y="9433689"/>
            <a:ext cx="3008680" cy="247628"/>
          </a:xfrm>
          <a:prstGeom prst="rect">
            <a:avLst/>
          </a:prstGeom>
        </p:spPr>
        <p:txBody>
          <a:bodyPr anchor="t" rtlCol="false" tIns="0" lIns="0" bIns="0" rIns="0">
            <a:spAutoFit/>
          </a:bodyPr>
          <a:lstStyle/>
          <a:p>
            <a:pPr algn="l" marL="0" indent="0" lvl="0">
              <a:lnSpc>
                <a:spcPts val="2030"/>
              </a:lnSpc>
            </a:pPr>
            <a:r>
              <a:rPr lang="en-US" sz="1450">
                <a:solidFill>
                  <a:srgbClr val="001E3A"/>
                </a:solidFill>
                <a:latin typeface="Garet"/>
                <a:ea typeface="Garet"/>
                <a:cs typeface="Garet"/>
                <a:sym typeface="Garet"/>
              </a:rPr>
              <a:t>CEF440 – Group 5</a:t>
            </a:r>
          </a:p>
        </p:txBody>
      </p:sp>
      <p:sp>
        <p:nvSpPr>
          <p:cNvPr name="TextBox 21" id="21"/>
          <p:cNvSpPr txBox="true"/>
          <p:nvPr/>
        </p:nvSpPr>
        <p:spPr>
          <a:xfrm rot="0">
            <a:off x="13691401" y="9334500"/>
            <a:ext cx="559219" cy="244016"/>
          </a:xfrm>
          <a:prstGeom prst="rect">
            <a:avLst/>
          </a:prstGeom>
        </p:spPr>
        <p:txBody>
          <a:bodyPr anchor="t" rtlCol="false" tIns="0" lIns="0" bIns="0" rIns="0">
            <a:spAutoFit/>
          </a:bodyPr>
          <a:lstStyle/>
          <a:p>
            <a:pPr algn="ctr" marL="0" indent="0" lvl="0">
              <a:lnSpc>
                <a:spcPts val="1761"/>
              </a:lnSpc>
            </a:pPr>
            <a:r>
              <a:rPr lang="en-US" b="true" sz="2122">
                <a:solidFill>
                  <a:srgbClr val="001E3A"/>
                </a:solidFill>
                <a:latin typeface="Garet Ultra-Bold"/>
                <a:ea typeface="Garet Ultra-Bold"/>
                <a:cs typeface="Garet Ultra-Bold"/>
                <a:sym typeface="Garet Ultra-Bold"/>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1883736"/>
            <a:ext cx="14168470" cy="2816594"/>
          </a:xfrm>
          <a:prstGeom prst="rect">
            <a:avLst/>
          </a:prstGeom>
        </p:spPr>
        <p:txBody>
          <a:bodyPr anchor="t" rtlCol="false" tIns="0" lIns="0" bIns="0" rIns="0">
            <a:spAutoFit/>
          </a:bodyPr>
          <a:lstStyle/>
          <a:p>
            <a:pPr algn="l" marL="0" indent="0" lvl="0">
              <a:lnSpc>
                <a:spcPts val="7184"/>
              </a:lnSpc>
            </a:pPr>
            <a:r>
              <a:rPr lang="en-US" b="true" sz="8656">
                <a:solidFill>
                  <a:srgbClr val="001E3A"/>
                </a:solidFill>
                <a:latin typeface="Garet Ultra-Bold"/>
                <a:ea typeface="Garet Ultra-Bold"/>
                <a:cs typeface="Garet Ultra-Bold"/>
                <a:sym typeface="Garet Ultra-Bold"/>
              </a:rPr>
              <a:t>Technology Selection and System Architecture</a:t>
            </a:r>
          </a:p>
        </p:txBody>
      </p:sp>
      <p:sp>
        <p:nvSpPr>
          <p:cNvPr name="TextBox 11" id="11"/>
          <p:cNvSpPr txBox="true"/>
          <p:nvPr/>
        </p:nvSpPr>
        <p:spPr>
          <a:xfrm rot="0">
            <a:off x="2059765" y="4760024"/>
            <a:ext cx="14168470" cy="4374913"/>
          </a:xfrm>
          <a:prstGeom prst="rect">
            <a:avLst/>
          </a:prstGeom>
        </p:spPr>
        <p:txBody>
          <a:bodyPr anchor="t" rtlCol="false" tIns="0" lIns="0" bIns="0" rIns="0">
            <a:spAutoFit/>
          </a:bodyPr>
          <a:lstStyle/>
          <a:p>
            <a:pPr algn="l" marL="0" indent="0" lvl="0">
              <a:lnSpc>
                <a:spcPts val="3513"/>
              </a:lnSpc>
            </a:pPr>
            <a:r>
              <a:rPr lang="en-US" sz="2509">
                <a:solidFill>
                  <a:srgbClr val="001E3A"/>
                </a:solidFill>
                <a:latin typeface="Garet"/>
                <a:ea typeface="Garet"/>
                <a:cs typeface="Garet"/>
                <a:sym typeface="Garet"/>
              </a:rPr>
              <a:t>Our system employs a client-server architecture designed for cross-platform compatibility and scalability. The frontend utilizes React Native with Expo, enabling a single codebase for both Android and iOS platforms while maintaining native performance. For performance-critical network measurements, we integrate native modules written in Kotlin (Android) and Swift (iOS) to ensure accurate QoE data collection. The backend leverages Node.js with Express, providing a lightweight, event-driven framework for scalable RESTful APIs capable of real-time data ingestion. This architecture ensures efficient communication between the mobile client and server while supporting the high-concurrency demands of collecting user experience data from numerous subscribers.</a:t>
            </a:r>
          </a:p>
        </p:txBody>
      </p:sp>
      <p:sp>
        <p:nvSpPr>
          <p:cNvPr name="TextBox 12" id="12"/>
          <p:cNvSpPr txBox="true"/>
          <p:nvPr/>
        </p:nvSpPr>
        <p:spPr>
          <a:xfrm rot="0">
            <a:off x="14250620" y="9229725"/>
            <a:ext cx="1865504" cy="208643"/>
          </a:xfrm>
          <a:prstGeom prst="rect">
            <a:avLst/>
          </a:prstGeom>
        </p:spPr>
        <p:txBody>
          <a:bodyPr anchor="t" rtlCol="false" tIns="0" lIns="0" bIns="0" rIns="0">
            <a:spAutoFit/>
          </a:bodyPr>
          <a:lstStyle/>
          <a:p>
            <a:pPr algn="l" marL="0" indent="0" lvl="0">
              <a:lnSpc>
                <a:spcPts val="1679"/>
              </a:lnSpc>
            </a:pPr>
            <a:r>
              <a:rPr lang="en-US" sz="1199">
                <a:solidFill>
                  <a:srgbClr val="001E3A"/>
                </a:solidFill>
                <a:latin typeface="Garet"/>
                <a:ea typeface="Garet"/>
                <a:cs typeface="Garet"/>
                <a:sym typeface="Garet"/>
              </a:rPr>
              <a:t>University of Buea</a:t>
            </a:r>
          </a:p>
        </p:txBody>
      </p:sp>
      <p:sp>
        <p:nvSpPr>
          <p:cNvPr name="TextBox 13" id="13"/>
          <p:cNvSpPr txBox="true"/>
          <p:nvPr/>
        </p:nvSpPr>
        <p:spPr>
          <a:xfrm rot="0">
            <a:off x="14250620" y="9443214"/>
            <a:ext cx="3008680" cy="230955"/>
          </a:xfrm>
          <a:prstGeom prst="rect">
            <a:avLst/>
          </a:prstGeom>
        </p:spPr>
        <p:txBody>
          <a:bodyPr anchor="t" rtlCol="false" tIns="0" lIns="0" bIns="0" rIns="0">
            <a:spAutoFit/>
          </a:bodyPr>
          <a:lstStyle/>
          <a:p>
            <a:pPr algn="l" marL="0" indent="0" lvl="0">
              <a:lnSpc>
                <a:spcPts val="1977"/>
              </a:lnSpc>
            </a:pPr>
            <a:r>
              <a:rPr lang="en-US" sz="1412">
                <a:solidFill>
                  <a:srgbClr val="001E3A"/>
                </a:solidFill>
                <a:latin typeface="Garet"/>
                <a:ea typeface="Garet"/>
                <a:cs typeface="Garet"/>
                <a:sym typeface="Garet"/>
              </a:rPr>
              <a:t>CEF440 – Group 5</a:t>
            </a:r>
          </a:p>
        </p:txBody>
      </p:sp>
      <p:sp>
        <p:nvSpPr>
          <p:cNvPr name="TextBox 14" id="14"/>
          <p:cNvSpPr txBox="true"/>
          <p:nvPr/>
        </p:nvSpPr>
        <p:spPr>
          <a:xfrm rot="0">
            <a:off x="13691401" y="9324975"/>
            <a:ext cx="559219" cy="244259"/>
          </a:xfrm>
          <a:prstGeom prst="rect">
            <a:avLst/>
          </a:prstGeom>
        </p:spPr>
        <p:txBody>
          <a:bodyPr anchor="t" rtlCol="false" tIns="0" lIns="0" bIns="0" rIns="0">
            <a:spAutoFit/>
          </a:bodyPr>
          <a:lstStyle/>
          <a:p>
            <a:pPr algn="ctr" marL="0" indent="0" lvl="0">
              <a:lnSpc>
                <a:spcPts val="1723"/>
              </a:lnSpc>
            </a:pPr>
            <a:r>
              <a:rPr lang="en-US" b="true" sz="2076">
                <a:solidFill>
                  <a:srgbClr val="001E3A"/>
                </a:solidFill>
                <a:latin typeface="Garet Ultra-Bold"/>
                <a:ea typeface="Garet Ultra-Bold"/>
                <a:cs typeface="Garet Ultra-Bold"/>
                <a:sym typeface="Garet Ultra-Bold"/>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443496"/>
            <a:ext cx="14168470" cy="1009861"/>
          </a:xfrm>
          <a:prstGeom prst="rect">
            <a:avLst/>
          </a:prstGeom>
        </p:spPr>
        <p:txBody>
          <a:bodyPr anchor="t" rtlCol="false" tIns="0" lIns="0" bIns="0" rIns="0">
            <a:spAutoFit/>
          </a:bodyPr>
          <a:lstStyle/>
          <a:p>
            <a:pPr algn="l" marL="0" indent="0" lvl="0">
              <a:lnSpc>
                <a:spcPts val="7238"/>
              </a:lnSpc>
            </a:pPr>
            <a:r>
              <a:rPr lang="en-US" b="true" sz="8720">
                <a:solidFill>
                  <a:srgbClr val="001E3A"/>
                </a:solidFill>
                <a:latin typeface="Garet Ultra-Bold"/>
                <a:ea typeface="Garet Ultra-Bold"/>
                <a:cs typeface="Garet Ultra-Bold"/>
                <a:sym typeface="Garet Ultra-Bold"/>
              </a:rPr>
              <a:t>Frontend Design Details</a:t>
            </a:r>
          </a:p>
        </p:txBody>
      </p:sp>
      <p:sp>
        <p:nvSpPr>
          <p:cNvPr name="TextBox 11" id="11"/>
          <p:cNvSpPr txBox="true"/>
          <p:nvPr/>
        </p:nvSpPr>
        <p:spPr>
          <a:xfrm rot="0">
            <a:off x="2059765" y="4209788"/>
            <a:ext cx="14168470" cy="3936763"/>
          </a:xfrm>
          <a:prstGeom prst="rect">
            <a:avLst/>
          </a:prstGeom>
        </p:spPr>
        <p:txBody>
          <a:bodyPr anchor="t" rtlCol="false" tIns="0" lIns="0" bIns="0" rIns="0">
            <a:spAutoFit/>
          </a:bodyPr>
          <a:lstStyle/>
          <a:p>
            <a:pPr algn="l" marL="0" indent="0" lvl="0">
              <a:lnSpc>
                <a:spcPts val="3513"/>
              </a:lnSpc>
            </a:pPr>
            <a:r>
              <a:rPr lang="en-US" sz="2509">
                <a:solidFill>
                  <a:srgbClr val="001E3A"/>
                </a:solidFill>
                <a:latin typeface="Garet"/>
                <a:ea typeface="Garet"/>
                <a:cs typeface="Garet"/>
                <a:sym typeface="Garet"/>
              </a:rPr>
              <a:t>The mobile application leverages React Native with Expo to maintain a single codebase for both Android and iOS platforms, significantly reducing development time and ensuring consistent user experience. For performance-critical network measurements requiring direct hardware access, native modules are implemented in Kotlin (Android) and Swift (iOS). On Android, WorkManager handles background task scheduling for continuous data collection, while Room provides robust local database storage. The architecture follows an offline-first approach, storing collected QoE data locally and synchronizing with the backend when connectivity is available, ensuring no data loss during network disruptions.</a:t>
            </a:r>
          </a:p>
        </p:txBody>
      </p:sp>
      <p:sp>
        <p:nvSpPr>
          <p:cNvPr name="TextBox 12" id="12"/>
          <p:cNvSpPr txBox="true"/>
          <p:nvPr/>
        </p:nvSpPr>
        <p:spPr>
          <a:xfrm rot="0">
            <a:off x="14250620" y="9229725"/>
            <a:ext cx="1865504" cy="208643"/>
          </a:xfrm>
          <a:prstGeom prst="rect">
            <a:avLst/>
          </a:prstGeom>
        </p:spPr>
        <p:txBody>
          <a:bodyPr anchor="t" rtlCol="false" tIns="0" lIns="0" bIns="0" rIns="0">
            <a:spAutoFit/>
          </a:bodyPr>
          <a:lstStyle/>
          <a:p>
            <a:pPr algn="l" marL="0" indent="0" lvl="0">
              <a:lnSpc>
                <a:spcPts val="1679"/>
              </a:lnSpc>
            </a:pPr>
            <a:r>
              <a:rPr lang="en-US" sz="1199">
                <a:solidFill>
                  <a:srgbClr val="001E3A"/>
                </a:solidFill>
                <a:latin typeface="Garet"/>
                <a:ea typeface="Garet"/>
                <a:cs typeface="Garet"/>
                <a:sym typeface="Garet"/>
              </a:rPr>
              <a:t>University of Buea</a:t>
            </a:r>
          </a:p>
        </p:txBody>
      </p:sp>
      <p:sp>
        <p:nvSpPr>
          <p:cNvPr name="TextBox 13" id="13"/>
          <p:cNvSpPr txBox="true"/>
          <p:nvPr/>
        </p:nvSpPr>
        <p:spPr>
          <a:xfrm rot="0">
            <a:off x="14250620" y="9443214"/>
            <a:ext cx="3008680" cy="230955"/>
          </a:xfrm>
          <a:prstGeom prst="rect">
            <a:avLst/>
          </a:prstGeom>
        </p:spPr>
        <p:txBody>
          <a:bodyPr anchor="t" rtlCol="false" tIns="0" lIns="0" bIns="0" rIns="0">
            <a:spAutoFit/>
          </a:bodyPr>
          <a:lstStyle/>
          <a:p>
            <a:pPr algn="l" marL="0" indent="0" lvl="0">
              <a:lnSpc>
                <a:spcPts val="1977"/>
              </a:lnSpc>
            </a:pPr>
            <a:r>
              <a:rPr lang="en-US" sz="1412">
                <a:solidFill>
                  <a:srgbClr val="001E3A"/>
                </a:solidFill>
                <a:latin typeface="Garet"/>
                <a:ea typeface="Garet"/>
                <a:cs typeface="Garet"/>
                <a:sym typeface="Garet"/>
              </a:rPr>
              <a:t>CEF440 – Group 5</a:t>
            </a:r>
          </a:p>
        </p:txBody>
      </p:sp>
      <p:sp>
        <p:nvSpPr>
          <p:cNvPr name="TextBox 14" id="14"/>
          <p:cNvSpPr txBox="true"/>
          <p:nvPr/>
        </p:nvSpPr>
        <p:spPr>
          <a:xfrm rot="0">
            <a:off x="13691401" y="9324975"/>
            <a:ext cx="559219" cy="252095"/>
          </a:xfrm>
          <a:prstGeom prst="rect">
            <a:avLst/>
          </a:prstGeom>
        </p:spPr>
        <p:txBody>
          <a:bodyPr anchor="t" rtlCol="false" tIns="0" lIns="0" bIns="0" rIns="0">
            <a:spAutoFit/>
          </a:bodyPr>
          <a:lstStyle/>
          <a:p>
            <a:pPr algn="ctr" marL="0" indent="0" lvl="0">
              <a:lnSpc>
                <a:spcPts val="1736"/>
              </a:lnSpc>
            </a:pPr>
            <a:r>
              <a:rPr lang="en-US" b="true" sz="2091">
                <a:solidFill>
                  <a:srgbClr val="001E3A"/>
                </a:solidFill>
                <a:latin typeface="Garet Ultra-Bold"/>
                <a:ea typeface="Garet Ultra-Bold"/>
                <a:cs typeface="Garet Ultra-Bold"/>
                <a:sym typeface="Garet Ultra-Bold"/>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433971"/>
            <a:ext cx="14168470" cy="1034941"/>
          </a:xfrm>
          <a:prstGeom prst="rect">
            <a:avLst/>
          </a:prstGeom>
        </p:spPr>
        <p:txBody>
          <a:bodyPr anchor="t" rtlCol="false" tIns="0" lIns="0" bIns="0" rIns="0">
            <a:spAutoFit/>
          </a:bodyPr>
          <a:lstStyle/>
          <a:p>
            <a:pPr algn="l" marL="0" indent="0" lvl="0">
              <a:lnSpc>
                <a:spcPts val="7344"/>
              </a:lnSpc>
            </a:pPr>
            <a:r>
              <a:rPr lang="en-US" b="true" sz="8849">
                <a:solidFill>
                  <a:srgbClr val="001E3A"/>
                </a:solidFill>
                <a:latin typeface="Garet Ultra-Bold"/>
                <a:ea typeface="Garet Ultra-Bold"/>
                <a:cs typeface="Garet Ultra-Bold"/>
                <a:sym typeface="Garet Ultra-Bold"/>
              </a:rPr>
              <a:t>Backend Design Details</a:t>
            </a:r>
          </a:p>
        </p:txBody>
      </p:sp>
      <p:sp>
        <p:nvSpPr>
          <p:cNvPr name="TextBox 11" id="11"/>
          <p:cNvSpPr txBox="true"/>
          <p:nvPr/>
        </p:nvSpPr>
        <p:spPr>
          <a:xfrm rot="0">
            <a:off x="2059765" y="4228838"/>
            <a:ext cx="14168470" cy="3704932"/>
          </a:xfrm>
          <a:prstGeom prst="rect">
            <a:avLst/>
          </a:prstGeom>
        </p:spPr>
        <p:txBody>
          <a:bodyPr anchor="t" rtlCol="false" tIns="0" lIns="0" bIns="0" rIns="0">
            <a:spAutoFit/>
          </a:bodyPr>
          <a:lstStyle/>
          <a:p>
            <a:pPr algn="l" marL="0" indent="0" lvl="0">
              <a:lnSpc>
                <a:spcPts val="3691"/>
              </a:lnSpc>
            </a:pPr>
            <a:r>
              <a:rPr lang="en-US" sz="2636">
                <a:solidFill>
                  <a:srgbClr val="001E3A"/>
                </a:solidFill>
                <a:latin typeface="Garet"/>
                <a:ea typeface="Garet"/>
                <a:cs typeface="Garet"/>
                <a:sym typeface="Garet"/>
              </a:rPr>
              <a:t>The backend infrastructure leverages Node.js with Express framework, providing a lightweight, event-driven architecture ideal for handling RESTful APIs. This stack efficiently manages receiving, validating, and processing QoE/QoS data submitted by mobile clients. MongoDB serves as the primary database, offering horizontal scalability and flexible schema design for diverse telemetry data. Importantly, the backend does NOT perform network speed tests—these measurements are conducted exclusively on the client device to ensure accuracy. The server focuses on data aggregation, storage, and providing endpoints for dashboard analytics.</a:t>
            </a:r>
          </a:p>
        </p:txBody>
      </p:sp>
      <p:sp>
        <p:nvSpPr>
          <p:cNvPr name="TextBox 12" id="12"/>
          <p:cNvSpPr txBox="true"/>
          <p:nvPr/>
        </p:nvSpPr>
        <p:spPr>
          <a:xfrm rot="0">
            <a:off x="14250620" y="9229725"/>
            <a:ext cx="1865504" cy="217453"/>
          </a:xfrm>
          <a:prstGeom prst="rect">
            <a:avLst/>
          </a:prstGeom>
        </p:spPr>
        <p:txBody>
          <a:bodyPr anchor="t" rtlCol="false" tIns="0" lIns="0" bIns="0" rIns="0">
            <a:spAutoFit/>
          </a:bodyPr>
          <a:lstStyle/>
          <a:p>
            <a:pPr algn="l" marL="0" indent="0" lvl="0">
              <a:lnSpc>
                <a:spcPts val="1765"/>
              </a:lnSpc>
            </a:pPr>
            <a:r>
              <a:rPr lang="en-US" sz="1260">
                <a:solidFill>
                  <a:srgbClr val="001E3A"/>
                </a:solidFill>
                <a:latin typeface="Garet"/>
                <a:ea typeface="Garet"/>
                <a:cs typeface="Garet"/>
                <a:sym typeface="Garet"/>
              </a:rPr>
              <a:t>University of Buea</a:t>
            </a:r>
          </a:p>
        </p:txBody>
      </p:sp>
      <p:sp>
        <p:nvSpPr>
          <p:cNvPr name="TextBox 13" id="13"/>
          <p:cNvSpPr txBox="true"/>
          <p:nvPr/>
        </p:nvSpPr>
        <p:spPr>
          <a:xfrm rot="0">
            <a:off x="14250620" y="9433689"/>
            <a:ext cx="3008680" cy="250848"/>
          </a:xfrm>
          <a:prstGeom prst="rect">
            <a:avLst/>
          </a:prstGeom>
        </p:spPr>
        <p:txBody>
          <a:bodyPr anchor="t" rtlCol="false" tIns="0" lIns="0" bIns="0" rIns="0">
            <a:spAutoFit/>
          </a:bodyPr>
          <a:lstStyle/>
          <a:p>
            <a:pPr algn="l" marL="0" indent="0" lvl="0">
              <a:lnSpc>
                <a:spcPts val="2077"/>
              </a:lnSpc>
            </a:pPr>
            <a:r>
              <a:rPr lang="en-US" sz="1483">
                <a:solidFill>
                  <a:srgbClr val="001E3A"/>
                </a:solidFill>
                <a:latin typeface="Garet"/>
                <a:ea typeface="Garet"/>
                <a:cs typeface="Garet"/>
                <a:sym typeface="Garet"/>
              </a:rPr>
              <a:t>CEF440 – Group 5</a:t>
            </a:r>
          </a:p>
        </p:txBody>
      </p:sp>
      <p:sp>
        <p:nvSpPr>
          <p:cNvPr name="TextBox 14" id="14"/>
          <p:cNvSpPr txBox="true"/>
          <p:nvPr/>
        </p:nvSpPr>
        <p:spPr>
          <a:xfrm rot="0">
            <a:off x="13691401" y="9334500"/>
            <a:ext cx="559219" cy="244016"/>
          </a:xfrm>
          <a:prstGeom prst="rect">
            <a:avLst/>
          </a:prstGeom>
        </p:spPr>
        <p:txBody>
          <a:bodyPr anchor="t" rtlCol="false" tIns="0" lIns="0" bIns="0" rIns="0">
            <a:spAutoFit/>
          </a:bodyPr>
          <a:lstStyle/>
          <a:p>
            <a:pPr algn="ctr" marL="0" indent="0" lvl="0">
              <a:lnSpc>
                <a:spcPts val="1761"/>
              </a:lnSpc>
            </a:pPr>
            <a:r>
              <a:rPr lang="en-US" b="true" sz="2122">
                <a:solidFill>
                  <a:srgbClr val="001E3A"/>
                </a:solidFill>
                <a:latin typeface="Garet Ultra-Bold"/>
                <a:ea typeface="Garet Ultra-Bold"/>
                <a:cs typeface="Garet Ultra-Bold"/>
                <a:sym typeface="Garet Ultra-Bold"/>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386346"/>
            <a:ext cx="14168470" cy="1585197"/>
          </a:xfrm>
          <a:prstGeom prst="rect">
            <a:avLst/>
          </a:prstGeom>
        </p:spPr>
        <p:txBody>
          <a:bodyPr anchor="t" rtlCol="false" tIns="0" lIns="0" bIns="0" rIns="0">
            <a:spAutoFit/>
          </a:bodyPr>
          <a:lstStyle/>
          <a:p>
            <a:pPr algn="l" marL="0" indent="0" lvl="0">
              <a:lnSpc>
                <a:spcPts val="5960"/>
              </a:lnSpc>
            </a:pPr>
            <a:r>
              <a:rPr lang="en-US" b="true" sz="7180">
                <a:solidFill>
                  <a:srgbClr val="001E3A"/>
                </a:solidFill>
                <a:latin typeface="Garet Ultra-Bold"/>
                <a:ea typeface="Garet Ultra-Bold"/>
                <a:cs typeface="Garet Ultra-Bold"/>
                <a:sym typeface="Garet Ultra-Bold"/>
              </a:rPr>
              <a:t>Security and Privacy Measures</a:t>
            </a:r>
          </a:p>
        </p:txBody>
      </p:sp>
      <p:sp>
        <p:nvSpPr>
          <p:cNvPr name="TextBox 11" id="11"/>
          <p:cNvSpPr txBox="true"/>
          <p:nvPr/>
        </p:nvSpPr>
        <p:spPr>
          <a:xfrm rot="0">
            <a:off x="4463329" y="4219313"/>
            <a:ext cx="10552228" cy="1847183"/>
          </a:xfrm>
          <a:prstGeom prst="rect">
            <a:avLst/>
          </a:prstGeom>
        </p:spPr>
        <p:txBody>
          <a:bodyPr anchor="t" rtlCol="false" tIns="0" lIns="0" bIns="0" rIns="0">
            <a:spAutoFit/>
          </a:bodyPr>
          <a:lstStyle/>
          <a:p>
            <a:pPr algn="l" marL="0" indent="0" lvl="0">
              <a:lnSpc>
                <a:spcPts val="3711"/>
              </a:lnSpc>
            </a:pPr>
            <a:r>
              <a:rPr lang="en-US" sz="2651">
                <a:solidFill>
                  <a:srgbClr val="001E3A"/>
                </a:solidFill>
                <a:latin typeface="Garet"/>
                <a:ea typeface="Garet"/>
                <a:cs typeface="Garet"/>
                <a:sym typeface="Garet"/>
              </a:rPr>
              <a:t>HTTPS Encryption: All data transmission between the mobile app and backend servers uses secure HTTPS protocols, ensuring end-to-end encryption and protection against interception or man-in-the-middle attacks.</a:t>
            </a:r>
          </a:p>
        </p:txBody>
      </p:sp>
      <p:grpSp>
        <p:nvGrpSpPr>
          <p:cNvPr name="Group 12" id="12"/>
          <p:cNvGrpSpPr/>
          <p:nvPr/>
        </p:nvGrpSpPr>
        <p:grpSpPr>
          <a:xfrm rot="0">
            <a:off x="3272443" y="4266938"/>
            <a:ext cx="876562" cy="87656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5" id="15"/>
          <p:cNvSpPr txBox="true"/>
          <p:nvPr/>
        </p:nvSpPr>
        <p:spPr>
          <a:xfrm rot="0">
            <a:off x="4463329" y="6420425"/>
            <a:ext cx="10552228" cy="2313908"/>
          </a:xfrm>
          <a:prstGeom prst="rect">
            <a:avLst/>
          </a:prstGeom>
        </p:spPr>
        <p:txBody>
          <a:bodyPr anchor="t" rtlCol="false" tIns="0" lIns="0" bIns="0" rIns="0">
            <a:spAutoFit/>
          </a:bodyPr>
          <a:lstStyle/>
          <a:p>
            <a:pPr algn="l" marL="0" indent="0" lvl="0">
              <a:lnSpc>
                <a:spcPts val="3711"/>
              </a:lnSpc>
            </a:pPr>
            <a:r>
              <a:rPr lang="en-US" sz="2651">
                <a:solidFill>
                  <a:srgbClr val="001E3A"/>
                </a:solidFill>
                <a:latin typeface="Garet"/>
                <a:ea typeface="Garet"/>
                <a:cs typeface="Garet"/>
                <a:sym typeface="Garet"/>
              </a:rPr>
              <a:t>Data Anonymization: User identities are protected through anonymization techniques. Personal identifiers are stripped from collected QoE data, with strict permission handling and transparent communication about data usage and user controls.</a:t>
            </a:r>
          </a:p>
        </p:txBody>
      </p:sp>
      <p:grpSp>
        <p:nvGrpSpPr>
          <p:cNvPr name="Group 16" id="16"/>
          <p:cNvGrpSpPr/>
          <p:nvPr/>
        </p:nvGrpSpPr>
        <p:grpSpPr>
          <a:xfrm rot="0">
            <a:off x="3272443" y="6468050"/>
            <a:ext cx="876562" cy="87656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CC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9" id="19"/>
          <p:cNvSpPr txBox="true"/>
          <p:nvPr/>
        </p:nvSpPr>
        <p:spPr>
          <a:xfrm rot="0">
            <a:off x="14250620" y="9229725"/>
            <a:ext cx="1865504" cy="220725"/>
          </a:xfrm>
          <a:prstGeom prst="rect">
            <a:avLst/>
          </a:prstGeom>
        </p:spPr>
        <p:txBody>
          <a:bodyPr anchor="t" rtlCol="false" tIns="0" lIns="0" bIns="0" rIns="0">
            <a:spAutoFit/>
          </a:bodyPr>
          <a:lstStyle/>
          <a:p>
            <a:pPr algn="l" marL="0" indent="0" lvl="0">
              <a:lnSpc>
                <a:spcPts val="1775"/>
              </a:lnSpc>
            </a:pPr>
            <a:r>
              <a:rPr lang="en-US" sz="1267">
                <a:solidFill>
                  <a:srgbClr val="001E3A"/>
                </a:solidFill>
                <a:latin typeface="Garet"/>
                <a:ea typeface="Garet"/>
                <a:cs typeface="Garet"/>
                <a:sym typeface="Garet"/>
              </a:rPr>
              <a:t>University of Buea</a:t>
            </a:r>
          </a:p>
        </p:txBody>
      </p:sp>
      <p:sp>
        <p:nvSpPr>
          <p:cNvPr name="TextBox 20" id="20"/>
          <p:cNvSpPr txBox="true"/>
          <p:nvPr/>
        </p:nvSpPr>
        <p:spPr>
          <a:xfrm rot="0">
            <a:off x="14250620" y="9433689"/>
            <a:ext cx="3008680" cy="254699"/>
          </a:xfrm>
          <a:prstGeom prst="rect">
            <a:avLst/>
          </a:prstGeom>
        </p:spPr>
        <p:txBody>
          <a:bodyPr anchor="t" rtlCol="false" tIns="0" lIns="0" bIns="0" rIns="0">
            <a:spAutoFit/>
          </a:bodyPr>
          <a:lstStyle/>
          <a:p>
            <a:pPr algn="l" marL="0" indent="0" lvl="0">
              <a:lnSpc>
                <a:spcPts val="2088"/>
              </a:lnSpc>
            </a:pPr>
            <a:r>
              <a:rPr lang="en-US" sz="1492">
                <a:solidFill>
                  <a:srgbClr val="001E3A"/>
                </a:solidFill>
                <a:latin typeface="Garet"/>
                <a:ea typeface="Garet"/>
                <a:cs typeface="Garet"/>
                <a:sym typeface="Garet"/>
              </a:rPr>
              <a:t>CEF440 – Group 5</a:t>
            </a:r>
          </a:p>
        </p:txBody>
      </p:sp>
      <p:sp>
        <p:nvSpPr>
          <p:cNvPr name="TextBox 21" id="21"/>
          <p:cNvSpPr txBox="true"/>
          <p:nvPr/>
        </p:nvSpPr>
        <p:spPr>
          <a:xfrm rot="0">
            <a:off x="13691401" y="9315450"/>
            <a:ext cx="559219" cy="201590"/>
          </a:xfrm>
          <a:prstGeom prst="rect">
            <a:avLst/>
          </a:prstGeom>
        </p:spPr>
        <p:txBody>
          <a:bodyPr anchor="t" rtlCol="false" tIns="0" lIns="0" bIns="0" rIns="0">
            <a:spAutoFit/>
          </a:bodyPr>
          <a:lstStyle/>
          <a:p>
            <a:pPr algn="ctr" marL="0" indent="0" lvl="0">
              <a:lnSpc>
                <a:spcPts val="1429"/>
              </a:lnSpc>
            </a:pPr>
            <a:r>
              <a:rPr lang="en-US" b="true" sz="1722">
                <a:solidFill>
                  <a:srgbClr val="001E3A"/>
                </a:solidFill>
                <a:latin typeface="Garet Ultra-Bold"/>
                <a:ea typeface="Garet Ultra-Bold"/>
                <a:cs typeface="Garet Ultra-Bold"/>
                <a:sym typeface="Garet Ultra-Bold"/>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059765" y="2567321"/>
            <a:ext cx="14168470" cy="1423341"/>
          </a:xfrm>
          <a:prstGeom prst="rect">
            <a:avLst/>
          </a:prstGeom>
        </p:spPr>
        <p:txBody>
          <a:bodyPr anchor="t" rtlCol="false" tIns="0" lIns="0" bIns="0" rIns="0">
            <a:spAutoFit/>
          </a:bodyPr>
          <a:lstStyle/>
          <a:p>
            <a:pPr algn="l" marL="0" indent="0" lvl="0">
              <a:lnSpc>
                <a:spcPts val="10167"/>
              </a:lnSpc>
            </a:pPr>
            <a:r>
              <a:rPr lang="en-US" b="true" sz="12249">
                <a:solidFill>
                  <a:srgbClr val="001E3A"/>
                </a:solidFill>
                <a:latin typeface="Garet Ultra-Bold"/>
                <a:ea typeface="Garet Ultra-Bold"/>
                <a:cs typeface="Garet Ultra-Bold"/>
                <a:sym typeface="Garet Ultra-Bold"/>
              </a:rPr>
              <a:t>Conclusion</a:t>
            </a:r>
          </a:p>
        </p:txBody>
      </p:sp>
      <p:sp>
        <p:nvSpPr>
          <p:cNvPr name="TextBox 11" id="11"/>
          <p:cNvSpPr txBox="true"/>
          <p:nvPr/>
        </p:nvSpPr>
        <p:spPr>
          <a:xfrm rot="0">
            <a:off x="2059765" y="4209788"/>
            <a:ext cx="14168470" cy="3936763"/>
          </a:xfrm>
          <a:prstGeom prst="rect">
            <a:avLst/>
          </a:prstGeom>
        </p:spPr>
        <p:txBody>
          <a:bodyPr anchor="t" rtlCol="false" tIns="0" lIns="0" bIns="0" rIns="0">
            <a:spAutoFit/>
          </a:bodyPr>
          <a:lstStyle/>
          <a:p>
            <a:pPr algn="l" marL="0" indent="0" lvl="0">
              <a:lnSpc>
                <a:spcPts val="3513"/>
              </a:lnSpc>
            </a:pPr>
            <a:r>
              <a:rPr lang="en-US" sz="2509">
                <a:solidFill>
                  <a:srgbClr val="001E3A"/>
                </a:solidFill>
                <a:latin typeface="Garet"/>
                <a:ea typeface="Garet"/>
                <a:cs typeface="Garet"/>
                <a:sym typeface="Garet"/>
              </a:rPr>
              <a:t>Our requirements analysis has yielded a balanced technology stack that aligns with user needs and technical constraints. The client-server architecture supports accurate QoE/QoS data collection while ensuring performance and scalability for network operators in Cameroon. Our user-centric design approach addresses critical concerns including privacy transparency, intuitive usability, and long-term motivation through tangible benefits. With React Native for cross-platform development, native modules for precise measurements, and a robust Node.js backend, we have established a solid foundation for successful system implementation that will bridge the gap between objective network metrics and real user experience feedback.</a:t>
            </a:r>
          </a:p>
        </p:txBody>
      </p:sp>
      <p:sp>
        <p:nvSpPr>
          <p:cNvPr name="TextBox 12" id="12"/>
          <p:cNvSpPr txBox="true"/>
          <p:nvPr/>
        </p:nvSpPr>
        <p:spPr>
          <a:xfrm rot="0">
            <a:off x="14250620" y="9229725"/>
            <a:ext cx="1865504" cy="208643"/>
          </a:xfrm>
          <a:prstGeom prst="rect">
            <a:avLst/>
          </a:prstGeom>
        </p:spPr>
        <p:txBody>
          <a:bodyPr anchor="t" rtlCol="false" tIns="0" lIns="0" bIns="0" rIns="0">
            <a:spAutoFit/>
          </a:bodyPr>
          <a:lstStyle/>
          <a:p>
            <a:pPr algn="l" marL="0" indent="0" lvl="0">
              <a:lnSpc>
                <a:spcPts val="1679"/>
              </a:lnSpc>
            </a:pPr>
            <a:r>
              <a:rPr lang="en-US" sz="1199">
                <a:solidFill>
                  <a:srgbClr val="001E3A"/>
                </a:solidFill>
                <a:latin typeface="Garet"/>
                <a:ea typeface="Garet"/>
                <a:cs typeface="Garet"/>
                <a:sym typeface="Garet"/>
              </a:rPr>
              <a:t>University of Buea</a:t>
            </a:r>
          </a:p>
        </p:txBody>
      </p:sp>
      <p:sp>
        <p:nvSpPr>
          <p:cNvPr name="TextBox 13" id="13"/>
          <p:cNvSpPr txBox="true"/>
          <p:nvPr/>
        </p:nvSpPr>
        <p:spPr>
          <a:xfrm rot="0">
            <a:off x="14250620" y="9443214"/>
            <a:ext cx="3008680" cy="230955"/>
          </a:xfrm>
          <a:prstGeom prst="rect">
            <a:avLst/>
          </a:prstGeom>
        </p:spPr>
        <p:txBody>
          <a:bodyPr anchor="t" rtlCol="false" tIns="0" lIns="0" bIns="0" rIns="0">
            <a:spAutoFit/>
          </a:bodyPr>
          <a:lstStyle/>
          <a:p>
            <a:pPr algn="l" marL="0" indent="0" lvl="0">
              <a:lnSpc>
                <a:spcPts val="1977"/>
              </a:lnSpc>
            </a:pPr>
            <a:r>
              <a:rPr lang="en-US" sz="1412">
                <a:solidFill>
                  <a:srgbClr val="001E3A"/>
                </a:solidFill>
                <a:latin typeface="Garet"/>
                <a:ea typeface="Garet"/>
                <a:cs typeface="Garet"/>
                <a:sym typeface="Garet"/>
              </a:rPr>
              <a:t>CEF440 – Group 5</a:t>
            </a:r>
          </a:p>
        </p:txBody>
      </p:sp>
      <p:sp>
        <p:nvSpPr>
          <p:cNvPr name="TextBox 14" id="14"/>
          <p:cNvSpPr txBox="true"/>
          <p:nvPr/>
        </p:nvSpPr>
        <p:spPr>
          <a:xfrm rot="0">
            <a:off x="13691401" y="9363075"/>
            <a:ext cx="559219" cy="339118"/>
          </a:xfrm>
          <a:prstGeom prst="rect">
            <a:avLst/>
          </a:prstGeom>
        </p:spPr>
        <p:txBody>
          <a:bodyPr anchor="t" rtlCol="false" tIns="0" lIns="0" bIns="0" rIns="0">
            <a:spAutoFit/>
          </a:bodyPr>
          <a:lstStyle/>
          <a:p>
            <a:pPr algn="ctr" marL="0" indent="0" lvl="0">
              <a:lnSpc>
                <a:spcPts val="2438"/>
              </a:lnSpc>
            </a:pPr>
            <a:r>
              <a:rPr lang="en-US" b="true" sz="2938">
                <a:solidFill>
                  <a:srgbClr val="001E3A"/>
                </a:solidFill>
                <a:latin typeface="Garet Ultra-Bold"/>
                <a:ea typeface="Garet Ultra-Bold"/>
                <a:cs typeface="Garet Ultra-Bold"/>
                <a:sym typeface="Garet Ultra-Bold"/>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5286081" y="3893464"/>
            <a:ext cx="7715839" cy="3027077"/>
          </a:xfrm>
          <a:prstGeom prst="rect">
            <a:avLst/>
          </a:prstGeom>
        </p:spPr>
        <p:txBody>
          <a:bodyPr anchor="t" rtlCol="false" tIns="0" lIns="0" bIns="0" rIns="0">
            <a:spAutoFit/>
          </a:bodyPr>
          <a:lstStyle/>
          <a:p>
            <a:pPr algn="ctr" marL="0" indent="0" lvl="0">
              <a:lnSpc>
                <a:spcPts val="7706"/>
              </a:lnSpc>
            </a:pPr>
            <a:r>
              <a:rPr lang="en-US" b="true" sz="9284">
                <a:solidFill>
                  <a:srgbClr val="001E3A"/>
                </a:solidFill>
                <a:latin typeface="Garet Ultra-Bold"/>
                <a:ea typeface="Garet Ultra-Bold"/>
                <a:cs typeface="Garet Ultra-Bold"/>
                <a:sym typeface="Garet Ultra-Bold"/>
              </a:rPr>
              <a:t>Thank You</a:t>
            </a:r>
          </a:p>
          <a:p>
            <a:pPr algn="ctr" marL="0" indent="0" lvl="0">
              <a:lnSpc>
                <a:spcPts val="7706"/>
              </a:lnSpc>
            </a:pPr>
            <a:r>
              <a:rPr lang="en-US" b="true" sz="9284">
                <a:solidFill>
                  <a:srgbClr val="001E3A"/>
                </a:solidFill>
                <a:latin typeface="Garet Ultra-Bold"/>
                <a:ea typeface="Garet Ultra-Bold"/>
                <a:cs typeface="Garet Ultra-Bold"/>
                <a:sym typeface="Garet Ultra-Bold"/>
              </a:rPr>
              <a:t>For Your Attention</a:t>
            </a:r>
          </a:p>
        </p:txBody>
      </p:sp>
      <p:sp>
        <p:nvSpPr>
          <p:cNvPr name="TextBox 11" id="11"/>
          <p:cNvSpPr txBox="true"/>
          <p:nvPr/>
        </p:nvSpPr>
        <p:spPr>
          <a:xfrm rot="0">
            <a:off x="14250620" y="9229725"/>
            <a:ext cx="1865504" cy="419191"/>
          </a:xfrm>
          <a:prstGeom prst="rect">
            <a:avLst/>
          </a:prstGeom>
        </p:spPr>
        <p:txBody>
          <a:bodyPr anchor="t" rtlCol="false" tIns="0" lIns="0" bIns="0" rIns="0">
            <a:spAutoFit/>
          </a:bodyPr>
          <a:lstStyle/>
          <a:p>
            <a:pPr algn="l" marL="0" indent="0" lvl="0">
              <a:lnSpc>
                <a:spcPts val="1679"/>
              </a:lnSpc>
            </a:pPr>
            <a:r>
              <a:rPr lang="en-US" sz="1199">
                <a:solidFill>
                  <a:srgbClr val="001E3A"/>
                </a:solidFill>
                <a:latin typeface="Garet"/>
                <a:ea typeface="Garet"/>
                <a:cs typeface="Garet"/>
                <a:sym typeface="Garet"/>
              </a:rPr>
              <a:t>CEF440 Group 5 - University of Buea</a:t>
            </a:r>
          </a:p>
        </p:txBody>
      </p:sp>
      <p:sp>
        <p:nvSpPr>
          <p:cNvPr name="TextBox 12" id="12"/>
          <p:cNvSpPr txBox="true"/>
          <p:nvPr/>
        </p:nvSpPr>
        <p:spPr>
          <a:xfrm rot="0">
            <a:off x="14250620" y="9433689"/>
            <a:ext cx="3008680" cy="631746"/>
          </a:xfrm>
          <a:prstGeom prst="rect">
            <a:avLst/>
          </a:prstGeom>
        </p:spPr>
        <p:txBody>
          <a:bodyPr anchor="t" rtlCol="false" tIns="0" lIns="0" bIns="0" rIns="0">
            <a:spAutoFit/>
          </a:bodyPr>
          <a:lstStyle/>
          <a:p>
            <a:pPr algn="l" marL="0" indent="0" lvl="0">
              <a:lnSpc>
                <a:spcPts val="1679"/>
              </a:lnSpc>
            </a:pPr>
            <a:r>
              <a:rPr lang="en-US" sz="1199">
                <a:solidFill>
                  <a:srgbClr val="001E3A"/>
                </a:solidFill>
                <a:latin typeface="Garet"/>
                <a:ea typeface="Garet"/>
                <a:cs typeface="Garet"/>
                <a:sym typeface="Garet"/>
              </a:rPr>
              <a:t>GitHub: github.com/BrayanMorningstar237/CEF440_Group5</a:t>
            </a:r>
          </a:p>
        </p:txBody>
      </p:sp>
      <p:sp>
        <p:nvSpPr>
          <p:cNvPr name="TextBox 13" id="13"/>
          <p:cNvSpPr txBox="true"/>
          <p:nvPr/>
        </p:nvSpPr>
        <p:spPr>
          <a:xfrm rot="0">
            <a:off x="13691401" y="9334500"/>
            <a:ext cx="559219" cy="263149"/>
          </a:xfrm>
          <a:prstGeom prst="rect">
            <a:avLst/>
          </a:prstGeom>
        </p:spPr>
        <p:txBody>
          <a:bodyPr anchor="t" rtlCol="false" tIns="0" lIns="0" bIns="0" rIns="0">
            <a:spAutoFit/>
          </a:bodyPr>
          <a:lstStyle/>
          <a:p>
            <a:pPr algn="ctr" marL="0" indent="0" lvl="0">
              <a:lnSpc>
                <a:spcPts val="1848"/>
              </a:lnSpc>
            </a:pPr>
            <a:r>
              <a:rPr lang="en-US" b="true" sz="2226">
                <a:solidFill>
                  <a:srgbClr val="001E3A"/>
                </a:solidFill>
                <a:latin typeface="Garet Ultra-Bold"/>
                <a:ea typeface="Garet Ultra-Bold"/>
                <a:cs typeface="Garet Ultra-Bold"/>
                <a:sym typeface="Garet Ultra-Bold"/>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DAHH9Ll8hZY</dc:identifier>
  <dcterms:modified xsi:type="dcterms:W3CDTF">2011-08-01T06:04:30Z</dcterms:modified>
  <cp:revision>1</cp:revision>
  <dc:title>Mobile QoE Data Collection App Design</dc:title>
</cp:coreProperties>
</file>