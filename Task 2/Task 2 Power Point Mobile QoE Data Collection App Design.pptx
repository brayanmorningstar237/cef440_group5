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56"/>
  </p:notesMasterIdLst>
  <p:sldIdLst>
    <p:sldId id="256" r:id="rId2"/>
    <p:sldId id="257" r:id="rId3"/>
    <p:sldId id="258" r:id="rId4"/>
    <p:sldId id="275" r:id="rId5"/>
    <p:sldId id="274" r:id="rId6"/>
    <p:sldId id="272" r:id="rId7"/>
    <p:sldId id="273" r:id="rId8"/>
    <p:sldId id="277" r:id="rId9"/>
    <p:sldId id="278" r:id="rId10"/>
    <p:sldId id="279" r:id="rId11"/>
    <p:sldId id="259" r:id="rId12"/>
    <p:sldId id="280" r:id="rId13"/>
    <p:sldId id="281" r:id="rId14"/>
    <p:sldId id="282" r:id="rId15"/>
    <p:sldId id="283" r:id="rId16"/>
    <p:sldId id="295" r:id="rId17"/>
    <p:sldId id="260" r:id="rId18"/>
    <p:sldId id="284" r:id="rId19"/>
    <p:sldId id="285" r:id="rId20"/>
    <p:sldId id="286" r:id="rId21"/>
    <p:sldId id="287" r:id="rId22"/>
    <p:sldId id="289" r:id="rId23"/>
    <p:sldId id="290" r:id="rId24"/>
    <p:sldId id="294" r:id="rId25"/>
    <p:sldId id="293" r:id="rId26"/>
    <p:sldId id="291" r:id="rId27"/>
    <p:sldId id="296" r:id="rId28"/>
    <p:sldId id="297" r:id="rId29"/>
    <p:sldId id="300" r:id="rId30"/>
    <p:sldId id="261" r:id="rId31"/>
    <p:sldId id="262" r:id="rId32"/>
    <p:sldId id="298" r:id="rId33"/>
    <p:sldId id="311" r:id="rId34"/>
    <p:sldId id="303" r:id="rId35"/>
    <p:sldId id="304" r:id="rId36"/>
    <p:sldId id="302" r:id="rId37"/>
    <p:sldId id="301" r:id="rId38"/>
    <p:sldId id="264" r:id="rId39"/>
    <p:sldId id="305" r:id="rId40"/>
    <p:sldId id="306" r:id="rId41"/>
    <p:sldId id="313" r:id="rId42"/>
    <p:sldId id="312" r:id="rId43"/>
    <p:sldId id="314" r:id="rId44"/>
    <p:sldId id="265" r:id="rId45"/>
    <p:sldId id="307" r:id="rId46"/>
    <p:sldId id="310" r:id="rId47"/>
    <p:sldId id="263" r:id="rId48"/>
    <p:sldId id="266" r:id="rId49"/>
    <p:sldId id="267" r:id="rId50"/>
    <p:sldId id="268" r:id="rId51"/>
    <p:sldId id="269" r:id="rId52"/>
    <p:sldId id="270" r:id="rId53"/>
    <p:sldId id="271" r:id="rId54"/>
    <p:sldId id="276" r:id="rId55"/>
  </p:sldIdLst>
  <p:sldSz cx="18288000" cy="10287000"/>
  <p:notesSz cx="6858000" cy="9144000"/>
  <p:embeddedFontLst>
    <p:embeddedFont>
      <p:font typeface="Garet" panose="020B0604020202020204" charset="0"/>
      <p:regular r:id="rId57"/>
    </p:embeddedFont>
    <p:embeddedFont>
      <p:font typeface="Garet Ultra-Bold" panose="020B0604020202020204" charset="0"/>
      <p:regular r:id="rId5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235" autoAdjust="0"/>
    <p:restoredTop sz="94622" autoAdjust="0"/>
  </p:normalViewPr>
  <p:slideViewPr>
    <p:cSldViewPr>
      <p:cViewPr>
        <p:scale>
          <a:sx n="41" d="100"/>
          <a:sy n="41" d="100"/>
        </p:scale>
        <p:origin x="1152" y="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font" Target="fonts/font2.fntdata"/><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4F204C-C3C2-4BBB-82B7-98F44573A756}" type="datetimeFigureOut">
              <a:rPr lang="en-US" smtClean="0"/>
              <a:t>4/27/2026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AA2B18-5737-408D-B064-C911759F920F}" type="slidenum">
              <a:rPr lang="en-US" smtClean="0"/>
              <a:t>‹#›</a:t>
            </a:fld>
            <a:endParaRPr lang="en-US"/>
          </a:p>
        </p:txBody>
      </p:sp>
    </p:spTree>
    <p:extLst>
      <p:ext uri="{BB962C8B-B14F-4D97-AF65-F5344CB8AC3E}">
        <p14:creationId xmlns:p14="http://schemas.microsoft.com/office/powerpoint/2010/main" val="3907455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4AA2B18-5737-408D-B064-C911759F920F}" type="slidenum">
              <a:rPr lang="en-US" smtClean="0"/>
              <a:t>1</a:t>
            </a:fld>
            <a:endParaRPr lang="en-US"/>
          </a:p>
        </p:txBody>
      </p:sp>
    </p:spTree>
    <p:extLst>
      <p:ext uri="{BB962C8B-B14F-4D97-AF65-F5344CB8AC3E}">
        <p14:creationId xmlns:p14="http://schemas.microsoft.com/office/powerpoint/2010/main" val="42447827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4AA2B18-5737-408D-B064-C911759F920F}" type="slidenum">
              <a:rPr lang="en-US" smtClean="0"/>
              <a:t>17</a:t>
            </a:fld>
            <a:endParaRPr lang="en-US"/>
          </a:p>
        </p:txBody>
      </p:sp>
    </p:spTree>
    <p:extLst>
      <p:ext uri="{BB962C8B-B14F-4D97-AF65-F5344CB8AC3E}">
        <p14:creationId xmlns:p14="http://schemas.microsoft.com/office/powerpoint/2010/main" val="18719306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AF34D-3D46-5047-5DB2-2E8A82DC74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183641-3811-CE64-69BF-1C47A66B73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C22062-0C34-C1EF-B46B-85C4FE7143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125934-6D17-902D-BDF0-2B1C9A45B05C}"/>
              </a:ext>
            </a:extLst>
          </p:cNvPr>
          <p:cNvSpPr>
            <a:spLocks noGrp="1"/>
          </p:cNvSpPr>
          <p:nvPr>
            <p:ph type="sldNum" sz="quarter" idx="5"/>
          </p:nvPr>
        </p:nvSpPr>
        <p:spPr/>
        <p:txBody>
          <a:bodyPr/>
          <a:lstStyle/>
          <a:p>
            <a:fld id="{94AA2B18-5737-408D-B064-C911759F920F}" type="slidenum">
              <a:rPr lang="en-US" smtClean="0"/>
              <a:t>24</a:t>
            </a:fld>
            <a:endParaRPr lang="en-US"/>
          </a:p>
        </p:txBody>
      </p:sp>
    </p:spTree>
    <p:extLst>
      <p:ext uri="{BB962C8B-B14F-4D97-AF65-F5344CB8AC3E}">
        <p14:creationId xmlns:p14="http://schemas.microsoft.com/office/powerpoint/2010/main" val="23112732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2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31.png"/></Relationships>
</file>

<file path=ppt/slides/_rels/slide4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2216105">
            <a:off x="-6401541" y="-1603791"/>
            <a:ext cx="11809520" cy="21344736"/>
            <a:chOff x="0" y="0"/>
            <a:chExt cx="3110326" cy="5621659"/>
          </a:xfrm>
        </p:grpSpPr>
        <p:sp>
          <p:nvSpPr>
            <p:cNvPr id="3" name="Freeform 3"/>
            <p:cNvSpPr/>
            <p:nvPr/>
          </p:nvSpPr>
          <p:spPr>
            <a:xfrm>
              <a:off x="0" y="0"/>
              <a:ext cx="3110326" cy="5621659"/>
            </a:xfrm>
            <a:custGeom>
              <a:avLst/>
              <a:gdLst/>
              <a:ahLst/>
              <a:cxnLst/>
              <a:rect l="l" t="t" r="r" b="b"/>
              <a:pathLst>
                <a:path w="3110326" h="5621659">
                  <a:moveTo>
                    <a:pt x="0" y="0"/>
                  </a:moveTo>
                  <a:lnTo>
                    <a:pt x="3110326" y="0"/>
                  </a:lnTo>
                  <a:lnTo>
                    <a:pt x="3110326" y="5621659"/>
                  </a:lnTo>
                  <a:lnTo>
                    <a:pt x="0" y="5621659"/>
                  </a:lnTo>
                  <a:close/>
                </a:path>
              </a:pathLst>
            </a:custGeom>
            <a:solidFill>
              <a:srgbClr val="001E3A"/>
            </a:solidFill>
          </p:spPr>
          <p:txBody>
            <a:bodyPr/>
            <a:lstStyle/>
            <a:p>
              <a:endParaRPr lang="en-US"/>
            </a:p>
          </p:txBody>
        </p:sp>
        <p:sp>
          <p:nvSpPr>
            <p:cNvPr id="4" name="TextBox 4"/>
            <p:cNvSpPr txBox="1"/>
            <p:nvPr/>
          </p:nvSpPr>
          <p:spPr>
            <a:xfrm>
              <a:off x="0" y="-38100"/>
              <a:ext cx="3110326" cy="5659759"/>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13749884" y="-2491061"/>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8" name="Group 8"/>
          <p:cNvGrpSpPr/>
          <p:nvPr/>
        </p:nvGrpSpPr>
        <p:grpSpPr>
          <a:xfrm>
            <a:off x="-3597204" y="7602101"/>
            <a:ext cx="6020510" cy="6020510"/>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txBody>
            <a:bodyPr/>
            <a:lstStyle/>
            <a:p>
              <a:endParaRPr lang="en-US"/>
            </a:p>
          </p:txBody>
        </p:sp>
        <p:sp>
          <p:nvSpPr>
            <p:cNvPr id="10" name="TextBox 10"/>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11" name="Group 11"/>
          <p:cNvGrpSpPr/>
          <p:nvPr/>
        </p:nvGrpSpPr>
        <p:grpSpPr>
          <a:xfrm>
            <a:off x="-17936" y="1625685"/>
            <a:ext cx="7170978" cy="7170978"/>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a:stretch>
            </a:blipFill>
          </p:spPr>
          <p:txBody>
            <a:bodyPr/>
            <a:lstStyle/>
            <a:p>
              <a:endParaRPr lang="en-US"/>
            </a:p>
          </p:txBody>
        </p:sp>
      </p:grpSp>
      <p:grpSp>
        <p:nvGrpSpPr>
          <p:cNvPr id="13" name="Group 13"/>
          <p:cNvGrpSpPr/>
          <p:nvPr/>
        </p:nvGrpSpPr>
        <p:grpSpPr>
          <a:xfrm>
            <a:off x="4864547" y="7206830"/>
            <a:ext cx="3772746" cy="1589834"/>
            <a:chOff x="-1192210" y="-35744"/>
            <a:chExt cx="1928810" cy="812800"/>
          </a:xfrm>
        </p:grpSpPr>
        <p:sp>
          <p:nvSpPr>
            <p:cNvPr id="14" name="Freeform 14"/>
            <p:cNvSpPr/>
            <p:nvPr/>
          </p:nvSpPr>
          <p:spPr>
            <a:xfrm>
              <a:off x="-1192210" y="-35744"/>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dirty="0"/>
            </a:p>
          </p:txBody>
        </p:sp>
        <p:sp>
          <p:nvSpPr>
            <p:cNvPr id="15" name="TextBox 15"/>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8" name="TextBox 18"/>
          <p:cNvSpPr txBox="1"/>
          <p:nvPr/>
        </p:nvSpPr>
        <p:spPr>
          <a:xfrm>
            <a:off x="7991423" y="3953071"/>
            <a:ext cx="9686977" cy="3738459"/>
          </a:xfrm>
          <a:prstGeom prst="rect">
            <a:avLst/>
          </a:prstGeom>
        </p:spPr>
        <p:txBody>
          <a:bodyPr wrap="square" lIns="0" tIns="0" rIns="0" bIns="0" rtlCol="0" anchor="t">
            <a:spAutoFit/>
          </a:bodyPr>
          <a:lstStyle/>
          <a:p>
            <a:pPr marL="0" lvl="0" indent="0" algn="l">
              <a:lnSpc>
                <a:spcPts val="5746"/>
              </a:lnSpc>
            </a:pPr>
            <a:r>
              <a:rPr lang="en-US" sz="6924" b="1" dirty="0">
                <a:solidFill>
                  <a:srgbClr val="001E3A"/>
                </a:solidFill>
                <a:latin typeface="Garet Ultra-Bold"/>
                <a:ea typeface="Garet Ultra-Bold"/>
                <a:cs typeface="Garet Ultra-Bold"/>
                <a:sym typeface="Garet Ultra-Bold"/>
              </a:rPr>
              <a:t>Design and Implementation of a Mobile App for Collection of User Experience Data</a:t>
            </a:r>
          </a:p>
        </p:txBody>
      </p:sp>
      <p:sp>
        <p:nvSpPr>
          <p:cNvPr id="19" name="TextBox 19"/>
          <p:cNvSpPr txBox="1"/>
          <p:nvPr/>
        </p:nvSpPr>
        <p:spPr>
          <a:xfrm>
            <a:off x="8121146" y="8153252"/>
            <a:ext cx="5617015" cy="1286822"/>
          </a:xfrm>
          <a:prstGeom prst="rect">
            <a:avLst/>
          </a:prstGeom>
        </p:spPr>
        <p:txBody>
          <a:bodyPr lIns="0" tIns="0" rIns="0" bIns="0" rtlCol="0" anchor="t">
            <a:spAutoFit/>
          </a:bodyPr>
          <a:lstStyle/>
          <a:p>
            <a:pPr marL="0" lvl="0" indent="0" algn="l">
              <a:lnSpc>
                <a:spcPts val="5197"/>
              </a:lnSpc>
            </a:pPr>
            <a:r>
              <a:rPr lang="en-US" sz="3712" dirty="0">
                <a:solidFill>
                  <a:srgbClr val="001E3A"/>
                </a:solidFill>
                <a:latin typeface="Garet"/>
                <a:ea typeface="Garet"/>
                <a:cs typeface="Garet"/>
                <a:sym typeface="Garet"/>
              </a:rPr>
              <a:t>Requirements Gathering and Analysis </a:t>
            </a:r>
          </a:p>
        </p:txBody>
      </p:sp>
      <p:sp>
        <p:nvSpPr>
          <p:cNvPr id="20" name="TextBox 20"/>
          <p:cNvSpPr txBox="1"/>
          <p:nvPr/>
        </p:nvSpPr>
        <p:spPr>
          <a:xfrm>
            <a:off x="7982080" y="2255958"/>
            <a:ext cx="6666796" cy="544573"/>
          </a:xfrm>
          <a:prstGeom prst="rect">
            <a:avLst/>
          </a:prstGeom>
        </p:spPr>
        <p:txBody>
          <a:bodyPr lIns="0" tIns="0" rIns="0" bIns="0" rtlCol="0" anchor="t">
            <a:spAutoFit/>
          </a:bodyPr>
          <a:lstStyle/>
          <a:p>
            <a:pPr marL="0" lvl="0" indent="0" algn="l">
              <a:lnSpc>
                <a:spcPts val="4416"/>
              </a:lnSpc>
            </a:pPr>
            <a:r>
              <a:rPr lang="en-US" sz="3154" dirty="0">
                <a:solidFill>
                  <a:srgbClr val="001E3A"/>
                </a:solidFill>
                <a:latin typeface="Garet"/>
                <a:ea typeface="Garet"/>
                <a:cs typeface="Garet"/>
                <a:sym typeface="Garet"/>
              </a:rPr>
              <a:t>CEF440 – Group 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0" name="TextBox 10"/>
          <p:cNvSpPr txBox="1"/>
          <p:nvPr/>
        </p:nvSpPr>
        <p:spPr>
          <a:xfrm>
            <a:off x="2059765" y="2567321"/>
            <a:ext cx="14168470" cy="1423341"/>
          </a:xfrm>
          <a:prstGeom prst="rect">
            <a:avLst/>
          </a:prstGeom>
        </p:spPr>
        <p:txBody>
          <a:bodyPr lIns="0" tIns="0" rIns="0" bIns="0" rtlCol="0" anchor="t">
            <a:spAutoFit/>
          </a:bodyPr>
          <a:lstStyle/>
          <a:p>
            <a:pPr marL="0" lvl="0" indent="0" algn="l">
              <a:lnSpc>
                <a:spcPts val="10167"/>
              </a:lnSpc>
            </a:pPr>
            <a:r>
              <a:rPr lang="en-US" sz="12249" b="1">
                <a:solidFill>
                  <a:srgbClr val="001E3A"/>
                </a:solidFill>
                <a:latin typeface="Garet Ultra-Bold"/>
                <a:ea typeface="Garet Ultra-Bold"/>
                <a:cs typeface="Garet Ultra-Bold"/>
                <a:sym typeface="Garet Ultra-Bold"/>
              </a:rPr>
              <a:t>Introduction</a:t>
            </a:r>
          </a:p>
        </p:txBody>
      </p:sp>
      <p:sp>
        <p:nvSpPr>
          <p:cNvPr id="11" name="TextBox 11"/>
          <p:cNvSpPr txBox="1"/>
          <p:nvPr/>
        </p:nvSpPr>
        <p:spPr>
          <a:xfrm>
            <a:off x="2059765" y="4209788"/>
            <a:ext cx="14168470" cy="3948091"/>
          </a:xfrm>
          <a:prstGeom prst="rect">
            <a:avLst/>
          </a:prstGeom>
        </p:spPr>
        <p:txBody>
          <a:bodyPr lIns="0" tIns="0" rIns="0" bIns="0" rtlCol="0" anchor="t">
            <a:spAutoFit/>
          </a:bodyPr>
          <a:lstStyle/>
          <a:p>
            <a:pPr marL="0" lvl="0" indent="0" algn="l">
              <a:lnSpc>
                <a:spcPts val="3938"/>
              </a:lnSpc>
            </a:pPr>
            <a:r>
              <a:rPr lang="en-US" sz="2813">
                <a:solidFill>
                  <a:srgbClr val="001E3A"/>
                </a:solidFill>
                <a:latin typeface="Garet"/>
                <a:ea typeface="Garet"/>
                <a:cs typeface="Garet"/>
                <a:sym typeface="Garet"/>
              </a:rPr>
              <a:t>Current Quality of Service (QoS) monitoring systems rely primarily on technical metrics, creating a significant gap: they lack real user experience data. This project aims to develop a mobile application for collecting Quality of Experience (QoE) data directly from mobile network subscribers in Cameroon. By capturing subjective feedback alongside objective measurements, the app will provide network operators with complementary insights into actual user satisfaction, enabling more informed decisions for network optimization and service improvement.</a:t>
            </a:r>
          </a:p>
        </p:txBody>
      </p:sp>
      <p:sp>
        <p:nvSpPr>
          <p:cNvPr id="12" name="TextBox 12"/>
          <p:cNvSpPr txBox="1"/>
          <p:nvPr/>
        </p:nvSpPr>
        <p:spPr>
          <a:xfrm>
            <a:off x="14250620" y="9239250"/>
            <a:ext cx="1865504" cy="223038"/>
          </a:xfrm>
          <a:prstGeom prst="rect">
            <a:avLst/>
          </a:prstGeom>
        </p:spPr>
        <p:txBody>
          <a:bodyPr lIns="0" tIns="0" rIns="0" bIns="0" rtlCol="0" anchor="t">
            <a:spAutoFit/>
          </a:bodyPr>
          <a:lstStyle/>
          <a:p>
            <a:pPr marL="0" lvl="0" indent="0" algn="l">
              <a:lnSpc>
                <a:spcPts val="1883"/>
              </a:lnSpc>
            </a:pPr>
            <a:r>
              <a:rPr lang="en-US" sz="1345">
                <a:solidFill>
                  <a:srgbClr val="001E3A"/>
                </a:solidFill>
                <a:latin typeface="Garet"/>
                <a:ea typeface="Garet"/>
                <a:cs typeface="Garet"/>
                <a:sym typeface="Garet"/>
              </a:rPr>
              <a:t>University of Buea</a:t>
            </a:r>
          </a:p>
        </p:txBody>
      </p:sp>
      <p:sp>
        <p:nvSpPr>
          <p:cNvPr id="13" name="TextBox 13"/>
          <p:cNvSpPr txBox="1"/>
          <p:nvPr/>
        </p:nvSpPr>
        <p:spPr>
          <a:xfrm>
            <a:off x="14250620" y="9433689"/>
            <a:ext cx="3008680" cy="268629"/>
          </a:xfrm>
          <a:prstGeom prst="rect">
            <a:avLst/>
          </a:prstGeom>
        </p:spPr>
        <p:txBody>
          <a:bodyPr lIns="0" tIns="0" rIns="0" bIns="0" rtlCol="0" anchor="t">
            <a:spAutoFit/>
          </a:bodyPr>
          <a:lstStyle/>
          <a:p>
            <a:pPr marL="0" lvl="0" indent="0" algn="l">
              <a:lnSpc>
                <a:spcPts val="2216"/>
              </a:lnSpc>
            </a:pPr>
            <a:r>
              <a:rPr lang="en-US" sz="1583">
                <a:solidFill>
                  <a:srgbClr val="001E3A"/>
                </a:solidFill>
                <a:latin typeface="Garet"/>
                <a:ea typeface="Garet"/>
                <a:cs typeface="Garet"/>
                <a:sym typeface="Garet"/>
              </a:rPr>
              <a:t>CEF440 – Group 5</a:t>
            </a:r>
          </a:p>
        </p:txBody>
      </p:sp>
      <p:sp>
        <p:nvSpPr>
          <p:cNvPr id="14" name="TextBox 14"/>
          <p:cNvSpPr txBox="1"/>
          <p:nvPr/>
        </p:nvSpPr>
        <p:spPr>
          <a:xfrm>
            <a:off x="13691401" y="9363075"/>
            <a:ext cx="559219" cy="339118"/>
          </a:xfrm>
          <a:prstGeom prst="rect">
            <a:avLst/>
          </a:prstGeom>
        </p:spPr>
        <p:txBody>
          <a:bodyPr lIns="0" tIns="0" rIns="0" bIns="0" rtlCol="0" anchor="t">
            <a:spAutoFit/>
          </a:bodyPr>
          <a:lstStyle/>
          <a:p>
            <a:pPr marL="0" lvl="0" indent="0" algn="ctr">
              <a:lnSpc>
                <a:spcPts val="2438"/>
              </a:lnSpc>
            </a:pPr>
            <a:r>
              <a:rPr lang="en-US" sz="2938" b="1">
                <a:solidFill>
                  <a:srgbClr val="001E3A"/>
                </a:solidFill>
                <a:latin typeface="Garet Ultra-Bold"/>
                <a:ea typeface="Garet Ultra-Bold"/>
                <a:cs typeface="Garet Ultra-Bold"/>
                <a:sym typeface="Garet Ultra-Bold"/>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1210879"/>
            <a:ext cx="15923435" cy="1234953"/>
          </a:xfrm>
          <a:prstGeom prst="rect">
            <a:avLst/>
          </a:prstGeom>
        </p:spPr>
        <p:txBody>
          <a:bodyPr wrap="square" lIns="0" tIns="0" rIns="0" bIns="0" rtlCol="0" anchor="t">
            <a:spAutoFit/>
          </a:bodyPr>
          <a:lstStyle/>
          <a:p>
            <a:pPr marL="0" lvl="0" indent="0" algn="l">
              <a:lnSpc>
                <a:spcPts val="10167"/>
              </a:lnSpc>
            </a:pPr>
            <a:r>
              <a:rPr lang="en-US" sz="6600" b="1" dirty="0">
                <a:solidFill>
                  <a:srgbClr val="001E3A"/>
                </a:solidFill>
                <a:latin typeface="Garet Ultra-Bold"/>
                <a:ea typeface="Garet Ultra-Bold"/>
                <a:cs typeface="Garet Ultra-Bold"/>
                <a:sym typeface="Garet Ultra-Bold"/>
              </a:rPr>
              <a:t>Stakeholder Identification</a:t>
            </a:r>
          </a:p>
        </p:txBody>
      </p:sp>
      <p:sp>
        <p:nvSpPr>
          <p:cNvPr id="11" name="TextBox 11"/>
          <p:cNvSpPr txBox="1"/>
          <p:nvPr/>
        </p:nvSpPr>
        <p:spPr>
          <a:xfrm>
            <a:off x="2029408" y="3837420"/>
            <a:ext cx="14168470" cy="3984296"/>
          </a:xfrm>
          <a:prstGeom prst="rect">
            <a:avLst/>
          </a:prstGeom>
        </p:spPr>
        <p:txBody>
          <a:bodyPr lIns="0" tIns="0" rIns="0" bIns="0" rtlCol="0" anchor="t">
            <a:spAutoFit/>
          </a:bodyPr>
          <a:lstStyle/>
          <a:p>
            <a:pPr marL="457200" lvl="0" indent="-457200" algn="l">
              <a:lnSpc>
                <a:spcPts val="3938"/>
              </a:lnSpc>
              <a:buFont typeface="Wingdings" panose="05000000000000000000" pitchFamily="2" charset="2"/>
              <a:buChar char="v"/>
            </a:pPr>
            <a:r>
              <a:rPr lang="en-US" sz="2813" dirty="0">
                <a:solidFill>
                  <a:srgbClr val="001E3A"/>
                </a:solidFill>
                <a:latin typeface="Garet"/>
                <a:ea typeface="Garet"/>
                <a:cs typeface="Garet"/>
                <a:sym typeface="Garet"/>
              </a:rPr>
              <a:t>Primary Users: Mobile subscribers (MTN, Orange, </a:t>
            </a:r>
            <a:r>
              <a:rPr lang="en-US" sz="2813" dirty="0" err="1">
                <a:solidFill>
                  <a:srgbClr val="001E3A"/>
                </a:solidFill>
                <a:latin typeface="Garet"/>
                <a:ea typeface="Garet"/>
                <a:cs typeface="Garet"/>
                <a:sym typeface="Garet"/>
              </a:rPr>
              <a:t>Nexttel</a:t>
            </a:r>
            <a:r>
              <a:rPr lang="en-US" sz="2813" dirty="0">
                <a:solidFill>
                  <a:srgbClr val="001E3A"/>
                </a:solidFill>
                <a:latin typeface="Garet"/>
                <a:ea typeface="Garet"/>
                <a:cs typeface="Garet"/>
                <a:sym typeface="Garet"/>
              </a:rPr>
              <a:t>) across various regions in Cameroon.</a:t>
            </a:r>
          </a:p>
          <a:p>
            <a:pPr marL="457200" lvl="0" indent="-457200" algn="l">
              <a:lnSpc>
                <a:spcPts val="3938"/>
              </a:lnSpc>
              <a:buFont typeface="Wingdings" panose="05000000000000000000" pitchFamily="2" charset="2"/>
              <a:buChar char="v"/>
            </a:pPr>
            <a:endParaRPr lang="en-US" sz="2813" dirty="0">
              <a:solidFill>
                <a:srgbClr val="001E3A"/>
              </a:solidFill>
              <a:latin typeface="Garet"/>
              <a:ea typeface="Garet"/>
              <a:cs typeface="Garet"/>
              <a:sym typeface="Garet"/>
            </a:endParaRPr>
          </a:p>
          <a:p>
            <a:pPr marL="457200" lvl="0" indent="-457200" algn="l">
              <a:lnSpc>
                <a:spcPts val="3938"/>
              </a:lnSpc>
              <a:buFont typeface="Wingdings" panose="05000000000000000000" pitchFamily="2" charset="2"/>
              <a:buChar char="v"/>
            </a:pPr>
            <a:r>
              <a:rPr lang="en-US" sz="2813" dirty="0">
                <a:solidFill>
                  <a:srgbClr val="001E3A"/>
                </a:solidFill>
                <a:latin typeface="Garet"/>
                <a:ea typeface="Garet"/>
                <a:cs typeface="Garet"/>
                <a:sym typeface="Garet"/>
              </a:rPr>
              <a:t>Secondary Stakeholders: Network Engineers (for QoS validation) and App Developers.</a:t>
            </a:r>
          </a:p>
          <a:p>
            <a:pPr marL="457200" lvl="0" indent="-457200" algn="l">
              <a:lnSpc>
                <a:spcPts val="3938"/>
              </a:lnSpc>
              <a:buFont typeface="Wingdings" panose="05000000000000000000" pitchFamily="2" charset="2"/>
              <a:buChar char="v"/>
            </a:pPr>
            <a:endParaRPr lang="en-US" sz="2813" dirty="0">
              <a:solidFill>
                <a:srgbClr val="001E3A"/>
              </a:solidFill>
              <a:latin typeface="Garet"/>
              <a:ea typeface="Garet"/>
              <a:cs typeface="Garet"/>
              <a:sym typeface="Garet"/>
            </a:endParaRPr>
          </a:p>
          <a:p>
            <a:pPr marL="457200" lvl="0" indent="-457200" algn="l">
              <a:lnSpc>
                <a:spcPts val="3938"/>
              </a:lnSpc>
              <a:buFont typeface="Wingdings" panose="05000000000000000000" pitchFamily="2" charset="2"/>
              <a:buChar char="v"/>
            </a:pPr>
            <a:r>
              <a:rPr lang="en-US" sz="2813" dirty="0">
                <a:solidFill>
                  <a:srgbClr val="001E3A"/>
                </a:solidFill>
                <a:latin typeface="Garet"/>
                <a:ea typeface="Garet"/>
                <a:cs typeface="Garet"/>
                <a:sym typeface="Garet"/>
              </a:rPr>
              <a:t>The Goal: To capture the "Human Perspective" (QoE) to complement "Technical Data" (QoS).</a:t>
            </a:r>
          </a:p>
        </p:txBody>
      </p:sp>
      <p:sp>
        <p:nvSpPr>
          <p:cNvPr id="12" name="TextBox 12"/>
          <p:cNvSpPr txBox="1"/>
          <p:nvPr/>
        </p:nvSpPr>
        <p:spPr>
          <a:xfrm>
            <a:off x="14250620" y="9239250"/>
            <a:ext cx="1865504" cy="223038"/>
          </a:xfrm>
          <a:prstGeom prst="rect">
            <a:avLst/>
          </a:prstGeom>
        </p:spPr>
        <p:txBody>
          <a:bodyPr lIns="0" tIns="0" rIns="0" bIns="0" rtlCol="0" anchor="t">
            <a:spAutoFit/>
          </a:bodyPr>
          <a:lstStyle/>
          <a:p>
            <a:pPr marL="0" lvl="0" indent="0" algn="l">
              <a:lnSpc>
                <a:spcPts val="1883"/>
              </a:lnSpc>
            </a:pPr>
            <a:r>
              <a:rPr lang="en-US" sz="1345">
                <a:solidFill>
                  <a:srgbClr val="001E3A"/>
                </a:solidFill>
                <a:latin typeface="Garet"/>
                <a:ea typeface="Garet"/>
                <a:cs typeface="Garet"/>
                <a:sym typeface="Garet"/>
              </a:rPr>
              <a:t>University of Buea</a:t>
            </a:r>
          </a:p>
        </p:txBody>
      </p:sp>
      <p:sp>
        <p:nvSpPr>
          <p:cNvPr id="13" name="TextBox 13"/>
          <p:cNvSpPr txBox="1"/>
          <p:nvPr/>
        </p:nvSpPr>
        <p:spPr>
          <a:xfrm>
            <a:off x="14250620" y="9433689"/>
            <a:ext cx="3008680" cy="268629"/>
          </a:xfrm>
          <a:prstGeom prst="rect">
            <a:avLst/>
          </a:prstGeom>
        </p:spPr>
        <p:txBody>
          <a:bodyPr lIns="0" tIns="0" rIns="0" bIns="0" rtlCol="0" anchor="t">
            <a:spAutoFit/>
          </a:bodyPr>
          <a:lstStyle/>
          <a:p>
            <a:pPr marL="0" lvl="0" indent="0" algn="l">
              <a:lnSpc>
                <a:spcPts val="2216"/>
              </a:lnSpc>
            </a:pPr>
            <a:r>
              <a:rPr lang="en-US" sz="1583">
                <a:solidFill>
                  <a:srgbClr val="001E3A"/>
                </a:solidFill>
                <a:latin typeface="Garet"/>
                <a:ea typeface="Garet"/>
                <a:cs typeface="Garet"/>
                <a:sym typeface="Garet"/>
              </a:rPr>
              <a:t>CEF440 – Group 5</a:t>
            </a:r>
          </a:p>
        </p:txBody>
      </p:sp>
      <p:sp>
        <p:nvSpPr>
          <p:cNvPr id="14" name="TextBox 14"/>
          <p:cNvSpPr txBox="1"/>
          <p:nvPr/>
        </p:nvSpPr>
        <p:spPr>
          <a:xfrm>
            <a:off x="13691401" y="9363075"/>
            <a:ext cx="559219" cy="339118"/>
          </a:xfrm>
          <a:prstGeom prst="rect">
            <a:avLst/>
          </a:prstGeom>
        </p:spPr>
        <p:txBody>
          <a:bodyPr lIns="0" tIns="0" rIns="0" bIns="0" rtlCol="0" anchor="t">
            <a:spAutoFit/>
          </a:bodyPr>
          <a:lstStyle/>
          <a:p>
            <a:pPr marL="0" lvl="0" indent="0" algn="ctr">
              <a:lnSpc>
                <a:spcPts val="2438"/>
              </a:lnSpc>
            </a:pPr>
            <a:r>
              <a:rPr lang="en-US" sz="2938" b="1">
                <a:solidFill>
                  <a:srgbClr val="001E3A"/>
                </a:solidFill>
                <a:latin typeface="Garet Ultra-Bold"/>
                <a:ea typeface="Garet Ultra-Bold"/>
                <a:cs typeface="Garet Ultra-Bold"/>
                <a:sym typeface="Garet Ultra-Bold"/>
              </a:rPr>
              <a:t>3</a:t>
            </a:r>
          </a:p>
        </p:txBody>
      </p:sp>
      <p:sp>
        <p:nvSpPr>
          <p:cNvPr id="20" name="TextBox 19">
            <a:extLst>
              <a:ext uri="{FF2B5EF4-FFF2-40B4-BE49-F238E27FC236}">
                <a16:creationId xmlns:a16="http://schemas.microsoft.com/office/drawing/2014/main" id="{664B15E9-B5CC-500E-E0FD-FAE86564C09D}"/>
              </a:ext>
            </a:extLst>
          </p:cNvPr>
          <p:cNvSpPr txBox="1"/>
          <p:nvPr/>
        </p:nvSpPr>
        <p:spPr>
          <a:xfrm>
            <a:off x="2059765" y="2597946"/>
            <a:ext cx="12297508" cy="646331"/>
          </a:xfrm>
          <a:prstGeom prst="rect">
            <a:avLst/>
          </a:prstGeom>
          <a:noFill/>
        </p:spPr>
        <p:txBody>
          <a:bodyPr wrap="square">
            <a:spAutoFit/>
          </a:bodyPr>
          <a:lstStyle/>
          <a:p>
            <a:r>
              <a:rPr lang="en-US" sz="3600" dirty="0"/>
              <a:t>Who are we asking?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E6320-478B-6827-5B17-41891C3D00ED}"/>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BF608BB-6F82-D904-6DFC-F7CF162E24DE}"/>
              </a:ext>
            </a:extLst>
          </p:cNvPr>
          <p:cNvSpPr/>
          <p:nvPr/>
        </p:nvSpPr>
        <p:spPr>
          <a:xfrm>
            <a:off x="5122677" y="7144934"/>
            <a:ext cx="11437504" cy="207998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0A8DC05-4FAF-00FD-F5D8-F3E7F2FDF22A}"/>
              </a:ext>
            </a:extLst>
          </p:cNvPr>
          <p:cNvSpPr/>
          <p:nvPr/>
        </p:nvSpPr>
        <p:spPr>
          <a:xfrm>
            <a:off x="5122677" y="4364240"/>
            <a:ext cx="11437504" cy="207998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2" name="Group 2">
            <a:extLst>
              <a:ext uri="{FF2B5EF4-FFF2-40B4-BE49-F238E27FC236}">
                <a16:creationId xmlns:a16="http://schemas.microsoft.com/office/drawing/2014/main" id="{1B2FC8AD-6A97-53EB-74FB-1DA95EE4784D}"/>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66343711-2972-A003-3CCB-137CF7DC0EEC}"/>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79FEA733-8110-0A19-BB2C-782FC3DF2FE3}"/>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C41160A8-3FA2-84C8-A818-DC1548A3BE42}"/>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ECA0BB66-D052-3667-B080-4E7DEC99270E}"/>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B59CBB22-0047-3D85-DE00-565A245484A7}"/>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9" name="Freeform 9">
            <a:extLst>
              <a:ext uri="{FF2B5EF4-FFF2-40B4-BE49-F238E27FC236}">
                <a16:creationId xmlns:a16="http://schemas.microsoft.com/office/drawing/2014/main" id="{236C24D6-A7B4-5E98-9F38-2443A7862A70}"/>
              </a:ext>
            </a:extLst>
          </p:cNvPr>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10" name="TextBox 10">
            <a:extLst>
              <a:ext uri="{FF2B5EF4-FFF2-40B4-BE49-F238E27FC236}">
                <a16:creationId xmlns:a16="http://schemas.microsoft.com/office/drawing/2014/main" id="{FA65C9EA-7319-76D1-296C-BF9BD2F099EF}"/>
              </a:ext>
            </a:extLst>
          </p:cNvPr>
          <p:cNvSpPr txBox="1"/>
          <p:nvPr/>
        </p:nvSpPr>
        <p:spPr>
          <a:xfrm>
            <a:off x="1842157" y="1024073"/>
            <a:ext cx="17599835" cy="1165704"/>
          </a:xfrm>
          <a:prstGeom prst="rect">
            <a:avLst/>
          </a:prstGeom>
        </p:spPr>
        <p:txBody>
          <a:bodyPr wrap="square" lIns="0" tIns="0" rIns="0" bIns="0" rtlCol="0" anchor="t">
            <a:spAutoFit/>
          </a:bodyPr>
          <a:lstStyle/>
          <a:p>
            <a:pPr marL="0" lvl="0" indent="0" algn="l">
              <a:lnSpc>
                <a:spcPts val="10167"/>
              </a:lnSpc>
            </a:pPr>
            <a:r>
              <a:rPr lang="en-US" sz="4800" b="1" dirty="0">
                <a:solidFill>
                  <a:srgbClr val="001E3A"/>
                </a:solidFill>
                <a:latin typeface="Garet Ultra-Bold"/>
                <a:ea typeface="Garet Ultra-Bold"/>
                <a:cs typeface="Garet Ultra-Bold"/>
                <a:sym typeface="Garet Ultra-Bold"/>
              </a:rPr>
              <a:t>The Rationale (Why a Questionnaire?)</a:t>
            </a:r>
          </a:p>
        </p:txBody>
      </p:sp>
      <p:sp>
        <p:nvSpPr>
          <p:cNvPr id="11" name="TextBox 11">
            <a:extLst>
              <a:ext uri="{FF2B5EF4-FFF2-40B4-BE49-F238E27FC236}">
                <a16:creationId xmlns:a16="http://schemas.microsoft.com/office/drawing/2014/main" id="{F68F6A31-77D1-B623-B47D-26A91B57E3B6}"/>
              </a:ext>
            </a:extLst>
          </p:cNvPr>
          <p:cNvSpPr txBox="1"/>
          <p:nvPr/>
        </p:nvSpPr>
        <p:spPr>
          <a:xfrm>
            <a:off x="5465731" y="3110029"/>
            <a:ext cx="11437504" cy="6001643"/>
          </a:xfrm>
          <a:prstGeom prst="rect">
            <a:avLst/>
          </a:prstGeom>
        </p:spPr>
        <p:txBody>
          <a:bodyPr wrap="square" lIns="0" tIns="0" rIns="0" bIns="0" rtlCol="0" anchor="t">
            <a:spAutoFit/>
          </a:bodyPr>
          <a:lstStyle/>
          <a:p>
            <a:pPr lvl="0">
              <a:lnSpc>
                <a:spcPts val="3938"/>
              </a:lnSpc>
            </a:pPr>
            <a:endParaRPr lang="en-US" sz="3200" dirty="0">
              <a:solidFill>
                <a:srgbClr val="001E3A"/>
              </a:solidFill>
              <a:latin typeface="Garet"/>
              <a:ea typeface="Garet"/>
              <a:cs typeface="Garet"/>
              <a:sym typeface="Garet"/>
            </a:endParaRPr>
          </a:p>
          <a:p>
            <a:pPr marL="457200" lvl="0" indent="-457200">
              <a:lnSpc>
                <a:spcPts val="3938"/>
              </a:lnSpc>
              <a:buFont typeface="Wingdings" panose="05000000000000000000" pitchFamily="2" charset="2"/>
              <a:buChar char="v"/>
            </a:pPr>
            <a:r>
              <a:rPr lang="en-US" sz="3200" dirty="0">
                <a:solidFill>
                  <a:srgbClr val="001E3A"/>
                </a:solidFill>
                <a:latin typeface="Garet"/>
                <a:ea typeface="Garet"/>
                <a:cs typeface="Garet"/>
                <a:sym typeface="Garet"/>
              </a:rPr>
              <a:t>Converting Subjective to Objective</a:t>
            </a:r>
          </a:p>
          <a:p>
            <a:pPr marL="457200" lvl="0" indent="-457200">
              <a:lnSpc>
                <a:spcPts val="3938"/>
              </a:lnSpc>
              <a:buFont typeface="Wingdings" panose="05000000000000000000" pitchFamily="2" charset="2"/>
              <a:buChar char="v"/>
            </a:pPr>
            <a:endParaRPr lang="en-US" sz="3200" dirty="0">
              <a:solidFill>
                <a:srgbClr val="001E3A"/>
              </a:solidFill>
              <a:latin typeface="Garet"/>
              <a:ea typeface="Garet"/>
              <a:cs typeface="Garet"/>
              <a:sym typeface="Garet"/>
            </a:endParaRPr>
          </a:p>
          <a:p>
            <a:pPr lvl="0">
              <a:lnSpc>
                <a:spcPts val="3938"/>
              </a:lnSpc>
            </a:pPr>
            <a:r>
              <a:rPr lang="en-US" sz="3200" dirty="0">
                <a:solidFill>
                  <a:schemeClr val="bg1"/>
                </a:solidFill>
                <a:latin typeface="Garet"/>
                <a:ea typeface="Garet"/>
                <a:cs typeface="Garet"/>
                <a:sym typeface="Garet"/>
              </a:rPr>
              <a:t>Translating vague user complaints ("The network is bad") into measurable technical requirements (Latency, Jitter, Signal dBm).</a:t>
            </a:r>
          </a:p>
          <a:p>
            <a:pPr lvl="0">
              <a:lnSpc>
                <a:spcPts val="3938"/>
              </a:lnSpc>
            </a:pPr>
            <a:endParaRPr lang="en-US" sz="3200" dirty="0">
              <a:solidFill>
                <a:srgbClr val="001E3A"/>
              </a:solidFill>
              <a:latin typeface="Garet"/>
              <a:ea typeface="Garet"/>
              <a:cs typeface="Garet"/>
              <a:sym typeface="Garet"/>
            </a:endParaRPr>
          </a:p>
          <a:p>
            <a:pPr marL="457200" lvl="0" indent="-457200">
              <a:lnSpc>
                <a:spcPts val="3938"/>
              </a:lnSpc>
              <a:buFont typeface="Wingdings" panose="05000000000000000000" pitchFamily="2" charset="2"/>
              <a:buChar char="v"/>
            </a:pPr>
            <a:r>
              <a:rPr lang="en-US" sz="3200" dirty="0">
                <a:solidFill>
                  <a:srgbClr val="001E3A"/>
                </a:solidFill>
                <a:latin typeface="Garet"/>
                <a:ea typeface="Garet"/>
                <a:cs typeface="Garet"/>
                <a:sym typeface="Garet"/>
              </a:rPr>
              <a:t>Cultural &amp; Regional Optimization</a:t>
            </a:r>
          </a:p>
          <a:p>
            <a:pPr lvl="0">
              <a:lnSpc>
                <a:spcPts val="3938"/>
              </a:lnSpc>
            </a:pPr>
            <a:endParaRPr lang="en-US" sz="3200" dirty="0">
              <a:solidFill>
                <a:srgbClr val="001E3A"/>
              </a:solidFill>
              <a:latin typeface="Garet"/>
              <a:ea typeface="Garet"/>
              <a:cs typeface="Garet"/>
              <a:sym typeface="Garet"/>
            </a:endParaRPr>
          </a:p>
          <a:p>
            <a:pPr lvl="0">
              <a:lnSpc>
                <a:spcPts val="3938"/>
              </a:lnSpc>
            </a:pPr>
            <a:r>
              <a:rPr lang="en-US" sz="3200" dirty="0">
                <a:solidFill>
                  <a:schemeClr val="bg1"/>
                </a:solidFill>
                <a:latin typeface="Garet"/>
                <a:ea typeface="Garet"/>
                <a:cs typeface="Garet"/>
                <a:sym typeface="Garet"/>
              </a:rPr>
              <a:t>Ensuring the solution accounts for specific local factors Like behaviors</a:t>
            </a:r>
          </a:p>
          <a:p>
            <a:pPr lvl="0" algn="l">
              <a:lnSpc>
                <a:spcPts val="3938"/>
              </a:lnSpc>
            </a:pPr>
            <a:endParaRPr lang="en-US" sz="3200" dirty="0">
              <a:solidFill>
                <a:srgbClr val="001E3A"/>
              </a:solidFill>
              <a:latin typeface="Garet"/>
              <a:ea typeface="Garet"/>
              <a:cs typeface="Garet"/>
              <a:sym typeface="Garet"/>
            </a:endParaRPr>
          </a:p>
        </p:txBody>
      </p:sp>
      <p:sp>
        <p:nvSpPr>
          <p:cNvPr id="12" name="TextBox 12">
            <a:extLst>
              <a:ext uri="{FF2B5EF4-FFF2-40B4-BE49-F238E27FC236}">
                <a16:creationId xmlns:a16="http://schemas.microsoft.com/office/drawing/2014/main" id="{CF3E7714-3630-945B-82AD-0941AEDD51EA}"/>
              </a:ext>
            </a:extLst>
          </p:cNvPr>
          <p:cNvSpPr txBox="1"/>
          <p:nvPr/>
        </p:nvSpPr>
        <p:spPr>
          <a:xfrm>
            <a:off x="14250620" y="9239250"/>
            <a:ext cx="1865504" cy="223038"/>
          </a:xfrm>
          <a:prstGeom prst="rect">
            <a:avLst/>
          </a:prstGeom>
        </p:spPr>
        <p:txBody>
          <a:bodyPr lIns="0" tIns="0" rIns="0" bIns="0" rtlCol="0" anchor="t">
            <a:spAutoFit/>
          </a:bodyPr>
          <a:lstStyle/>
          <a:p>
            <a:pPr marL="0" lvl="0" indent="0" algn="l">
              <a:lnSpc>
                <a:spcPts val="1883"/>
              </a:lnSpc>
            </a:pPr>
            <a:r>
              <a:rPr lang="en-US" sz="1345">
                <a:solidFill>
                  <a:srgbClr val="001E3A"/>
                </a:solidFill>
                <a:latin typeface="Garet"/>
                <a:ea typeface="Garet"/>
                <a:cs typeface="Garet"/>
                <a:sym typeface="Garet"/>
              </a:rPr>
              <a:t>University of Buea</a:t>
            </a:r>
          </a:p>
        </p:txBody>
      </p:sp>
      <p:sp>
        <p:nvSpPr>
          <p:cNvPr id="13" name="TextBox 13">
            <a:extLst>
              <a:ext uri="{FF2B5EF4-FFF2-40B4-BE49-F238E27FC236}">
                <a16:creationId xmlns:a16="http://schemas.microsoft.com/office/drawing/2014/main" id="{2ECC30AE-CB36-F433-F2A2-4844B5579785}"/>
              </a:ext>
            </a:extLst>
          </p:cNvPr>
          <p:cNvSpPr txBox="1"/>
          <p:nvPr/>
        </p:nvSpPr>
        <p:spPr>
          <a:xfrm>
            <a:off x="14250620" y="9433689"/>
            <a:ext cx="3008680" cy="268629"/>
          </a:xfrm>
          <a:prstGeom prst="rect">
            <a:avLst/>
          </a:prstGeom>
        </p:spPr>
        <p:txBody>
          <a:bodyPr lIns="0" tIns="0" rIns="0" bIns="0" rtlCol="0" anchor="t">
            <a:spAutoFit/>
          </a:bodyPr>
          <a:lstStyle/>
          <a:p>
            <a:pPr marL="0" lvl="0" indent="0" algn="l">
              <a:lnSpc>
                <a:spcPts val="2216"/>
              </a:lnSpc>
            </a:pPr>
            <a:r>
              <a:rPr lang="en-US" sz="1583">
                <a:solidFill>
                  <a:srgbClr val="001E3A"/>
                </a:solidFill>
                <a:latin typeface="Garet"/>
                <a:ea typeface="Garet"/>
                <a:cs typeface="Garet"/>
                <a:sym typeface="Garet"/>
              </a:rPr>
              <a:t>CEF440 – Group 5</a:t>
            </a:r>
          </a:p>
        </p:txBody>
      </p:sp>
      <p:sp>
        <p:nvSpPr>
          <p:cNvPr id="14" name="TextBox 14">
            <a:extLst>
              <a:ext uri="{FF2B5EF4-FFF2-40B4-BE49-F238E27FC236}">
                <a16:creationId xmlns:a16="http://schemas.microsoft.com/office/drawing/2014/main" id="{1298B2DB-2372-D6C1-AADB-57B220DDA86D}"/>
              </a:ext>
            </a:extLst>
          </p:cNvPr>
          <p:cNvSpPr txBox="1"/>
          <p:nvPr/>
        </p:nvSpPr>
        <p:spPr>
          <a:xfrm>
            <a:off x="13691401" y="9363075"/>
            <a:ext cx="559219" cy="339118"/>
          </a:xfrm>
          <a:prstGeom prst="rect">
            <a:avLst/>
          </a:prstGeom>
        </p:spPr>
        <p:txBody>
          <a:bodyPr lIns="0" tIns="0" rIns="0" bIns="0" rtlCol="0" anchor="t">
            <a:spAutoFit/>
          </a:bodyPr>
          <a:lstStyle/>
          <a:p>
            <a:pPr marL="0" lvl="0" indent="0" algn="ctr">
              <a:lnSpc>
                <a:spcPts val="2438"/>
              </a:lnSpc>
            </a:pPr>
            <a:r>
              <a:rPr lang="en-US" sz="2938" b="1">
                <a:solidFill>
                  <a:srgbClr val="001E3A"/>
                </a:solidFill>
                <a:latin typeface="Garet Ultra-Bold"/>
                <a:ea typeface="Garet Ultra-Bold"/>
                <a:cs typeface="Garet Ultra-Bold"/>
                <a:sym typeface="Garet Ultra-Bold"/>
              </a:rPr>
              <a:t>3</a:t>
            </a:r>
          </a:p>
        </p:txBody>
      </p:sp>
      <p:sp>
        <p:nvSpPr>
          <p:cNvPr id="20" name="TextBox 19">
            <a:extLst>
              <a:ext uri="{FF2B5EF4-FFF2-40B4-BE49-F238E27FC236}">
                <a16:creationId xmlns:a16="http://schemas.microsoft.com/office/drawing/2014/main" id="{C598D25D-A590-49E6-C851-F0B077BA9AEF}"/>
              </a:ext>
            </a:extLst>
          </p:cNvPr>
          <p:cNvSpPr txBox="1"/>
          <p:nvPr/>
        </p:nvSpPr>
        <p:spPr>
          <a:xfrm>
            <a:off x="1764414" y="2384607"/>
            <a:ext cx="12297508" cy="646331"/>
          </a:xfrm>
          <a:prstGeom prst="rect">
            <a:avLst/>
          </a:prstGeom>
          <a:noFill/>
        </p:spPr>
        <p:txBody>
          <a:bodyPr wrap="square">
            <a:spAutoFit/>
          </a:bodyPr>
          <a:lstStyle/>
          <a:p>
            <a:r>
              <a:rPr lang="en-US" sz="3600" dirty="0"/>
              <a:t>Foundation for Success: Why We Ask Before We Build</a:t>
            </a:r>
          </a:p>
        </p:txBody>
      </p:sp>
      <p:pic>
        <p:nvPicPr>
          <p:cNvPr id="15" name="Picture 14" descr="140+ African American Girl With Question Mark Stock Photos, Pictures &amp;  Royalty-Free Images - iStock">
            <a:extLst>
              <a:ext uri="{FF2B5EF4-FFF2-40B4-BE49-F238E27FC236}">
                <a16:creationId xmlns:a16="http://schemas.microsoft.com/office/drawing/2014/main" id="{C7EB74D3-4026-7933-5F8A-CA2525EED63F}"/>
              </a:ext>
            </a:extLst>
          </p:cNvPr>
          <p:cNvPicPr>
            <a:picLocks noChangeAspect="1"/>
          </p:cNvPicPr>
          <p:nvPr/>
        </p:nvPicPr>
        <p:blipFill>
          <a:blip r:embed="rId3"/>
          <a:stretch>
            <a:fillRect/>
          </a:stretch>
        </p:blipFill>
        <p:spPr>
          <a:xfrm>
            <a:off x="287210" y="3858188"/>
            <a:ext cx="4463105" cy="3092086"/>
          </a:xfrm>
          <a:prstGeom prst="rect">
            <a:avLst/>
          </a:prstGeom>
        </p:spPr>
      </p:pic>
    </p:spTree>
    <p:extLst>
      <p:ext uri="{BB962C8B-B14F-4D97-AF65-F5344CB8AC3E}">
        <p14:creationId xmlns:p14="http://schemas.microsoft.com/office/powerpoint/2010/main" val="31060569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4ED08-7A6C-02E8-2ED8-79ACF4FC4410}"/>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78B9786-0712-688F-8B06-81321061E4AD}"/>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C2B5099A-F9A1-210C-D8C5-540E0F130C79}"/>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0B453CE4-3816-5DF6-35B6-33014A13024C}"/>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1B787F44-01F6-8CDF-B5CC-6D11F9C7C22B}"/>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8FF43623-642C-64E4-CA36-6D364021355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9CA317F0-8041-E6E2-309B-7A5DCA09D99C}"/>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a:extLst>
              <a:ext uri="{FF2B5EF4-FFF2-40B4-BE49-F238E27FC236}">
                <a16:creationId xmlns:a16="http://schemas.microsoft.com/office/drawing/2014/main" id="{7816F2FE-A040-CAE6-CA41-7713681F647E}"/>
              </a:ext>
            </a:extLst>
          </p:cNvPr>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a:extLst>
              <a:ext uri="{FF2B5EF4-FFF2-40B4-BE49-F238E27FC236}">
                <a16:creationId xmlns:a16="http://schemas.microsoft.com/office/drawing/2014/main" id="{FA62CFFB-F732-D3B0-12E5-B27617C6DFD1}"/>
              </a:ext>
            </a:extLst>
          </p:cNvPr>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a:extLst>
              <a:ext uri="{FF2B5EF4-FFF2-40B4-BE49-F238E27FC236}">
                <a16:creationId xmlns:a16="http://schemas.microsoft.com/office/drawing/2014/main" id="{7A16E73F-BB7C-12CF-E878-28DA058421FC}"/>
              </a:ext>
            </a:extLst>
          </p:cNvPr>
          <p:cNvSpPr txBox="1"/>
          <p:nvPr/>
        </p:nvSpPr>
        <p:spPr>
          <a:xfrm>
            <a:off x="1842157" y="1024073"/>
            <a:ext cx="17599835" cy="1165704"/>
          </a:xfrm>
          <a:prstGeom prst="rect">
            <a:avLst/>
          </a:prstGeom>
        </p:spPr>
        <p:txBody>
          <a:bodyPr wrap="square" lIns="0" tIns="0" rIns="0" bIns="0" rtlCol="0" anchor="t">
            <a:spAutoFit/>
          </a:bodyPr>
          <a:lstStyle/>
          <a:p>
            <a:pPr marL="0" lvl="0" indent="0" algn="l">
              <a:lnSpc>
                <a:spcPts val="10167"/>
              </a:lnSpc>
            </a:pPr>
            <a:r>
              <a:rPr lang="en-US" sz="4800" b="1" dirty="0">
                <a:solidFill>
                  <a:srgbClr val="001E3A"/>
                </a:solidFill>
                <a:latin typeface="Garet Ultra-Bold"/>
                <a:ea typeface="Garet Ultra-Bold"/>
                <a:cs typeface="Garet Ultra-Bold"/>
                <a:sym typeface="Garet Ultra-Bold"/>
              </a:rPr>
              <a:t>The Rationale (Why a Questionnaire?)</a:t>
            </a:r>
          </a:p>
        </p:txBody>
      </p:sp>
      <p:sp>
        <p:nvSpPr>
          <p:cNvPr id="11" name="TextBox 11">
            <a:extLst>
              <a:ext uri="{FF2B5EF4-FFF2-40B4-BE49-F238E27FC236}">
                <a16:creationId xmlns:a16="http://schemas.microsoft.com/office/drawing/2014/main" id="{146721A0-0909-A428-4354-3688F522FC9C}"/>
              </a:ext>
            </a:extLst>
          </p:cNvPr>
          <p:cNvSpPr txBox="1"/>
          <p:nvPr/>
        </p:nvSpPr>
        <p:spPr>
          <a:xfrm>
            <a:off x="2318748" y="3349126"/>
            <a:ext cx="14168470" cy="6001643"/>
          </a:xfrm>
          <a:prstGeom prst="rect">
            <a:avLst/>
          </a:prstGeom>
        </p:spPr>
        <p:txBody>
          <a:bodyPr lIns="0" tIns="0" rIns="0" bIns="0" rtlCol="0" anchor="t">
            <a:spAutoFit/>
          </a:bodyPr>
          <a:lstStyle/>
          <a:p>
            <a:pPr marL="457200" lvl="0" indent="-457200" algn="l">
              <a:lnSpc>
                <a:spcPts val="3938"/>
              </a:lnSpc>
              <a:buFont typeface="Wingdings" panose="05000000000000000000" pitchFamily="2" charset="2"/>
              <a:buChar char="v"/>
            </a:pPr>
            <a:r>
              <a:rPr lang="en-US" sz="3200" dirty="0">
                <a:solidFill>
                  <a:srgbClr val="001E3A"/>
                </a:solidFill>
                <a:latin typeface="Garet"/>
                <a:ea typeface="Garet"/>
                <a:cs typeface="Garet"/>
                <a:sym typeface="Garet"/>
              </a:rPr>
              <a:t>Eliminating Assumptions</a:t>
            </a:r>
          </a:p>
          <a:p>
            <a:pPr marL="457200" lvl="0" indent="-457200" algn="l">
              <a:lnSpc>
                <a:spcPts val="3938"/>
              </a:lnSpc>
              <a:buFont typeface="Wingdings" panose="05000000000000000000" pitchFamily="2" charset="2"/>
              <a:buChar char="v"/>
            </a:pPr>
            <a:endParaRPr lang="en-US" sz="3200" dirty="0">
              <a:solidFill>
                <a:srgbClr val="001E3A"/>
              </a:solidFill>
              <a:latin typeface="Garet"/>
              <a:ea typeface="Garet"/>
              <a:cs typeface="Garet"/>
              <a:sym typeface="Garet"/>
            </a:endParaRPr>
          </a:p>
          <a:p>
            <a:pPr lvl="0" algn="l">
              <a:lnSpc>
                <a:spcPts val="3938"/>
              </a:lnSpc>
            </a:pPr>
            <a:r>
              <a:rPr lang="en-US" sz="3200" dirty="0">
                <a:solidFill>
                  <a:srgbClr val="001E3A"/>
                </a:solidFill>
                <a:latin typeface="Garet"/>
                <a:ea typeface="Garet"/>
                <a:cs typeface="Garet"/>
                <a:sym typeface="Garet"/>
              </a:rPr>
              <a:t>To replace "I think users want..." with "Evidence proves users need..."</a:t>
            </a:r>
          </a:p>
          <a:p>
            <a:pPr marL="457200" lvl="0" indent="-457200" algn="l">
              <a:lnSpc>
                <a:spcPts val="3938"/>
              </a:lnSpc>
              <a:buFont typeface="Wingdings" panose="05000000000000000000" pitchFamily="2" charset="2"/>
              <a:buChar char="v"/>
            </a:pPr>
            <a:r>
              <a:rPr lang="en-US" sz="3200" dirty="0">
                <a:solidFill>
                  <a:srgbClr val="001E3A"/>
                </a:solidFill>
                <a:latin typeface="Garet"/>
                <a:ea typeface="Garet"/>
                <a:cs typeface="Garet"/>
                <a:sym typeface="Garet"/>
              </a:rPr>
              <a:t>Defining Technical Constraints</a:t>
            </a:r>
          </a:p>
          <a:p>
            <a:pPr marL="457200" lvl="0" indent="-457200" algn="l">
              <a:lnSpc>
                <a:spcPts val="3938"/>
              </a:lnSpc>
              <a:buFont typeface="Wingdings" panose="05000000000000000000" pitchFamily="2" charset="2"/>
              <a:buChar char="v"/>
            </a:pPr>
            <a:endParaRPr lang="en-US" sz="3200" dirty="0">
              <a:solidFill>
                <a:srgbClr val="001E3A"/>
              </a:solidFill>
              <a:latin typeface="Garet"/>
              <a:ea typeface="Garet"/>
              <a:cs typeface="Garet"/>
              <a:sym typeface="Garet"/>
            </a:endParaRPr>
          </a:p>
          <a:p>
            <a:pPr lvl="0" algn="l">
              <a:lnSpc>
                <a:spcPts val="3938"/>
              </a:lnSpc>
            </a:pPr>
            <a:r>
              <a:rPr lang="en-US" sz="3200" dirty="0">
                <a:solidFill>
                  <a:srgbClr val="001E3A"/>
                </a:solidFill>
                <a:latin typeface="Garet"/>
                <a:ea typeface="Garet"/>
                <a:cs typeface="Garet"/>
                <a:sym typeface="Garet"/>
              </a:rPr>
              <a:t>Setting strict "Performance Budgets" for battery drain and data usage based on real user tolerance.</a:t>
            </a:r>
          </a:p>
          <a:p>
            <a:pPr lvl="0" algn="l">
              <a:lnSpc>
                <a:spcPts val="3938"/>
              </a:lnSpc>
            </a:pPr>
            <a:endParaRPr lang="en-US" sz="3200" dirty="0">
              <a:solidFill>
                <a:srgbClr val="001E3A"/>
              </a:solidFill>
              <a:latin typeface="Garet"/>
              <a:ea typeface="Garet"/>
              <a:cs typeface="Garet"/>
              <a:sym typeface="Garet"/>
            </a:endParaRPr>
          </a:p>
          <a:p>
            <a:pPr marL="457200" lvl="0" indent="-457200" algn="l">
              <a:lnSpc>
                <a:spcPts val="3938"/>
              </a:lnSpc>
              <a:buFont typeface="Wingdings" panose="05000000000000000000" pitchFamily="2" charset="2"/>
              <a:buChar char="v"/>
            </a:pPr>
            <a:r>
              <a:rPr lang="en-US" sz="3200" dirty="0">
                <a:solidFill>
                  <a:srgbClr val="001E3A"/>
                </a:solidFill>
                <a:latin typeface="Garet"/>
                <a:ea typeface="Garet"/>
                <a:cs typeface="Garet"/>
                <a:sym typeface="Garet"/>
              </a:rPr>
              <a:t>Risk Mitigation (Avoiding Scope Creep)</a:t>
            </a:r>
          </a:p>
          <a:p>
            <a:pPr lvl="0" algn="l">
              <a:lnSpc>
                <a:spcPts val="3938"/>
              </a:lnSpc>
            </a:pPr>
            <a:r>
              <a:rPr lang="en-US" sz="3200" dirty="0">
                <a:solidFill>
                  <a:srgbClr val="001E3A"/>
                </a:solidFill>
                <a:latin typeface="Garet"/>
                <a:ea typeface="Garet"/>
                <a:cs typeface="Garet"/>
                <a:sym typeface="Garet"/>
              </a:rPr>
              <a:t>Establishing a clear "contract" of what the project will do and what it won't—to prevent wasted development time.</a:t>
            </a:r>
          </a:p>
        </p:txBody>
      </p:sp>
      <p:sp>
        <p:nvSpPr>
          <p:cNvPr id="12" name="TextBox 12">
            <a:extLst>
              <a:ext uri="{FF2B5EF4-FFF2-40B4-BE49-F238E27FC236}">
                <a16:creationId xmlns:a16="http://schemas.microsoft.com/office/drawing/2014/main" id="{1924D831-A3F9-B3FD-C592-3EEF80B6583E}"/>
              </a:ext>
            </a:extLst>
          </p:cNvPr>
          <p:cNvSpPr txBox="1"/>
          <p:nvPr/>
        </p:nvSpPr>
        <p:spPr>
          <a:xfrm>
            <a:off x="14250620" y="9239250"/>
            <a:ext cx="1865504" cy="223038"/>
          </a:xfrm>
          <a:prstGeom prst="rect">
            <a:avLst/>
          </a:prstGeom>
        </p:spPr>
        <p:txBody>
          <a:bodyPr lIns="0" tIns="0" rIns="0" bIns="0" rtlCol="0" anchor="t">
            <a:spAutoFit/>
          </a:bodyPr>
          <a:lstStyle/>
          <a:p>
            <a:pPr marL="0" lvl="0" indent="0" algn="l">
              <a:lnSpc>
                <a:spcPts val="1883"/>
              </a:lnSpc>
            </a:pPr>
            <a:r>
              <a:rPr lang="en-US" sz="1345">
                <a:solidFill>
                  <a:srgbClr val="001E3A"/>
                </a:solidFill>
                <a:latin typeface="Garet"/>
                <a:ea typeface="Garet"/>
                <a:cs typeface="Garet"/>
                <a:sym typeface="Garet"/>
              </a:rPr>
              <a:t>University of Buea</a:t>
            </a:r>
          </a:p>
        </p:txBody>
      </p:sp>
      <p:sp>
        <p:nvSpPr>
          <p:cNvPr id="13" name="TextBox 13">
            <a:extLst>
              <a:ext uri="{FF2B5EF4-FFF2-40B4-BE49-F238E27FC236}">
                <a16:creationId xmlns:a16="http://schemas.microsoft.com/office/drawing/2014/main" id="{AE5BD879-AB40-1411-1364-04585B041336}"/>
              </a:ext>
            </a:extLst>
          </p:cNvPr>
          <p:cNvSpPr txBox="1"/>
          <p:nvPr/>
        </p:nvSpPr>
        <p:spPr>
          <a:xfrm>
            <a:off x="14250620" y="9433689"/>
            <a:ext cx="3008680" cy="268629"/>
          </a:xfrm>
          <a:prstGeom prst="rect">
            <a:avLst/>
          </a:prstGeom>
        </p:spPr>
        <p:txBody>
          <a:bodyPr lIns="0" tIns="0" rIns="0" bIns="0" rtlCol="0" anchor="t">
            <a:spAutoFit/>
          </a:bodyPr>
          <a:lstStyle/>
          <a:p>
            <a:pPr marL="0" lvl="0" indent="0" algn="l">
              <a:lnSpc>
                <a:spcPts val="2216"/>
              </a:lnSpc>
            </a:pPr>
            <a:r>
              <a:rPr lang="en-US" sz="1583">
                <a:solidFill>
                  <a:srgbClr val="001E3A"/>
                </a:solidFill>
                <a:latin typeface="Garet"/>
                <a:ea typeface="Garet"/>
                <a:cs typeface="Garet"/>
                <a:sym typeface="Garet"/>
              </a:rPr>
              <a:t>CEF440 – Group 5</a:t>
            </a:r>
          </a:p>
        </p:txBody>
      </p:sp>
      <p:sp>
        <p:nvSpPr>
          <p:cNvPr id="14" name="TextBox 14">
            <a:extLst>
              <a:ext uri="{FF2B5EF4-FFF2-40B4-BE49-F238E27FC236}">
                <a16:creationId xmlns:a16="http://schemas.microsoft.com/office/drawing/2014/main" id="{73370143-BA25-5D15-85AC-B66F6CB638DD}"/>
              </a:ext>
            </a:extLst>
          </p:cNvPr>
          <p:cNvSpPr txBox="1"/>
          <p:nvPr/>
        </p:nvSpPr>
        <p:spPr>
          <a:xfrm>
            <a:off x="13691401" y="9363075"/>
            <a:ext cx="559219" cy="339118"/>
          </a:xfrm>
          <a:prstGeom prst="rect">
            <a:avLst/>
          </a:prstGeom>
        </p:spPr>
        <p:txBody>
          <a:bodyPr lIns="0" tIns="0" rIns="0" bIns="0" rtlCol="0" anchor="t">
            <a:spAutoFit/>
          </a:bodyPr>
          <a:lstStyle/>
          <a:p>
            <a:pPr marL="0" lvl="0" indent="0" algn="ctr">
              <a:lnSpc>
                <a:spcPts val="2438"/>
              </a:lnSpc>
            </a:pPr>
            <a:r>
              <a:rPr lang="en-US" sz="2938" b="1">
                <a:solidFill>
                  <a:srgbClr val="001E3A"/>
                </a:solidFill>
                <a:latin typeface="Garet Ultra-Bold"/>
                <a:ea typeface="Garet Ultra-Bold"/>
                <a:cs typeface="Garet Ultra-Bold"/>
                <a:sym typeface="Garet Ultra-Bold"/>
              </a:rPr>
              <a:t>3</a:t>
            </a:r>
          </a:p>
        </p:txBody>
      </p:sp>
      <p:sp>
        <p:nvSpPr>
          <p:cNvPr id="20" name="TextBox 19">
            <a:extLst>
              <a:ext uri="{FF2B5EF4-FFF2-40B4-BE49-F238E27FC236}">
                <a16:creationId xmlns:a16="http://schemas.microsoft.com/office/drawing/2014/main" id="{1E08B01E-24D9-254C-C263-7FAADB942323}"/>
              </a:ext>
            </a:extLst>
          </p:cNvPr>
          <p:cNvSpPr txBox="1"/>
          <p:nvPr/>
        </p:nvSpPr>
        <p:spPr>
          <a:xfrm>
            <a:off x="1764414" y="2384607"/>
            <a:ext cx="12297508" cy="646331"/>
          </a:xfrm>
          <a:prstGeom prst="rect">
            <a:avLst/>
          </a:prstGeom>
          <a:noFill/>
        </p:spPr>
        <p:txBody>
          <a:bodyPr wrap="square">
            <a:spAutoFit/>
          </a:bodyPr>
          <a:lstStyle/>
          <a:p>
            <a:r>
              <a:rPr lang="en-US" sz="3600" dirty="0"/>
              <a:t>Foundation for Success: Why We Ask Before We Build</a:t>
            </a:r>
          </a:p>
        </p:txBody>
      </p:sp>
    </p:spTree>
    <p:extLst>
      <p:ext uri="{BB962C8B-B14F-4D97-AF65-F5344CB8AC3E}">
        <p14:creationId xmlns:p14="http://schemas.microsoft.com/office/powerpoint/2010/main" val="28927246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0" name="TextBox 10"/>
          <p:cNvSpPr txBox="1"/>
          <p:nvPr/>
        </p:nvSpPr>
        <p:spPr>
          <a:xfrm>
            <a:off x="3574462" y="3619500"/>
            <a:ext cx="10676158" cy="2085186"/>
          </a:xfrm>
          <a:prstGeom prst="rect">
            <a:avLst/>
          </a:prstGeom>
        </p:spPr>
        <p:txBody>
          <a:bodyPr wrap="square" lIns="0" tIns="0" rIns="0" bIns="0" rtlCol="0" anchor="t">
            <a:spAutoFit/>
          </a:bodyPr>
          <a:lstStyle/>
          <a:p>
            <a:pPr marL="0" lvl="0" indent="0" algn="ctr">
              <a:lnSpc>
                <a:spcPts val="7706"/>
              </a:lnSpc>
            </a:pPr>
            <a:r>
              <a:rPr lang="en-US" sz="9284" b="1" dirty="0">
                <a:solidFill>
                  <a:srgbClr val="001E3A"/>
                </a:solidFill>
                <a:latin typeface="Garet Ultra-Bold"/>
                <a:ea typeface="Garet Ultra-Bold"/>
                <a:cs typeface="Garet Ultra-Bold"/>
                <a:sym typeface="Garet Ultra-Bold"/>
              </a:rPr>
              <a:t>Requirements Gathering</a:t>
            </a:r>
          </a:p>
        </p:txBody>
      </p:sp>
      <p:sp>
        <p:nvSpPr>
          <p:cNvPr id="11" name="TextBox 11"/>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2" name="TextBox 12"/>
          <p:cNvSpPr txBox="1"/>
          <p:nvPr/>
        </p:nvSpPr>
        <p:spPr>
          <a:xfrm>
            <a:off x="14250620" y="9433689"/>
            <a:ext cx="3008680" cy="631746"/>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GitHub: github.com/BrayanMorningstar237/CEF440_Group5</a:t>
            </a:r>
          </a:p>
        </p:txBody>
      </p:sp>
      <p:sp>
        <p:nvSpPr>
          <p:cNvPr id="13" name="TextBox 13"/>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858AD-B2C2-06E7-026B-DF45B2B068B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363D8E8-E8ED-C5D5-15A3-1FEC4AC0CD47}"/>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4AF05C40-43BC-351E-F65A-5472C5BA243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CF0C4EDB-24C2-752E-BB0C-FE6393DB6EBA}"/>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7247E615-94FA-77DD-EDF8-F9DFF9C9C003}"/>
              </a:ext>
            </a:extLst>
          </p:cNvPr>
          <p:cNvGrpSpPr/>
          <p:nvPr/>
        </p:nvGrpSpPr>
        <p:grpSpPr>
          <a:xfrm>
            <a:off x="-3851148" y="8117828"/>
            <a:ext cx="6020510" cy="6020510"/>
            <a:chOff x="0" y="0"/>
            <a:chExt cx="812800" cy="812800"/>
          </a:xfrm>
        </p:grpSpPr>
        <p:sp>
          <p:nvSpPr>
            <p:cNvPr id="6" name="Freeform 6">
              <a:extLst>
                <a:ext uri="{FF2B5EF4-FFF2-40B4-BE49-F238E27FC236}">
                  <a16:creationId xmlns:a16="http://schemas.microsoft.com/office/drawing/2014/main" id="{5F887B4B-0010-06AE-F4BA-5856A64BD0D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2C89D332-E429-4BBD-7A0B-AB7C71E7CC1F}"/>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0" name="TextBox 10">
            <a:extLst>
              <a:ext uri="{FF2B5EF4-FFF2-40B4-BE49-F238E27FC236}">
                <a16:creationId xmlns:a16="http://schemas.microsoft.com/office/drawing/2014/main" id="{8A2FEA87-A550-6AAA-546B-A2DA56F338E5}"/>
              </a:ext>
            </a:extLst>
          </p:cNvPr>
          <p:cNvSpPr txBox="1"/>
          <p:nvPr/>
        </p:nvSpPr>
        <p:spPr>
          <a:xfrm>
            <a:off x="1586490" y="910587"/>
            <a:ext cx="14168470" cy="1423341"/>
          </a:xfrm>
          <a:prstGeom prst="rect">
            <a:avLst/>
          </a:prstGeom>
        </p:spPr>
        <p:txBody>
          <a:bodyPr lIns="0" tIns="0" rIns="0" bIns="0" rtlCol="0" anchor="t">
            <a:spAutoFit/>
          </a:bodyPr>
          <a:lstStyle/>
          <a:p>
            <a:pPr marL="0" lvl="0" indent="0" algn="l">
              <a:lnSpc>
                <a:spcPts val="10167"/>
              </a:lnSpc>
            </a:pPr>
            <a:r>
              <a:rPr lang="en-US" sz="10200" b="1" dirty="0">
                <a:solidFill>
                  <a:srgbClr val="001E3A"/>
                </a:solidFill>
                <a:latin typeface="Garet Ultra-Bold"/>
                <a:ea typeface="Garet Ultra-Bold"/>
                <a:cs typeface="Garet Ultra-Bold"/>
                <a:sym typeface="Garet Ultra-Bold"/>
              </a:rPr>
              <a:t>Methodology</a:t>
            </a:r>
          </a:p>
        </p:txBody>
      </p:sp>
      <p:sp>
        <p:nvSpPr>
          <p:cNvPr id="11" name="TextBox 11">
            <a:extLst>
              <a:ext uri="{FF2B5EF4-FFF2-40B4-BE49-F238E27FC236}">
                <a16:creationId xmlns:a16="http://schemas.microsoft.com/office/drawing/2014/main" id="{536212E3-303A-3CAB-9165-4E0B88620625}"/>
              </a:ext>
            </a:extLst>
          </p:cNvPr>
          <p:cNvSpPr txBox="1"/>
          <p:nvPr/>
        </p:nvSpPr>
        <p:spPr>
          <a:xfrm>
            <a:off x="1604939" y="2448572"/>
            <a:ext cx="14168470" cy="2483885"/>
          </a:xfrm>
          <a:prstGeom prst="rect">
            <a:avLst/>
          </a:prstGeom>
        </p:spPr>
        <p:txBody>
          <a:bodyPr lIns="0" tIns="0" rIns="0" bIns="0" rtlCol="0" anchor="t">
            <a:spAutoFit/>
          </a:bodyPr>
          <a:lstStyle/>
          <a:p>
            <a:pPr marL="0" lvl="0" indent="0" algn="l">
              <a:lnSpc>
                <a:spcPts val="3938"/>
              </a:lnSpc>
            </a:pPr>
            <a:r>
              <a:rPr lang="en-US" sz="3200" dirty="0">
                <a:solidFill>
                  <a:srgbClr val="001E3A"/>
                </a:solidFill>
                <a:latin typeface="Garet"/>
                <a:ea typeface="Garet"/>
                <a:cs typeface="Garet"/>
                <a:sym typeface="Garet"/>
              </a:rPr>
              <a:t>Our research employed a structured questionnaire targeting mobile network subscribers in Cameroon. The survey captured comprehensive data across five key dimensions: </a:t>
            </a:r>
          </a:p>
          <a:p>
            <a:pPr marL="0" lvl="0" indent="0" algn="l">
              <a:lnSpc>
                <a:spcPts val="3938"/>
              </a:lnSpc>
            </a:pPr>
            <a:endParaRPr lang="en-US" sz="3200" dirty="0">
              <a:solidFill>
                <a:srgbClr val="001E3A"/>
              </a:solidFill>
              <a:latin typeface="Garet"/>
              <a:ea typeface="Garet"/>
              <a:cs typeface="Garet"/>
              <a:sym typeface="Garet"/>
            </a:endParaRPr>
          </a:p>
          <a:p>
            <a:pPr marL="514350" lvl="0" indent="-514350" algn="l">
              <a:lnSpc>
                <a:spcPts val="3938"/>
              </a:lnSpc>
              <a:buFont typeface="Wingdings" panose="05000000000000000000" pitchFamily="2" charset="2"/>
              <a:buChar char="v"/>
            </a:pPr>
            <a:endParaRPr lang="en-US" sz="2813" dirty="0">
              <a:solidFill>
                <a:srgbClr val="001E3A"/>
              </a:solidFill>
              <a:latin typeface="Garet"/>
              <a:ea typeface="Garet"/>
              <a:cs typeface="Garet"/>
              <a:sym typeface="Garet"/>
            </a:endParaRPr>
          </a:p>
        </p:txBody>
      </p:sp>
      <p:sp>
        <p:nvSpPr>
          <p:cNvPr id="12" name="TextBox 12">
            <a:extLst>
              <a:ext uri="{FF2B5EF4-FFF2-40B4-BE49-F238E27FC236}">
                <a16:creationId xmlns:a16="http://schemas.microsoft.com/office/drawing/2014/main" id="{5DBBBD54-C118-AA34-1D06-DD09052A1759}"/>
              </a:ext>
            </a:extLst>
          </p:cNvPr>
          <p:cNvSpPr txBox="1"/>
          <p:nvPr/>
        </p:nvSpPr>
        <p:spPr>
          <a:xfrm>
            <a:off x="14250620" y="9239250"/>
            <a:ext cx="1865504" cy="223038"/>
          </a:xfrm>
          <a:prstGeom prst="rect">
            <a:avLst/>
          </a:prstGeom>
        </p:spPr>
        <p:txBody>
          <a:bodyPr lIns="0" tIns="0" rIns="0" bIns="0" rtlCol="0" anchor="t">
            <a:spAutoFit/>
          </a:bodyPr>
          <a:lstStyle/>
          <a:p>
            <a:pPr marL="0" lvl="0" indent="0" algn="l">
              <a:lnSpc>
                <a:spcPts val="1883"/>
              </a:lnSpc>
            </a:pPr>
            <a:r>
              <a:rPr lang="en-US" sz="1345">
                <a:solidFill>
                  <a:srgbClr val="001E3A"/>
                </a:solidFill>
                <a:latin typeface="Garet"/>
                <a:ea typeface="Garet"/>
                <a:cs typeface="Garet"/>
                <a:sym typeface="Garet"/>
              </a:rPr>
              <a:t>University of Buea</a:t>
            </a:r>
          </a:p>
        </p:txBody>
      </p:sp>
      <p:sp>
        <p:nvSpPr>
          <p:cNvPr id="13" name="TextBox 13">
            <a:extLst>
              <a:ext uri="{FF2B5EF4-FFF2-40B4-BE49-F238E27FC236}">
                <a16:creationId xmlns:a16="http://schemas.microsoft.com/office/drawing/2014/main" id="{18752A5B-0AED-BFF2-1F3B-36C292C6F703}"/>
              </a:ext>
            </a:extLst>
          </p:cNvPr>
          <p:cNvSpPr txBox="1"/>
          <p:nvPr/>
        </p:nvSpPr>
        <p:spPr>
          <a:xfrm>
            <a:off x="14250620" y="9433689"/>
            <a:ext cx="3008680" cy="268629"/>
          </a:xfrm>
          <a:prstGeom prst="rect">
            <a:avLst/>
          </a:prstGeom>
        </p:spPr>
        <p:txBody>
          <a:bodyPr lIns="0" tIns="0" rIns="0" bIns="0" rtlCol="0" anchor="t">
            <a:spAutoFit/>
          </a:bodyPr>
          <a:lstStyle/>
          <a:p>
            <a:pPr marL="0" lvl="0" indent="0" algn="l">
              <a:lnSpc>
                <a:spcPts val="2216"/>
              </a:lnSpc>
            </a:pPr>
            <a:r>
              <a:rPr lang="en-US" sz="1583">
                <a:solidFill>
                  <a:srgbClr val="001E3A"/>
                </a:solidFill>
                <a:latin typeface="Garet"/>
                <a:ea typeface="Garet"/>
                <a:cs typeface="Garet"/>
                <a:sym typeface="Garet"/>
              </a:rPr>
              <a:t>CEF440 – Group 5</a:t>
            </a:r>
          </a:p>
        </p:txBody>
      </p:sp>
      <p:sp>
        <p:nvSpPr>
          <p:cNvPr id="14" name="TextBox 14">
            <a:extLst>
              <a:ext uri="{FF2B5EF4-FFF2-40B4-BE49-F238E27FC236}">
                <a16:creationId xmlns:a16="http://schemas.microsoft.com/office/drawing/2014/main" id="{8587D230-B0CE-1473-D33A-61AEC448F71B}"/>
              </a:ext>
            </a:extLst>
          </p:cNvPr>
          <p:cNvSpPr txBox="1"/>
          <p:nvPr/>
        </p:nvSpPr>
        <p:spPr>
          <a:xfrm>
            <a:off x="13691401" y="9363075"/>
            <a:ext cx="559219" cy="339118"/>
          </a:xfrm>
          <a:prstGeom prst="rect">
            <a:avLst/>
          </a:prstGeom>
        </p:spPr>
        <p:txBody>
          <a:bodyPr lIns="0" tIns="0" rIns="0" bIns="0" rtlCol="0" anchor="t">
            <a:spAutoFit/>
          </a:bodyPr>
          <a:lstStyle/>
          <a:p>
            <a:pPr marL="0" lvl="0" indent="0" algn="ctr">
              <a:lnSpc>
                <a:spcPts val="2438"/>
              </a:lnSpc>
            </a:pPr>
            <a:r>
              <a:rPr lang="en-US" sz="2938" b="1">
                <a:solidFill>
                  <a:srgbClr val="001E3A"/>
                </a:solidFill>
                <a:latin typeface="Garet Ultra-Bold"/>
                <a:ea typeface="Garet Ultra-Bold"/>
                <a:cs typeface="Garet Ultra-Bold"/>
                <a:sym typeface="Garet Ultra-Bold"/>
              </a:rPr>
              <a:t>3</a:t>
            </a:r>
          </a:p>
        </p:txBody>
      </p:sp>
      <p:pic>
        <p:nvPicPr>
          <p:cNvPr id="17" name="Picture 16" descr="Methodology vs Method: Understanding the Difference in Sociological  Research - Thinking Sociologically">
            <a:extLst>
              <a:ext uri="{FF2B5EF4-FFF2-40B4-BE49-F238E27FC236}">
                <a16:creationId xmlns:a16="http://schemas.microsoft.com/office/drawing/2014/main" id="{929050C8-E7B8-0F12-D68F-F86D87A97B24}"/>
              </a:ext>
            </a:extLst>
          </p:cNvPr>
          <p:cNvPicPr>
            <a:picLocks noChangeAspect="1"/>
          </p:cNvPicPr>
          <p:nvPr/>
        </p:nvPicPr>
        <p:blipFill>
          <a:blip r:embed="rId2"/>
          <a:stretch>
            <a:fillRect/>
          </a:stretch>
        </p:blipFill>
        <p:spPr>
          <a:xfrm>
            <a:off x="1237464" y="4177815"/>
            <a:ext cx="7041984" cy="4694655"/>
          </a:xfrm>
          <a:prstGeom prst="rect">
            <a:avLst/>
          </a:prstGeom>
        </p:spPr>
      </p:pic>
      <p:sp>
        <p:nvSpPr>
          <p:cNvPr id="25" name="TextBox 24">
            <a:extLst>
              <a:ext uri="{FF2B5EF4-FFF2-40B4-BE49-F238E27FC236}">
                <a16:creationId xmlns:a16="http://schemas.microsoft.com/office/drawing/2014/main" id="{15DB1A52-CFEF-B04A-701F-D680491B00F6}"/>
              </a:ext>
            </a:extLst>
          </p:cNvPr>
          <p:cNvSpPr txBox="1"/>
          <p:nvPr/>
        </p:nvSpPr>
        <p:spPr>
          <a:xfrm>
            <a:off x="9324175" y="5199157"/>
            <a:ext cx="6460957" cy="3106620"/>
          </a:xfrm>
          <a:prstGeom prst="rect">
            <a:avLst/>
          </a:prstGeom>
          <a:noFill/>
        </p:spPr>
        <p:txBody>
          <a:bodyPr wrap="square">
            <a:spAutoFit/>
          </a:bodyPr>
          <a:lstStyle/>
          <a:p>
            <a:pPr marL="514350" marR="0" lvl="0" indent="-514350" algn="l" defTabSz="914400" rtl="0" eaLnBrk="1" fontAlgn="auto" latinLnBrk="0" hangingPunct="1">
              <a:lnSpc>
                <a:spcPts val="3938"/>
              </a:lnSpc>
              <a:spcBef>
                <a:spcPts val="0"/>
              </a:spcBef>
              <a:spcAft>
                <a:spcPts val="0"/>
              </a:spcAft>
              <a:buClrTx/>
              <a:buSzTx/>
              <a:buFont typeface="Wingdings" panose="05000000000000000000" pitchFamily="2" charset="2"/>
              <a:buChar char="v"/>
              <a:tabLst/>
              <a:defRPr/>
            </a:pPr>
            <a:r>
              <a:rPr lang="en-US" sz="3600" dirty="0">
                <a:solidFill>
                  <a:srgbClr val="001E3A"/>
                </a:solidFill>
                <a:latin typeface="Garet"/>
                <a:ea typeface="Garet"/>
                <a:cs typeface="Garet"/>
                <a:sym typeface="Garet"/>
              </a:rPr>
              <a:t>D</a:t>
            </a:r>
            <a:r>
              <a:rPr kumimoji="0" lang="en-US" sz="3600" b="0" i="0" u="none" strike="noStrike" kern="1200" cap="none" spc="0" normalizeH="0" baseline="0" noProof="0" dirty="0" err="1">
                <a:ln>
                  <a:noFill/>
                </a:ln>
                <a:solidFill>
                  <a:srgbClr val="001E3A"/>
                </a:solidFill>
                <a:effectLst/>
                <a:uLnTx/>
                <a:uFillTx/>
                <a:latin typeface="Garet"/>
                <a:ea typeface="Garet"/>
                <a:cs typeface="Garet"/>
                <a:sym typeface="Garet"/>
              </a:rPr>
              <a:t>evice</a:t>
            </a:r>
            <a:r>
              <a:rPr kumimoji="0" lang="en-US" sz="3600" b="0" i="0" u="none" strike="noStrike" kern="1200" cap="none" spc="0" normalizeH="0" baseline="0" noProof="0" dirty="0">
                <a:ln>
                  <a:noFill/>
                </a:ln>
                <a:solidFill>
                  <a:srgbClr val="001E3A"/>
                </a:solidFill>
                <a:effectLst/>
                <a:uLnTx/>
                <a:uFillTx/>
                <a:latin typeface="Garet"/>
                <a:ea typeface="Garet"/>
                <a:cs typeface="Garet"/>
                <a:sym typeface="Garet"/>
              </a:rPr>
              <a:t> characteristics</a:t>
            </a:r>
          </a:p>
          <a:p>
            <a:pPr marL="514350" marR="0" lvl="0" indent="-514350" algn="l" defTabSz="914400" rtl="0" eaLnBrk="1" fontAlgn="auto" latinLnBrk="0" hangingPunct="1">
              <a:lnSpc>
                <a:spcPts val="3938"/>
              </a:lnSpc>
              <a:spcBef>
                <a:spcPts val="0"/>
              </a:spcBef>
              <a:spcAft>
                <a:spcPts val="0"/>
              </a:spcAft>
              <a:buClrTx/>
              <a:buSzTx/>
              <a:buFont typeface="Wingdings" panose="05000000000000000000" pitchFamily="2" charset="2"/>
              <a:buChar char="v"/>
              <a:tabLst/>
              <a:defRPr/>
            </a:pPr>
            <a:r>
              <a:rPr lang="en-US" sz="3600" dirty="0">
                <a:solidFill>
                  <a:srgbClr val="001E3A"/>
                </a:solidFill>
                <a:latin typeface="Garet"/>
                <a:ea typeface="Garet"/>
                <a:cs typeface="Garet"/>
                <a:sym typeface="Garet"/>
              </a:rPr>
              <a:t>N</a:t>
            </a:r>
            <a:r>
              <a:rPr kumimoji="0" lang="en-US" sz="3600" b="0" i="0" u="none" strike="noStrike" kern="1200" cap="none" spc="0" normalizeH="0" baseline="0" noProof="0" dirty="0" err="1">
                <a:ln>
                  <a:noFill/>
                </a:ln>
                <a:solidFill>
                  <a:srgbClr val="001E3A"/>
                </a:solidFill>
                <a:effectLst/>
                <a:uLnTx/>
                <a:uFillTx/>
                <a:latin typeface="Garet"/>
                <a:ea typeface="Garet"/>
                <a:cs typeface="Garet"/>
                <a:sym typeface="Garet"/>
              </a:rPr>
              <a:t>etwork</a:t>
            </a:r>
            <a:r>
              <a:rPr kumimoji="0" lang="en-US" sz="3600" b="0" i="0" u="none" strike="noStrike" kern="1200" cap="none" spc="0" normalizeH="0" baseline="0" noProof="0" dirty="0">
                <a:ln>
                  <a:noFill/>
                </a:ln>
                <a:solidFill>
                  <a:srgbClr val="001E3A"/>
                </a:solidFill>
                <a:effectLst/>
                <a:uLnTx/>
                <a:uFillTx/>
                <a:latin typeface="Garet"/>
                <a:ea typeface="Garet"/>
                <a:cs typeface="Garet"/>
                <a:sym typeface="Garet"/>
              </a:rPr>
              <a:t> usage patterns</a:t>
            </a:r>
          </a:p>
          <a:p>
            <a:pPr marL="514350" marR="0" lvl="0" indent="-514350" algn="l" defTabSz="914400" rtl="0" eaLnBrk="1" fontAlgn="auto" latinLnBrk="0" hangingPunct="1">
              <a:lnSpc>
                <a:spcPts val="3938"/>
              </a:lnSpc>
              <a:spcBef>
                <a:spcPts val="0"/>
              </a:spcBef>
              <a:spcAft>
                <a:spcPts val="0"/>
              </a:spcAft>
              <a:buClrTx/>
              <a:buSzTx/>
              <a:buFont typeface="Wingdings" panose="05000000000000000000" pitchFamily="2" charset="2"/>
              <a:buChar char="v"/>
              <a:tabLst/>
              <a:defRPr/>
            </a:pPr>
            <a:r>
              <a:rPr lang="en-US" sz="3600" dirty="0">
                <a:solidFill>
                  <a:srgbClr val="001E3A"/>
                </a:solidFill>
                <a:latin typeface="Garet"/>
                <a:ea typeface="Garet"/>
                <a:cs typeface="Garet"/>
                <a:sym typeface="Garet"/>
              </a:rPr>
              <a:t>I</a:t>
            </a:r>
            <a:r>
              <a:rPr kumimoji="0" lang="en-US" sz="3600" b="0" i="0" u="none" strike="noStrike" kern="1200" cap="none" spc="0" normalizeH="0" baseline="0" noProof="0" dirty="0" err="1">
                <a:ln>
                  <a:noFill/>
                </a:ln>
                <a:solidFill>
                  <a:srgbClr val="001E3A"/>
                </a:solidFill>
                <a:effectLst/>
                <a:uLnTx/>
                <a:uFillTx/>
                <a:latin typeface="Garet"/>
                <a:ea typeface="Garet"/>
                <a:cs typeface="Garet"/>
                <a:sym typeface="Garet"/>
              </a:rPr>
              <a:t>nteraction</a:t>
            </a:r>
            <a:r>
              <a:rPr kumimoji="0" lang="en-US" sz="3600" b="0" i="0" u="none" strike="noStrike" kern="1200" cap="none" spc="0" normalizeH="0" baseline="0" noProof="0" dirty="0">
                <a:ln>
                  <a:noFill/>
                </a:ln>
                <a:solidFill>
                  <a:srgbClr val="001E3A"/>
                </a:solidFill>
                <a:effectLst/>
                <a:uLnTx/>
                <a:uFillTx/>
                <a:latin typeface="Garet"/>
                <a:ea typeface="Garet"/>
                <a:cs typeface="Garet"/>
                <a:sym typeface="Garet"/>
              </a:rPr>
              <a:t> preferences, </a:t>
            </a:r>
          </a:p>
          <a:p>
            <a:pPr marL="514350" marR="0" lvl="0" indent="-514350" algn="l" defTabSz="914400" rtl="0" eaLnBrk="1" fontAlgn="auto" latinLnBrk="0" hangingPunct="1">
              <a:lnSpc>
                <a:spcPts val="3938"/>
              </a:lnSpc>
              <a:spcBef>
                <a:spcPts val="0"/>
              </a:spcBef>
              <a:spcAft>
                <a:spcPts val="0"/>
              </a:spcAft>
              <a:buClrTx/>
              <a:buSzTx/>
              <a:buFont typeface="Wingdings" panose="05000000000000000000" pitchFamily="2" charset="2"/>
              <a:buChar char="v"/>
              <a:tabLst/>
              <a:defRPr/>
            </a:pPr>
            <a:r>
              <a:rPr lang="en-US" sz="3600" dirty="0">
                <a:solidFill>
                  <a:srgbClr val="001E3A"/>
                </a:solidFill>
                <a:latin typeface="Garet"/>
                <a:ea typeface="Garet"/>
                <a:cs typeface="Garet"/>
                <a:sym typeface="Garet"/>
              </a:rPr>
              <a:t>P</a:t>
            </a:r>
            <a:r>
              <a:rPr kumimoji="0" lang="en-US" sz="3600" b="0" i="0" u="none" strike="noStrike" kern="1200" cap="none" spc="0" normalizeH="0" baseline="0" noProof="0" dirty="0" err="1">
                <a:ln>
                  <a:noFill/>
                </a:ln>
                <a:solidFill>
                  <a:srgbClr val="001E3A"/>
                </a:solidFill>
                <a:effectLst/>
                <a:uLnTx/>
                <a:uFillTx/>
                <a:latin typeface="Garet"/>
                <a:ea typeface="Garet"/>
                <a:cs typeface="Garet"/>
                <a:sym typeface="Garet"/>
              </a:rPr>
              <a:t>rivacy</a:t>
            </a:r>
            <a:r>
              <a:rPr kumimoji="0" lang="en-US" sz="3600" b="0" i="0" u="none" strike="noStrike" kern="1200" cap="none" spc="0" normalizeH="0" baseline="0" noProof="0" dirty="0">
                <a:ln>
                  <a:noFill/>
                </a:ln>
                <a:solidFill>
                  <a:srgbClr val="001E3A"/>
                </a:solidFill>
                <a:effectLst/>
                <a:uLnTx/>
                <a:uFillTx/>
                <a:latin typeface="Garet"/>
                <a:ea typeface="Garet"/>
                <a:cs typeface="Garet"/>
                <a:sym typeface="Garet"/>
              </a:rPr>
              <a:t> concerns</a:t>
            </a:r>
          </a:p>
          <a:p>
            <a:pPr marL="514350" marR="0" lvl="0" indent="-514350" algn="l" defTabSz="914400" rtl="0" eaLnBrk="1" fontAlgn="auto" latinLnBrk="0" hangingPunct="1">
              <a:lnSpc>
                <a:spcPts val="3938"/>
              </a:lnSpc>
              <a:spcBef>
                <a:spcPts val="0"/>
              </a:spcBef>
              <a:spcAft>
                <a:spcPts val="0"/>
              </a:spcAft>
              <a:buClrTx/>
              <a:buSzTx/>
              <a:buFont typeface="Wingdings" panose="05000000000000000000" pitchFamily="2" charset="2"/>
              <a:buChar char="v"/>
              <a:tabLst/>
              <a:defRPr/>
            </a:pPr>
            <a:r>
              <a:rPr lang="en-US" sz="3600" dirty="0">
                <a:solidFill>
                  <a:srgbClr val="001E3A"/>
                </a:solidFill>
                <a:latin typeface="Garet"/>
                <a:ea typeface="Garet"/>
                <a:cs typeface="Garet"/>
                <a:sym typeface="Garet"/>
              </a:rPr>
              <a:t>A</a:t>
            </a:r>
            <a:r>
              <a:rPr kumimoji="0" lang="en-US" sz="3600" b="0" i="0" u="none" strike="noStrike" kern="1200" cap="none" spc="0" normalizeH="0" baseline="0" noProof="0" dirty="0" err="1">
                <a:ln>
                  <a:noFill/>
                </a:ln>
                <a:solidFill>
                  <a:srgbClr val="001E3A"/>
                </a:solidFill>
                <a:effectLst/>
                <a:uLnTx/>
                <a:uFillTx/>
                <a:latin typeface="Garet"/>
                <a:ea typeface="Garet"/>
                <a:cs typeface="Garet"/>
                <a:sym typeface="Garet"/>
              </a:rPr>
              <a:t>doption</a:t>
            </a:r>
            <a:r>
              <a:rPr kumimoji="0" lang="en-US" sz="3600" b="0" i="0" u="none" strike="noStrike" kern="1200" cap="none" spc="0" normalizeH="0" baseline="0" noProof="0" dirty="0">
                <a:ln>
                  <a:noFill/>
                </a:ln>
                <a:solidFill>
                  <a:srgbClr val="001E3A"/>
                </a:solidFill>
                <a:effectLst/>
                <a:uLnTx/>
                <a:uFillTx/>
                <a:latin typeface="Garet"/>
                <a:ea typeface="Garet"/>
                <a:cs typeface="Garet"/>
                <a:sym typeface="Garet"/>
              </a:rPr>
              <a:t> willingness. </a:t>
            </a:r>
          </a:p>
        </p:txBody>
      </p:sp>
    </p:spTree>
    <p:extLst>
      <p:ext uri="{BB962C8B-B14F-4D97-AF65-F5344CB8AC3E}">
        <p14:creationId xmlns:p14="http://schemas.microsoft.com/office/powerpoint/2010/main" val="40680348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BCC3C-374A-BDEB-0CFC-A5E8BCFD3DC0}"/>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2F80C87-7D0A-66E6-6760-2172DF6C07F5}"/>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7739FDEE-84B3-3FAD-3A5D-FFF350F829E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FF577456-8561-4CDE-FD1F-22AEDCFE7295}"/>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24958191-CDF1-1296-B790-F6D96FA8361F}"/>
              </a:ext>
            </a:extLst>
          </p:cNvPr>
          <p:cNvGrpSpPr/>
          <p:nvPr/>
        </p:nvGrpSpPr>
        <p:grpSpPr>
          <a:xfrm>
            <a:off x="-3851148" y="8117828"/>
            <a:ext cx="6020510" cy="6020510"/>
            <a:chOff x="0" y="0"/>
            <a:chExt cx="812800" cy="812800"/>
          </a:xfrm>
        </p:grpSpPr>
        <p:sp>
          <p:nvSpPr>
            <p:cNvPr id="6" name="Freeform 6">
              <a:extLst>
                <a:ext uri="{FF2B5EF4-FFF2-40B4-BE49-F238E27FC236}">
                  <a16:creationId xmlns:a16="http://schemas.microsoft.com/office/drawing/2014/main" id="{3B7A006A-99DD-8284-9AED-BE8AEF67846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0F77867C-7231-1478-5DDF-D91E30489F4E}"/>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0" name="TextBox 10">
            <a:extLst>
              <a:ext uri="{FF2B5EF4-FFF2-40B4-BE49-F238E27FC236}">
                <a16:creationId xmlns:a16="http://schemas.microsoft.com/office/drawing/2014/main" id="{1FD7F76A-2D70-7054-9D62-538E8A9A8091}"/>
              </a:ext>
            </a:extLst>
          </p:cNvPr>
          <p:cNvSpPr txBox="1"/>
          <p:nvPr/>
        </p:nvSpPr>
        <p:spPr>
          <a:xfrm>
            <a:off x="1586490" y="910587"/>
            <a:ext cx="14168470" cy="1423341"/>
          </a:xfrm>
          <a:prstGeom prst="rect">
            <a:avLst/>
          </a:prstGeom>
        </p:spPr>
        <p:txBody>
          <a:bodyPr lIns="0" tIns="0" rIns="0" bIns="0" rtlCol="0" anchor="t">
            <a:spAutoFit/>
          </a:bodyPr>
          <a:lstStyle/>
          <a:p>
            <a:pPr marL="0" lvl="0" indent="0" algn="l">
              <a:lnSpc>
                <a:spcPts val="10167"/>
              </a:lnSpc>
            </a:pPr>
            <a:r>
              <a:rPr lang="en-US" sz="10200" b="1" dirty="0">
                <a:solidFill>
                  <a:srgbClr val="001E3A"/>
                </a:solidFill>
                <a:latin typeface="Garet Ultra-Bold"/>
                <a:ea typeface="Garet Ultra-Bold"/>
                <a:cs typeface="Garet Ultra-Bold"/>
                <a:sym typeface="Garet Ultra-Bold"/>
              </a:rPr>
              <a:t>Methodology</a:t>
            </a:r>
          </a:p>
        </p:txBody>
      </p:sp>
      <p:sp>
        <p:nvSpPr>
          <p:cNvPr id="11" name="TextBox 11">
            <a:extLst>
              <a:ext uri="{FF2B5EF4-FFF2-40B4-BE49-F238E27FC236}">
                <a16:creationId xmlns:a16="http://schemas.microsoft.com/office/drawing/2014/main" id="{14917DA5-5918-1278-73D6-025C2F87EC38}"/>
              </a:ext>
            </a:extLst>
          </p:cNvPr>
          <p:cNvSpPr txBox="1"/>
          <p:nvPr/>
        </p:nvSpPr>
        <p:spPr>
          <a:xfrm>
            <a:off x="1909871" y="3147912"/>
            <a:ext cx="6020510" cy="4984570"/>
          </a:xfrm>
          <a:prstGeom prst="rect">
            <a:avLst/>
          </a:prstGeom>
        </p:spPr>
        <p:txBody>
          <a:bodyPr wrap="square" lIns="0" tIns="0" rIns="0" bIns="0" rtlCol="0" anchor="t">
            <a:spAutoFit/>
          </a:bodyPr>
          <a:lstStyle/>
          <a:p>
            <a:pPr>
              <a:lnSpc>
                <a:spcPts val="3938"/>
              </a:lnSpc>
            </a:pPr>
            <a:r>
              <a:rPr lang="en-US" sz="2813" dirty="0">
                <a:solidFill>
                  <a:srgbClr val="001E3A"/>
                </a:solidFill>
                <a:latin typeface="Garet"/>
                <a:ea typeface="Garet"/>
                <a:cs typeface="Garet"/>
                <a:sym typeface="Garet"/>
              </a:rPr>
              <a:t>With over 50+ responses collected, we applied </a:t>
            </a:r>
            <a:r>
              <a:rPr lang="en-US" sz="2813" b="1" dirty="0">
                <a:solidFill>
                  <a:srgbClr val="001E3A"/>
                </a:solidFill>
                <a:latin typeface="Garet"/>
                <a:ea typeface="Garet"/>
                <a:cs typeface="Garet"/>
                <a:sym typeface="Garet"/>
              </a:rPr>
              <a:t>descriptive statistics </a:t>
            </a:r>
            <a:r>
              <a:rPr lang="en-US" sz="2813" dirty="0">
                <a:solidFill>
                  <a:srgbClr val="001E3A"/>
                </a:solidFill>
                <a:latin typeface="Garet"/>
                <a:ea typeface="Garet"/>
                <a:cs typeface="Garet"/>
                <a:sym typeface="Garet"/>
              </a:rPr>
              <a:t>to analyze user behaviors and requirements. This data-driven approach informed the app's feature prioritization and technical architecture decisions.</a:t>
            </a:r>
          </a:p>
          <a:p>
            <a:pPr lvl="0" algn="l">
              <a:lnSpc>
                <a:spcPts val="3938"/>
              </a:lnSpc>
            </a:pPr>
            <a:endParaRPr lang="en-US" sz="2813" dirty="0">
              <a:solidFill>
                <a:srgbClr val="001E3A"/>
              </a:solidFill>
              <a:latin typeface="Garet"/>
              <a:ea typeface="Garet"/>
              <a:cs typeface="Garet"/>
              <a:sym typeface="Garet"/>
            </a:endParaRPr>
          </a:p>
        </p:txBody>
      </p:sp>
      <p:sp>
        <p:nvSpPr>
          <p:cNvPr id="12" name="TextBox 12">
            <a:extLst>
              <a:ext uri="{FF2B5EF4-FFF2-40B4-BE49-F238E27FC236}">
                <a16:creationId xmlns:a16="http://schemas.microsoft.com/office/drawing/2014/main" id="{7CAB9E8D-42E7-1DBB-6FE0-474C0D91F4C6}"/>
              </a:ext>
            </a:extLst>
          </p:cNvPr>
          <p:cNvSpPr txBox="1"/>
          <p:nvPr/>
        </p:nvSpPr>
        <p:spPr>
          <a:xfrm>
            <a:off x="14250620" y="9239250"/>
            <a:ext cx="1865504" cy="223038"/>
          </a:xfrm>
          <a:prstGeom prst="rect">
            <a:avLst/>
          </a:prstGeom>
        </p:spPr>
        <p:txBody>
          <a:bodyPr lIns="0" tIns="0" rIns="0" bIns="0" rtlCol="0" anchor="t">
            <a:spAutoFit/>
          </a:bodyPr>
          <a:lstStyle/>
          <a:p>
            <a:pPr marL="0" lvl="0" indent="0" algn="l">
              <a:lnSpc>
                <a:spcPts val="1883"/>
              </a:lnSpc>
            </a:pPr>
            <a:r>
              <a:rPr lang="en-US" sz="1345">
                <a:solidFill>
                  <a:srgbClr val="001E3A"/>
                </a:solidFill>
                <a:latin typeface="Garet"/>
                <a:ea typeface="Garet"/>
                <a:cs typeface="Garet"/>
                <a:sym typeface="Garet"/>
              </a:rPr>
              <a:t>University of Buea</a:t>
            </a:r>
          </a:p>
        </p:txBody>
      </p:sp>
      <p:sp>
        <p:nvSpPr>
          <p:cNvPr id="13" name="TextBox 13">
            <a:extLst>
              <a:ext uri="{FF2B5EF4-FFF2-40B4-BE49-F238E27FC236}">
                <a16:creationId xmlns:a16="http://schemas.microsoft.com/office/drawing/2014/main" id="{A3FDA01E-D921-A7A9-FD6A-9CF2E65675E8}"/>
              </a:ext>
            </a:extLst>
          </p:cNvPr>
          <p:cNvSpPr txBox="1"/>
          <p:nvPr/>
        </p:nvSpPr>
        <p:spPr>
          <a:xfrm>
            <a:off x="14250620" y="9433689"/>
            <a:ext cx="3008680" cy="268629"/>
          </a:xfrm>
          <a:prstGeom prst="rect">
            <a:avLst/>
          </a:prstGeom>
        </p:spPr>
        <p:txBody>
          <a:bodyPr lIns="0" tIns="0" rIns="0" bIns="0" rtlCol="0" anchor="t">
            <a:spAutoFit/>
          </a:bodyPr>
          <a:lstStyle/>
          <a:p>
            <a:pPr marL="0" lvl="0" indent="0" algn="l">
              <a:lnSpc>
                <a:spcPts val="2216"/>
              </a:lnSpc>
            </a:pPr>
            <a:r>
              <a:rPr lang="en-US" sz="1583">
                <a:solidFill>
                  <a:srgbClr val="001E3A"/>
                </a:solidFill>
                <a:latin typeface="Garet"/>
                <a:ea typeface="Garet"/>
                <a:cs typeface="Garet"/>
                <a:sym typeface="Garet"/>
              </a:rPr>
              <a:t>CEF440 – Group 5</a:t>
            </a:r>
          </a:p>
        </p:txBody>
      </p:sp>
      <p:sp>
        <p:nvSpPr>
          <p:cNvPr id="14" name="TextBox 14">
            <a:extLst>
              <a:ext uri="{FF2B5EF4-FFF2-40B4-BE49-F238E27FC236}">
                <a16:creationId xmlns:a16="http://schemas.microsoft.com/office/drawing/2014/main" id="{AD213A56-A2FC-5505-93E1-4CE2E3C24585}"/>
              </a:ext>
            </a:extLst>
          </p:cNvPr>
          <p:cNvSpPr txBox="1"/>
          <p:nvPr/>
        </p:nvSpPr>
        <p:spPr>
          <a:xfrm>
            <a:off x="13691401" y="9363075"/>
            <a:ext cx="559219" cy="339118"/>
          </a:xfrm>
          <a:prstGeom prst="rect">
            <a:avLst/>
          </a:prstGeom>
        </p:spPr>
        <p:txBody>
          <a:bodyPr lIns="0" tIns="0" rIns="0" bIns="0" rtlCol="0" anchor="t">
            <a:spAutoFit/>
          </a:bodyPr>
          <a:lstStyle/>
          <a:p>
            <a:pPr marL="0" lvl="0" indent="0" algn="ctr">
              <a:lnSpc>
                <a:spcPts val="2438"/>
              </a:lnSpc>
            </a:pPr>
            <a:r>
              <a:rPr lang="en-US" sz="2938" b="1">
                <a:solidFill>
                  <a:srgbClr val="001E3A"/>
                </a:solidFill>
                <a:latin typeface="Garet Ultra-Bold"/>
                <a:ea typeface="Garet Ultra-Bold"/>
                <a:cs typeface="Garet Ultra-Bold"/>
                <a:sym typeface="Garet Ultra-Bold"/>
              </a:rPr>
              <a:t>3</a:t>
            </a:r>
          </a:p>
        </p:txBody>
      </p:sp>
      <p:pic>
        <p:nvPicPr>
          <p:cNvPr id="17" name="Picture 16" descr="Methodology vs Method: Understanding the Difference in Sociological  Research - Thinking Sociologically">
            <a:extLst>
              <a:ext uri="{FF2B5EF4-FFF2-40B4-BE49-F238E27FC236}">
                <a16:creationId xmlns:a16="http://schemas.microsoft.com/office/drawing/2014/main" id="{41CB0DB3-AD27-7645-9A62-0AC0580C2FBE}"/>
              </a:ext>
            </a:extLst>
          </p:cNvPr>
          <p:cNvPicPr>
            <a:picLocks noChangeAspect="1"/>
          </p:cNvPicPr>
          <p:nvPr/>
        </p:nvPicPr>
        <p:blipFill>
          <a:blip r:embed="rId2"/>
          <a:stretch>
            <a:fillRect/>
          </a:stretch>
        </p:blipFill>
        <p:spPr>
          <a:xfrm>
            <a:off x="9016145" y="3006552"/>
            <a:ext cx="7666916" cy="5111276"/>
          </a:xfrm>
          <a:prstGeom prst="rect">
            <a:avLst/>
          </a:prstGeom>
        </p:spPr>
      </p:pic>
    </p:spTree>
    <p:extLst>
      <p:ext uri="{BB962C8B-B14F-4D97-AF65-F5344CB8AC3E}">
        <p14:creationId xmlns:p14="http://schemas.microsoft.com/office/powerpoint/2010/main" val="28298915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903D3-C62D-5665-AFC4-E69FA679F29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BCD7EC2E-8165-88CC-A9B3-CA30EFAD2D66}"/>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C8A6845E-99B1-2625-4224-02F2A007F907}"/>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8A67BE87-5681-CFC9-710B-E446D1C0934B}"/>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53C0D2E7-F9F1-7A0E-2403-0ED020A41AD0}"/>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401605CF-1748-10A8-079E-B43FF29B2D8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08F5083C-8317-5639-B675-E161FB1719A4}"/>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0" name="TextBox 10">
            <a:extLst>
              <a:ext uri="{FF2B5EF4-FFF2-40B4-BE49-F238E27FC236}">
                <a16:creationId xmlns:a16="http://schemas.microsoft.com/office/drawing/2014/main" id="{9ABB4123-1EF9-7ED9-D4D0-B6C8C3BF9AA1}"/>
              </a:ext>
            </a:extLst>
          </p:cNvPr>
          <p:cNvSpPr txBox="1"/>
          <p:nvPr/>
        </p:nvSpPr>
        <p:spPr>
          <a:xfrm>
            <a:off x="3451895" y="1943100"/>
            <a:ext cx="10676158" cy="4233851"/>
          </a:xfrm>
          <a:prstGeom prst="rect">
            <a:avLst/>
          </a:prstGeom>
        </p:spPr>
        <p:txBody>
          <a:bodyPr wrap="square" lIns="0" tIns="0" rIns="0" bIns="0" rtlCol="0" anchor="t">
            <a:spAutoFit/>
          </a:bodyPr>
          <a:lstStyle/>
          <a:p>
            <a:pPr marL="0" lvl="0" indent="0" algn="ctr">
              <a:lnSpc>
                <a:spcPts val="7706"/>
              </a:lnSpc>
            </a:pPr>
            <a:r>
              <a:rPr lang="en-US" sz="8000" b="1" dirty="0">
                <a:solidFill>
                  <a:srgbClr val="001E3A"/>
                </a:solidFill>
                <a:latin typeface="Garet Ultra-Bold"/>
                <a:ea typeface="Garet Ultra-Bold"/>
                <a:cs typeface="Garet Ultra-Bold"/>
                <a:sym typeface="Garet Ultra-Bold"/>
              </a:rPr>
              <a:t>Requirements Gathering</a:t>
            </a:r>
          </a:p>
          <a:p>
            <a:pPr marL="0" lvl="0" indent="0" algn="ctr">
              <a:lnSpc>
                <a:spcPts val="7706"/>
              </a:lnSpc>
            </a:pPr>
            <a:endParaRPr lang="en-US" sz="8000" b="1" dirty="0">
              <a:solidFill>
                <a:srgbClr val="001E3A"/>
              </a:solidFill>
              <a:latin typeface="Garet Ultra-Bold"/>
              <a:ea typeface="Garet Ultra-Bold"/>
              <a:cs typeface="Garet Ultra-Bold"/>
              <a:sym typeface="Garet Ultra-Bold"/>
            </a:endParaRPr>
          </a:p>
          <a:p>
            <a:pPr marL="0" lvl="0" indent="0" algn="ctr">
              <a:lnSpc>
                <a:spcPts val="7706"/>
              </a:lnSpc>
            </a:pPr>
            <a:r>
              <a:rPr lang="en-US" sz="13800" b="1" dirty="0">
                <a:solidFill>
                  <a:srgbClr val="001E3A"/>
                </a:solidFill>
                <a:latin typeface="Garet Ultra-Bold"/>
                <a:ea typeface="Garet Ultra-Bold"/>
                <a:cs typeface="Garet Ultra-Bold"/>
                <a:sym typeface="Garet Ultra-Bold"/>
              </a:rPr>
              <a:t>&amp; Analysis</a:t>
            </a:r>
          </a:p>
        </p:txBody>
      </p:sp>
      <p:sp>
        <p:nvSpPr>
          <p:cNvPr id="11" name="TextBox 11">
            <a:extLst>
              <a:ext uri="{FF2B5EF4-FFF2-40B4-BE49-F238E27FC236}">
                <a16:creationId xmlns:a16="http://schemas.microsoft.com/office/drawing/2014/main" id="{BFFC185C-FDF4-CA7C-0506-5D9079F8D5E2}"/>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2" name="TextBox 12">
            <a:extLst>
              <a:ext uri="{FF2B5EF4-FFF2-40B4-BE49-F238E27FC236}">
                <a16:creationId xmlns:a16="http://schemas.microsoft.com/office/drawing/2014/main" id="{372EA89C-5CE9-ED8C-3C90-19A642CE18EF}"/>
              </a:ext>
            </a:extLst>
          </p:cNvPr>
          <p:cNvSpPr txBox="1"/>
          <p:nvPr/>
        </p:nvSpPr>
        <p:spPr>
          <a:xfrm>
            <a:off x="14223061" y="8507125"/>
            <a:ext cx="3008680" cy="631746"/>
          </a:xfrm>
          <a:prstGeom prst="rect">
            <a:avLst/>
          </a:prstGeom>
        </p:spPr>
        <p:txBody>
          <a:bodyPr lIns="0" tIns="0" rIns="0" bIns="0" rtlCol="0" anchor="t">
            <a:spAutoFit/>
          </a:bodyPr>
          <a:lstStyle/>
          <a:p>
            <a:pPr marL="0" lvl="0" indent="0" algn="l">
              <a:lnSpc>
                <a:spcPts val="1679"/>
              </a:lnSpc>
            </a:pPr>
            <a:r>
              <a:rPr lang="en-US" sz="1199" dirty="0">
                <a:solidFill>
                  <a:srgbClr val="001E3A"/>
                </a:solidFill>
                <a:latin typeface="Garet"/>
                <a:ea typeface="Garet"/>
                <a:cs typeface="Garet"/>
                <a:sym typeface="Garet"/>
              </a:rPr>
              <a:t>GitHub: github.com/BrayanMorningstar237/CEF440_Group5</a:t>
            </a:r>
          </a:p>
        </p:txBody>
      </p:sp>
      <p:sp>
        <p:nvSpPr>
          <p:cNvPr id="13" name="TextBox 13">
            <a:extLst>
              <a:ext uri="{FF2B5EF4-FFF2-40B4-BE49-F238E27FC236}">
                <a16:creationId xmlns:a16="http://schemas.microsoft.com/office/drawing/2014/main" id="{CFFD86E0-BD46-5E61-896C-2C90AEAC70EC}"/>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pic>
        <p:nvPicPr>
          <p:cNvPr id="8" name="Picture 7" descr="Market Research and Analysis Vector Illustration with Team Management and  Analytics for Making Data Statistics in Flat Cartoon Hand Drawn Templates  24277914 Vector Art at Vecteezy">
            <a:extLst>
              <a:ext uri="{FF2B5EF4-FFF2-40B4-BE49-F238E27FC236}">
                <a16:creationId xmlns:a16="http://schemas.microsoft.com/office/drawing/2014/main" id="{8F2C048E-1622-1F24-299D-FA723B7CC183}"/>
              </a:ext>
            </a:extLst>
          </p:cNvPr>
          <p:cNvPicPr>
            <a:picLocks noChangeAspect="1"/>
          </p:cNvPicPr>
          <p:nvPr/>
        </p:nvPicPr>
        <p:blipFill>
          <a:blip r:embed="rId2"/>
          <a:stretch>
            <a:fillRect/>
          </a:stretch>
        </p:blipFill>
        <p:spPr>
          <a:xfrm>
            <a:off x="5779719" y="5791800"/>
            <a:ext cx="6020511" cy="4235535"/>
          </a:xfrm>
          <a:prstGeom prst="rect">
            <a:avLst/>
          </a:prstGeom>
        </p:spPr>
      </p:pic>
    </p:spTree>
    <p:extLst>
      <p:ext uri="{BB962C8B-B14F-4D97-AF65-F5344CB8AC3E}">
        <p14:creationId xmlns:p14="http://schemas.microsoft.com/office/powerpoint/2010/main" val="4110660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8FF9E-D578-507D-924A-0A7C36D0B50E}"/>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672CB677-1220-DD73-12AC-39A97EDB0BEB}"/>
              </a:ext>
            </a:extLst>
          </p:cNvPr>
          <p:cNvSpPr/>
          <p:nvPr/>
        </p:nvSpPr>
        <p:spPr>
          <a:xfrm rot="19784537">
            <a:off x="-4225962" y="-1184855"/>
            <a:ext cx="13950282" cy="17277161"/>
          </a:xfrm>
          <a:prstGeom prst="rect">
            <a:avLst/>
          </a:prstGeom>
          <a:solidFill>
            <a:schemeClr val="tx2">
              <a:lumMod val="75000"/>
            </a:schemeClr>
          </a:solid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2">
            <a:extLst>
              <a:ext uri="{FF2B5EF4-FFF2-40B4-BE49-F238E27FC236}">
                <a16:creationId xmlns:a16="http://schemas.microsoft.com/office/drawing/2014/main" id="{B4CEF948-8A5E-4EE3-EAA5-F4C3FE2F9630}"/>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536E3712-5446-18D4-4158-9D9AA913FA8F}"/>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5D96F095-D1BE-4365-54B5-A8AC26393D79}"/>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97CF7961-120F-5A3B-DCCA-0F2B21B3FDEE}"/>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A2190422-4E60-8E10-DA39-2C5277610F4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23FE6D8E-AFB7-A6BB-BA34-F8810FCF209A}"/>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0" name="TextBox 10">
            <a:extLst>
              <a:ext uri="{FF2B5EF4-FFF2-40B4-BE49-F238E27FC236}">
                <a16:creationId xmlns:a16="http://schemas.microsoft.com/office/drawing/2014/main" id="{FCF407EF-DBF6-FEFC-F669-9469A07A4D1A}"/>
              </a:ext>
            </a:extLst>
          </p:cNvPr>
          <p:cNvSpPr txBox="1"/>
          <p:nvPr/>
        </p:nvSpPr>
        <p:spPr>
          <a:xfrm>
            <a:off x="8211622" y="3064828"/>
            <a:ext cx="10676158" cy="1048364"/>
          </a:xfrm>
          <a:prstGeom prst="rect">
            <a:avLst/>
          </a:prstGeom>
        </p:spPr>
        <p:txBody>
          <a:bodyPr wrap="square" lIns="0" tIns="0" rIns="0" bIns="0" rtlCol="0" anchor="t">
            <a:spAutoFit/>
          </a:bodyPr>
          <a:lstStyle/>
          <a:p>
            <a:pPr marL="0" lvl="0" indent="0" algn="ctr">
              <a:lnSpc>
                <a:spcPts val="7706"/>
              </a:lnSpc>
            </a:pPr>
            <a:r>
              <a:rPr lang="en-US" sz="8000" b="1" dirty="0">
                <a:solidFill>
                  <a:srgbClr val="001E3A"/>
                </a:solidFill>
                <a:latin typeface="Garet Ultra-Bold"/>
                <a:ea typeface="Garet Ultra-Bold"/>
                <a:cs typeface="Garet Ultra-Bold"/>
                <a:sym typeface="Garet Ultra-Bold"/>
              </a:rPr>
              <a:t>Total Responses</a:t>
            </a:r>
          </a:p>
        </p:txBody>
      </p:sp>
      <p:sp>
        <p:nvSpPr>
          <p:cNvPr id="11" name="TextBox 11">
            <a:extLst>
              <a:ext uri="{FF2B5EF4-FFF2-40B4-BE49-F238E27FC236}">
                <a16:creationId xmlns:a16="http://schemas.microsoft.com/office/drawing/2014/main" id="{D5668C06-127B-2D37-C899-1E3F5B637D8D}"/>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2" name="TextBox 12">
            <a:extLst>
              <a:ext uri="{FF2B5EF4-FFF2-40B4-BE49-F238E27FC236}">
                <a16:creationId xmlns:a16="http://schemas.microsoft.com/office/drawing/2014/main" id="{C05FDEA5-9C44-2146-CCDB-00A058A16428}"/>
              </a:ext>
            </a:extLst>
          </p:cNvPr>
          <p:cNvSpPr txBox="1"/>
          <p:nvPr/>
        </p:nvSpPr>
        <p:spPr>
          <a:xfrm>
            <a:off x="14223061" y="8507125"/>
            <a:ext cx="3008680" cy="631746"/>
          </a:xfrm>
          <a:prstGeom prst="rect">
            <a:avLst/>
          </a:prstGeom>
        </p:spPr>
        <p:txBody>
          <a:bodyPr lIns="0" tIns="0" rIns="0" bIns="0" rtlCol="0" anchor="t">
            <a:spAutoFit/>
          </a:bodyPr>
          <a:lstStyle/>
          <a:p>
            <a:pPr marL="0" lvl="0" indent="0" algn="l">
              <a:lnSpc>
                <a:spcPts val="1679"/>
              </a:lnSpc>
            </a:pPr>
            <a:r>
              <a:rPr lang="en-US" sz="1199" dirty="0">
                <a:solidFill>
                  <a:srgbClr val="001E3A"/>
                </a:solidFill>
                <a:latin typeface="Garet"/>
                <a:ea typeface="Garet"/>
                <a:cs typeface="Garet"/>
                <a:sym typeface="Garet"/>
              </a:rPr>
              <a:t>GitHub: github.com/BrayanMorningstar237/CEF440_Group5</a:t>
            </a:r>
          </a:p>
        </p:txBody>
      </p:sp>
      <p:sp>
        <p:nvSpPr>
          <p:cNvPr id="13" name="TextBox 13">
            <a:extLst>
              <a:ext uri="{FF2B5EF4-FFF2-40B4-BE49-F238E27FC236}">
                <a16:creationId xmlns:a16="http://schemas.microsoft.com/office/drawing/2014/main" id="{C5B6CDD5-CA1C-B55B-6DA0-659634E5BFAF}"/>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pic>
        <p:nvPicPr>
          <p:cNvPr id="14" name="Picture 13">
            <a:extLst>
              <a:ext uri="{FF2B5EF4-FFF2-40B4-BE49-F238E27FC236}">
                <a16:creationId xmlns:a16="http://schemas.microsoft.com/office/drawing/2014/main" id="{BBB7D186-5BB6-B710-8A2A-4F1462E180EA}"/>
              </a:ext>
            </a:extLst>
          </p:cNvPr>
          <p:cNvPicPr>
            <a:picLocks noChangeAspect="1"/>
          </p:cNvPicPr>
          <p:nvPr/>
        </p:nvPicPr>
        <p:blipFill>
          <a:blip r:embed="rId2"/>
          <a:stretch>
            <a:fillRect/>
          </a:stretch>
        </p:blipFill>
        <p:spPr>
          <a:xfrm>
            <a:off x="219029" y="3064828"/>
            <a:ext cx="8895663" cy="5783285"/>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7" name="Oval 16">
            <a:extLst>
              <a:ext uri="{FF2B5EF4-FFF2-40B4-BE49-F238E27FC236}">
                <a16:creationId xmlns:a16="http://schemas.microsoft.com/office/drawing/2014/main" id="{ECAAA1EC-F212-4543-CA04-0E99E188AC0A}"/>
              </a:ext>
            </a:extLst>
          </p:cNvPr>
          <p:cNvSpPr/>
          <p:nvPr/>
        </p:nvSpPr>
        <p:spPr>
          <a:xfrm>
            <a:off x="12019078" y="4537330"/>
            <a:ext cx="2912009" cy="2830578"/>
          </a:xfrm>
          <a:prstGeom prst="ellipse">
            <a:avLst/>
          </a:prstGeom>
          <a:solidFill>
            <a:schemeClr val="tx2">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6000" b="1" dirty="0">
                <a:solidFill>
                  <a:schemeClr val="bg1"/>
                </a:solidFill>
                <a:latin typeface="Garet Ultra-Bold"/>
                <a:ea typeface="Garet Ultra-Bold"/>
                <a:cs typeface="Garet Ultra-Bold"/>
                <a:sym typeface="Garet Ultra-Bold"/>
              </a:rPr>
              <a:t>50+</a:t>
            </a:r>
            <a:endParaRPr lang="en-US" sz="3200" dirty="0">
              <a:solidFill>
                <a:schemeClr val="bg1"/>
              </a:solidFill>
            </a:endParaRPr>
          </a:p>
        </p:txBody>
      </p:sp>
    </p:spTree>
    <p:extLst>
      <p:ext uri="{BB962C8B-B14F-4D97-AF65-F5344CB8AC3E}">
        <p14:creationId xmlns:p14="http://schemas.microsoft.com/office/powerpoint/2010/main" val="13395912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0" name="TextBox 10"/>
          <p:cNvSpPr txBox="1"/>
          <p:nvPr/>
        </p:nvSpPr>
        <p:spPr>
          <a:xfrm>
            <a:off x="3429000" y="4442728"/>
            <a:ext cx="15923435" cy="827150"/>
          </a:xfrm>
          <a:prstGeom prst="rect">
            <a:avLst/>
          </a:prstGeom>
        </p:spPr>
        <p:txBody>
          <a:bodyPr wrap="square" lIns="0" tIns="0" rIns="0" bIns="0" rtlCol="0" anchor="t">
            <a:spAutoFit/>
          </a:bodyPr>
          <a:lstStyle/>
          <a:p>
            <a:pPr marL="0" lvl="0" indent="0" algn="l">
              <a:lnSpc>
                <a:spcPts val="6173"/>
              </a:lnSpc>
            </a:pPr>
            <a:r>
              <a:rPr lang="en-US" sz="6000" b="1" dirty="0">
                <a:solidFill>
                  <a:srgbClr val="001E3A"/>
                </a:solidFill>
                <a:latin typeface="Garet Ultra-Bold"/>
                <a:ea typeface="Garet Ultra-Bold"/>
                <a:cs typeface="Garet Ultra-Bold"/>
                <a:sym typeface="Garet Ultra-Bold"/>
              </a:rPr>
              <a:t>User Technical Environment</a:t>
            </a:r>
          </a:p>
        </p:txBody>
      </p:sp>
      <p:sp>
        <p:nvSpPr>
          <p:cNvPr id="19" name="TextBox 19"/>
          <p:cNvSpPr txBox="1"/>
          <p:nvPr/>
        </p:nvSpPr>
        <p:spPr>
          <a:xfrm>
            <a:off x="14250620" y="9229725"/>
            <a:ext cx="1865504" cy="208643"/>
          </a:xfrm>
          <a:prstGeom prst="rect">
            <a:avLst/>
          </a:prstGeom>
        </p:spPr>
        <p:txBody>
          <a:bodyPr lIns="0" tIns="0" rIns="0" bIns="0" rtlCol="0" anchor="t">
            <a:spAutoFit/>
          </a:bodyPr>
          <a:lstStyle/>
          <a:p>
            <a:pPr marL="0" lvl="0" indent="0" algn="l">
              <a:lnSpc>
                <a:spcPts val="1679"/>
              </a:lnSpc>
            </a:pPr>
            <a:r>
              <a:rPr lang="en-US" sz="1199" dirty="0">
                <a:solidFill>
                  <a:srgbClr val="001E3A"/>
                </a:solidFill>
                <a:latin typeface="Garet"/>
                <a:ea typeface="Garet"/>
                <a:cs typeface="Garet"/>
                <a:sym typeface="Garet"/>
              </a:rPr>
              <a:t>University of Buea</a:t>
            </a:r>
          </a:p>
        </p:txBody>
      </p:sp>
      <p:sp>
        <p:nvSpPr>
          <p:cNvPr id="20" name="TextBox 20"/>
          <p:cNvSpPr txBox="1"/>
          <p:nvPr/>
        </p:nvSpPr>
        <p:spPr>
          <a:xfrm>
            <a:off x="14250620" y="9443214"/>
            <a:ext cx="3008680" cy="478729"/>
          </a:xfrm>
          <a:prstGeom prst="rect">
            <a:avLst/>
          </a:prstGeom>
        </p:spPr>
        <p:txBody>
          <a:bodyPr lIns="0" tIns="0" rIns="0" bIns="0" rtlCol="0" anchor="t">
            <a:spAutoFit/>
          </a:bodyPr>
          <a:lstStyle/>
          <a:p>
            <a:pPr marL="0" lvl="0" indent="0" algn="l">
              <a:lnSpc>
                <a:spcPts val="1977"/>
              </a:lnSpc>
            </a:pPr>
            <a:r>
              <a:rPr lang="en-US" sz="1412">
                <a:solidFill>
                  <a:srgbClr val="001E3A"/>
                </a:solidFill>
                <a:latin typeface="Garet"/>
                <a:ea typeface="Garet"/>
                <a:cs typeface="Garet"/>
                <a:sym typeface="Garet"/>
              </a:rPr>
              <a:t>CEF440 – Internet and Mobile Programming</a:t>
            </a:r>
          </a:p>
        </p:txBody>
      </p:sp>
      <p:sp>
        <p:nvSpPr>
          <p:cNvPr id="21" name="TextBox 21"/>
          <p:cNvSpPr txBox="1"/>
          <p:nvPr/>
        </p:nvSpPr>
        <p:spPr>
          <a:xfrm>
            <a:off x="13691401" y="9324975"/>
            <a:ext cx="559219" cy="202069"/>
          </a:xfrm>
          <a:prstGeom prst="rect">
            <a:avLst/>
          </a:prstGeom>
        </p:spPr>
        <p:txBody>
          <a:bodyPr lIns="0" tIns="0" rIns="0" bIns="0" rtlCol="0" anchor="t">
            <a:spAutoFit/>
          </a:bodyPr>
          <a:lstStyle/>
          <a:p>
            <a:pPr marL="0" lvl="0" indent="0" algn="ctr">
              <a:lnSpc>
                <a:spcPts val="1480"/>
              </a:lnSpc>
            </a:pPr>
            <a:r>
              <a:rPr lang="en-US" sz="1783" b="1">
                <a:solidFill>
                  <a:srgbClr val="001E3A"/>
                </a:solidFill>
                <a:latin typeface="Garet Ultra-Bold"/>
                <a:ea typeface="Garet Ultra-Bold"/>
                <a:cs typeface="Garet Ultra-Bold"/>
                <a:sym typeface="Garet Ultra-Bold"/>
              </a:rPr>
              <a:t>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9BF9D-BC97-2DF8-6C0C-BE790E46C932}"/>
            </a:ext>
          </a:extLst>
        </p:cNvPr>
        <p:cNvGrpSpPr/>
        <p:nvPr/>
      </p:nvGrpSpPr>
      <p:grpSpPr>
        <a:xfrm>
          <a:off x="0" y="0"/>
          <a:ext cx="0" cy="0"/>
          <a:chOff x="0" y="0"/>
          <a:chExt cx="0" cy="0"/>
        </a:xfrm>
      </p:grpSpPr>
      <p:pic>
        <p:nvPicPr>
          <p:cNvPr id="18" name="Picture 17" descr="Forms response chart. Question title: Where do you live(Region). Number of responses: 51 responses.">
            <a:extLst>
              <a:ext uri="{FF2B5EF4-FFF2-40B4-BE49-F238E27FC236}">
                <a16:creationId xmlns:a16="http://schemas.microsoft.com/office/drawing/2014/main" id="{A4CE3FAF-42A4-AAC6-CE38-AFDE263EFCE2}"/>
              </a:ext>
            </a:extLst>
          </p:cNvPr>
          <p:cNvPicPr>
            <a:picLocks noChangeAspect="1"/>
          </p:cNvPicPr>
          <p:nvPr/>
        </p:nvPicPr>
        <p:blipFill>
          <a:blip r:embed="rId2"/>
          <a:stretch>
            <a:fillRect/>
          </a:stretch>
        </p:blipFill>
        <p:spPr>
          <a:xfrm>
            <a:off x="-11723" y="1170477"/>
            <a:ext cx="13170877" cy="5541845"/>
          </a:xfrm>
          <a:prstGeom prst="rect">
            <a:avLst/>
          </a:prstGeom>
        </p:spPr>
      </p:pic>
      <p:grpSp>
        <p:nvGrpSpPr>
          <p:cNvPr id="2" name="Group 2">
            <a:extLst>
              <a:ext uri="{FF2B5EF4-FFF2-40B4-BE49-F238E27FC236}">
                <a16:creationId xmlns:a16="http://schemas.microsoft.com/office/drawing/2014/main" id="{70C4DA7E-332E-281F-4E04-85A35F100DC2}"/>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9A8E66E3-5C18-F56E-7237-B7D3F855B55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70DA8446-D7D0-1C9C-93EA-482E1E9588A9}"/>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24CD4889-2C04-D570-7850-88EC6B4F00BD}"/>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D884CC62-5B68-F54E-CDDE-6133CA58A5A5}"/>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FB11556F-9FAA-B072-57F1-A12CF09CDDF6}"/>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E8CC56F7-1363-0F8F-FA8D-47E59C25D2FB}"/>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A523B040-FB89-D1BA-3A28-76D8974C4B86}"/>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16" name="TextBox 15">
            <a:extLst>
              <a:ext uri="{FF2B5EF4-FFF2-40B4-BE49-F238E27FC236}">
                <a16:creationId xmlns:a16="http://schemas.microsoft.com/office/drawing/2014/main" id="{DA198C7E-E424-F36A-2B4A-2D31546C70D6}"/>
              </a:ext>
            </a:extLst>
          </p:cNvPr>
          <p:cNvSpPr txBox="1"/>
          <p:nvPr/>
        </p:nvSpPr>
        <p:spPr>
          <a:xfrm>
            <a:off x="10134600" y="5262825"/>
            <a:ext cx="8763000" cy="3108543"/>
          </a:xfrm>
          <a:prstGeom prst="rect">
            <a:avLst/>
          </a:prstGeom>
          <a:noFill/>
        </p:spPr>
        <p:txBody>
          <a:bodyPr wrap="square">
            <a:spAutoFit/>
          </a:bodyPr>
          <a:lstStyle/>
          <a:p>
            <a:pPr marL="457200" indent="-457200">
              <a:buFont typeface="Wingdings" panose="05000000000000000000" pitchFamily="2" charset="2"/>
              <a:buChar char="v"/>
            </a:pPr>
            <a:r>
              <a:rPr lang="en-US" sz="2800" b="1" dirty="0">
                <a:solidFill>
                  <a:schemeClr val="tx2">
                    <a:lumMod val="50000"/>
                  </a:schemeClr>
                </a:solidFill>
              </a:rPr>
              <a:t>Language &amp; Accessibility</a:t>
            </a:r>
          </a:p>
          <a:p>
            <a:r>
              <a:rPr lang="en-US" sz="2800" dirty="0">
                <a:solidFill>
                  <a:schemeClr val="tx2">
                    <a:lumMod val="50000"/>
                  </a:schemeClr>
                </a:solidFill>
              </a:rPr>
              <a:t>Identifying if the respondent is in a predominantly Francophone or Anglophone region to ensure UI localization.</a:t>
            </a:r>
          </a:p>
          <a:p>
            <a:pPr marL="457200" indent="-457200">
              <a:buFont typeface="Wingdings" panose="05000000000000000000" pitchFamily="2" charset="2"/>
              <a:buChar char="v"/>
            </a:pPr>
            <a:r>
              <a:rPr lang="en-US" sz="2800" b="1" dirty="0">
                <a:solidFill>
                  <a:schemeClr val="tx2">
                    <a:lumMod val="50000"/>
                  </a:schemeClr>
                </a:solidFill>
              </a:rPr>
              <a:t>Regional Performance Variance</a:t>
            </a:r>
          </a:p>
          <a:p>
            <a:r>
              <a:rPr lang="en-US" sz="2800" dirty="0">
                <a:solidFill>
                  <a:schemeClr val="tx2">
                    <a:lumMod val="50000"/>
                  </a:schemeClr>
                </a:solidFill>
              </a:rPr>
              <a:t>Network infrastructure in Douala/Yaoundé (Urban) behaves differently than in North/East regions (Rural).</a:t>
            </a:r>
          </a:p>
        </p:txBody>
      </p:sp>
      <p:sp>
        <p:nvSpPr>
          <p:cNvPr id="22" name="TextBox 21">
            <a:extLst>
              <a:ext uri="{FF2B5EF4-FFF2-40B4-BE49-F238E27FC236}">
                <a16:creationId xmlns:a16="http://schemas.microsoft.com/office/drawing/2014/main" id="{B6534181-627F-CCF3-C747-422FD2751EBC}"/>
              </a:ext>
            </a:extLst>
          </p:cNvPr>
          <p:cNvSpPr txBox="1"/>
          <p:nvPr/>
        </p:nvSpPr>
        <p:spPr>
          <a:xfrm>
            <a:off x="10134600" y="4519649"/>
            <a:ext cx="4724400" cy="523220"/>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rPr>
              <a:t>Analysis</a:t>
            </a:r>
          </a:p>
        </p:txBody>
      </p:sp>
      <p:sp>
        <p:nvSpPr>
          <p:cNvPr id="23" name="TextBox 22">
            <a:extLst>
              <a:ext uri="{FF2B5EF4-FFF2-40B4-BE49-F238E27FC236}">
                <a16:creationId xmlns:a16="http://schemas.microsoft.com/office/drawing/2014/main" id="{261F1498-93FB-A9B5-096D-18970535C38C}"/>
              </a:ext>
            </a:extLst>
          </p:cNvPr>
          <p:cNvSpPr txBox="1"/>
          <p:nvPr/>
        </p:nvSpPr>
        <p:spPr>
          <a:xfrm>
            <a:off x="838200" y="908867"/>
            <a:ext cx="4724400" cy="523220"/>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Tree>
    <p:extLst>
      <p:ext uri="{BB962C8B-B14F-4D97-AF65-F5344CB8AC3E}">
        <p14:creationId xmlns:p14="http://schemas.microsoft.com/office/powerpoint/2010/main" val="37136903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CB94F-D62D-3180-CE75-7E9F4EF28397}"/>
            </a:ext>
          </a:extLst>
        </p:cNvPr>
        <p:cNvGrpSpPr/>
        <p:nvPr/>
      </p:nvGrpSpPr>
      <p:grpSpPr>
        <a:xfrm>
          <a:off x="0" y="0"/>
          <a:ext cx="0" cy="0"/>
          <a:chOff x="0" y="0"/>
          <a:chExt cx="0" cy="0"/>
        </a:xfrm>
      </p:grpSpPr>
      <p:pic>
        <p:nvPicPr>
          <p:cNvPr id="8" name="Picture 7" descr="Forms response chart. Question title: What type of mobile phone do you use?. Number of responses: 55 responses.">
            <a:extLst>
              <a:ext uri="{FF2B5EF4-FFF2-40B4-BE49-F238E27FC236}">
                <a16:creationId xmlns:a16="http://schemas.microsoft.com/office/drawing/2014/main" id="{A9976B10-A3DA-B56E-2BBE-7B78E1ECA770}"/>
              </a:ext>
            </a:extLst>
          </p:cNvPr>
          <p:cNvPicPr>
            <a:picLocks noChangeAspect="1"/>
          </p:cNvPicPr>
          <p:nvPr/>
        </p:nvPicPr>
        <p:blipFill>
          <a:blip r:embed="rId2"/>
          <a:stretch>
            <a:fillRect/>
          </a:stretch>
        </p:blipFill>
        <p:spPr>
          <a:xfrm>
            <a:off x="191529" y="1115678"/>
            <a:ext cx="12670970" cy="5331501"/>
          </a:xfrm>
          <a:prstGeom prst="rect">
            <a:avLst/>
          </a:prstGeom>
        </p:spPr>
      </p:pic>
      <p:grpSp>
        <p:nvGrpSpPr>
          <p:cNvPr id="2" name="Group 2">
            <a:extLst>
              <a:ext uri="{FF2B5EF4-FFF2-40B4-BE49-F238E27FC236}">
                <a16:creationId xmlns:a16="http://schemas.microsoft.com/office/drawing/2014/main" id="{6ED79C8D-4343-CC98-181B-99F191AF3776}"/>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618ADA7E-02EB-AE25-53F5-65B528296AE9}"/>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EC300336-96C4-F840-363A-F1B05EB076CB}"/>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7B74349E-2EEA-57A3-19E1-44CF8DBAB7DE}"/>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55EA5723-0800-4B4D-2E5B-86C5F96F72D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FE89A3B3-5EFA-73C1-A9A1-56DD195AD866}"/>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BC6EB78F-0632-358F-2436-8AF6B7905F39}"/>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52B41B27-2799-21EB-5B54-528D3D21FCB9}"/>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16" name="TextBox 15">
            <a:extLst>
              <a:ext uri="{FF2B5EF4-FFF2-40B4-BE49-F238E27FC236}">
                <a16:creationId xmlns:a16="http://schemas.microsoft.com/office/drawing/2014/main" id="{CA02E693-0F7F-0799-C210-AE7073217C45}"/>
              </a:ext>
            </a:extLst>
          </p:cNvPr>
          <p:cNvSpPr txBox="1"/>
          <p:nvPr/>
        </p:nvSpPr>
        <p:spPr>
          <a:xfrm>
            <a:off x="9610029" y="5351928"/>
            <a:ext cx="8763000" cy="2246769"/>
          </a:xfrm>
          <a:prstGeom prst="rect">
            <a:avLst/>
          </a:prstGeom>
          <a:noFill/>
        </p:spPr>
        <p:txBody>
          <a:bodyPr wrap="square">
            <a:spAutoFit/>
          </a:bodyPr>
          <a:lstStyle/>
          <a:p>
            <a:r>
              <a:rPr lang="en-US" sz="2800" b="1" dirty="0">
                <a:solidFill>
                  <a:schemeClr val="tx2">
                    <a:lumMod val="50000"/>
                  </a:schemeClr>
                </a:solidFill>
              </a:rPr>
              <a:t>Platform Scoping</a:t>
            </a:r>
            <a:r>
              <a:rPr lang="en-US" sz="2800" dirty="0">
                <a:solidFill>
                  <a:schemeClr val="tx2">
                    <a:lumMod val="50000"/>
                  </a:schemeClr>
                </a:solidFill>
              </a:rPr>
              <a:t>: Identifies whether to prioritize Android or iOS development based on majority stakeholder usage.</a:t>
            </a:r>
          </a:p>
          <a:p>
            <a:r>
              <a:rPr lang="en-US" sz="2800" b="1" dirty="0">
                <a:solidFill>
                  <a:schemeClr val="tx2">
                    <a:lumMod val="50000"/>
                  </a:schemeClr>
                </a:solidFill>
              </a:rPr>
              <a:t>Hardware Constraints</a:t>
            </a:r>
            <a:r>
              <a:rPr lang="en-US" sz="2800" dirty="0">
                <a:solidFill>
                  <a:schemeClr val="tx2">
                    <a:lumMod val="50000"/>
                  </a:schemeClr>
                </a:solidFill>
              </a:rPr>
              <a:t>: Defines the RAM and Processor limits to ensure the app remains lightweight and doesn't cause system lag.</a:t>
            </a:r>
          </a:p>
        </p:txBody>
      </p:sp>
      <p:sp>
        <p:nvSpPr>
          <p:cNvPr id="22" name="TextBox 21">
            <a:extLst>
              <a:ext uri="{FF2B5EF4-FFF2-40B4-BE49-F238E27FC236}">
                <a16:creationId xmlns:a16="http://schemas.microsoft.com/office/drawing/2014/main" id="{1BE702FE-A0E9-62EF-4AE7-500C352D4E97}"/>
              </a:ext>
            </a:extLst>
          </p:cNvPr>
          <p:cNvSpPr txBox="1"/>
          <p:nvPr/>
        </p:nvSpPr>
        <p:spPr>
          <a:xfrm>
            <a:off x="10134600" y="4519649"/>
            <a:ext cx="4724400" cy="523220"/>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rPr>
              <a:t>Analysis</a:t>
            </a:r>
          </a:p>
        </p:txBody>
      </p:sp>
      <p:sp>
        <p:nvSpPr>
          <p:cNvPr id="23" name="TextBox 22">
            <a:extLst>
              <a:ext uri="{FF2B5EF4-FFF2-40B4-BE49-F238E27FC236}">
                <a16:creationId xmlns:a16="http://schemas.microsoft.com/office/drawing/2014/main" id="{276C9DF6-E736-808E-0D08-D2D2E4498B03}"/>
              </a:ext>
            </a:extLst>
          </p:cNvPr>
          <p:cNvSpPr txBox="1"/>
          <p:nvPr/>
        </p:nvSpPr>
        <p:spPr>
          <a:xfrm>
            <a:off x="838200" y="908867"/>
            <a:ext cx="4724400" cy="523220"/>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Tree>
    <p:extLst>
      <p:ext uri="{BB962C8B-B14F-4D97-AF65-F5344CB8AC3E}">
        <p14:creationId xmlns:p14="http://schemas.microsoft.com/office/powerpoint/2010/main" val="15183055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CC62F-3CB4-5B39-7457-470E66EB1D82}"/>
            </a:ext>
          </a:extLst>
        </p:cNvPr>
        <p:cNvGrpSpPr/>
        <p:nvPr/>
      </p:nvGrpSpPr>
      <p:grpSpPr>
        <a:xfrm>
          <a:off x="0" y="0"/>
          <a:ext cx="0" cy="0"/>
          <a:chOff x="0" y="0"/>
          <a:chExt cx="0" cy="0"/>
        </a:xfrm>
      </p:grpSpPr>
      <p:pic>
        <p:nvPicPr>
          <p:cNvPr id="9" name="Picture 8" descr="Forms response chart. Question title: If Android, what version (if you know)?. Number of responses: 43 responses.">
            <a:extLst>
              <a:ext uri="{FF2B5EF4-FFF2-40B4-BE49-F238E27FC236}">
                <a16:creationId xmlns:a16="http://schemas.microsoft.com/office/drawing/2014/main" id="{E18F1DA6-7006-4590-B297-2CAA52D1239B}"/>
              </a:ext>
            </a:extLst>
          </p:cNvPr>
          <p:cNvPicPr>
            <a:picLocks noChangeAspect="1"/>
          </p:cNvPicPr>
          <p:nvPr/>
        </p:nvPicPr>
        <p:blipFill>
          <a:blip r:embed="rId2"/>
          <a:stretch>
            <a:fillRect/>
          </a:stretch>
        </p:blipFill>
        <p:spPr>
          <a:xfrm>
            <a:off x="-9103" y="1321692"/>
            <a:ext cx="13785659" cy="5800523"/>
          </a:xfrm>
          <a:prstGeom prst="rect">
            <a:avLst/>
          </a:prstGeom>
        </p:spPr>
      </p:pic>
      <p:grpSp>
        <p:nvGrpSpPr>
          <p:cNvPr id="2" name="Group 2">
            <a:extLst>
              <a:ext uri="{FF2B5EF4-FFF2-40B4-BE49-F238E27FC236}">
                <a16:creationId xmlns:a16="http://schemas.microsoft.com/office/drawing/2014/main" id="{D45115ED-809D-DDAC-B093-FD407BF44038}"/>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3DF68ED0-F7D5-A6DA-AA60-342682E215F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2D788BB1-1347-BCB9-5AB0-80B69DC7487E}"/>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A8B03D33-CF30-860C-6D72-92FD556B2F52}"/>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BDBCE3E7-DC09-1E27-EA49-1A214574300C}"/>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E9D6568B-4F85-56F3-F10B-C11488F83131}"/>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3C1DAC72-BEBF-F85A-F031-304F69C80AAC}"/>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FD4EFC6C-5682-2380-3BDF-A858FF850BD9}"/>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16" name="TextBox 15">
            <a:extLst>
              <a:ext uri="{FF2B5EF4-FFF2-40B4-BE49-F238E27FC236}">
                <a16:creationId xmlns:a16="http://schemas.microsoft.com/office/drawing/2014/main" id="{D2E9B552-6CD7-76AB-2E9D-0A32DA84596B}"/>
              </a:ext>
            </a:extLst>
          </p:cNvPr>
          <p:cNvSpPr txBox="1"/>
          <p:nvPr/>
        </p:nvSpPr>
        <p:spPr>
          <a:xfrm>
            <a:off x="9610029" y="5351928"/>
            <a:ext cx="8763000" cy="3539430"/>
          </a:xfrm>
          <a:prstGeom prst="rect">
            <a:avLst/>
          </a:prstGeom>
          <a:noFill/>
        </p:spPr>
        <p:txBody>
          <a:bodyPr wrap="square">
            <a:spAutoFit/>
          </a:bodyPr>
          <a:lstStyle/>
          <a:p>
            <a:r>
              <a:rPr lang="en-US" sz="2800" b="1" dirty="0">
                <a:solidFill>
                  <a:schemeClr val="tx2">
                    <a:lumMod val="50000"/>
                  </a:schemeClr>
                </a:solidFill>
              </a:rPr>
              <a:t>Platform Scoping</a:t>
            </a:r>
            <a:r>
              <a:rPr lang="en-US" sz="2800" dirty="0">
                <a:solidFill>
                  <a:schemeClr val="tx2">
                    <a:lumMod val="50000"/>
                  </a:schemeClr>
                </a:solidFill>
              </a:rPr>
              <a:t>: Identifies whether to prioritize Android or iOS development based on majority stakeholder usage.</a:t>
            </a:r>
          </a:p>
          <a:p>
            <a:r>
              <a:rPr lang="en-US" sz="2800" b="1" dirty="0">
                <a:solidFill>
                  <a:schemeClr val="tx2">
                    <a:lumMod val="50000"/>
                  </a:schemeClr>
                </a:solidFill>
              </a:rPr>
              <a:t>Version Support</a:t>
            </a:r>
            <a:r>
              <a:rPr lang="en-US" sz="2800" dirty="0">
                <a:solidFill>
                  <a:schemeClr val="tx2">
                    <a:lumMod val="50000"/>
                  </a:schemeClr>
                </a:solidFill>
              </a:rPr>
              <a:t>: Determines the Minimum SDK level required to ensure the app works on older devices common in the local market.</a:t>
            </a:r>
          </a:p>
          <a:p>
            <a:r>
              <a:rPr lang="en-US" sz="2800" b="1" dirty="0">
                <a:solidFill>
                  <a:schemeClr val="tx2">
                    <a:lumMod val="50000"/>
                  </a:schemeClr>
                </a:solidFill>
              </a:rPr>
              <a:t>Hardware Constraints</a:t>
            </a:r>
            <a:r>
              <a:rPr lang="en-US" sz="2800" dirty="0">
                <a:solidFill>
                  <a:schemeClr val="tx2">
                    <a:lumMod val="50000"/>
                  </a:schemeClr>
                </a:solidFill>
              </a:rPr>
              <a:t>: Defines the RAM and Processor limits to ensure the app remains lightweight and doesn't cause system lag.</a:t>
            </a:r>
          </a:p>
        </p:txBody>
      </p:sp>
      <p:sp>
        <p:nvSpPr>
          <p:cNvPr id="22" name="TextBox 21">
            <a:extLst>
              <a:ext uri="{FF2B5EF4-FFF2-40B4-BE49-F238E27FC236}">
                <a16:creationId xmlns:a16="http://schemas.microsoft.com/office/drawing/2014/main" id="{0C5F3372-BEAD-3AE7-B77B-64956152AEE9}"/>
              </a:ext>
            </a:extLst>
          </p:cNvPr>
          <p:cNvSpPr txBox="1"/>
          <p:nvPr/>
        </p:nvSpPr>
        <p:spPr>
          <a:xfrm>
            <a:off x="9629422" y="4674178"/>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F8716E37-C9FD-EB3F-E6F0-42AC8456D6F8}"/>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Tree>
    <p:extLst>
      <p:ext uri="{BB962C8B-B14F-4D97-AF65-F5344CB8AC3E}">
        <p14:creationId xmlns:p14="http://schemas.microsoft.com/office/powerpoint/2010/main" val="28607574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4543E-F174-C846-82A3-C3BE7370B4FA}"/>
            </a:ext>
          </a:extLst>
        </p:cNvPr>
        <p:cNvGrpSpPr/>
        <p:nvPr/>
      </p:nvGrpSpPr>
      <p:grpSpPr>
        <a:xfrm>
          <a:off x="0" y="0"/>
          <a:ext cx="0" cy="0"/>
          <a:chOff x="0" y="0"/>
          <a:chExt cx="0" cy="0"/>
        </a:xfrm>
      </p:grpSpPr>
      <p:pic>
        <p:nvPicPr>
          <p:cNvPr id="8" name="Picture 7" descr="Forms response chart. Question title: How many SIM cards do you usually use?. Number of responses: 54 responses.">
            <a:extLst>
              <a:ext uri="{FF2B5EF4-FFF2-40B4-BE49-F238E27FC236}">
                <a16:creationId xmlns:a16="http://schemas.microsoft.com/office/drawing/2014/main" id="{DC776A3A-0D32-EDB4-F26E-8CF5928A0BFF}"/>
              </a:ext>
            </a:extLst>
          </p:cNvPr>
          <p:cNvPicPr>
            <a:picLocks noChangeAspect="1"/>
          </p:cNvPicPr>
          <p:nvPr/>
        </p:nvPicPr>
        <p:blipFill>
          <a:blip r:embed="rId2"/>
          <a:stretch>
            <a:fillRect/>
          </a:stretch>
        </p:blipFill>
        <p:spPr>
          <a:xfrm>
            <a:off x="90431" y="1486788"/>
            <a:ext cx="13723211" cy="5774247"/>
          </a:xfrm>
          <a:prstGeom prst="rect">
            <a:avLst/>
          </a:prstGeom>
        </p:spPr>
      </p:pic>
      <p:grpSp>
        <p:nvGrpSpPr>
          <p:cNvPr id="2" name="Group 2">
            <a:extLst>
              <a:ext uri="{FF2B5EF4-FFF2-40B4-BE49-F238E27FC236}">
                <a16:creationId xmlns:a16="http://schemas.microsoft.com/office/drawing/2014/main" id="{866465B0-76C1-9E0B-4A04-99FA103389AB}"/>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3976F562-11D5-40C1-EDE0-3AD36DA92E3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F02CE34D-48FB-925F-6EB4-6B33CC642CE2}"/>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A6FED85A-3A59-3AF1-F8B1-6D20C9CEA021}"/>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2BCC5469-EAB2-AC38-6F98-EF6FC645351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95640A7B-0BCE-DBF8-3312-D7C9C97B0DB5}"/>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1EF41F82-2723-334C-3D4E-D0DC5986F143}"/>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F7D43F5F-1C4F-9F05-CA87-10505E319039}"/>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16" name="TextBox 15">
            <a:extLst>
              <a:ext uri="{FF2B5EF4-FFF2-40B4-BE49-F238E27FC236}">
                <a16:creationId xmlns:a16="http://schemas.microsoft.com/office/drawing/2014/main" id="{9FDBDE2F-0042-44A1-6D55-CC50573DDF1A}"/>
              </a:ext>
            </a:extLst>
          </p:cNvPr>
          <p:cNvSpPr txBox="1"/>
          <p:nvPr/>
        </p:nvSpPr>
        <p:spPr>
          <a:xfrm>
            <a:off x="9610029" y="5351928"/>
            <a:ext cx="8763000" cy="3970318"/>
          </a:xfrm>
          <a:prstGeom prst="rect">
            <a:avLst/>
          </a:prstGeom>
          <a:noFill/>
        </p:spPr>
        <p:txBody>
          <a:bodyPr wrap="square">
            <a:spAutoFit/>
          </a:bodyPr>
          <a:lstStyle/>
          <a:p>
            <a:r>
              <a:rPr lang="en-US" sz="2800" b="1" dirty="0">
                <a:solidFill>
                  <a:schemeClr val="tx2">
                    <a:lumMod val="50000"/>
                  </a:schemeClr>
                </a:solidFill>
              </a:rPr>
              <a:t>Multi-Network Logic</a:t>
            </a:r>
            <a:r>
              <a:rPr lang="en-US" sz="2800" dirty="0">
                <a:solidFill>
                  <a:schemeClr val="tx2">
                    <a:lumMod val="50000"/>
                  </a:schemeClr>
                </a:solidFill>
              </a:rPr>
              <a:t>: Determines if the app must support simultaneous data tracking for multiple network providers (MTN, Orange, etc.).</a:t>
            </a:r>
          </a:p>
          <a:p>
            <a:r>
              <a:rPr lang="en-US" sz="2800" b="1" dirty="0">
                <a:solidFill>
                  <a:schemeClr val="tx2">
                    <a:lumMod val="50000"/>
                  </a:schemeClr>
                </a:solidFill>
              </a:rPr>
              <a:t>API Complexity</a:t>
            </a:r>
            <a:r>
              <a:rPr lang="en-US" sz="2800" dirty="0">
                <a:solidFill>
                  <a:schemeClr val="tx2">
                    <a:lumMod val="50000"/>
                  </a:schemeClr>
                </a:solidFill>
              </a:rPr>
              <a:t>: Defines the need for Dual-SIM APIs to distinguish between which slot is providing the active data connection.</a:t>
            </a:r>
          </a:p>
          <a:p>
            <a:r>
              <a:rPr lang="en-US" sz="2800" b="1" dirty="0">
                <a:solidFill>
                  <a:schemeClr val="tx2">
                    <a:lumMod val="50000"/>
                  </a:schemeClr>
                </a:solidFill>
              </a:rPr>
              <a:t>User Behavior Mapping</a:t>
            </a:r>
            <a:r>
              <a:rPr lang="en-US" sz="2800" dirty="0">
                <a:solidFill>
                  <a:schemeClr val="tx2">
                    <a:lumMod val="50000"/>
                  </a:schemeClr>
                </a:solidFill>
              </a:rPr>
              <a:t>: Identifies "network hopping" habits where users switch SIMs based on signal strength or data costs.</a:t>
            </a:r>
          </a:p>
        </p:txBody>
      </p:sp>
      <p:sp>
        <p:nvSpPr>
          <p:cNvPr id="22" name="TextBox 21">
            <a:extLst>
              <a:ext uri="{FF2B5EF4-FFF2-40B4-BE49-F238E27FC236}">
                <a16:creationId xmlns:a16="http://schemas.microsoft.com/office/drawing/2014/main" id="{C1533DEE-8C5E-7B70-5D25-D641C1B7DEA6}"/>
              </a:ext>
            </a:extLst>
          </p:cNvPr>
          <p:cNvSpPr txBox="1"/>
          <p:nvPr/>
        </p:nvSpPr>
        <p:spPr>
          <a:xfrm>
            <a:off x="9629422" y="4674178"/>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20F84A95-2E33-682A-F760-6FAAB43106DC}"/>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Tree>
    <p:extLst>
      <p:ext uri="{BB962C8B-B14F-4D97-AF65-F5344CB8AC3E}">
        <p14:creationId xmlns:p14="http://schemas.microsoft.com/office/powerpoint/2010/main" val="23258915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3D052-3DBA-3E0C-7A87-52AC9BE75682}"/>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45C9E88F-BAD5-4C35-72FF-09D74E110ECB}"/>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7539AA73-74CA-7FBA-DB27-1D16A6CE2DF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BFDDF9F5-10ED-3032-F9EB-C999FDF49D44}"/>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16E198B5-14D6-56F6-6C88-E0D8D77A04AB}"/>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4E1BE8E2-5B3C-5CBA-E81D-D960400E1B79}"/>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ED28CD22-CAB6-9E5D-9515-9A678F2502D7}"/>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0" name="TextBox 10">
            <a:extLst>
              <a:ext uri="{FF2B5EF4-FFF2-40B4-BE49-F238E27FC236}">
                <a16:creationId xmlns:a16="http://schemas.microsoft.com/office/drawing/2014/main" id="{189EEA8F-DC80-74BA-2397-1DF46F2DB2E6}"/>
              </a:ext>
            </a:extLst>
          </p:cNvPr>
          <p:cNvSpPr txBox="1"/>
          <p:nvPr/>
        </p:nvSpPr>
        <p:spPr>
          <a:xfrm>
            <a:off x="3681416" y="2966640"/>
            <a:ext cx="15923435" cy="827150"/>
          </a:xfrm>
          <a:prstGeom prst="rect">
            <a:avLst/>
          </a:prstGeom>
        </p:spPr>
        <p:txBody>
          <a:bodyPr wrap="square" lIns="0" tIns="0" rIns="0" bIns="0" rtlCol="0" anchor="t">
            <a:spAutoFit/>
          </a:bodyPr>
          <a:lstStyle/>
          <a:p>
            <a:pPr marL="0" lvl="0" indent="0" algn="l">
              <a:lnSpc>
                <a:spcPts val="6173"/>
              </a:lnSpc>
            </a:pPr>
            <a:r>
              <a:rPr lang="en-US" sz="6000" b="1" dirty="0">
                <a:solidFill>
                  <a:srgbClr val="001E3A"/>
                </a:solidFill>
                <a:latin typeface="Garet Ultra-Bold"/>
                <a:ea typeface="Garet Ultra-Bold"/>
                <a:cs typeface="Garet Ultra-Bold"/>
                <a:sym typeface="Garet Ultra-Bold"/>
              </a:rPr>
              <a:t>User Technical Environment</a:t>
            </a:r>
          </a:p>
        </p:txBody>
      </p:sp>
      <p:sp>
        <p:nvSpPr>
          <p:cNvPr id="11" name="TextBox 11">
            <a:extLst>
              <a:ext uri="{FF2B5EF4-FFF2-40B4-BE49-F238E27FC236}">
                <a16:creationId xmlns:a16="http://schemas.microsoft.com/office/drawing/2014/main" id="{69205FBD-A998-9435-119C-8E91B5C9D01F}"/>
              </a:ext>
            </a:extLst>
          </p:cNvPr>
          <p:cNvSpPr txBox="1"/>
          <p:nvPr/>
        </p:nvSpPr>
        <p:spPr>
          <a:xfrm>
            <a:off x="4463329" y="4209788"/>
            <a:ext cx="10552228" cy="1779718"/>
          </a:xfrm>
          <a:prstGeom prst="rect">
            <a:avLst/>
          </a:prstGeom>
        </p:spPr>
        <p:txBody>
          <a:bodyPr lIns="0" tIns="0" rIns="0" bIns="0" rtlCol="0" anchor="t">
            <a:spAutoFit/>
          </a:bodyPr>
          <a:lstStyle/>
          <a:p>
            <a:pPr marL="0" lvl="0" indent="0" algn="l">
              <a:lnSpc>
                <a:spcPts val="3513"/>
              </a:lnSpc>
            </a:pPr>
            <a:r>
              <a:rPr lang="en-US" sz="2509" dirty="0">
                <a:solidFill>
                  <a:srgbClr val="001E3A"/>
                </a:solidFill>
                <a:latin typeface="Garet"/>
                <a:ea typeface="Garet"/>
                <a:cs typeface="Garet"/>
                <a:sym typeface="Garet"/>
              </a:rPr>
              <a:t>76.4% of respondents use Android smartphones, with 50% running Android 13 or newer. A notable minority use iOS devices, establishing a clear requirement for cross-platform app development to ensure broad accessibility.</a:t>
            </a:r>
          </a:p>
        </p:txBody>
      </p:sp>
      <p:grpSp>
        <p:nvGrpSpPr>
          <p:cNvPr id="12" name="Group 12">
            <a:extLst>
              <a:ext uri="{FF2B5EF4-FFF2-40B4-BE49-F238E27FC236}">
                <a16:creationId xmlns:a16="http://schemas.microsoft.com/office/drawing/2014/main" id="{91CC866A-71E9-6CE9-BFDB-C33221AE81E6}"/>
              </a:ext>
            </a:extLst>
          </p:cNvPr>
          <p:cNvGrpSpPr/>
          <p:nvPr/>
        </p:nvGrpSpPr>
        <p:grpSpPr>
          <a:xfrm>
            <a:off x="3272443" y="4266938"/>
            <a:ext cx="876562" cy="876562"/>
            <a:chOff x="0" y="0"/>
            <a:chExt cx="812800" cy="812800"/>
          </a:xfrm>
        </p:grpSpPr>
        <p:sp>
          <p:nvSpPr>
            <p:cNvPr id="13" name="Freeform 13">
              <a:extLst>
                <a:ext uri="{FF2B5EF4-FFF2-40B4-BE49-F238E27FC236}">
                  <a16:creationId xmlns:a16="http://schemas.microsoft.com/office/drawing/2014/main" id="{929C06B1-3BFC-BAEF-B6DD-24C67F04971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4" name="TextBox 14">
              <a:extLst>
                <a:ext uri="{FF2B5EF4-FFF2-40B4-BE49-F238E27FC236}">
                  <a16:creationId xmlns:a16="http://schemas.microsoft.com/office/drawing/2014/main" id="{ED8EABDF-7F8C-6CA9-91BC-4F4CCB425C83}"/>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5" name="TextBox 15">
            <a:extLst>
              <a:ext uri="{FF2B5EF4-FFF2-40B4-BE49-F238E27FC236}">
                <a16:creationId xmlns:a16="http://schemas.microsoft.com/office/drawing/2014/main" id="{0E3C08F4-9565-4DC6-D7AD-22B748216E3C}"/>
              </a:ext>
            </a:extLst>
          </p:cNvPr>
          <p:cNvSpPr txBox="1"/>
          <p:nvPr/>
        </p:nvSpPr>
        <p:spPr>
          <a:xfrm>
            <a:off x="4463329" y="6410900"/>
            <a:ext cx="10552228" cy="1746013"/>
          </a:xfrm>
          <a:prstGeom prst="rect">
            <a:avLst/>
          </a:prstGeom>
        </p:spPr>
        <p:txBody>
          <a:bodyPr lIns="0" tIns="0" rIns="0" bIns="0" rtlCol="0" anchor="t">
            <a:spAutoFit/>
          </a:bodyPr>
          <a:lstStyle/>
          <a:p>
            <a:pPr marL="0" lvl="0" indent="0" algn="l">
              <a:lnSpc>
                <a:spcPts val="3513"/>
              </a:lnSpc>
            </a:pPr>
            <a:r>
              <a:rPr lang="en-US" sz="2509" dirty="0">
                <a:solidFill>
                  <a:srgbClr val="001E3A"/>
                </a:solidFill>
                <a:latin typeface="Garet"/>
                <a:ea typeface="Garet"/>
                <a:cs typeface="Garet"/>
                <a:sym typeface="Garet"/>
              </a:rPr>
              <a:t>Significant dual-SIM usage was identified among subscribers. This presents a critical technical requirement: the app must accurately detect and identify the active data SIM to correctly attribute network experience data to the appropriate carrier.</a:t>
            </a:r>
          </a:p>
        </p:txBody>
      </p:sp>
      <p:grpSp>
        <p:nvGrpSpPr>
          <p:cNvPr id="16" name="Group 16">
            <a:extLst>
              <a:ext uri="{FF2B5EF4-FFF2-40B4-BE49-F238E27FC236}">
                <a16:creationId xmlns:a16="http://schemas.microsoft.com/office/drawing/2014/main" id="{9CDB6A90-2546-B257-D258-ACBAF9D5A5EA}"/>
              </a:ext>
            </a:extLst>
          </p:cNvPr>
          <p:cNvGrpSpPr/>
          <p:nvPr/>
        </p:nvGrpSpPr>
        <p:grpSpPr>
          <a:xfrm>
            <a:off x="3272443" y="6468050"/>
            <a:ext cx="876562" cy="876562"/>
            <a:chOff x="0" y="0"/>
            <a:chExt cx="812800" cy="812800"/>
          </a:xfrm>
        </p:grpSpPr>
        <p:sp>
          <p:nvSpPr>
            <p:cNvPr id="17" name="Freeform 17">
              <a:extLst>
                <a:ext uri="{FF2B5EF4-FFF2-40B4-BE49-F238E27FC236}">
                  <a16:creationId xmlns:a16="http://schemas.microsoft.com/office/drawing/2014/main" id="{78F1F581-A42E-DB77-EE29-7A21F0F3A91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8" name="TextBox 18">
              <a:extLst>
                <a:ext uri="{FF2B5EF4-FFF2-40B4-BE49-F238E27FC236}">
                  <a16:creationId xmlns:a16="http://schemas.microsoft.com/office/drawing/2014/main" id="{26D5A33D-E33E-8395-61E6-5F0E3D7FAF24}"/>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9" name="TextBox 19">
            <a:extLst>
              <a:ext uri="{FF2B5EF4-FFF2-40B4-BE49-F238E27FC236}">
                <a16:creationId xmlns:a16="http://schemas.microsoft.com/office/drawing/2014/main" id="{9E47D73C-31A1-8950-BC36-7BCF7FF6765C}"/>
              </a:ext>
            </a:extLst>
          </p:cNvPr>
          <p:cNvSpPr txBox="1"/>
          <p:nvPr/>
        </p:nvSpPr>
        <p:spPr>
          <a:xfrm>
            <a:off x="14250620" y="9229725"/>
            <a:ext cx="1865504" cy="208643"/>
          </a:xfrm>
          <a:prstGeom prst="rect">
            <a:avLst/>
          </a:prstGeom>
        </p:spPr>
        <p:txBody>
          <a:bodyPr lIns="0" tIns="0" rIns="0" bIns="0" rtlCol="0" anchor="t">
            <a:spAutoFit/>
          </a:bodyPr>
          <a:lstStyle/>
          <a:p>
            <a:pPr marL="0" lvl="0" indent="0" algn="l">
              <a:lnSpc>
                <a:spcPts val="1679"/>
              </a:lnSpc>
            </a:pPr>
            <a:r>
              <a:rPr lang="en-US" sz="1199" dirty="0">
                <a:solidFill>
                  <a:srgbClr val="001E3A"/>
                </a:solidFill>
                <a:latin typeface="Garet"/>
                <a:ea typeface="Garet"/>
                <a:cs typeface="Garet"/>
                <a:sym typeface="Garet"/>
              </a:rPr>
              <a:t>University of Buea</a:t>
            </a:r>
          </a:p>
        </p:txBody>
      </p:sp>
      <p:sp>
        <p:nvSpPr>
          <p:cNvPr id="20" name="TextBox 20">
            <a:extLst>
              <a:ext uri="{FF2B5EF4-FFF2-40B4-BE49-F238E27FC236}">
                <a16:creationId xmlns:a16="http://schemas.microsoft.com/office/drawing/2014/main" id="{6D1F7F8E-95EA-7116-FED7-C3BE66A4313C}"/>
              </a:ext>
            </a:extLst>
          </p:cNvPr>
          <p:cNvSpPr txBox="1"/>
          <p:nvPr/>
        </p:nvSpPr>
        <p:spPr>
          <a:xfrm>
            <a:off x="14250620" y="9443214"/>
            <a:ext cx="3008680" cy="478729"/>
          </a:xfrm>
          <a:prstGeom prst="rect">
            <a:avLst/>
          </a:prstGeom>
        </p:spPr>
        <p:txBody>
          <a:bodyPr lIns="0" tIns="0" rIns="0" bIns="0" rtlCol="0" anchor="t">
            <a:spAutoFit/>
          </a:bodyPr>
          <a:lstStyle/>
          <a:p>
            <a:pPr marL="0" lvl="0" indent="0" algn="l">
              <a:lnSpc>
                <a:spcPts val="1977"/>
              </a:lnSpc>
            </a:pPr>
            <a:r>
              <a:rPr lang="en-US" sz="1412">
                <a:solidFill>
                  <a:srgbClr val="001E3A"/>
                </a:solidFill>
                <a:latin typeface="Garet"/>
                <a:ea typeface="Garet"/>
                <a:cs typeface="Garet"/>
                <a:sym typeface="Garet"/>
              </a:rPr>
              <a:t>CEF440 – Internet and Mobile Programming</a:t>
            </a:r>
          </a:p>
        </p:txBody>
      </p:sp>
      <p:sp>
        <p:nvSpPr>
          <p:cNvPr id="21" name="TextBox 21">
            <a:extLst>
              <a:ext uri="{FF2B5EF4-FFF2-40B4-BE49-F238E27FC236}">
                <a16:creationId xmlns:a16="http://schemas.microsoft.com/office/drawing/2014/main" id="{318C9330-AE8C-33C3-50AA-9C010F0C2B33}"/>
              </a:ext>
            </a:extLst>
          </p:cNvPr>
          <p:cNvSpPr txBox="1"/>
          <p:nvPr/>
        </p:nvSpPr>
        <p:spPr>
          <a:xfrm>
            <a:off x="13691401" y="9324975"/>
            <a:ext cx="559219" cy="202069"/>
          </a:xfrm>
          <a:prstGeom prst="rect">
            <a:avLst/>
          </a:prstGeom>
        </p:spPr>
        <p:txBody>
          <a:bodyPr lIns="0" tIns="0" rIns="0" bIns="0" rtlCol="0" anchor="t">
            <a:spAutoFit/>
          </a:bodyPr>
          <a:lstStyle/>
          <a:p>
            <a:pPr marL="0" lvl="0" indent="0" algn="ctr">
              <a:lnSpc>
                <a:spcPts val="1480"/>
              </a:lnSpc>
            </a:pPr>
            <a:r>
              <a:rPr lang="en-US" sz="1783" b="1">
                <a:solidFill>
                  <a:srgbClr val="001E3A"/>
                </a:solidFill>
                <a:latin typeface="Garet Ultra-Bold"/>
                <a:ea typeface="Garet Ultra-Bold"/>
                <a:cs typeface="Garet Ultra-Bold"/>
                <a:sym typeface="Garet Ultra-Bold"/>
              </a:rPr>
              <a:t>4</a:t>
            </a:r>
          </a:p>
        </p:txBody>
      </p:sp>
    </p:spTree>
    <p:extLst>
      <p:ext uri="{BB962C8B-B14F-4D97-AF65-F5344CB8AC3E}">
        <p14:creationId xmlns:p14="http://schemas.microsoft.com/office/powerpoint/2010/main" val="4507707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TextBox 10"/>
          <p:cNvSpPr txBox="1"/>
          <p:nvPr/>
        </p:nvSpPr>
        <p:spPr>
          <a:xfrm>
            <a:off x="4019506" y="4066686"/>
            <a:ext cx="11199035" cy="1622752"/>
          </a:xfrm>
          <a:prstGeom prst="rect">
            <a:avLst/>
          </a:prstGeom>
        </p:spPr>
        <p:txBody>
          <a:bodyPr wrap="square" lIns="0" tIns="0" rIns="0" bIns="0" rtlCol="0" anchor="t">
            <a:spAutoFit/>
          </a:bodyPr>
          <a:lstStyle/>
          <a:p>
            <a:pPr marL="0" lvl="0" indent="0" algn="l">
              <a:lnSpc>
                <a:spcPts val="5960"/>
              </a:lnSpc>
            </a:pPr>
            <a:r>
              <a:rPr lang="en-US" sz="7180" b="1" dirty="0">
                <a:solidFill>
                  <a:srgbClr val="001E3A"/>
                </a:solidFill>
                <a:latin typeface="Garet Ultra-Bold"/>
                <a:ea typeface="Garet Ultra-Bold"/>
                <a:cs typeface="Garet Ultra-Bold"/>
                <a:sym typeface="Garet Ultra-Bold"/>
              </a:rPr>
              <a:t>Network Experience Data And  Analysis</a:t>
            </a:r>
          </a:p>
        </p:txBody>
      </p:sp>
      <p:sp>
        <p:nvSpPr>
          <p:cNvPr id="19" name="TextBox 19"/>
          <p:cNvSpPr txBox="1"/>
          <p:nvPr/>
        </p:nvSpPr>
        <p:spPr>
          <a:xfrm>
            <a:off x="14250620" y="9229725"/>
            <a:ext cx="1865504" cy="208643"/>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University of Buea</a:t>
            </a:r>
          </a:p>
        </p:txBody>
      </p:sp>
      <p:sp>
        <p:nvSpPr>
          <p:cNvPr id="20" name="TextBox 20"/>
          <p:cNvSpPr txBox="1"/>
          <p:nvPr/>
        </p:nvSpPr>
        <p:spPr>
          <a:xfrm>
            <a:off x="14250620" y="9443214"/>
            <a:ext cx="3008680" cy="478729"/>
          </a:xfrm>
          <a:prstGeom prst="rect">
            <a:avLst/>
          </a:prstGeom>
        </p:spPr>
        <p:txBody>
          <a:bodyPr lIns="0" tIns="0" rIns="0" bIns="0" rtlCol="0" anchor="t">
            <a:spAutoFit/>
          </a:bodyPr>
          <a:lstStyle/>
          <a:p>
            <a:pPr marL="0" lvl="0" indent="0" algn="l">
              <a:lnSpc>
                <a:spcPts val="1977"/>
              </a:lnSpc>
            </a:pPr>
            <a:r>
              <a:rPr lang="en-US" sz="1412">
                <a:solidFill>
                  <a:srgbClr val="001E3A"/>
                </a:solidFill>
                <a:latin typeface="Garet"/>
                <a:ea typeface="Garet"/>
                <a:cs typeface="Garet"/>
                <a:sym typeface="Garet"/>
              </a:rPr>
              <a:t>CEF440 – Internet and Mobile Programming</a:t>
            </a:r>
          </a:p>
        </p:txBody>
      </p:sp>
      <p:sp>
        <p:nvSpPr>
          <p:cNvPr id="21" name="TextBox 21"/>
          <p:cNvSpPr txBox="1"/>
          <p:nvPr/>
        </p:nvSpPr>
        <p:spPr>
          <a:xfrm>
            <a:off x="13691401" y="9315450"/>
            <a:ext cx="559219" cy="201590"/>
          </a:xfrm>
          <a:prstGeom prst="rect">
            <a:avLst/>
          </a:prstGeom>
        </p:spPr>
        <p:txBody>
          <a:bodyPr lIns="0" tIns="0" rIns="0" bIns="0" rtlCol="0" anchor="t">
            <a:spAutoFit/>
          </a:bodyPr>
          <a:lstStyle/>
          <a:p>
            <a:pPr marL="0" lvl="0" indent="0" algn="ctr">
              <a:lnSpc>
                <a:spcPts val="1429"/>
              </a:lnSpc>
            </a:pPr>
            <a:r>
              <a:rPr lang="en-US" sz="1722" b="1">
                <a:solidFill>
                  <a:srgbClr val="001E3A"/>
                </a:solidFill>
                <a:latin typeface="Garet Ultra-Bold"/>
                <a:ea typeface="Garet Ultra-Bold"/>
                <a:cs typeface="Garet Ultra-Bold"/>
                <a:sym typeface="Garet Ultra-Bold"/>
              </a:rPr>
              <a:t>5</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A57EB-8F0F-CEA3-E7EE-81965979FD10}"/>
            </a:ext>
          </a:extLst>
        </p:cNvPr>
        <p:cNvGrpSpPr/>
        <p:nvPr/>
      </p:nvGrpSpPr>
      <p:grpSpPr>
        <a:xfrm>
          <a:off x="0" y="0"/>
          <a:ext cx="0" cy="0"/>
          <a:chOff x="0" y="0"/>
          <a:chExt cx="0" cy="0"/>
        </a:xfrm>
      </p:grpSpPr>
      <p:pic>
        <p:nvPicPr>
          <p:cNvPr id="9" name="Picture 8" descr="Forms response chart. Question title: Which mobile network(s) do you use most often?. Number of responses: 55 responses.">
            <a:extLst>
              <a:ext uri="{FF2B5EF4-FFF2-40B4-BE49-F238E27FC236}">
                <a16:creationId xmlns:a16="http://schemas.microsoft.com/office/drawing/2014/main" id="{0CEEB735-8934-4867-D18F-38F5886BC220}"/>
              </a:ext>
            </a:extLst>
          </p:cNvPr>
          <p:cNvPicPr>
            <a:picLocks noChangeAspect="1"/>
          </p:cNvPicPr>
          <p:nvPr/>
        </p:nvPicPr>
        <p:blipFill>
          <a:blip r:embed="rId2"/>
          <a:stretch>
            <a:fillRect/>
          </a:stretch>
        </p:blipFill>
        <p:spPr>
          <a:xfrm>
            <a:off x="381000" y="1423975"/>
            <a:ext cx="12268200" cy="5162029"/>
          </a:xfrm>
          <a:prstGeom prst="rect">
            <a:avLst/>
          </a:prstGeom>
        </p:spPr>
      </p:pic>
      <p:grpSp>
        <p:nvGrpSpPr>
          <p:cNvPr id="2" name="Group 2">
            <a:extLst>
              <a:ext uri="{FF2B5EF4-FFF2-40B4-BE49-F238E27FC236}">
                <a16:creationId xmlns:a16="http://schemas.microsoft.com/office/drawing/2014/main" id="{D8B6C74C-DBAF-3AAE-1405-2CB92071B37B}"/>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702817AA-AAB6-0393-62EB-F0E2415E49E0}"/>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4D831611-6C40-B3AC-8FBB-AD3DC0FB3CE2}"/>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CC247DC7-4873-1197-A2AC-5E9218E37C8B}"/>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B83FF3A6-4390-AA80-8BA2-D60FFAB7D5F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F42CA252-2BF3-F02B-C7C9-3D9C83CB01CA}"/>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85F0BCA9-8EB1-2FE7-8CAE-1759800A3430}"/>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047D6D0C-7BD8-14DE-CA24-675A28FDE32D}"/>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16" name="TextBox 15">
            <a:extLst>
              <a:ext uri="{FF2B5EF4-FFF2-40B4-BE49-F238E27FC236}">
                <a16:creationId xmlns:a16="http://schemas.microsoft.com/office/drawing/2014/main" id="{C1601AB9-0604-4409-02FB-359BB9776B26}"/>
              </a:ext>
            </a:extLst>
          </p:cNvPr>
          <p:cNvSpPr txBox="1"/>
          <p:nvPr/>
        </p:nvSpPr>
        <p:spPr>
          <a:xfrm>
            <a:off x="9610029" y="5351928"/>
            <a:ext cx="8763000" cy="3970318"/>
          </a:xfrm>
          <a:prstGeom prst="rect">
            <a:avLst/>
          </a:prstGeom>
          <a:noFill/>
        </p:spPr>
        <p:txBody>
          <a:bodyPr wrap="square">
            <a:spAutoFit/>
          </a:bodyPr>
          <a:lstStyle/>
          <a:p>
            <a:r>
              <a:rPr lang="en-US" sz="2800" b="1" dirty="0">
                <a:solidFill>
                  <a:schemeClr val="tx2">
                    <a:lumMod val="50000"/>
                  </a:schemeClr>
                </a:solidFill>
              </a:rPr>
              <a:t>Provider Benchmarking</a:t>
            </a:r>
            <a:r>
              <a:rPr lang="en-US" sz="2800" dirty="0">
                <a:solidFill>
                  <a:schemeClr val="tx2">
                    <a:lumMod val="50000"/>
                  </a:schemeClr>
                </a:solidFill>
              </a:rPr>
              <a:t>: Identifies which local ISPs (MTN, Orange, Both, Others) require the most rigorous testing and optimization.</a:t>
            </a:r>
          </a:p>
          <a:p>
            <a:r>
              <a:rPr lang="en-US" sz="2800" b="1" dirty="0">
                <a:solidFill>
                  <a:schemeClr val="tx2">
                    <a:lumMod val="50000"/>
                  </a:schemeClr>
                </a:solidFill>
              </a:rPr>
              <a:t>Infrastructure Correlation</a:t>
            </a:r>
            <a:r>
              <a:rPr lang="en-US" sz="2800" dirty="0">
                <a:solidFill>
                  <a:schemeClr val="tx2">
                    <a:lumMod val="50000"/>
                  </a:schemeClr>
                </a:solidFill>
              </a:rPr>
              <a:t>: Allows the system to map specific signal failures to the corresponding provider's tower density in that region.</a:t>
            </a:r>
          </a:p>
          <a:p>
            <a:r>
              <a:rPr lang="en-US" sz="2800" b="1" dirty="0">
                <a:solidFill>
                  <a:schemeClr val="tx2">
                    <a:lumMod val="50000"/>
                  </a:schemeClr>
                </a:solidFill>
              </a:rPr>
              <a:t>Competitive Analysis</a:t>
            </a:r>
            <a:r>
              <a:rPr lang="en-US" sz="2800" dirty="0">
                <a:solidFill>
                  <a:schemeClr val="tx2">
                    <a:lumMod val="50000"/>
                  </a:schemeClr>
                </a:solidFill>
              </a:rPr>
              <a:t>: Establishes a baseline for Quality of Experience (QoE) comparisons across the different carriers used by stakeholders.</a:t>
            </a:r>
          </a:p>
        </p:txBody>
      </p:sp>
      <p:sp>
        <p:nvSpPr>
          <p:cNvPr id="22" name="TextBox 21">
            <a:extLst>
              <a:ext uri="{FF2B5EF4-FFF2-40B4-BE49-F238E27FC236}">
                <a16:creationId xmlns:a16="http://schemas.microsoft.com/office/drawing/2014/main" id="{1B4762AB-4265-E11B-3F01-80DFB1344094}"/>
              </a:ext>
            </a:extLst>
          </p:cNvPr>
          <p:cNvSpPr txBox="1"/>
          <p:nvPr/>
        </p:nvSpPr>
        <p:spPr>
          <a:xfrm>
            <a:off x="9629422" y="4674178"/>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6B766DF0-679B-E3F4-95B3-E701CC8818D2}"/>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Tree>
    <p:extLst>
      <p:ext uri="{BB962C8B-B14F-4D97-AF65-F5344CB8AC3E}">
        <p14:creationId xmlns:p14="http://schemas.microsoft.com/office/powerpoint/2010/main" val="12964388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3B868-954C-838D-93E1-E953A5C87965}"/>
            </a:ext>
          </a:extLst>
        </p:cNvPr>
        <p:cNvGrpSpPr/>
        <p:nvPr/>
      </p:nvGrpSpPr>
      <p:grpSpPr>
        <a:xfrm>
          <a:off x="0" y="0"/>
          <a:ext cx="0" cy="0"/>
          <a:chOff x="0" y="0"/>
          <a:chExt cx="0" cy="0"/>
        </a:xfrm>
      </p:grpSpPr>
      <p:pic>
        <p:nvPicPr>
          <p:cNvPr id="8" name="Picture 7" descr="Forms response chart. Question title: What do you mainly use mobile data for?. Number of responses: 55 responses.">
            <a:extLst>
              <a:ext uri="{FF2B5EF4-FFF2-40B4-BE49-F238E27FC236}">
                <a16:creationId xmlns:a16="http://schemas.microsoft.com/office/drawing/2014/main" id="{39013F4E-3063-DB66-8BAD-9AC52926B71F}"/>
              </a:ext>
            </a:extLst>
          </p:cNvPr>
          <p:cNvPicPr>
            <a:picLocks noChangeAspect="1"/>
          </p:cNvPicPr>
          <p:nvPr/>
        </p:nvPicPr>
        <p:blipFill>
          <a:blip r:embed="rId2"/>
          <a:stretch>
            <a:fillRect/>
          </a:stretch>
        </p:blipFill>
        <p:spPr>
          <a:xfrm>
            <a:off x="-14121" y="171758"/>
            <a:ext cx="15509631" cy="6525910"/>
          </a:xfrm>
          <a:prstGeom prst="rect">
            <a:avLst/>
          </a:prstGeom>
        </p:spPr>
      </p:pic>
      <p:grpSp>
        <p:nvGrpSpPr>
          <p:cNvPr id="2" name="Group 2">
            <a:extLst>
              <a:ext uri="{FF2B5EF4-FFF2-40B4-BE49-F238E27FC236}">
                <a16:creationId xmlns:a16="http://schemas.microsoft.com/office/drawing/2014/main" id="{355F8C01-C489-DAF7-486D-9AF456C3EBAF}"/>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24EE08E1-3EE3-02E2-B079-BAC1BC48F55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971CBDAD-FBEE-9AAC-5531-703361078C25}"/>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BE6B7846-7D5B-65D3-BE87-52B246429C49}"/>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303806DC-1E3A-40E0-76DE-DB4BC0EF5135}"/>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C7AD6547-2A80-779E-6733-A47F0B8DC50E}"/>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AAD7F8AD-C86F-82A3-9A82-C45BA0DCC0EB}"/>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79F1464D-8C42-02FE-930A-5CE4C5007DF4}"/>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16" name="TextBox 15">
            <a:extLst>
              <a:ext uri="{FF2B5EF4-FFF2-40B4-BE49-F238E27FC236}">
                <a16:creationId xmlns:a16="http://schemas.microsoft.com/office/drawing/2014/main" id="{0A7559DD-0CE3-245B-7312-24F12D47A44E}"/>
              </a:ext>
            </a:extLst>
          </p:cNvPr>
          <p:cNvSpPr txBox="1"/>
          <p:nvPr/>
        </p:nvSpPr>
        <p:spPr>
          <a:xfrm>
            <a:off x="8963006" y="5190393"/>
            <a:ext cx="9260548" cy="4832092"/>
          </a:xfrm>
          <a:prstGeom prst="rect">
            <a:avLst/>
          </a:prstGeom>
          <a:noFill/>
        </p:spPr>
        <p:txBody>
          <a:bodyPr wrap="square">
            <a:spAutoFit/>
          </a:bodyPr>
          <a:lstStyle/>
          <a:p>
            <a:r>
              <a:rPr lang="en-US" sz="2800" b="1" dirty="0">
                <a:solidFill>
                  <a:schemeClr val="tx2">
                    <a:lumMod val="50000"/>
                  </a:schemeClr>
                </a:solidFill>
              </a:rPr>
              <a:t>Identifies Usage Dominance</a:t>
            </a:r>
            <a:r>
              <a:rPr lang="en-US" sz="2800" dirty="0">
                <a:solidFill>
                  <a:schemeClr val="tx2">
                    <a:lumMod val="50000"/>
                  </a:schemeClr>
                </a:solidFill>
              </a:rPr>
              <a:t>: Pinpoints whether the network is being used for high-bandwidth (Streaming) vs. low-bandwidth (WhatsApp) tasks.</a:t>
            </a:r>
          </a:p>
          <a:p>
            <a:r>
              <a:rPr lang="en-US" sz="2800" b="1" dirty="0">
                <a:solidFill>
                  <a:schemeClr val="tx2">
                    <a:lumMod val="50000"/>
                  </a:schemeClr>
                </a:solidFill>
              </a:rPr>
              <a:t>Predicts Network Strain</a:t>
            </a:r>
            <a:r>
              <a:rPr lang="en-US" sz="2800" dirty="0">
                <a:solidFill>
                  <a:schemeClr val="tx2">
                    <a:lumMod val="50000"/>
                  </a:schemeClr>
                </a:solidFill>
              </a:rPr>
              <a:t>: High "Streaming" responses signal a need for high downlink throughput, while "Work/School" suggests a need for stability.</a:t>
            </a:r>
          </a:p>
          <a:p>
            <a:r>
              <a:rPr lang="en-US" sz="2800" b="1" dirty="0">
                <a:solidFill>
                  <a:schemeClr val="tx2">
                    <a:lumMod val="50000"/>
                  </a:schemeClr>
                </a:solidFill>
              </a:rPr>
              <a:t>Segments User Expectations</a:t>
            </a:r>
            <a:r>
              <a:rPr lang="en-US" sz="2800" dirty="0">
                <a:solidFill>
                  <a:schemeClr val="tx2">
                    <a:lumMod val="50000"/>
                  </a:schemeClr>
                </a:solidFill>
              </a:rPr>
              <a:t>: Defines the "context of use," allowing you to weight the Overall Experience rating against the specific demands of these activities.</a:t>
            </a:r>
          </a:p>
          <a:p>
            <a:endParaRPr lang="en-US" sz="2800" dirty="0">
              <a:solidFill>
                <a:schemeClr val="tx2">
                  <a:lumMod val="50000"/>
                </a:schemeClr>
              </a:solidFill>
            </a:endParaRPr>
          </a:p>
          <a:p>
            <a:endParaRPr lang="en-US" sz="2800" dirty="0">
              <a:solidFill>
                <a:schemeClr val="tx2">
                  <a:lumMod val="50000"/>
                </a:schemeClr>
              </a:solidFill>
            </a:endParaRPr>
          </a:p>
        </p:txBody>
      </p:sp>
      <p:sp>
        <p:nvSpPr>
          <p:cNvPr id="22" name="TextBox 21">
            <a:extLst>
              <a:ext uri="{FF2B5EF4-FFF2-40B4-BE49-F238E27FC236}">
                <a16:creationId xmlns:a16="http://schemas.microsoft.com/office/drawing/2014/main" id="{25435C1F-0E93-C31F-1C81-5285711FCAB8}"/>
              </a:ext>
            </a:extLst>
          </p:cNvPr>
          <p:cNvSpPr txBox="1"/>
          <p:nvPr/>
        </p:nvSpPr>
        <p:spPr>
          <a:xfrm>
            <a:off x="8990447" y="4476654"/>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F6F818B8-D518-3A41-2738-36D90DECEC83}"/>
              </a:ext>
            </a:extLst>
          </p:cNvPr>
          <p:cNvSpPr txBox="1"/>
          <p:nvPr/>
        </p:nvSpPr>
        <p:spPr>
          <a:xfrm>
            <a:off x="430290" y="1790709"/>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
        <p:nvSpPr>
          <p:cNvPr id="12" name="TextBox 11">
            <a:extLst>
              <a:ext uri="{FF2B5EF4-FFF2-40B4-BE49-F238E27FC236}">
                <a16:creationId xmlns:a16="http://schemas.microsoft.com/office/drawing/2014/main" id="{49F4A88D-F1A0-CF23-8BCE-1765A60057C2}"/>
              </a:ext>
            </a:extLst>
          </p:cNvPr>
          <p:cNvSpPr txBox="1"/>
          <p:nvPr/>
        </p:nvSpPr>
        <p:spPr>
          <a:xfrm>
            <a:off x="2244825" y="6809534"/>
            <a:ext cx="6400800" cy="2862322"/>
          </a:xfrm>
          <a:prstGeom prst="rect">
            <a:avLst/>
          </a:prstGeom>
          <a:noFill/>
        </p:spPr>
        <p:txBody>
          <a:bodyPr wrap="square">
            <a:spAutoFit/>
          </a:bodyPr>
          <a:lstStyle/>
          <a:p>
            <a:r>
              <a:rPr lang="en-US" sz="3600" b="0" i="0" dirty="0">
                <a:solidFill>
                  <a:schemeClr val="tx2">
                    <a:lumMod val="50000"/>
                  </a:schemeClr>
                </a:solidFill>
                <a:effectLst/>
              </a:rPr>
              <a:t>This question isn't just about habits; it's about defining which </a:t>
            </a:r>
            <a:r>
              <a:rPr lang="en-US" sz="3600" b="1" i="0" dirty="0">
                <a:solidFill>
                  <a:schemeClr val="tx2">
                    <a:lumMod val="50000"/>
                  </a:schemeClr>
                </a:solidFill>
                <a:effectLst/>
              </a:rPr>
              <a:t>network bottlenecks</a:t>
            </a:r>
            <a:r>
              <a:rPr lang="en-US" sz="3600" b="0" i="0" dirty="0">
                <a:solidFill>
                  <a:schemeClr val="tx2">
                    <a:lumMod val="50000"/>
                  </a:schemeClr>
                </a:solidFill>
                <a:effectLst/>
              </a:rPr>
              <a:t> will frustrate the user first and for easy detection.</a:t>
            </a:r>
            <a:endParaRPr lang="en-US" sz="3600" dirty="0">
              <a:solidFill>
                <a:schemeClr val="tx2">
                  <a:lumMod val="50000"/>
                </a:schemeClr>
              </a:solidFill>
            </a:endParaRPr>
          </a:p>
        </p:txBody>
      </p:sp>
    </p:spTree>
    <p:extLst>
      <p:ext uri="{BB962C8B-B14F-4D97-AF65-F5344CB8AC3E}">
        <p14:creationId xmlns:p14="http://schemas.microsoft.com/office/powerpoint/2010/main" val="10541290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E8309-DFF8-BEC6-20CE-A1FEC05786EF}"/>
            </a:ext>
          </a:extLst>
        </p:cNvPr>
        <p:cNvGrpSpPr/>
        <p:nvPr/>
      </p:nvGrpSpPr>
      <p:grpSpPr>
        <a:xfrm>
          <a:off x="0" y="0"/>
          <a:ext cx="0" cy="0"/>
          <a:chOff x="0" y="0"/>
          <a:chExt cx="0" cy="0"/>
        </a:xfrm>
      </p:grpSpPr>
      <p:pic>
        <p:nvPicPr>
          <p:cNvPr id="9" name="Picture 8" descr="Forms response chart. Question title: How would you rate your overall mobile network experience?. Number of responses: 55 responses.">
            <a:extLst>
              <a:ext uri="{FF2B5EF4-FFF2-40B4-BE49-F238E27FC236}">
                <a16:creationId xmlns:a16="http://schemas.microsoft.com/office/drawing/2014/main" id="{EE2A2BE6-E7DF-C683-D1BE-8F3F4D231224}"/>
              </a:ext>
            </a:extLst>
          </p:cNvPr>
          <p:cNvPicPr>
            <a:picLocks noChangeAspect="1"/>
          </p:cNvPicPr>
          <p:nvPr/>
        </p:nvPicPr>
        <p:blipFill>
          <a:blip r:embed="rId2"/>
          <a:stretch>
            <a:fillRect/>
          </a:stretch>
        </p:blipFill>
        <p:spPr>
          <a:xfrm>
            <a:off x="-187570" y="-336499"/>
            <a:ext cx="18446262" cy="7761542"/>
          </a:xfrm>
          <a:prstGeom prst="rect">
            <a:avLst/>
          </a:prstGeom>
        </p:spPr>
      </p:pic>
      <p:grpSp>
        <p:nvGrpSpPr>
          <p:cNvPr id="2" name="Group 2">
            <a:extLst>
              <a:ext uri="{FF2B5EF4-FFF2-40B4-BE49-F238E27FC236}">
                <a16:creationId xmlns:a16="http://schemas.microsoft.com/office/drawing/2014/main" id="{7C6A9F8C-7097-73A7-1284-956AC4A14F81}"/>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B74633A8-F96A-25D1-0EA1-D929D6848DB4}"/>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CB8BB1B0-7B33-366C-7B7A-8465C20C6100}"/>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C5CC62C6-7792-C820-3D9A-22F34ABFBC2A}"/>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4E0B460A-8EA3-109E-59D5-2BBBB52C4315}"/>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74216597-3442-F273-C6A7-17D3CC99A20A}"/>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C5C462ED-6B4C-6C88-18EC-990D8321E806}"/>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2D4C890A-2280-B5A4-CFCC-DEBF9735E658}"/>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16" name="TextBox 15">
            <a:extLst>
              <a:ext uri="{FF2B5EF4-FFF2-40B4-BE49-F238E27FC236}">
                <a16:creationId xmlns:a16="http://schemas.microsoft.com/office/drawing/2014/main" id="{EC01B977-3297-EA1B-971F-03E72DF9C02C}"/>
              </a:ext>
            </a:extLst>
          </p:cNvPr>
          <p:cNvSpPr txBox="1"/>
          <p:nvPr/>
        </p:nvSpPr>
        <p:spPr>
          <a:xfrm>
            <a:off x="9143173" y="5446962"/>
            <a:ext cx="8763000" cy="4249881"/>
          </a:xfrm>
          <a:prstGeom prst="rect">
            <a:avLst/>
          </a:prstGeom>
          <a:noFill/>
        </p:spPr>
        <p:txBody>
          <a:bodyPr wrap="square">
            <a:spAutoFit/>
          </a:bodyPr>
          <a:lstStyle/>
          <a:p>
            <a:pPr marL="457200" indent="-457200">
              <a:lnSpc>
                <a:spcPts val="2100"/>
              </a:lnSpc>
              <a:spcBef>
                <a:spcPts val="1200"/>
              </a:spcBef>
              <a:spcAft>
                <a:spcPts val="1200"/>
              </a:spcAft>
              <a:buFont typeface="Wingdings" panose="05000000000000000000" pitchFamily="2" charset="2"/>
              <a:buChar char="v"/>
            </a:pPr>
            <a:r>
              <a:rPr lang="en-US" sz="3200" b="1" dirty="0">
                <a:solidFill>
                  <a:schemeClr val="tx2">
                    <a:lumMod val="50000"/>
                  </a:schemeClr>
                </a:solidFill>
              </a:rPr>
              <a:t>Identifies a Consistency Gap</a:t>
            </a:r>
            <a:r>
              <a:rPr lang="en-US" sz="3200" dirty="0">
                <a:solidFill>
                  <a:schemeClr val="tx2">
                    <a:lumMod val="50000"/>
                  </a:schemeClr>
                </a:solidFill>
              </a:rPr>
              <a:t>: A 50% "Average" rating suggests the network is functional but unreliable, failing to deliver the seamless experience required for high-demand tasks.</a:t>
            </a:r>
          </a:p>
          <a:p>
            <a:pPr marL="457200" indent="-457200">
              <a:lnSpc>
                <a:spcPts val="2100"/>
              </a:lnSpc>
              <a:spcBef>
                <a:spcPts val="1200"/>
              </a:spcBef>
              <a:spcAft>
                <a:spcPts val="1200"/>
              </a:spcAft>
              <a:buFont typeface="Wingdings" panose="05000000000000000000" pitchFamily="2" charset="2"/>
              <a:buChar char="v"/>
            </a:pPr>
            <a:r>
              <a:rPr lang="en-US" sz="3200" b="1" dirty="0">
                <a:solidFill>
                  <a:schemeClr val="tx2">
                    <a:lumMod val="50000"/>
                  </a:schemeClr>
                </a:solidFill>
              </a:rPr>
              <a:t>Signals Technical Stagnation</a:t>
            </a:r>
            <a:r>
              <a:rPr lang="en-US" sz="3200" dirty="0">
                <a:solidFill>
                  <a:schemeClr val="tx2">
                    <a:lumMod val="50000"/>
                  </a:schemeClr>
                </a:solidFill>
              </a:rPr>
              <a:t>: This "middle-of-the-road" sentiment often points to congestion or high latency during peak usage, even if raw signal strength is adequate.</a:t>
            </a:r>
          </a:p>
          <a:p>
            <a:pPr marL="457200" indent="-457200">
              <a:lnSpc>
                <a:spcPts val="2100"/>
              </a:lnSpc>
              <a:spcBef>
                <a:spcPts val="1200"/>
              </a:spcBef>
              <a:spcAft>
                <a:spcPts val="1200"/>
              </a:spcAft>
              <a:buFont typeface="Wingdings" panose="05000000000000000000" pitchFamily="2" charset="2"/>
              <a:buChar char="v"/>
            </a:pPr>
            <a:r>
              <a:rPr lang="en-US" sz="3200" b="1" dirty="0">
                <a:solidFill>
                  <a:schemeClr val="tx2">
                    <a:lumMod val="50000"/>
                  </a:schemeClr>
                </a:solidFill>
              </a:rPr>
              <a:t>Defines the Optimization Goal</a:t>
            </a:r>
            <a:r>
              <a:rPr lang="en-US" sz="3200" dirty="0">
                <a:solidFill>
                  <a:schemeClr val="tx2">
                    <a:lumMod val="50000"/>
                  </a:schemeClr>
                </a:solidFill>
              </a:rPr>
              <a:t>: For your implementation, this represents a massive opportunity to move the needle from "fine" to "excellent" through smarter data handling and latency reduction.</a:t>
            </a:r>
            <a:endParaRPr lang="en-US" sz="3200" i="0" dirty="0">
              <a:solidFill>
                <a:schemeClr val="tx2">
                  <a:lumMod val="50000"/>
                </a:schemeClr>
              </a:solidFill>
              <a:effectLst/>
            </a:endParaRPr>
          </a:p>
        </p:txBody>
      </p:sp>
      <p:sp>
        <p:nvSpPr>
          <p:cNvPr id="22" name="TextBox 21">
            <a:extLst>
              <a:ext uri="{FF2B5EF4-FFF2-40B4-BE49-F238E27FC236}">
                <a16:creationId xmlns:a16="http://schemas.microsoft.com/office/drawing/2014/main" id="{1E293AAA-C5D3-DD51-EC93-B4DB3DB0F4E0}"/>
              </a:ext>
            </a:extLst>
          </p:cNvPr>
          <p:cNvSpPr txBox="1"/>
          <p:nvPr/>
        </p:nvSpPr>
        <p:spPr>
          <a:xfrm>
            <a:off x="9275918" y="4532805"/>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6674FF60-A73B-A0BB-5D41-02A2AD32F4B8}"/>
              </a:ext>
            </a:extLst>
          </p:cNvPr>
          <p:cNvSpPr txBox="1"/>
          <p:nvPr/>
        </p:nvSpPr>
        <p:spPr>
          <a:xfrm>
            <a:off x="430290" y="1790709"/>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Tree>
    <p:extLst>
      <p:ext uri="{BB962C8B-B14F-4D97-AF65-F5344CB8AC3E}">
        <p14:creationId xmlns:p14="http://schemas.microsoft.com/office/powerpoint/2010/main" val="29487756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DAC6B-B6EB-EC6D-8BAB-031CEB856CA2}"/>
            </a:ext>
          </a:extLst>
        </p:cNvPr>
        <p:cNvGrpSpPr/>
        <p:nvPr/>
      </p:nvGrpSpPr>
      <p:grpSpPr>
        <a:xfrm>
          <a:off x="0" y="0"/>
          <a:ext cx="0" cy="0"/>
          <a:chOff x="0" y="0"/>
          <a:chExt cx="0" cy="0"/>
        </a:xfrm>
      </p:grpSpPr>
      <p:pic>
        <p:nvPicPr>
          <p:cNvPr id="12" name="Picture 11" descr="Forms response chart. Question title: What is the most common problem you face? (Select all that apply). Number of responses: 55 responses.">
            <a:extLst>
              <a:ext uri="{FF2B5EF4-FFF2-40B4-BE49-F238E27FC236}">
                <a16:creationId xmlns:a16="http://schemas.microsoft.com/office/drawing/2014/main" id="{9C108E8D-FB62-5BD7-34FC-2A4BAF96C1C1}"/>
              </a:ext>
            </a:extLst>
          </p:cNvPr>
          <p:cNvPicPr>
            <a:picLocks noChangeAspect="1"/>
          </p:cNvPicPr>
          <p:nvPr/>
        </p:nvPicPr>
        <p:blipFill>
          <a:blip r:embed="rId2"/>
          <a:stretch>
            <a:fillRect/>
          </a:stretch>
        </p:blipFill>
        <p:spPr>
          <a:xfrm>
            <a:off x="482436" y="1234592"/>
            <a:ext cx="9880764" cy="4697413"/>
          </a:xfrm>
          <a:prstGeom prst="rect">
            <a:avLst/>
          </a:prstGeom>
        </p:spPr>
      </p:pic>
      <p:grpSp>
        <p:nvGrpSpPr>
          <p:cNvPr id="2" name="Group 2">
            <a:extLst>
              <a:ext uri="{FF2B5EF4-FFF2-40B4-BE49-F238E27FC236}">
                <a16:creationId xmlns:a16="http://schemas.microsoft.com/office/drawing/2014/main" id="{5B758B3B-EAFE-173B-A60B-47C30C22848C}"/>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775899A7-E750-092D-F295-EDB38DFF252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165CE6A5-B195-C6B2-5BA0-539BE99480AD}"/>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B283962B-DF4F-35E4-9D25-E3B63EA8F2D5}"/>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4E0375DE-1EEB-1001-324A-BC97CBAC8AE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CA72340B-0DFA-76F1-B578-F0B2F1B1BEDD}"/>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AD109828-18E9-07CC-B8DF-C224B121DEAF}"/>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DF654179-7F1C-651B-99B1-CD493F134D95}"/>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16" name="TextBox 15">
            <a:extLst>
              <a:ext uri="{FF2B5EF4-FFF2-40B4-BE49-F238E27FC236}">
                <a16:creationId xmlns:a16="http://schemas.microsoft.com/office/drawing/2014/main" id="{09F5233B-F9D3-6563-8EE7-DAD44A7A8D61}"/>
              </a:ext>
            </a:extLst>
          </p:cNvPr>
          <p:cNvSpPr txBox="1"/>
          <p:nvPr/>
        </p:nvSpPr>
        <p:spPr>
          <a:xfrm>
            <a:off x="9869120" y="4267723"/>
            <a:ext cx="8763000" cy="4024179"/>
          </a:xfrm>
          <a:prstGeom prst="rect">
            <a:avLst/>
          </a:prstGeom>
          <a:noFill/>
        </p:spPr>
        <p:txBody>
          <a:bodyPr wrap="square">
            <a:spAutoFit/>
          </a:bodyPr>
          <a:lstStyle/>
          <a:p>
            <a:pPr algn="l">
              <a:lnSpc>
                <a:spcPts val="2100"/>
              </a:lnSpc>
              <a:buNone/>
            </a:pPr>
            <a:r>
              <a:rPr lang="en-US" sz="2800" b="1" i="0" dirty="0">
                <a:solidFill>
                  <a:schemeClr val="tx2">
                    <a:lumMod val="50000"/>
                  </a:schemeClr>
                </a:solidFill>
                <a:effectLst/>
              </a:rPr>
              <a:t>Critical Pain Point Analysis</a:t>
            </a:r>
          </a:p>
          <a:p>
            <a:pPr marL="457200" indent="-457200" algn="l">
              <a:lnSpc>
                <a:spcPts val="1800"/>
              </a:lnSpc>
              <a:spcBef>
                <a:spcPts val="1200"/>
              </a:spcBef>
              <a:spcAft>
                <a:spcPts val="1200"/>
              </a:spcAft>
              <a:buFont typeface="Wingdings" panose="05000000000000000000" pitchFamily="2" charset="2"/>
              <a:buChar char="v"/>
            </a:pPr>
            <a:r>
              <a:rPr lang="en-US" sz="2800" b="1" i="0" dirty="0">
                <a:solidFill>
                  <a:schemeClr val="tx2">
                    <a:lumMod val="50000"/>
                  </a:schemeClr>
                </a:solidFill>
                <a:effectLst/>
              </a:rPr>
              <a:t>Dominant Bottleneck:</a:t>
            </a:r>
            <a:r>
              <a:rPr lang="en-US" sz="2800" b="0" i="0" dirty="0">
                <a:solidFill>
                  <a:schemeClr val="tx2">
                    <a:lumMod val="50000"/>
                  </a:schemeClr>
                </a:solidFill>
                <a:effectLst/>
              </a:rPr>
              <a:t> With </a:t>
            </a:r>
            <a:r>
              <a:rPr lang="en-US" sz="2800" b="1" i="0" dirty="0">
                <a:solidFill>
                  <a:schemeClr val="tx2">
                    <a:lumMod val="50000"/>
                  </a:schemeClr>
                </a:solidFill>
                <a:effectLst/>
              </a:rPr>
              <a:t>89.1%</a:t>
            </a:r>
            <a:r>
              <a:rPr lang="en-US" sz="2800" b="0" i="0" dirty="0">
                <a:solidFill>
                  <a:schemeClr val="tx2">
                    <a:lumMod val="50000"/>
                  </a:schemeClr>
                </a:solidFill>
                <a:effectLst/>
              </a:rPr>
              <a:t> reporting slow speeds, this is a systemic throughput issue, not an isolated user error.</a:t>
            </a:r>
          </a:p>
          <a:p>
            <a:pPr marL="457200" indent="-457200" algn="l">
              <a:lnSpc>
                <a:spcPts val="1800"/>
              </a:lnSpc>
              <a:spcBef>
                <a:spcPts val="1200"/>
              </a:spcBef>
              <a:spcAft>
                <a:spcPts val="1200"/>
              </a:spcAft>
              <a:buFont typeface="Wingdings" panose="05000000000000000000" pitchFamily="2" charset="2"/>
              <a:buChar char="v"/>
            </a:pPr>
            <a:r>
              <a:rPr lang="en-US" sz="2800" b="1" i="0" dirty="0">
                <a:solidFill>
                  <a:schemeClr val="tx2">
                    <a:lumMod val="50000"/>
                  </a:schemeClr>
                </a:solidFill>
                <a:effectLst/>
              </a:rPr>
              <a:t>Infrastructure over Instance:</a:t>
            </a:r>
            <a:r>
              <a:rPr lang="en-US" sz="2800" b="0" i="0" dirty="0">
                <a:solidFill>
                  <a:schemeClr val="tx2">
                    <a:lumMod val="50000"/>
                  </a:schemeClr>
                </a:solidFill>
                <a:effectLst/>
              </a:rPr>
              <a:t> The high percentage suggests that </a:t>
            </a:r>
            <a:r>
              <a:rPr lang="en-US" sz="2800" b="1" i="0" dirty="0">
                <a:solidFill>
                  <a:schemeClr val="tx2">
                    <a:lumMod val="50000"/>
                  </a:schemeClr>
                </a:solidFill>
                <a:effectLst/>
              </a:rPr>
              <a:t>network congestion or throttling</a:t>
            </a:r>
            <a:r>
              <a:rPr lang="en-US" sz="2800" b="0" i="0" dirty="0">
                <a:solidFill>
                  <a:schemeClr val="tx2">
                    <a:lumMod val="50000"/>
                  </a:schemeClr>
                </a:solidFill>
                <a:effectLst/>
              </a:rPr>
              <a:t>—likely during peak hours for "Streaming" and "Work"—is the primary driver of dissatisfaction.</a:t>
            </a:r>
          </a:p>
          <a:p>
            <a:pPr marL="457200" indent="-457200" algn="l">
              <a:lnSpc>
                <a:spcPts val="1800"/>
              </a:lnSpc>
              <a:spcBef>
                <a:spcPts val="1200"/>
              </a:spcBef>
              <a:spcAft>
                <a:spcPts val="1200"/>
              </a:spcAft>
              <a:buFont typeface="Wingdings" panose="05000000000000000000" pitchFamily="2" charset="2"/>
              <a:buChar char="v"/>
            </a:pPr>
            <a:r>
              <a:rPr lang="en-US" sz="2800" b="1" i="0" dirty="0">
                <a:solidFill>
                  <a:schemeClr val="tx2">
                    <a:lumMod val="50000"/>
                  </a:schemeClr>
                </a:solidFill>
                <a:effectLst/>
              </a:rPr>
              <a:t>Impact on Usability:</a:t>
            </a:r>
            <a:r>
              <a:rPr lang="en-US" sz="2800" b="0" i="0" dirty="0">
                <a:solidFill>
                  <a:schemeClr val="tx2">
                    <a:lumMod val="50000"/>
                  </a:schemeClr>
                </a:solidFill>
                <a:effectLst/>
              </a:rPr>
              <a:t> This specific bottleneck directly compromises the </a:t>
            </a:r>
            <a:r>
              <a:rPr lang="en-US" sz="2800" b="1" i="0" dirty="0">
                <a:solidFill>
                  <a:schemeClr val="tx2">
                    <a:lumMod val="50000"/>
                  </a:schemeClr>
                </a:solidFill>
                <a:effectLst/>
              </a:rPr>
              <a:t>Real-Time Interactive</a:t>
            </a:r>
            <a:r>
              <a:rPr lang="en-US" sz="2800" b="0" i="0" dirty="0">
                <a:solidFill>
                  <a:schemeClr val="tx2">
                    <a:lumMod val="50000"/>
                  </a:schemeClr>
                </a:solidFill>
                <a:effectLst/>
              </a:rPr>
              <a:t> and </a:t>
            </a:r>
            <a:r>
              <a:rPr lang="en-US" sz="2800" b="1" i="0" dirty="0">
                <a:solidFill>
                  <a:schemeClr val="tx2">
                    <a:lumMod val="50000"/>
                  </a:schemeClr>
                </a:solidFill>
                <a:effectLst/>
              </a:rPr>
              <a:t>High-Bandwidth</a:t>
            </a:r>
            <a:r>
              <a:rPr lang="en-US" sz="2800" b="0" i="0" dirty="0">
                <a:solidFill>
                  <a:schemeClr val="tx2">
                    <a:lumMod val="50000"/>
                  </a:schemeClr>
                </a:solidFill>
                <a:effectLst/>
              </a:rPr>
              <a:t> needs identified in your earlier usage data.</a:t>
            </a:r>
          </a:p>
          <a:p>
            <a:endParaRPr lang="en-US" sz="2800" dirty="0">
              <a:solidFill>
                <a:schemeClr val="tx2">
                  <a:lumMod val="50000"/>
                </a:schemeClr>
              </a:solidFill>
            </a:endParaRPr>
          </a:p>
        </p:txBody>
      </p:sp>
      <p:sp>
        <p:nvSpPr>
          <p:cNvPr id="22" name="TextBox 21">
            <a:extLst>
              <a:ext uri="{FF2B5EF4-FFF2-40B4-BE49-F238E27FC236}">
                <a16:creationId xmlns:a16="http://schemas.microsoft.com/office/drawing/2014/main" id="{2EB283A2-4416-C545-4E06-B298EDE2989D}"/>
              </a:ext>
            </a:extLst>
          </p:cNvPr>
          <p:cNvSpPr txBox="1"/>
          <p:nvPr/>
        </p:nvSpPr>
        <p:spPr>
          <a:xfrm>
            <a:off x="9982200" y="3360857"/>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DF22B31D-C4D3-377F-9D8F-2F8413298F3A}"/>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
        <p:nvSpPr>
          <p:cNvPr id="10" name="TextBox 9">
            <a:extLst>
              <a:ext uri="{FF2B5EF4-FFF2-40B4-BE49-F238E27FC236}">
                <a16:creationId xmlns:a16="http://schemas.microsoft.com/office/drawing/2014/main" id="{406DB194-DC71-121D-6977-5D5C08672404}"/>
              </a:ext>
            </a:extLst>
          </p:cNvPr>
          <p:cNvSpPr txBox="1"/>
          <p:nvPr/>
        </p:nvSpPr>
        <p:spPr>
          <a:xfrm>
            <a:off x="2743200" y="6419086"/>
            <a:ext cx="6629400" cy="3046988"/>
          </a:xfrm>
          <a:prstGeom prst="rect">
            <a:avLst/>
          </a:prstGeom>
          <a:noFill/>
        </p:spPr>
        <p:txBody>
          <a:bodyPr wrap="square">
            <a:spAutoFit/>
          </a:bodyPr>
          <a:lstStyle/>
          <a:p>
            <a:r>
              <a:rPr lang="en-US" sz="3200" b="0" i="0" dirty="0">
                <a:solidFill>
                  <a:schemeClr val="tx2">
                    <a:lumMod val="50000"/>
                  </a:schemeClr>
                </a:solidFill>
                <a:effectLst/>
              </a:rPr>
              <a:t>When nearly 9 out of 10 users cite speed as their main issue, we are looking at a clear gap between user ambition and network capacity. This validates our 50% 'Average' experience rating from the previous slide.</a:t>
            </a:r>
            <a:endParaRPr lang="en-US" sz="3200" dirty="0">
              <a:solidFill>
                <a:schemeClr val="tx2">
                  <a:lumMod val="50000"/>
                </a:schemeClr>
              </a:solidFill>
            </a:endParaRPr>
          </a:p>
        </p:txBody>
      </p:sp>
    </p:spTree>
    <p:extLst>
      <p:ext uri="{BB962C8B-B14F-4D97-AF65-F5344CB8AC3E}">
        <p14:creationId xmlns:p14="http://schemas.microsoft.com/office/powerpoint/2010/main" val="11677056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AFBBA-DDDF-74CB-5995-C24222FB3541}"/>
            </a:ext>
          </a:extLst>
        </p:cNvPr>
        <p:cNvGrpSpPr/>
        <p:nvPr/>
      </p:nvGrpSpPr>
      <p:grpSpPr>
        <a:xfrm>
          <a:off x="0" y="0"/>
          <a:ext cx="0" cy="0"/>
          <a:chOff x="0" y="0"/>
          <a:chExt cx="0" cy="0"/>
        </a:xfrm>
      </p:grpSpPr>
      <p:pic>
        <p:nvPicPr>
          <p:cNvPr id="8" name="Picture 7" descr="Forms response chart. Question title: When do you experience poor network quality most often?. Number of responses: 54 responses.">
            <a:extLst>
              <a:ext uri="{FF2B5EF4-FFF2-40B4-BE49-F238E27FC236}">
                <a16:creationId xmlns:a16="http://schemas.microsoft.com/office/drawing/2014/main" id="{43FFF2BF-57D3-2B64-B26A-BE29C72A7A0B}"/>
              </a:ext>
            </a:extLst>
          </p:cNvPr>
          <p:cNvPicPr>
            <a:picLocks noChangeAspect="1"/>
          </p:cNvPicPr>
          <p:nvPr/>
        </p:nvPicPr>
        <p:blipFill>
          <a:blip r:embed="rId2"/>
          <a:stretch>
            <a:fillRect/>
          </a:stretch>
        </p:blipFill>
        <p:spPr>
          <a:xfrm>
            <a:off x="965792" y="1510590"/>
            <a:ext cx="13683083" cy="5757363"/>
          </a:xfrm>
          <a:prstGeom prst="rect">
            <a:avLst/>
          </a:prstGeom>
        </p:spPr>
      </p:pic>
      <p:grpSp>
        <p:nvGrpSpPr>
          <p:cNvPr id="2" name="Group 2">
            <a:extLst>
              <a:ext uri="{FF2B5EF4-FFF2-40B4-BE49-F238E27FC236}">
                <a16:creationId xmlns:a16="http://schemas.microsoft.com/office/drawing/2014/main" id="{864A49B7-BE67-5D6B-8719-68CAE9445546}"/>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A893E156-B3A5-B543-8189-57257AE3D04C}"/>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6FF314DA-7704-7FD9-20EE-30B31C14DBD1}"/>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A60CCF6D-9802-0220-5F51-CD625F050601}"/>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C2083ECE-128B-ED7F-FE96-2BA7F3459947}"/>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B16CBCF2-821E-31DC-4A96-95F9BD6D78CA}"/>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0A23985B-FB27-0F86-5659-A9EA45134EE0}"/>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63E59347-6307-BC41-B7C9-D42B979EDF73}"/>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16" name="TextBox 15">
            <a:extLst>
              <a:ext uri="{FF2B5EF4-FFF2-40B4-BE49-F238E27FC236}">
                <a16:creationId xmlns:a16="http://schemas.microsoft.com/office/drawing/2014/main" id="{D98A380F-6CBF-2E60-5D2C-B6C0C8E78038}"/>
              </a:ext>
            </a:extLst>
          </p:cNvPr>
          <p:cNvSpPr txBox="1"/>
          <p:nvPr/>
        </p:nvSpPr>
        <p:spPr>
          <a:xfrm>
            <a:off x="9525000" y="6016966"/>
            <a:ext cx="8763000" cy="1384995"/>
          </a:xfrm>
          <a:prstGeom prst="rect">
            <a:avLst/>
          </a:prstGeom>
          <a:noFill/>
        </p:spPr>
        <p:txBody>
          <a:bodyPr wrap="square">
            <a:spAutoFit/>
          </a:bodyPr>
          <a:lstStyle/>
          <a:p>
            <a:r>
              <a:rPr lang="en-US" sz="2800" b="1" dirty="0">
                <a:solidFill>
                  <a:schemeClr val="tx2">
                    <a:lumMod val="50000"/>
                  </a:schemeClr>
                </a:solidFill>
              </a:rPr>
              <a:t>Continuous Monitoring Need</a:t>
            </a:r>
            <a:r>
              <a:rPr lang="en-US" sz="2800" dirty="0">
                <a:solidFill>
                  <a:schemeClr val="tx2">
                    <a:lumMod val="50000"/>
                  </a:schemeClr>
                </a:solidFill>
              </a:rPr>
              <a:t>: Since 40.7% report "No specific time," we must implement background passive testing rather than just scheduled checks.</a:t>
            </a:r>
          </a:p>
        </p:txBody>
      </p:sp>
      <p:sp>
        <p:nvSpPr>
          <p:cNvPr id="22" name="TextBox 21">
            <a:extLst>
              <a:ext uri="{FF2B5EF4-FFF2-40B4-BE49-F238E27FC236}">
                <a16:creationId xmlns:a16="http://schemas.microsoft.com/office/drawing/2014/main" id="{5C4DE313-9681-C7A5-4F69-CD4E5DD3A03B}"/>
              </a:ext>
            </a:extLst>
          </p:cNvPr>
          <p:cNvSpPr txBox="1"/>
          <p:nvPr/>
        </p:nvSpPr>
        <p:spPr>
          <a:xfrm>
            <a:off x="9501554" y="5364774"/>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92A139E2-FC48-CF6C-A289-5D13A09F6AC0}"/>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Tree>
    <p:extLst>
      <p:ext uri="{BB962C8B-B14F-4D97-AF65-F5344CB8AC3E}">
        <p14:creationId xmlns:p14="http://schemas.microsoft.com/office/powerpoint/2010/main" val="15329309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70F250-04C4-1A0E-5CD2-1C2BE3800D3F}"/>
            </a:ext>
          </a:extLst>
        </p:cNvPr>
        <p:cNvGrpSpPr/>
        <p:nvPr/>
      </p:nvGrpSpPr>
      <p:grpSpPr>
        <a:xfrm>
          <a:off x="0" y="0"/>
          <a:ext cx="0" cy="0"/>
          <a:chOff x="0" y="0"/>
          <a:chExt cx="0" cy="0"/>
        </a:xfrm>
      </p:grpSpPr>
      <p:pic>
        <p:nvPicPr>
          <p:cNvPr id="8" name="Picture 7" descr="Forms response chart. Question title: Where do you usually experience poor network quality?. Number of responses: 53 responses.">
            <a:extLst>
              <a:ext uri="{FF2B5EF4-FFF2-40B4-BE49-F238E27FC236}">
                <a16:creationId xmlns:a16="http://schemas.microsoft.com/office/drawing/2014/main" id="{947F7ECF-C923-4379-7693-DD59BD5906F7}"/>
              </a:ext>
            </a:extLst>
          </p:cNvPr>
          <p:cNvPicPr>
            <a:picLocks noChangeAspect="1"/>
          </p:cNvPicPr>
          <p:nvPr/>
        </p:nvPicPr>
        <p:blipFill>
          <a:blip r:embed="rId2"/>
          <a:stretch>
            <a:fillRect/>
          </a:stretch>
        </p:blipFill>
        <p:spPr>
          <a:xfrm>
            <a:off x="0" y="1167161"/>
            <a:ext cx="13214266" cy="5560101"/>
          </a:xfrm>
          <a:prstGeom prst="rect">
            <a:avLst/>
          </a:prstGeom>
        </p:spPr>
      </p:pic>
      <p:grpSp>
        <p:nvGrpSpPr>
          <p:cNvPr id="2" name="Group 2">
            <a:extLst>
              <a:ext uri="{FF2B5EF4-FFF2-40B4-BE49-F238E27FC236}">
                <a16:creationId xmlns:a16="http://schemas.microsoft.com/office/drawing/2014/main" id="{648241D7-3E7C-4CD8-4FDB-F1DD23D9EB7A}"/>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9ACF3108-8303-18EE-6BCF-A82DD757C7F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623F3109-9F4A-7B80-4F17-CA21CF8339C0}"/>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400D8EE3-343F-3F1F-3DC4-3ED7C043FEC6}"/>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907AFE06-6329-A4A6-65EE-82DF0062EB5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2D7E28A7-85A0-AB6C-BE21-43AF43EBBFB4}"/>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F21FE01F-8E6B-634D-C6CA-73978E1A6DF8}"/>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26D4F5FB-4C04-6E4A-2025-4C8B4AAAC1DF}"/>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16" name="TextBox 15">
            <a:extLst>
              <a:ext uri="{FF2B5EF4-FFF2-40B4-BE49-F238E27FC236}">
                <a16:creationId xmlns:a16="http://schemas.microsoft.com/office/drawing/2014/main" id="{CABF35B0-B2F4-FD14-A073-CB9F95F714D9}"/>
              </a:ext>
            </a:extLst>
          </p:cNvPr>
          <p:cNvSpPr txBox="1"/>
          <p:nvPr/>
        </p:nvSpPr>
        <p:spPr>
          <a:xfrm>
            <a:off x="9610029" y="5351928"/>
            <a:ext cx="8763000" cy="3970318"/>
          </a:xfrm>
          <a:prstGeom prst="rect">
            <a:avLst/>
          </a:prstGeom>
          <a:noFill/>
        </p:spPr>
        <p:txBody>
          <a:bodyPr wrap="square">
            <a:spAutoFit/>
          </a:bodyPr>
          <a:lstStyle/>
          <a:p>
            <a:r>
              <a:rPr lang="en-US" sz="2800" b="1" dirty="0">
                <a:solidFill>
                  <a:schemeClr val="tx2">
                    <a:lumMod val="50000"/>
                  </a:schemeClr>
                </a:solidFill>
              </a:rPr>
              <a:t>Systemic Failure</a:t>
            </a:r>
            <a:r>
              <a:rPr lang="en-US" sz="2800" dirty="0">
                <a:solidFill>
                  <a:schemeClr val="tx2">
                    <a:lumMod val="50000"/>
                  </a:schemeClr>
                </a:solidFill>
              </a:rPr>
              <a:t>: 43.4% of users report poor quality "Everywhere," indicating widespread network instability rather than isolated dead zones.</a:t>
            </a:r>
          </a:p>
          <a:p>
            <a:r>
              <a:rPr lang="en-US" sz="2800" b="1" dirty="0">
                <a:solidFill>
                  <a:schemeClr val="tx2">
                    <a:lumMod val="50000"/>
                  </a:schemeClr>
                </a:solidFill>
              </a:rPr>
              <a:t>Fixed Location Struggles</a:t>
            </a:r>
            <a:r>
              <a:rPr lang="en-US" sz="2800" dirty="0">
                <a:solidFill>
                  <a:schemeClr val="tx2">
                    <a:lumMod val="50000"/>
                  </a:schemeClr>
                </a:solidFill>
              </a:rPr>
              <a:t>: 41.5% experience issues primarily at Home (26.4%) or School/Work (15.1%), suggesting poor indoor penetration or localized congestion.</a:t>
            </a:r>
          </a:p>
          <a:p>
            <a:r>
              <a:rPr lang="en-US" sz="2800" b="1" dirty="0">
                <a:solidFill>
                  <a:schemeClr val="tx2">
                    <a:lumMod val="50000"/>
                  </a:schemeClr>
                </a:solidFill>
              </a:rPr>
              <a:t>Transit Stability</a:t>
            </a:r>
            <a:r>
              <a:rPr lang="en-US" sz="2800" dirty="0">
                <a:solidFill>
                  <a:schemeClr val="tx2">
                    <a:lumMod val="50000"/>
                  </a:schemeClr>
                </a:solidFill>
              </a:rPr>
              <a:t>: A small minority reported issues only while moving, confirming that the problem is rooted in stationary coverage.</a:t>
            </a:r>
          </a:p>
        </p:txBody>
      </p:sp>
      <p:sp>
        <p:nvSpPr>
          <p:cNvPr id="22" name="TextBox 21">
            <a:extLst>
              <a:ext uri="{FF2B5EF4-FFF2-40B4-BE49-F238E27FC236}">
                <a16:creationId xmlns:a16="http://schemas.microsoft.com/office/drawing/2014/main" id="{1D065B4D-2F8C-732D-A037-841EAF2E2F28}"/>
              </a:ext>
            </a:extLst>
          </p:cNvPr>
          <p:cNvSpPr txBox="1"/>
          <p:nvPr/>
        </p:nvSpPr>
        <p:spPr>
          <a:xfrm>
            <a:off x="9629422" y="4674178"/>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DF65E15D-B174-0185-2CC2-B9507D853736}"/>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
        <p:nvSpPr>
          <p:cNvPr id="12" name="TextBox 11">
            <a:extLst>
              <a:ext uri="{FF2B5EF4-FFF2-40B4-BE49-F238E27FC236}">
                <a16:creationId xmlns:a16="http://schemas.microsoft.com/office/drawing/2014/main" id="{8C6A1DCD-4221-022C-EF4B-0BF4C00276B3}"/>
              </a:ext>
            </a:extLst>
          </p:cNvPr>
          <p:cNvSpPr txBox="1"/>
          <p:nvPr/>
        </p:nvSpPr>
        <p:spPr>
          <a:xfrm>
            <a:off x="2389653" y="6727262"/>
            <a:ext cx="7095429" cy="3970318"/>
          </a:xfrm>
          <a:prstGeom prst="rect">
            <a:avLst/>
          </a:prstGeom>
          <a:noFill/>
        </p:spPr>
        <p:txBody>
          <a:bodyPr wrap="square">
            <a:spAutoFit/>
          </a:bodyPr>
          <a:lstStyle/>
          <a:p>
            <a:r>
              <a:rPr lang="en-US" sz="2800" b="0" i="0" dirty="0">
                <a:solidFill>
                  <a:schemeClr val="tx2">
                    <a:lumMod val="50000"/>
                  </a:schemeClr>
                </a:solidFill>
                <a:effectLst/>
                <a:latin typeface="Google Sans"/>
              </a:rPr>
              <a:t>Since most people have trouble "Everywhere" or at "Home," our app must include </a:t>
            </a:r>
            <a:r>
              <a:rPr lang="en-US" sz="2800" b="1" i="0" dirty="0">
                <a:solidFill>
                  <a:schemeClr val="tx2">
                    <a:lumMod val="50000"/>
                  </a:schemeClr>
                </a:solidFill>
                <a:effectLst/>
                <a:latin typeface="Google Sans"/>
              </a:rPr>
              <a:t>GPS tracking and signal recording</a:t>
            </a:r>
            <a:r>
              <a:rPr lang="en-US" sz="2800" b="0" i="0" dirty="0">
                <a:solidFill>
                  <a:schemeClr val="tx2">
                    <a:lumMod val="50000"/>
                  </a:schemeClr>
                </a:solidFill>
                <a:effectLst/>
                <a:latin typeface="Google Sans"/>
              </a:rPr>
              <a:t> to map exactly where the network is failing And To capture real-time feelings when these failures happen, the app must also trigger instant QoE pop-ups the moment a signal drop or "dead zone" is detected.</a:t>
            </a:r>
          </a:p>
          <a:p>
            <a:endParaRPr lang="en-US" sz="2800" dirty="0">
              <a:solidFill>
                <a:schemeClr val="tx2">
                  <a:lumMod val="50000"/>
                </a:schemeClr>
              </a:solidFill>
            </a:endParaRPr>
          </a:p>
        </p:txBody>
      </p:sp>
    </p:spTree>
    <p:extLst>
      <p:ext uri="{BB962C8B-B14F-4D97-AF65-F5344CB8AC3E}">
        <p14:creationId xmlns:p14="http://schemas.microsoft.com/office/powerpoint/2010/main" val="25569183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D8028-3F3A-1675-5FB2-B9E3C2ACDDD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FF09CA90-A17B-3A44-4896-7D3210943103}"/>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58BCD5A8-FCF0-7EAB-1F0C-35D4CD6D0D0F}"/>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E350D9F5-5735-13C1-96D3-DC52D1C5B92F}"/>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AB89536F-9D45-C1EA-23CB-99B9EBE53BCC}"/>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9EEB2B26-356A-8CC6-2A12-41415B330149}"/>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3BF8AF12-D337-9AD5-68E0-94B38A15C30E}"/>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a:extLst>
              <a:ext uri="{FF2B5EF4-FFF2-40B4-BE49-F238E27FC236}">
                <a16:creationId xmlns:a16="http://schemas.microsoft.com/office/drawing/2014/main" id="{11789B47-EEB1-E2E0-58C4-7AAA5D461BAF}"/>
              </a:ext>
            </a:extLst>
          </p:cNvPr>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a:extLst>
              <a:ext uri="{FF2B5EF4-FFF2-40B4-BE49-F238E27FC236}">
                <a16:creationId xmlns:a16="http://schemas.microsoft.com/office/drawing/2014/main" id="{996674A4-ED3C-63C6-A769-1A151A2A7105}"/>
              </a:ext>
            </a:extLst>
          </p:cNvPr>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TextBox 10">
            <a:extLst>
              <a:ext uri="{FF2B5EF4-FFF2-40B4-BE49-F238E27FC236}">
                <a16:creationId xmlns:a16="http://schemas.microsoft.com/office/drawing/2014/main" id="{B2A96C7E-EEBA-6949-8325-40F16D43FA54}"/>
              </a:ext>
            </a:extLst>
          </p:cNvPr>
          <p:cNvSpPr txBox="1"/>
          <p:nvPr/>
        </p:nvSpPr>
        <p:spPr>
          <a:xfrm>
            <a:off x="2059765" y="2386346"/>
            <a:ext cx="14168470" cy="1622752"/>
          </a:xfrm>
          <a:prstGeom prst="rect">
            <a:avLst/>
          </a:prstGeom>
        </p:spPr>
        <p:txBody>
          <a:bodyPr lIns="0" tIns="0" rIns="0" bIns="0" rtlCol="0" anchor="t">
            <a:spAutoFit/>
          </a:bodyPr>
          <a:lstStyle/>
          <a:p>
            <a:pPr marL="0" lvl="0" indent="0" algn="l">
              <a:lnSpc>
                <a:spcPts val="5960"/>
              </a:lnSpc>
            </a:pPr>
            <a:r>
              <a:rPr lang="en-US" sz="7180" b="1" dirty="0">
                <a:solidFill>
                  <a:srgbClr val="001E3A"/>
                </a:solidFill>
                <a:latin typeface="Garet Ultra-Bold"/>
                <a:ea typeface="Garet Ultra-Bold"/>
                <a:cs typeface="Garet Ultra-Bold"/>
                <a:sym typeface="Garet Ultra-Bold"/>
              </a:rPr>
              <a:t>Network Experience Data And  Analysis</a:t>
            </a:r>
          </a:p>
        </p:txBody>
      </p:sp>
      <p:sp>
        <p:nvSpPr>
          <p:cNvPr id="11" name="TextBox 11">
            <a:extLst>
              <a:ext uri="{FF2B5EF4-FFF2-40B4-BE49-F238E27FC236}">
                <a16:creationId xmlns:a16="http://schemas.microsoft.com/office/drawing/2014/main" id="{134B108C-3E70-CBF8-E8E0-70582421BD81}"/>
              </a:ext>
            </a:extLst>
          </p:cNvPr>
          <p:cNvSpPr txBox="1"/>
          <p:nvPr/>
        </p:nvSpPr>
        <p:spPr>
          <a:xfrm>
            <a:off x="4463329" y="4209788"/>
            <a:ext cx="10552228" cy="2184163"/>
          </a:xfrm>
          <a:prstGeom prst="rect">
            <a:avLst/>
          </a:prstGeom>
        </p:spPr>
        <p:txBody>
          <a:bodyPr lIns="0" tIns="0" rIns="0" bIns="0" rtlCol="0" anchor="t">
            <a:spAutoFit/>
          </a:bodyPr>
          <a:lstStyle/>
          <a:p>
            <a:pPr marL="0" lvl="0" indent="0" algn="l">
              <a:lnSpc>
                <a:spcPts val="3513"/>
              </a:lnSpc>
            </a:pPr>
            <a:r>
              <a:rPr lang="en-US" sz="2509" dirty="0">
                <a:solidFill>
                  <a:srgbClr val="001E3A"/>
                </a:solidFill>
                <a:latin typeface="Garet"/>
                <a:ea typeface="Garet"/>
                <a:cs typeface="Garet"/>
                <a:sym typeface="Garet"/>
              </a:rPr>
              <a:t>Users report frequent poor network conditions including slow download/upload speeds, weak signal strength, and intermittent connectivity. These issues persist across different locations and times of day, highlighting the need for comprehensive monitoring.</a:t>
            </a:r>
          </a:p>
        </p:txBody>
      </p:sp>
      <p:grpSp>
        <p:nvGrpSpPr>
          <p:cNvPr id="12" name="Group 12">
            <a:extLst>
              <a:ext uri="{FF2B5EF4-FFF2-40B4-BE49-F238E27FC236}">
                <a16:creationId xmlns:a16="http://schemas.microsoft.com/office/drawing/2014/main" id="{341E7415-C333-08C6-05E0-04CFEBB30EA4}"/>
              </a:ext>
            </a:extLst>
          </p:cNvPr>
          <p:cNvGrpSpPr/>
          <p:nvPr/>
        </p:nvGrpSpPr>
        <p:grpSpPr>
          <a:xfrm>
            <a:off x="3272443" y="4266938"/>
            <a:ext cx="876562" cy="876562"/>
            <a:chOff x="0" y="0"/>
            <a:chExt cx="812800" cy="812800"/>
          </a:xfrm>
        </p:grpSpPr>
        <p:sp>
          <p:nvSpPr>
            <p:cNvPr id="13" name="Freeform 13">
              <a:extLst>
                <a:ext uri="{FF2B5EF4-FFF2-40B4-BE49-F238E27FC236}">
                  <a16:creationId xmlns:a16="http://schemas.microsoft.com/office/drawing/2014/main" id="{B3C20A33-7F73-AD22-48A0-0F867062C289}"/>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4" name="TextBox 14">
              <a:extLst>
                <a:ext uri="{FF2B5EF4-FFF2-40B4-BE49-F238E27FC236}">
                  <a16:creationId xmlns:a16="http://schemas.microsoft.com/office/drawing/2014/main" id="{8EE4B10B-AF17-9C4D-4A80-82A26F311A69}"/>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5" name="TextBox 15">
            <a:extLst>
              <a:ext uri="{FF2B5EF4-FFF2-40B4-BE49-F238E27FC236}">
                <a16:creationId xmlns:a16="http://schemas.microsoft.com/office/drawing/2014/main" id="{4F6EF0D4-30AB-AA2F-AAE9-DCFF422C1A3B}"/>
              </a:ext>
            </a:extLst>
          </p:cNvPr>
          <p:cNvSpPr txBox="1"/>
          <p:nvPr/>
        </p:nvSpPr>
        <p:spPr>
          <a:xfrm>
            <a:off x="4486775" y="6784320"/>
            <a:ext cx="10552228" cy="1746013"/>
          </a:xfrm>
          <a:prstGeom prst="rect">
            <a:avLst/>
          </a:prstGeom>
        </p:spPr>
        <p:txBody>
          <a:bodyPr lIns="0" tIns="0" rIns="0" bIns="0" rtlCol="0" anchor="t">
            <a:spAutoFit/>
          </a:bodyPr>
          <a:lstStyle/>
          <a:p>
            <a:pPr marL="0" lvl="0" indent="0" algn="l">
              <a:lnSpc>
                <a:spcPts val="3513"/>
              </a:lnSpc>
            </a:pPr>
            <a:r>
              <a:rPr lang="en-US" sz="2509">
                <a:solidFill>
                  <a:srgbClr val="001E3A"/>
                </a:solidFill>
                <a:latin typeface="Garet"/>
                <a:ea typeface="Garet"/>
                <a:cs typeface="Garet"/>
                <a:sym typeface="Garet"/>
              </a:rPr>
              <a:t>Continuous monitoring of key metrics is essential: latency, jitter, packet loss, and signal strength. Objective measurements must be complemented by subjective user feedback to capture the complete Quality of Experience picture.</a:t>
            </a:r>
          </a:p>
        </p:txBody>
      </p:sp>
      <p:grpSp>
        <p:nvGrpSpPr>
          <p:cNvPr id="16" name="Group 16">
            <a:extLst>
              <a:ext uri="{FF2B5EF4-FFF2-40B4-BE49-F238E27FC236}">
                <a16:creationId xmlns:a16="http://schemas.microsoft.com/office/drawing/2014/main" id="{A5185E8D-B85A-EB38-4918-0E631F5FE7A9}"/>
              </a:ext>
            </a:extLst>
          </p:cNvPr>
          <p:cNvGrpSpPr/>
          <p:nvPr/>
        </p:nvGrpSpPr>
        <p:grpSpPr>
          <a:xfrm>
            <a:off x="3295889" y="6841470"/>
            <a:ext cx="876562" cy="876562"/>
            <a:chOff x="0" y="0"/>
            <a:chExt cx="812800" cy="812800"/>
          </a:xfrm>
        </p:grpSpPr>
        <p:sp>
          <p:nvSpPr>
            <p:cNvPr id="17" name="Freeform 17">
              <a:extLst>
                <a:ext uri="{FF2B5EF4-FFF2-40B4-BE49-F238E27FC236}">
                  <a16:creationId xmlns:a16="http://schemas.microsoft.com/office/drawing/2014/main" id="{AFF754B9-35CC-78D4-5A0E-D19EA27CD93A}"/>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8" name="TextBox 18">
              <a:extLst>
                <a:ext uri="{FF2B5EF4-FFF2-40B4-BE49-F238E27FC236}">
                  <a16:creationId xmlns:a16="http://schemas.microsoft.com/office/drawing/2014/main" id="{F8E3FE2A-9E5A-DC3E-2DCD-0D5449702220}"/>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9" name="TextBox 19">
            <a:extLst>
              <a:ext uri="{FF2B5EF4-FFF2-40B4-BE49-F238E27FC236}">
                <a16:creationId xmlns:a16="http://schemas.microsoft.com/office/drawing/2014/main" id="{6B50A0A9-84BD-F97C-6723-1A6005864059}"/>
              </a:ext>
            </a:extLst>
          </p:cNvPr>
          <p:cNvSpPr txBox="1"/>
          <p:nvPr/>
        </p:nvSpPr>
        <p:spPr>
          <a:xfrm>
            <a:off x="14250620" y="9229725"/>
            <a:ext cx="1865504" cy="208643"/>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University of Buea</a:t>
            </a:r>
          </a:p>
        </p:txBody>
      </p:sp>
      <p:sp>
        <p:nvSpPr>
          <p:cNvPr id="20" name="TextBox 20">
            <a:extLst>
              <a:ext uri="{FF2B5EF4-FFF2-40B4-BE49-F238E27FC236}">
                <a16:creationId xmlns:a16="http://schemas.microsoft.com/office/drawing/2014/main" id="{E57A4643-40D2-2E1A-2AB2-A2DB104BF392}"/>
              </a:ext>
            </a:extLst>
          </p:cNvPr>
          <p:cNvSpPr txBox="1"/>
          <p:nvPr/>
        </p:nvSpPr>
        <p:spPr>
          <a:xfrm>
            <a:off x="14250620" y="9443214"/>
            <a:ext cx="3008680" cy="478729"/>
          </a:xfrm>
          <a:prstGeom prst="rect">
            <a:avLst/>
          </a:prstGeom>
        </p:spPr>
        <p:txBody>
          <a:bodyPr lIns="0" tIns="0" rIns="0" bIns="0" rtlCol="0" anchor="t">
            <a:spAutoFit/>
          </a:bodyPr>
          <a:lstStyle/>
          <a:p>
            <a:pPr marL="0" lvl="0" indent="0" algn="l">
              <a:lnSpc>
                <a:spcPts val="1977"/>
              </a:lnSpc>
            </a:pPr>
            <a:r>
              <a:rPr lang="en-US" sz="1412">
                <a:solidFill>
                  <a:srgbClr val="001E3A"/>
                </a:solidFill>
                <a:latin typeface="Garet"/>
                <a:ea typeface="Garet"/>
                <a:cs typeface="Garet"/>
                <a:sym typeface="Garet"/>
              </a:rPr>
              <a:t>CEF440 – Internet and Mobile Programming</a:t>
            </a:r>
          </a:p>
        </p:txBody>
      </p:sp>
      <p:sp>
        <p:nvSpPr>
          <p:cNvPr id="21" name="TextBox 21">
            <a:extLst>
              <a:ext uri="{FF2B5EF4-FFF2-40B4-BE49-F238E27FC236}">
                <a16:creationId xmlns:a16="http://schemas.microsoft.com/office/drawing/2014/main" id="{B951271B-0D9E-5D1F-0E8F-C1FCBCAABD61}"/>
              </a:ext>
            </a:extLst>
          </p:cNvPr>
          <p:cNvSpPr txBox="1"/>
          <p:nvPr/>
        </p:nvSpPr>
        <p:spPr>
          <a:xfrm>
            <a:off x="13691401" y="9315450"/>
            <a:ext cx="559219" cy="201590"/>
          </a:xfrm>
          <a:prstGeom prst="rect">
            <a:avLst/>
          </a:prstGeom>
        </p:spPr>
        <p:txBody>
          <a:bodyPr lIns="0" tIns="0" rIns="0" bIns="0" rtlCol="0" anchor="t">
            <a:spAutoFit/>
          </a:bodyPr>
          <a:lstStyle/>
          <a:p>
            <a:pPr marL="0" lvl="0" indent="0" algn="ctr">
              <a:lnSpc>
                <a:spcPts val="1429"/>
              </a:lnSpc>
            </a:pPr>
            <a:r>
              <a:rPr lang="en-US" sz="1722" b="1">
                <a:solidFill>
                  <a:srgbClr val="001E3A"/>
                </a:solidFill>
                <a:latin typeface="Garet Ultra-Bold"/>
                <a:ea typeface="Garet Ultra-Bold"/>
                <a:cs typeface="Garet Ultra-Bold"/>
                <a:sym typeface="Garet Ultra-Bold"/>
              </a:rPr>
              <a:t>5</a:t>
            </a:r>
          </a:p>
        </p:txBody>
      </p:sp>
    </p:spTree>
    <p:extLst>
      <p:ext uri="{BB962C8B-B14F-4D97-AF65-F5344CB8AC3E}">
        <p14:creationId xmlns:p14="http://schemas.microsoft.com/office/powerpoint/2010/main" val="42691755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78C3F-1A37-61B0-5D5D-E94D87E86D29}"/>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A43F028C-05EC-39A8-90BC-7A11655CD28B}"/>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3AFAE08E-4B87-FAB5-1106-25B178CF2D5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A5E76D6F-AD49-8E6F-91FB-31B9B17EB1BD}"/>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9379AEA1-3F3F-C016-71E1-AEC04BA48264}"/>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565F4173-F262-B969-A4BB-22EB0EE5E26C}"/>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8D1AAB89-0AC5-5ED0-BF03-643F6BFEF265}"/>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a:extLst>
              <a:ext uri="{FF2B5EF4-FFF2-40B4-BE49-F238E27FC236}">
                <a16:creationId xmlns:a16="http://schemas.microsoft.com/office/drawing/2014/main" id="{FF7D515A-633C-D6C2-5F48-EC8F7726FD09}"/>
              </a:ext>
            </a:extLst>
          </p:cNvPr>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a:extLst>
              <a:ext uri="{FF2B5EF4-FFF2-40B4-BE49-F238E27FC236}">
                <a16:creationId xmlns:a16="http://schemas.microsoft.com/office/drawing/2014/main" id="{A64D7019-4902-DC02-85E6-F0B45E46FE11}"/>
              </a:ext>
            </a:extLst>
          </p:cNvPr>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a:extLst>
              <a:ext uri="{FF2B5EF4-FFF2-40B4-BE49-F238E27FC236}">
                <a16:creationId xmlns:a16="http://schemas.microsoft.com/office/drawing/2014/main" id="{3DF58E83-42A8-90A3-3D57-AECF6AAFABA0}"/>
              </a:ext>
            </a:extLst>
          </p:cNvPr>
          <p:cNvSpPr txBox="1"/>
          <p:nvPr/>
        </p:nvSpPr>
        <p:spPr>
          <a:xfrm>
            <a:off x="2394857" y="4641537"/>
            <a:ext cx="14168470" cy="1585197"/>
          </a:xfrm>
          <a:prstGeom prst="rect">
            <a:avLst/>
          </a:prstGeom>
        </p:spPr>
        <p:txBody>
          <a:bodyPr lIns="0" tIns="0" rIns="0" bIns="0" rtlCol="0" anchor="t">
            <a:spAutoFit/>
          </a:bodyPr>
          <a:lstStyle/>
          <a:p>
            <a:pPr marL="0" lvl="0" indent="0" algn="l">
              <a:lnSpc>
                <a:spcPts val="5960"/>
              </a:lnSpc>
            </a:pPr>
            <a:r>
              <a:rPr lang="en-US" sz="7180" b="1" dirty="0">
                <a:solidFill>
                  <a:srgbClr val="001E3A"/>
                </a:solidFill>
                <a:latin typeface="Garet Ultra-Bold"/>
                <a:ea typeface="Garet Ultra-Bold"/>
                <a:cs typeface="Garet Ultra-Bold"/>
                <a:sym typeface="Garet Ultra-Bold"/>
              </a:rPr>
              <a:t>User Interaction and Feedback Preferences</a:t>
            </a:r>
          </a:p>
        </p:txBody>
      </p:sp>
      <p:sp>
        <p:nvSpPr>
          <p:cNvPr id="19" name="TextBox 19">
            <a:extLst>
              <a:ext uri="{FF2B5EF4-FFF2-40B4-BE49-F238E27FC236}">
                <a16:creationId xmlns:a16="http://schemas.microsoft.com/office/drawing/2014/main" id="{BFCFC13C-C0F5-354F-5D4F-3B7396E0C2A7}"/>
              </a:ext>
            </a:extLst>
          </p:cNvPr>
          <p:cNvSpPr txBox="1"/>
          <p:nvPr/>
        </p:nvSpPr>
        <p:spPr>
          <a:xfrm>
            <a:off x="14250620" y="9229725"/>
            <a:ext cx="1865504" cy="208643"/>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University of Buea</a:t>
            </a:r>
          </a:p>
        </p:txBody>
      </p:sp>
      <p:sp>
        <p:nvSpPr>
          <p:cNvPr id="20" name="TextBox 20">
            <a:extLst>
              <a:ext uri="{FF2B5EF4-FFF2-40B4-BE49-F238E27FC236}">
                <a16:creationId xmlns:a16="http://schemas.microsoft.com/office/drawing/2014/main" id="{8B54DBCC-1BC1-0AA9-6FE3-14B2AF87E646}"/>
              </a:ext>
            </a:extLst>
          </p:cNvPr>
          <p:cNvSpPr txBox="1"/>
          <p:nvPr/>
        </p:nvSpPr>
        <p:spPr>
          <a:xfrm>
            <a:off x="14250620" y="9443214"/>
            <a:ext cx="3008680" cy="478729"/>
          </a:xfrm>
          <a:prstGeom prst="rect">
            <a:avLst/>
          </a:prstGeom>
        </p:spPr>
        <p:txBody>
          <a:bodyPr lIns="0" tIns="0" rIns="0" bIns="0" rtlCol="0" anchor="t">
            <a:spAutoFit/>
          </a:bodyPr>
          <a:lstStyle/>
          <a:p>
            <a:pPr marL="0" lvl="0" indent="0" algn="l">
              <a:lnSpc>
                <a:spcPts val="1977"/>
              </a:lnSpc>
            </a:pPr>
            <a:r>
              <a:rPr lang="en-US" sz="1412">
                <a:solidFill>
                  <a:srgbClr val="001E3A"/>
                </a:solidFill>
                <a:latin typeface="Garet"/>
                <a:ea typeface="Garet"/>
                <a:cs typeface="Garet"/>
                <a:sym typeface="Garet"/>
              </a:rPr>
              <a:t>CEF440 – Internet and Mobile Programming</a:t>
            </a:r>
          </a:p>
        </p:txBody>
      </p:sp>
      <p:sp>
        <p:nvSpPr>
          <p:cNvPr id="21" name="TextBox 21">
            <a:extLst>
              <a:ext uri="{FF2B5EF4-FFF2-40B4-BE49-F238E27FC236}">
                <a16:creationId xmlns:a16="http://schemas.microsoft.com/office/drawing/2014/main" id="{DD3DA9DC-A13F-D197-448B-31F369482D22}"/>
              </a:ext>
            </a:extLst>
          </p:cNvPr>
          <p:cNvSpPr txBox="1"/>
          <p:nvPr/>
        </p:nvSpPr>
        <p:spPr>
          <a:xfrm>
            <a:off x="13691401" y="9315450"/>
            <a:ext cx="559219" cy="201590"/>
          </a:xfrm>
          <a:prstGeom prst="rect">
            <a:avLst/>
          </a:prstGeom>
        </p:spPr>
        <p:txBody>
          <a:bodyPr lIns="0" tIns="0" rIns="0" bIns="0" rtlCol="0" anchor="t">
            <a:spAutoFit/>
          </a:bodyPr>
          <a:lstStyle/>
          <a:p>
            <a:pPr marL="0" lvl="0" indent="0" algn="ctr">
              <a:lnSpc>
                <a:spcPts val="1429"/>
              </a:lnSpc>
            </a:pPr>
            <a:r>
              <a:rPr lang="en-US" sz="1722" b="1">
                <a:solidFill>
                  <a:srgbClr val="001E3A"/>
                </a:solidFill>
                <a:latin typeface="Garet Ultra-Bold"/>
                <a:ea typeface="Garet Ultra-Bold"/>
                <a:cs typeface="Garet Ultra-Bold"/>
                <a:sym typeface="Garet Ultra-Bold"/>
              </a:rPr>
              <a:t>6</a:t>
            </a:r>
          </a:p>
        </p:txBody>
      </p:sp>
    </p:spTree>
    <p:extLst>
      <p:ext uri="{BB962C8B-B14F-4D97-AF65-F5344CB8AC3E}">
        <p14:creationId xmlns:p14="http://schemas.microsoft.com/office/powerpoint/2010/main" val="9456917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C3F2CF-B2E6-016F-09E6-BB450FEED799}"/>
            </a:ext>
          </a:extLst>
        </p:cNvPr>
        <p:cNvGrpSpPr/>
        <p:nvPr/>
      </p:nvGrpSpPr>
      <p:grpSpPr>
        <a:xfrm>
          <a:off x="0" y="0"/>
          <a:ext cx="0" cy="0"/>
          <a:chOff x="0" y="0"/>
          <a:chExt cx="0" cy="0"/>
        </a:xfrm>
      </p:grpSpPr>
      <p:pic>
        <p:nvPicPr>
          <p:cNvPr id="8" name="Picture 7" descr="Forms response chart. Question title: How often would you be comfortable giving feedback about your network experience?. Number of responses: 54 responses.">
            <a:extLst>
              <a:ext uri="{FF2B5EF4-FFF2-40B4-BE49-F238E27FC236}">
                <a16:creationId xmlns:a16="http://schemas.microsoft.com/office/drawing/2014/main" id="{FA9EBA10-389E-F0EC-20C8-C067625F2631}"/>
              </a:ext>
            </a:extLst>
          </p:cNvPr>
          <p:cNvPicPr>
            <a:picLocks noChangeAspect="1"/>
          </p:cNvPicPr>
          <p:nvPr/>
        </p:nvPicPr>
        <p:blipFill>
          <a:blip r:embed="rId2"/>
          <a:stretch>
            <a:fillRect/>
          </a:stretch>
        </p:blipFill>
        <p:spPr>
          <a:xfrm>
            <a:off x="403859" y="1671215"/>
            <a:ext cx="11484065" cy="4832093"/>
          </a:xfrm>
          <a:prstGeom prst="rect">
            <a:avLst/>
          </a:prstGeom>
        </p:spPr>
      </p:pic>
      <p:grpSp>
        <p:nvGrpSpPr>
          <p:cNvPr id="2" name="Group 2">
            <a:extLst>
              <a:ext uri="{FF2B5EF4-FFF2-40B4-BE49-F238E27FC236}">
                <a16:creationId xmlns:a16="http://schemas.microsoft.com/office/drawing/2014/main" id="{B0B578F8-1791-70DE-3138-C77ABADAA107}"/>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9F761049-F2DF-B4E4-DA0A-0C90A5810B9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F523AA75-844E-7D8A-7E5D-CA4F36CCBA27}"/>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6E29AFEB-19BB-8D6F-4FB1-60E3C78ED5A8}"/>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90D5C2E5-EE2B-D4DA-AE99-5421385A5780}"/>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302AB77E-4C4F-9E8A-2D1D-BC713678C499}"/>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44CBCCD6-55F1-3DF6-F284-5A98716002E9}"/>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A97FF5DB-2F4B-942B-1A22-CA32639AA3CE}"/>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22" name="TextBox 21">
            <a:extLst>
              <a:ext uri="{FF2B5EF4-FFF2-40B4-BE49-F238E27FC236}">
                <a16:creationId xmlns:a16="http://schemas.microsoft.com/office/drawing/2014/main" id="{0E409B62-2E03-201F-CFDD-895AD2EE5AA4}"/>
              </a:ext>
            </a:extLst>
          </p:cNvPr>
          <p:cNvSpPr txBox="1"/>
          <p:nvPr/>
        </p:nvSpPr>
        <p:spPr>
          <a:xfrm>
            <a:off x="9629422" y="4674178"/>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97F9B572-96EF-8E9E-A5A0-17FA699029BB}"/>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
        <p:nvSpPr>
          <p:cNvPr id="10" name="TextBox 9">
            <a:extLst>
              <a:ext uri="{FF2B5EF4-FFF2-40B4-BE49-F238E27FC236}">
                <a16:creationId xmlns:a16="http://schemas.microsoft.com/office/drawing/2014/main" id="{01776A32-B109-64A7-52F3-04DBA53E535A}"/>
              </a:ext>
            </a:extLst>
          </p:cNvPr>
          <p:cNvSpPr txBox="1"/>
          <p:nvPr/>
        </p:nvSpPr>
        <p:spPr>
          <a:xfrm>
            <a:off x="9469139" y="5929964"/>
            <a:ext cx="6629400" cy="3046988"/>
          </a:xfrm>
          <a:prstGeom prst="rect">
            <a:avLst/>
          </a:prstGeom>
          <a:noFill/>
        </p:spPr>
        <p:txBody>
          <a:bodyPr wrap="square">
            <a:spAutoFit/>
          </a:bodyPr>
          <a:lstStyle/>
          <a:p>
            <a:r>
              <a:rPr lang="en-US" sz="3200" b="0" i="0" dirty="0">
                <a:solidFill>
                  <a:schemeClr val="tx2">
                    <a:lumMod val="50000"/>
                  </a:schemeClr>
                </a:solidFill>
                <a:effectLst/>
              </a:rPr>
              <a:t>The survey shows that 42.6% of users only want to give feedback after a problem occurs, meaning the app must include event-triggered surveys that only appear when a network failure is detected.</a:t>
            </a:r>
            <a:endParaRPr lang="en-US" sz="3200" dirty="0">
              <a:solidFill>
                <a:schemeClr val="tx2">
                  <a:lumMod val="50000"/>
                </a:schemeClr>
              </a:solidFill>
            </a:endParaRPr>
          </a:p>
        </p:txBody>
      </p:sp>
    </p:spTree>
    <p:extLst>
      <p:ext uri="{BB962C8B-B14F-4D97-AF65-F5344CB8AC3E}">
        <p14:creationId xmlns:p14="http://schemas.microsoft.com/office/powerpoint/2010/main" val="28791368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29CD7-9FD2-AE41-6664-B0B9F46BD6A8}"/>
            </a:ext>
          </a:extLst>
        </p:cNvPr>
        <p:cNvGrpSpPr/>
        <p:nvPr/>
      </p:nvGrpSpPr>
      <p:grpSpPr>
        <a:xfrm>
          <a:off x="0" y="0"/>
          <a:ext cx="0" cy="0"/>
          <a:chOff x="0" y="0"/>
          <a:chExt cx="0" cy="0"/>
        </a:xfrm>
      </p:grpSpPr>
      <p:pic>
        <p:nvPicPr>
          <p:cNvPr id="14" name="Picture 13" descr="Forms response chart. Question title: What type of feedback rating method do you prefer?. Number of responses: 53 responses.">
            <a:extLst>
              <a:ext uri="{FF2B5EF4-FFF2-40B4-BE49-F238E27FC236}">
                <a16:creationId xmlns:a16="http://schemas.microsoft.com/office/drawing/2014/main" id="{87D0BA54-5AA4-611D-12E4-AE3C7C97A60A}"/>
              </a:ext>
            </a:extLst>
          </p:cNvPr>
          <p:cNvPicPr>
            <a:picLocks noChangeAspect="1"/>
          </p:cNvPicPr>
          <p:nvPr/>
        </p:nvPicPr>
        <p:blipFill>
          <a:blip r:embed="rId2"/>
          <a:stretch>
            <a:fillRect/>
          </a:stretch>
        </p:blipFill>
        <p:spPr>
          <a:xfrm>
            <a:off x="613189" y="1438496"/>
            <a:ext cx="13753475" cy="5786982"/>
          </a:xfrm>
          <a:prstGeom prst="rect">
            <a:avLst/>
          </a:prstGeom>
        </p:spPr>
      </p:pic>
      <p:grpSp>
        <p:nvGrpSpPr>
          <p:cNvPr id="2" name="Group 2">
            <a:extLst>
              <a:ext uri="{FF2B5EF4-FFF2-40B4-BE49-F238E27FC236}">
                <a16:creationId xmlns:a16="http://schemas.microsoft.com/office/drawing/2014/main" id="{0A722896-5A37-FEB5-3E3B-07874A702E51}"/>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340CCC1A-3BCB-978C-3EAA-C60727AB8160}"/>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3C5B3821-ED0D-38EE-19CB-8162BAFB2953}"/>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7D03CAB5-14FB-48AB-67C8-9632C8184EA4}"/>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D5354596-0250-641B-A8A5-1809BE9F51D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C7E826CD-6296-1051-C98B-D55499D20ECB}"/>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503DF67E-19F4-F70B-1A3F-33B8398035C0}"/>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CEE1C933-2096-250E-8885-984EE6F02939}"/>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22" name="TextBox 21">
            <a:extLst>
              <a:ext uri="{FF2B5EF4-FFF2-40B4-BE49-F238E27FC236}">
                <a16:creationId xmlns:a16="http://schemas.microsoft.com/office/drawing/2014/main" id="{698BA77D-70B6-1701-3ED5-A3448573E982}"/>
              </a:ext>
            </a:extLst>
          </p:cNvPr>
          <p:cNvSpPr txBox="1"/>
          <p:nvPr/>
        </p:nvSpPr>
        <p:spPr>
          <a:xfrm>
            <a:off x="9463277" y="5304148"/>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0A581F98-62C7-45C3-1104-1DC859A8417C}"/>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
        <p:nvSpPr>
          <p:cNvPr id="10" name="TextBox 9">
            <a:extLst>
              <a:ext uri="{FF2B5EF4-FFF2-40B4-BE49-F238E27FC236}">
                <a16:creationId xmlns:a16="http://schemas.microsoft.com/office/drawing/2014/main" id="{711160DE-D737-D544-6CEB-EA73AEB85460}"/>
              </a:ext>
            </a:extLst>
          </p:cNvPr>
          <p:cNvSpPr txBox="1"/>
          <p:nvPr/>
        </p:nvSpPr>
        <p:spPr>
          <a:xfrm>
            <a:off x="9469139" y="5929964"/>
            <a:ext cx="6629400" cy="2554545"/>
          </a:xfrm>
          <a:prstGeom prst="rect">
            <a:avLst/>
          </a:prstGeom>
          <a:noFill/>
        </p:spPr>
        <p:txBody>
          <a:bodyPr wrap="square">
            <a:spAutoFit/>
          </a:bodyPr>
          <a:lstStyle/>
          <a:p>
            <a:r>
              <a:rPr lang="en-US" sz="3200" b="0" i="0" dirty="0">
                <a:solidFill>
                  <a:schemeClr val="tx2">
                    <a:lumMod val="50000"/>
                  </a:schemeClr>
                </a:solidFill>
                <a:effectLst/>
              </a:rPr>
              <a:t>Since 56.6% of users prefer a simple 1-5 star rating, the app must include a quick star-based interface to ensure high response rates while minimizing user effort.</a:t>
            </a:r>
            <a:endParaRPr lang="en-US" sz="3200" dirty="0">
              <a:solidFill>
                <a:schemeClr val="tx2">
                  <a:lumMod val="50000"/>
                </a:schemeClr>
              </a:solidFill>
            </a:endParaRPr>
          </a:p>
        </p:txBody>
      </p:sp>
    </p:spTree>
    <p:extLst>
      <p:ext uri="{BB962C8B-B14F-4D97-AF65-F5344CB8AC3E}">
        <p14:creationId xmlns:p14="http://schemas.microsoft.com/office/powerpoint/2010/main" val="175187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3680D-D402-8AF7-F8B8-96B7F632038E}"/>
            </a:ext>
          </a:extLst>
        </p:cNvPr>
        <p:cNvGrpSpPr/>
        <p:nvPr/>
      </p:nvGrpSpPr>
      <p:grpSpPr>
        <a:xfrm>
          <a:off x="0" y="0"/>
          <a:ext cx="0" cy="0"/>
          <a:chOff x="0" y="0"/>
          <a:chExt cx="0" cy="0"/>
        </a:xfrm>
      </p:grpSpPr>
      <p:pic>
        <p:nvPicPr>
          <p:cNvPr id="9" name="Picture 8" descr="Forms response chart. Question title: When should the app ask you for feedback?. Number of responses: 53 responses.">
            <a:extLst>
              <a:ext uri="{FF2B5EF4-FFF2-40B4-BE49-F238E27FC236}">
                <a16:creationId xmlns:a16="http://schemas.microsoft.com/office/drawing/2014/main" id="{C7516638-F8B8-820B-F6DC-575DB1B418E1}"/>
              </a:ext>
            </a:extLst>
          </p:cNvPr>
          <p:cNvPicPr>
            <a:picLocks noChangeAspect="1"/>
          </p:cNvPicPr>
          <p:nvPr/>
        </p:nvPicPr>
        <p:blipFill>
          <a:blip r:embed="rId2"/>
          <a:stretch>
            <a:fillRect/>
          </a:stretch>
        </p:blipFill>
        <p:spPr>
          <a:xfrm>
            <a:off x="340394" y="1203848"/>
            <a:ext cx="14308482" cy="6020509"/>
          </a:xfrm>
          <a:prstGeom prst="rect">
            <a:avLst/>
          </a:prstGeom>
        </p:spPr>
      </p:pic>
      <p:grpSp>
        <p:nvGrpSpPr>
          <p:cNvPr id="2" name="Group 2">
            <a:extLst>
              <a:ext uri="{FF2B5EF4-FFF2-40B4-BE49-F238E27FC236}">
                <a16:creationId xmlns:a16="http://schemas.microsoft.com/office/drawing/2014/main" id="{B2BBDCC4-3C85-1644-08E0-E570B94E0600}"/>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D0589150-36BD-E980-0235-948BFFAF9B3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42538E2B-56D5-7373-31B6-21520079DE75}"/>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12E478AD-5F5D-7945-FFC5-5419EECC0D30}"/>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D23E5235-9C8B-1F17-DC77-1C47F9DB3147}"/>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C3724660-1C2C-73EA-5344-0CDC8EB412DB}"/>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E17309C0-9AB0-C60E-3834-147B78F0BA60}"/>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E6F80532-B366-7424-4208-BF2686A52F85}"/>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22" name="TextBox 21">
            <a:extLst>
              <a:ext uri="{FF2B5EF4-FFF2-40B4-BE49-F238E27FC236}">
                <a16:creationId xmlns:a16="http://schemas.microsoft.com/office/drawing/2014/main" id="{F1860FC1-8A64-1886-24B0-2855615C3B1C}"/>
              </a:ext>
            </a:extLst>
          </p:cNvPr>
          <p:cNvSpPr txBox="1"/>
          <p:nvPr/>
        </p:nvSpPr>
        <p:spPr>
          <a:xfrm>
            <a:off x="9629422" y="4674178"/>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DFFB10D4-7AB8-E04E-D838-4B2931AFDF43}"/>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
        <p:nvSpPr>
          <p:cNvPr id="10" name="TextBox 9">
            <a:extLst>
              <a:ext uri="{FF2B5EF4-FFF2-40B4-BE49-F238E27FC236}">
                <a16:creationId xmlns:a16="http://schemas.microsoft.com/office/drawing/2014/main" id="{F185DCB8-A3B4-B745-2960-834F015E6126}"/>
              </a:ext>
            </a:extLst>
          </p:cNvPr>
          <p:cNvSpPr txBox="1"/>
          <p:nvPr/>
        </p:nvSpPr>
        <p:spPr>
          <a:xfrm>
            <a:off x="9469139" y="5929964"/>
            <a:ext cx="6629400" cy="3046988"/>
          </a:xfrm>
          <a:prstGeom prst="rect">
            <a:avLst/>
          </a:prstGeom>
          <a:noFill/>
        </p:spPr>
        <p:txBody>
          <a:bodyPr wrap="square">
            <a:spAutoFit/>
          </a:bodyPr>
          <a:lstStyle/>
          <a:p>
            <a:r>
              <a:rPr lang="en-US" sz="3200" b="0" i="0" dirty="0">
                <a:solidFill>
                  <a:schemeClr val="tx2">
                    <a:lumMod val="50000"/>
                  </a:schemeClr>
                </a:solidFill>
                <a:effectLst/>
              </a:rPr>
              <a:t>With 45.3% of users wanting to be asked after slow internet is detected, the app must include real-time speed monitoring that triggers a feedback prompt the moment throughput drops below a set threshold.</a:t>
            </a:r>
            <a:endParaRPr lang="en-US" sz="3200" dirty="0">
              <a:solidFill>
                <a:schemeClr val="tx2">
                  <a:lumMod val="50000"/>
                </a:schemeClr>
              </a:solidFill>
            </a:endParaRPr>
          </a:p>
        </p:txBody>
      </p:sp>
    </p:spTree>
    <p:extLst>
      <p:ext uri="{BB962C8B-B14F-4D97-AF65-F5344CB8AC3E}">
        <p14:creationId xmlns:p14="http://schemas.microsoft.com/office/powerpoint/2010/main" val="38856413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4F8AD-2B04-8D97-4381-349442E8E9E9}"/>
            </a:ext>
          </a:extLst>
        </p:cNvPr>
        <p:cNvGrpSpPr/>
        <p:nvPr/>
      </p:nvGrpSpPr>
      <p:grpSpPr>
        <a:xfrm>
          <a:off x="0" y="0"/>
          <a:ext cx="0" cy="0"/>
          <a:chOff x="0" y="0"/>
          <a:chExt cx="0" cy="0"/>
        </a:xfrm>
      </p:grpSpPr>
      <p:pic>
        <p:nvPicPr>
          <p:cNvPr id="8" name="Picture 7" descr="Forms response chart. Question title: How long are you willing to spend giving feedback?. Number of responses: 10 responses.">
            <a:extLst>
              <a:ext uri="{FF2B5EF4-FFF2-40B4-BE49-F238E27FC236}">
                <a16:creationId xmlns:a16="http://schemas.microsoft.com/office/drawing/2014/main" id="{B706A833-DCA7-75D9-595E-B243832698F4}"/>
              </a:ext>
            </a:extLst>
          </p:cNvPr>
          <p:cNvPicPr>
            <a:picLocks noChangeAspect="1"/>
          </p:cNvPicPr>
          <p:nvPr/>
        </p:nvPicPr>
        <p:blipFill>
          <a:blip r:embed="rId2"/>
          <a:stretch>
            <a:fillRect/>
          </a:stretch>
        </p:blipFill>
        <p:spPr>
          <a:xfrm>
            <a:off x="0" y="1296024"/>
            <a:ext cx="18288000" cy="7694951"/>
          </a:xfrm>
          <a:prstGeom prst="rect">
            <a:avLst/>
          </a:prstGeom>
        </p:spPr>
      </p:pic>
      <p:grpSp>
        <p:nvGrpSpPr>
          <p:cNvPr id="2" name="Group 2">
            <a:extLst>
              <a:ext uri="{FF2B5EF4-FFF2-40B4-BE49-F238E27FC236}">
                <a16:creationId xmlns:a16="http://schemas.microsoft.com/office/drawing/2014/main" id="{D268FCB9-7F92-8343-206A-1F67C52D8B85}"/>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DE930117-9A83-6D90-D286-D10AD38228B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01D40AEC-DC1E-11D3-705C-C87849FC3679}"/>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487115A9-F809-89E0-889B-9D23CF2CB28F}"/>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EBAAE4CE-FA40-8C6D-AD78-6B7E7313E53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BF31D56F-DA7B-23B6-A7D7-806D0535F672}"/>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273BB290-9471-4C2A-7D2D-90FBE60CCCAC}"/>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C261FF57-2F10-8CA4-AFF5-FBAB100C3221}"/>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22" name="TextBox 21">
            <a:extLst>
              <a:ext uri="{FF2B5EF4-FFF2-40B4-BE49-F238E27FC236}">
                <a16:creationId xmlns:a16="http://schemas.microsoft.com/office/drawing/2014/main" id="{4E0ADAD2-794E-3941-BC73-65BD4A61FE8C}"/>
              </a:ext>
            </a:extLst>
          </p:cNvPr>
          <p:cNvSpPr txBox="1"/>
          <p:nvPr/>
        </p:nvSpPr>
        <p:spPr>
          <a:xfrm>
            <a:off x="9469139" y="5729314"/>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A2839F2D-AF6E-7F33-ADC7-73F7139AB560}"/>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
        <p:nvSpPr>
          <p:cNvPr id="10" name="TextBox 9">
            <a:extLst>
              <a:ext uri="{FF2B5EF4-FFF2-40B4-BE49-F238E27FC236}">
                <a16:creationId xmlns:a16="http://schemas.microsoft.com/office/drawing/2014/main" id="{1659DDF2-14C2-D98A-8C8F-670848BBD077}"/>
              </a:ext>
            </a:extLst>
          </p:cNvPr>
          <p:cNvSpPr txBox="1"/>
          <p:nvPr/>
        </p:nvSpPr>
        <p:spPr>
          <a:xfrm>
            <a:off x="9646391" y="6439361"/>
            <a:ext cx="6629400" cy="3046988"/>
          </a:xfrm>
          <a:prstGeom prst="rect">
            <a:avLst/>
          </a:prstGeom>
          <a:noFill/>
        </p:spPr>
        <p:txBody>
          <a:bodyPr wrap="square">
            <a:spAutoFit/>
          </a:bodyPr>
          <a:lstStyle/>
          <a:p>
            <a:r>
              <a:rPr lang="en-US" sz="3200" b="0" i="0" dirty="0">
                <a:solidFill>
                  <a:schemeClr val="tx2">
                    <a:lumMod val="50000"/>
                  </a:schemeClr>
                </a:solidFill>
                <a:effectLst/>
              </a:rPr>
              <a:t>The majority of users prefer a reactive approach, meaning they are most likely to provide feedback only when something goes wrong and they are prompted rather than a regular or fixed approach.</a:t>
            </a:r>
            <a:endParaRPr lang="en-US" sz="3200" dirty="0">
              <a:solidFill>
                <a:schemeClr val="tx2">
                  <a:lumMod val="50000"/>
                </a:schemeClr>
              </a:solidFill>
            </a:endParaRPr>
          </a:p>
        </p:txBody>
      </p:sp>
      <p:sp>
        <p:nvSpPr>
          <p:cNvPr id="12" name="Rectangle 11">
            <a:extLst>
              <a:ext uri="{FF2B5EF4-FFF2-40B4-BE49-F238E27FC236}">
                <a16:creationId xmlns:a16="http://schemas.microsoft.com/office/drawing/2014/main" id="{ECA1CB78-1C89-CF29-37DB-AF02315AAE97}"/>
              </a:ext>
            </a:extLst>
          </p:cNvPr>
          <p:cNvSpPr/>
          <p:nvPr/>
        </p:nvSpPr>
        <p:spPr>
          <a:xfrm>
            <a:off x="404446" y="2363924"/>
            <a:ext cx="609600" cy="64633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2">
                    <a:lumMod val="50000"/>
                  </a:schemeClr>
                </a:solidFill>
              </a:rPr>
              <a:t>55</a:t>
            </a:r>
            <a:endParaRPr lang="en-US" sz="2000" dirty="0">
              <a:solidFill>
                <a:schemeClr val="tx2">
                  <a:lumMod val="50000"/>
                </a:schemeClr>
              </a:solidFill>
            </a:endParaRPr>
          </a:p>
        </p:txBody>
      </p:sp>
    </p:spTree>
    <p:extLst>
      <p:ext uri="{BB962C8B-B14F-4D97-AF65-F5344CB8AC3E}">
        <p14:creationId xmlns:p14="http://schemas.microsoft.com/office/powerpoint/2010/main" val="20370016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2386346"/>
            <a:ext cx="14168470" cy="1585197"/>
          </a:xfrm>
          <a:prstGeom prst="rect">
            <a:avLst/>
          </a:prstGeom>
        </p:spPr>
        <p:txBody>
          <a:bodyPr lIns="0" tIns="0" rIns="0" bIns="0" rtlCol="0" anchor="t">
            <a:spAutoFit/>
          </a:bodyPr>
          <a:lstStyle/>
          <a:p>
            <a:pPr marL="0" lvl="0" indent="0" algn="l">
              <a:lnSpc>
                <a:spcPts val="5960"/>
              </a:lnSpc>
            </a:pPr>
            <a:r>
              <a:rPr lang="en-US" sz="7180" b="1">
                <a:solidFill>
                  <a:srgbClr val="001E3A"/>
                </a:solidFill>
                <a:latin typeface="Garet Ultra-Bold"/>
                <a:ea typeface="Garet Ultra-Bold"/>
                <a:cs typeface="Garet Ultra-Bold"/>
                <a:sym typeface="Garet Ultra-Bold"/>
              </a:rPr>
              <a:t>User Interaction and Feedback Preferences</a:t>
            </a:r>
          </a:p>
        </p:txBody>
      </p:sp>
      <p:sp>
        <p:nvSpPr>
          <p:cNvPr id="11" name="TextBox 11"/>
          <p:cNvSpPr txBox="1"/>
          <p:nvPr/>
        </p:nvSpPr>
        <p:spPr>
          <a:xfrm>
            <a:off x="4463329" y="4209788"/>
            <a:ext cx="10552228" cy="1746013"/>
          </a:xfrm>
          <a:prstGeom prst="rect">
            <a:avLst/>
          </a:prstGeom>
        </p:spPr>
        <p:txBody>
          <a:bodyPr lIns="0" tIns="0" rIns="0" bIns="0" rtlCol="0" anchor="t">
            <a:spAutoFit/>
          </a:bodyPr>
          <a:lstStyle/>
          <a:p>
            <a:pPr marL="0" lvl="0" indent="0" algn="l">
              <a:lnSpc>
                <a:spcPts val="3513"/>
              </a:lnSpc>
            </a:pPr>
            <a:r>
              <a:rPr lang="en-US" sz="2509">
                <a:solidFill>
                  <a:srgbClr val="001E3A"/>
                </a:solidFill>
                <a:latin typeface="Garet"/>
                <a:ea typeface="Garet"/>
                <a:cs typeface="Garet"/>
                <a:sym typeface="Garet"/>
              </a:rPr>
              <a:t>Users prefer minimal, non-intrusive interaction when providing feedback. Rating scales and emoji-based responses are favored, with most willing to spend less than 10 seconds on feedback submission.</a:t>
            </a:r>
          </a:p>
        </p:txBody>
      </p:sp>
      <p:grpSp>
        <p:nvGrpSpPr>
          <p:cNvPr id="12" name="Group 12"/>
          <p:cNvGrpSpPr/>
          <p:nvPr/>
        </p:nvGrpSpPr>
        <p:grpSpPr>
          <a:xfrm>
            <a:off x="3272443" y="4266938"/>
            <a:ext cx="876562" cy="876562"/>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4" name="TextBox 1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5" name="TextBox 15"/>
          <p:cNvSpPr txBox="1"/>
          <p:nvPr/>
        </p:nvSpPr>
        <p:spPr>
          <a:xfrm>
            <a:off x="4463329" y="6410900"/>
            <a:ext cx="10552228" cy="1307863"/>
          </a:xfrm>
          <a:prstGeom prst="rect">
            <a:avLst/>
          </a:prstGeom>
        </p:spPr>
        <p:txBody>
          <a:bodyPr lIns="0" tIns="0" rIns="0" bIns="0" rtlCol="0" anchor="t">
            <a:spAutoFit/>
          </a:bodyPr>
          <a:lstStyle/>
          <a:p>
            <a:pPr marL="0" lvl="0" indent="0" algn="l">
              <a:lnSpc>
                <a:spcPts val="3513"/>
              </a:lnSpc>
            </a:pPr>
            <a:r>
              <a:rPr lang="en-US" sz="2509">
                <a:solidFill>
                  <a:srgbClr val="001E3A"/>
                </a:solidFill>
                <a:latin typeface="Garet"/>
                <a:ea typeface="Garet"/>
                <a:cs typeface="Garet"/>
                <a:sym typeface="Garet"/>
              </a:rPr>
              <a:t>Key requirements include fast, intuitive interfaces and context-aware feedback triggers that activate intelligently after network issues occur, ensuring timely and relevant user input collection.</a:t>
            </a:r>
          </a:p>
        </p:txBody>
      </p:sp>
      <p:grpSp>
        <p:nvGrpSpPr>
          <p:cNvPr id="16" name="Group 16"/>
          <p:cNvGrpSpPr/>
          <p:nvPr/>
        </p:nvGrpSpPr>
        <p:grpSpPr>
          <a:xfrm>
            <a:off x="3272443" y="6468050"/>
            <a:ext cx="876562" cy="876562"/>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8" name="TextBox 18"/>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9" name="TextBox 19"/>
          <p:cNvSpPr txBox="1"/>
          <p:nvPr/>
        </p:nvSpPr>
        <p:spPr>
          <a:xfrm>
            <a:off x="14250620" y="9229725"/>
            <a:ext cx="1865504" cy="208643"/>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University of Buea</a:t>
            </a:r>
          </a:p>
        </p:txBody>
      </p:sp>
      <p:sp>
        <p:nvSpPr>
          <p:cNvPr id="20" name="TextBox 20"/>
          <p:cNvSpPr txBox="1"/>
          <p:nvPr/>
        </p:nvSpPr>
        <p:spPr>
          <a:xfrm>
            <a:off x="14250620" y="9443214"/>
            <a:ext cx="3008680" cy="478729"/>
          </a:xfrm>
          <a:prstGeom prst="rect">
            <a:avLst/>
          </a:prstGeom>
        </p:spPr>
        <p:txBody>
          <a:bodyPr lIns="0" tIns="0" rIns="0" bIns="0" rtlCol="0" anchor="t">
            <a:spAutoFit/>
          </a:bodyPr>
          <a:lstStyle/>
          <a:p>
            <a:pPr marL="0" lvl="0" indent="0" algn="l">
              <a:lnSpc>
                <a:spcPts val="1977"/>
              </a:lnSpc>
            </a:pPr>
            <a:r>
              <a:rPr lang="en-US" sz="1412">
                <a:solidFill>
                  <a:srgbClr val="001E3A"/>
                </a:solidFill>
                <a:latin typeface="Garet"/>
                <a:ea typeface="Garet"/>
                <a:cs typeface="Garet"/>
                <a:sym typeface="Garet"/>
              </a:rPr>
              <a:t>CEF440 – Internet and Mobile Programming</a:t>
            </a:r>
          </a:p>
        </p:txBody>
      </p:sp>
      <p:sp>
        <p:nvSpPr>
          <p:cNvPr id="21" name="TextBox 21"/>
          <p:cNvSpPr txBox="1"/>
          <p:nvPr/>
        </p:nvSpPr>
        <p:spPr>
          <a:xfrm>
            <a:off x="13691401" y="9315450"/>
            <a:ext cx="559219" cy="201590"/>
          </a:xfrm>
          <a:prstGeom prst="rect">
            <a:avLst/>
          </a:prstGeom>
        </p:spPr>
        <p:txBody>
          <a:bodyPr lIns="0" tIns="0" rIns="0" bIns="0" rtlCol="0" anchor="t">
            <a:spAutoFit/>
          </a:bodyPr>
          <a:lstStyle/>
          <a:p>
            <a:pPr marL="0" lvl="0" indent="0" algn="ctr">
              <a:lnSpc>
                <a:spcPts val="1429"/>
              </a:lnSpc>
            </a:pPr>
            <a:r>
              <a:rPr lang="en-US" sz="1722" b="1">
                <a:solidFill>
                  <a:srgbClr val="001E3A"/>
                </a:solidFill>
                <a:latin typeface="Garet Ultra-Bold"/>
                <a:ea typeface="Garet Ultra-Bold"/>
                <a:cs typeface="Garet Ultra-Bold"/>
                <a:sym typeface="Garet Ultra-Bold"/>
              </a:rPr>
              <a:t>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5182782" y="4079797"/>
            <a:ext cx="7922435" cy="1787028"/>
          </a:xfrm>
          <a:prstGeom prst="rect">
            <a:avLst/>
          </a:prstGeom>
        </p:spPr>
        <p:txBody>
          <a:bodyPr wrap="square" lIns="0" tIns="0" rIns="0" bIns="0" rtlCol="0" anchor="t">
            <a:spAutoFit/>
          </a:bodyPr>
          <a:lstStyle/>
          <a:p>
            <a:pPr marL="0" lvl="0" indent="0" algn="ctr">
              <a:lnSpc>
                <a:spcPts val="6599"/>
              </a:lnSpc>
            </a:pPr>
            <a:r>
              <a:rPr lang="en-US" sz="7950" b="1" dirty="0">
                <a:solidFill>
                  <a:srgbClr val="001E3A"/>
                </a:solidFill>
                <a:latin typeface="Garet Ultra-Bold"/>
                <a:ea typeface="Garet Ultra-Bold"/>
                <a:cs typeface="Garet Ultra-Bold"/>
                <a:sym typeface="Garet Ultra-Bold"/>
              </a:rPr>
              <a:t>Privacy And Trust Analysis</a:t>
            </a:r>
          </a:p>
        </p:txBody>
      </p:sp>
      <p:sp>
        <p:nvSpPr>
          <p:cNvPr id="19" name="TextBox 19"/>
          <p:cNvSpPr txBox="1"/>
          <p:nvPr/>
        </p:nvSpPr>
        <p:spPr>
          <a:xfrm>
            <a:off x="14250620" y="9229725"/>
            <a:ext cx="1865504" cy="211803"/>
          </a:xfrm>
          <a:prstGeom prst="rect">
            <a:avLst/>
          </a:prstGeom>
        </p:spPr>
        <p:txBody>
          <a:bodyPr lIns="0" tIns="0" rIns="0" bIns="0" rtlCol="0" anchor="t">
            <a:spAutoFit/>
          </a:bodyPr>
          <a:lstStyle/>
          <a:p>
            <a:pPr marL="0" lvl="0" indent="0" algn="l">
              <a:lnSpc>
                <a:spcPts val="1696"/>
              </a:lnSpc>
            </a:pPr>
            <a:r>
              <a:rPr lang="en-US" sz="1211">
                <a:solidFill>
                  <a:srgbClr val="001E3A"/>
                </a:solidFill>
                <a:latin typeface="Garet"/>
                <a:ea typeface="Garet"/>
                <a:cs typeface="Garet"/>
                <a:sym typeface="Garet"/>
              </a:rPr>
              <a:t>University of Buea</a:t>
            </a:r>
          </a:p>
        </p:txBody>
      </p:sp>
      <p:sp>
        <p:nvSpPr>
          <p:cNvPr id="20" name="TextBox 20"/>
          <p:cNvSpPr txBox="1"/>
          <p:nvPr/>
        </p:nvSpPr>
        <p:spPr>
          <a:xfrm>
            <a:off x="14250620" y="9443214"/>
            <a:ext cx="3008680" cy="234673"/>
          </a:xfrm>
          <a:prstGeom prst="rect">
            <a:avLst/>
          </a:prstGeom>
        </p:spPr>
        <p:txBody>
          <a:bodyPr lIns="0" tIns="0" rIns="0" bIns="0" rtlCol="0" anchor="t">
            <a:spAutoFit/>
          </a:bodyPr>
          <a:lstStyle/>
          <a:p>
            <a:pPr marL="0" lvl="0" indent="0" algn="l">
              <a:lnSpc>
                <a:spcPts val="1995"/>
              </a:lnSpc>
            </a:pPr>
            <a:r>
              <a:rPr lang="en-US" sz="1425">
                <a:solidFill>
                  <a:srgbClr val="001E3A"/>
                </a:solidFill>
                <a:latin typeface="Garet"/>
                <a:ea typeface="Garet"/>
                <a:cs typeface="Garet"/>
                <a:sym typeface="Garet"/>
              </a:rPr>
              <a:t>CEF440 – Group 5</a:t>
            </a:r>
          </a:p>
        </p:txBody>
      </p:sp>
      <p:sp>
        <p:nvSpPr>
          <p:cNvPr id="21" name="TextBox 21"/>
          <p:cNvSpPr txBox="1"/>
          <p:nvPr/>
        </p:nvSpPr>
        <p:spPr>
          <a:xfrm>
            <a:off x="13691401" y="9334500"/>
            <a:ext cx="559219" cy="212555"/>
          </a:xfrm>
          <a:prstGeom prst="rect">
            <a:avLst/>
          </a:prstGeom>
        </p:spPr>
        <p:txBody>
          <a:bodyPr lIns="0" tIns="0" rIns="0" bIns="0" rtlCol="0" anchor="t">
            <a:spAutoFit/>
          </a:bodyPr>
          <a:lstStyle/>
          <a:p>
            <a:pPr marL="0" lvl="0" indent="0" algn="ctr">
              <a:lnSpc>
                <a:spcPts val="1582"/>
              </a:lnSpc>
            </a:pPr>
            <a:r>
              <a:rPr lang="en-US" sz="1907" b="1">
                <a:solidFill>
                  <a:srgbClr val="001E3A"/>
                </a:solidFill>
                <a:latin typeface="Garet Ultra-Bold"/>
                <a:ea typeface="Garet Ultra-Bold"/>
                <a:cs typeface="Garet Ultra-Bold"/>
                <a:sym typeface="Garet Ultra-Bold"/>
              </a:rPr>
              <a:t>7</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2D4A7-9D40-2B68-1221-E7DD325B1E4A}"/>
            </a:ext>
          </a:extLst>
        </p:cNvPr>
        <p:cNvGrpSpPr/>
        <p:nvPr/>
      </p:nvGrpSpPr>
      <p:grpSpPr>
        <a:xfrm>
          <a:off x="0" y="0"/>
          <a:ext cx="0" cy="0"/>
          <a:chOff x="0" y="0"/>
          <a:chExt cx="0" cy="0"/>
        </a:xfrm>
      </p:grpSpPr>
      <p:pic>
        <p:nvPicPr>
          <p:cNvPr id="9" name="Picture 8" descr="Forms response chart. Question title: Would you allow an app to collect your network performance data in the background?. Number of responses: 11 responses.">
            <a:extLst>
              <a:ext uri="{FF2B5EF4-FFF2-40B4-BE49-F238E27FC236}">
                <a16:creationId xmlns:a16="http://schemas.microsoft.com/office/drawing/2014/main" id="{1B64BD1B-F760-01E3-D60E-ADFF0CC3C3FD}"/>
              </a:ext>
            </a:extLst>
          </p:cNvPr>
          <p:cNvPicPr>
            <a:picLocks noChangeAspect="1"/>
          </p:cNvPicPr>
          <p:nvPr/>
        </p:nvPicPr>
        <p:blipFill>
          <a:blip r:embed="rId2"/>
          <a:stretch>
            <a:fillRect/>
          </a:stretch>
        </p:blipFill>
        <p:spPr>
          <a:xfrm>
            <a:off x="0" y="1416712"/>
            <a:ext cx="11765476" cy="4950501"/>
          </a:xfrm>
          <a:prstGeom prst="rect">
            <a:avLst/>
          </a:prstGeom>
        </p:spPr>
      </p:pic>
      <p:grpSp>
        <p:nvGrpSpPr>
          <p:cNvPr id="2" name="Group 2">
            <a:extLst>
              <a:ext uri="{FF2B5EF4-FFF2-40B4-BE49-F238E27FC236}">
                <a16:creationId xmlns:a16="http://schemas.microsoft.com/office/drawing/2014/main" id="{7D402EF1-CA73-5EB7-3863-D379A995CD64}"/>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E45661C6-FCE1-5297-5DF6-296C9B379CC5}"/>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ACA4FD38-0070-BB84-2830-540E3AD76AD7}"/>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343A93EF-BA2E-DE9D-692C-03A6396D0AD3}"/>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BFB274C3-1319-7265-BDDD-702CD334AD9C}"/>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7131DDCB-E26A-75CA-9EF9-E49A05D2F3C1}"/>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EA6D37E5-2D4A-6DEE-4F2F-C7BA49F6B049}"/>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88CD84E0-B16B-7F17-1277-5A464AB46AF9}"/>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22" name="TextBox 21">
            <a:extLst>
              <a:ext uri="{FF2B5EF4-FFF2-40B4-BE49-F238E27FC236}">
                <a16:creationId xmlns:a16="http://schemas.microsoft.com/office/drawing/2014/main" id="{71FE6B8C-151A-2E58-BFF4-1896932A960A}"/>
              </a:ext>
            </a:extLst>
          </p:cNvPr>
          <p:cNvSpPr txBox="1"/>
          <p:nvPr/>
        </p:nvSpPr>
        <p:spPr>
          <a:xfrm>
            <a:off x="9469139" y="5298287"/>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E9A3A4EB-8631-E0EF-4CD0-6C37B25D9137}"/>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
        <p:nvSpPr>
          <p:cNvPr id="10" name="TextBox 9">
            <a:extLst>
              <a:ext uri="{FF2B5EF4-FFF2-40B4-BE49-F238E27FC236}">
                <a16:creationId xmlns:a16="http://schemas.microsoft.com/office/drawing/2014/main" id="{4A50664C-38D5-0A30-A55C-F11BC2856837}"/>
              </a:ext>
            </a:extLst>
          </p:cNvPr>
          <p:cNvSpPr txBox="1"/>
          <p:nvPr/>
        </p:nvSpPr>
        <p:spPr>
          <a:xfrm>
            <a:off x="9469139" y="5929964"/>
            <a:ext cx="6629400" cy="2554545"/>
          </a:xfrm>
          <a:prstGeom prst="rect">
            <a:avLst/>
          </a:prstGeom>
          <a:noFill/>
        </p:spPr>
        <p:txBody>
          <a:bodyPr wrap="square">
            <a:spAutoFit/>
          </a:bodyPr>
          <a:lstStyle/>
          <a:p>
            <a:r>
              <a:rPr lang="en-US" sz="3200" b="0" i="0" dirty="0">
                <a:solidFill>
                  <a:schemeClr val="tx2">
                    <a:lumMod val="50000"/>
                  </a:schemeClr>
                </a:solidFill>
                <a:effectLst/>
              </a:rPr>
              <a:t>With 54.5% of users saying "Maybe" and 27.3% saying "Yes," the app must include a clear privacy toggle and an explanation of data benefits to secure user trust for background collection.</a:t>
            </a:r>
          </a:p>
        </p:txBody>
      </p:sp>
    </p:spTree>
    <p:extLst>
      <p:ext uri="{BB962C8B-B14F-4D97-AF65-F5344CB8AC3E}">
        <p14:creationId xmlns:p14="http://schemas.microsoft.com/office/powerpoint/2010/main" val="197422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73D18-B1F2-4295-B1FE-761EB8A44203}"/>
            </a:ext>
          </a:extLst>
        </p:cNvPr>
        <p:cNvGrpSpPr/>
        <p:nvPr/>
      </p:nvGrpSpPr>
      <p:grpSpPr>
        <a:xfrm>
          <a:off x="0" y="0"/>
          <a:ext cx="0" cy="0"/>
          <a:chOff x="0" y="0"/>
          <a:chExt cx="0" cy="0"/>
        </a:xfrm>
      </p:grpSpPr>
      <p:pic>
        <p:nvPicPr>
          <p:cNvPr id="12" name="Picture 11" descr="Forms response chart. Question title: Would you allow the app to access your location to map network quality?. Number of responses: 53 responses.">
            <a:extLst>
              <a:ext uri="{FF2B5EF4-FFF2-40B4-BE49-F238E27FC236}">
                <a16:creationId xmlns:a16="http://schemas.microsoft.com/office/drawing/2014/main" id="{87F28ED1-138A-14CD-FF40-09C5EA58A8A7}"/>
              </a:ext>
            </a:extLst>
          </p:cNvPr>
          <p:cNvPicPr>
            <a:picLocks noChangeAspect="1"/>
          </p:cNvPicPr>
          <p:nvPr/>
        </p:nvPicPr>
        <p:blipFill>
          <a:blip r:embed="rId2"/>
          <a:stretch>
            <a:fillRect/>
          </a:stretch>
        </p:blipFill>
        <p:spPr>
          <a:xfrm>
            <a:off x="23446" y="1447668"/>
            <a:ext cx="18446262" cy="7761542"/>
          </a:xfrm>
          <a:prstGeom prst="rect">
            <a:avLst/>
          </a:prstGeom>
        </p:spPr>
      </p:pic>
      <p:grpSp>
        <p:nvGrpSpPr>
          <p:cNvPr id="2" name="Group 2">
            <a:extLst>
              <a:ext uri="{FF2B5EF4-FFF2-40B4-BE49-F238E27FC236}">
                <a16:creationId xmlns:a16="http://schemas.microsoft.com/office/drawing/2014/main" id="{C480851D-75F7-FD11-049E-90864E351658}"/>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87F8F2AD-A862-08F9-963E-E677C9417E4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TextBox 4">
              <a:extLst>
                <a:ext uri="{FF2B5EF4-FFF2-40B4-BE49-F238E27FC236}">
                  <a16:creationId xmlns:a16="http://schemas.microsoft.com/office/drawing/2014/main" id="{F4290313-C6FC-9F59-E0A5-99D6A6FDF7CF}"/>
                </a:ext>
              </a:extLst>
            </p:cNvPr>
            <p:cNvSpPr txBox="1"/>
            <p:nvPr/>
          </p:nvSpPr>
          <p:spPr>
            <a:xfrm>
              <a:off x="76200" y="38100"/>
              <a:ext cx="660400" cy="698500"/>
            </a:xfrm>
            <a:prstGeom prst="rect">
              <a:avLst/>
            </a:prstGeom>
          </p:spPr>
          <p:txBody>
            <a:bodyPr lIns="50800" tIns="50800" rIns="50800" bIns="50800" rtlCol="0" anchor="ctr"/>
            <a:lstStyle/>
            <a:p>
              <a:pPr marL="0" marR="0" lvl="0" indent="0" algn="ctr" defTabSz="914400" rtl="0" eaLnBrk="1" fontAlgn="auto" latinLnBrk="0" hangingPunct="1">
                <a:lnSpc>
                  <a:spcPts val="2659"/>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grpSp>
        <p:nvGrpSpPr>
          <p:cNvPr id="5" name="Group 5">
            <a:extLst>
              <a:ext uri="{FF2B5EF4-FFF2-40B4-BE49-F238E27FC236}">
                <a16:creationId xmlns:a16="http://schemas.microsoft.com/office/drawing/2014/main" id="{E392B01E-A3DD-819E-8FFF-0E6B9A094D83}"/>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C7EB7CF5-27C0-FB09-9BA8-1E0CB0946DBC}"/>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sp>
          <p:nvSpPr>
            <p:cNvPr id="7" name="TextBox 7">
              <a:extLst>
                <a:ext uri="{FF2B5EF4-FFF2-40B4-BE49-F238E27FC236}">
                  <a16:creationId xmlns:a16="http://schemas.microsoft.com/office/drawing/2014/main" id="{49EB11BC-F3F5-AC45-2FF1-87A76B2764B2}"/>
                </a:ext>
              </a:extLst>
            </p:cNvPr>
            <p:cNvSpPr txBox="1"/>
            <p:nvPr/>
          </p:nvSpPr>
          <p:spPr>
            <a:xfrm>
              <a:off x="76200" y="38100"/>
              <a:ext cx="660400" cy="698500"/>
            </a:xfrm>
            <a:prstGeom prst="rect">
              <a:avLst/>
            </a:prstGeom>
          </p:spPr>
          <p:txBody>
            <a:bodyPr lIns="50800" tIns="50800" rIns="50800" bIns="50800" rtlCol="0" anchor="ctr"/>
            <a:lstStyle/>
            <a:p>
              <a:pPr marL="0" marR="0" lvl="0" indent="0" algn="ctr" defTabSz="914400" rtl="0" eaLnBrk="1" fontAlgn="auto" latinLnBrk="0" hangingPunct="1">
                <a:lnSpc>
                  <a:spcPts val="2659"/>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11" name="TextBox 11">
            <a:extLst>
              <a:ext uri="{FF2B5EF4-FFF2-40B4-BE49-F238E27FC236}">
                <a16:creationId xmlns:a16="http://schemas.microsoft.com/office/drawing/2014/main" id="{F1C0EBC8-0152-54DD-637E-0DBB2F9E6193}"/>
              </a:ext>
            </a:extLst>
          </p:cNvPr>
          <p:cNvSpPr txBox="1"/>
          <p:nvPr/>
        </p:nvSpPr>
        <p:spPr>
          <a:xfrm>
            <a:off x="14250620" y="9229725"/>
            <a:ext cx="1865504" cy="419191"/>
          </a:xfrm>
          <a:prstGeom prst="rect">
            <a:avLst/>
          </a:prstGeom>
        </p:spPr>
        <p:txBody>
          <a:bodyPr lIns="0" tIns="0" rIns="0" bIns="0" rtlCol="0" anchor="t">
            <a:spAutoFit/>
          </a:bodyPr>
          <a:lstStyle/>
          <a:p>
            <a:pPr marL="0" marR="0" lvl="0" indent="0" algn="l" defTabSz="914400" rtl="0" eaLnBrk="1" fontAlgn="auto" latinLnBrk="0" hangingPunct="1">
              <a:lnSpc>
                <a:spcPts val="1679"/>
              </a:lnSpc>
              <a:spcBef>
                <a:spcPts val="0"/>
              </a:spcBef>
              <a:spcAft>
                <a:spcPts val="0"/>
              </a:spcAft>
              <a:buClrTx/>
              <a:buSzTx/>
              <a:buFontTx/>
              <a:buNone/>
              <a:tabLst/>
              <a:defRPr/>
            </a:pPr>
            <a:r>
              <a:rPr kumimoji="0" lang="en-US" sz="1199" b="0" i="0" u="none" strike="noStrike" kern="1200" cap="none" spc="0" normalizeH="0" baseline="0" noProof="0">
                <a:ln>
                  <a:noFill/>
                </a:ln>
                <a:solidFill>
                  <a:srgbClr val="001E3A"/>
                </a:solidFill>
                <a:effectLst/>
                <a:uLnTx/>
                <a:uFillTx/>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C6EA0C07-0954-64C8-7F0C-F2BFC69A3673}"/>
              </a:ext>
            </a:extLst>
          </p:cNvPr>
          <p:cNvSpPr txBox="1"/>
          <p:nvPr/>
        </p:nvSpPr>
        <p:spPr>
          <a:xfrm>
            <a:off x="13691401" y="9334500"/>
            <a:ext cx="559219" cy="263149"/>
          </a:xfrm>
          <a:prstGeom prst="rect">
            <a:avLst/>
          </a:prstGeom>
        </p:spPr>
        <p:txBody>
          <a:bodyPr lIns="0" tIns="0" rIns="0" bIns="0" rtlCol="0" anchor="t">
            <a:spAutoFit/>
          </a:bodyPr>
          <a:lstStyle/>
          <a:p>
            <a:pPr marL="0" marR="0" lvl="0" indent="0" algn="ctr" defTabSz="914400" rtl="0" eaLnBrk="1" fontAlgn="auto" latinLnBrk="0" hangingPunct="1">
              <a:lnSpc>
                <a:spcPts val="1848"/>
              </a:lnSpc>
              <a:spcBef>
                <a:spcPts val="0"/>
              </a:spcBef>
              <a:spcAft>
                <a:spcPts val="0"/>
              </a:spcAft>
              <a:buClrTx/>
              <a:buSzTx/>
              <a:buFontTx/>
              <a:buNone/>
              <a:tabLst/>
              <a:defRPr/>
            </a:pPr>
            <a:r>
              <a:rPr kumimoji="0" lang="en-US" sz="2226" b="1" i="0" u="none" strike="noStrike" kern="1200" cap="none" spc="0" normalizeH="0" baseline="0" noProof="0">
                <a:ln>
                  <a:noFill/>
                </a:ln>
                <a:solidFill>
                  <a:srgbClr val="001E3A"/>
                </a:solidFill>
                <a:effectLst/>
                <a:uLnTx/>
                <a:uFillTx/>
                <a:latin typeface="Garet Ultra-Bold"/>
                <a:ea typeface="Garet Ultra-Bold"/>
                <a:cs typeface="Garet Ultra-Bold"/>
                <a:sym typeface="Garet Ultra-Bold"/>
              </a:rPr>
              <a:t>17</a:t>
            </a:r>
          </a:p>
        </p:txBody>
      </p:sp>
      <p:sp>
        <p:nvSpPr>
          <p:cNvPr id="22" name="TextBox 21">
            <a:extLst>
              <a:ext uri="{FF2B5EF4-FFF2-40B4-BE49-F238E27FC236}">
                <a16:creationId xmlns:a16="http://schemas.microsoft.com/office/drawing/2014/main" id="{692A1E9A-FE42-F698-AE44-9FCDE0412482}"/>
              </a:ext>
            </a:extLst>
          </p:cNvPr>
          <p:cNvSpPr txBox="1"/>
          <p:nvPr/>
        </p:nvSpPr>
        <p:spPr>
          <a:xfrm>
            <a:off x="9469139" y="5298287"/>
            <a:ext cx="472440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3AD29CE2-EC76-71FA-B470-147C222C3209}"/>
              </a:ext>
            </a:extLst>
          </p:cNvPr>
          <p:cNvSpPr txBox="1"/>
          <p:nvPr/>
        </p:nvSpPr>
        <p:spPr>
          <a:xfrm>
            <a:off x="381000" y="843996"/>
            <a:ext cx="472440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
        <p:nvSpPr>
          <p:cNvPr id="10" name="TextBox 9">
            <a:extLst>
              <a:ext uri="{FF2B5EF4-FFF2-40B4-BE49-F238E27FC236}">
                <a16:creationId xmlns:a16="http://schemas.microsoft.com/office/drawing/2014/main" id="{7C8AEF72-DEBF-26A9-7314-1E5F56D39C58}"/>
              </a:ext>
            </a:extLst>
          </p:cNvPr>
          <p:cNvSpPr txBox="1"/>
          <p:nvPr/>
        </p:nvSpPr>
        <p:spPr>
          <a:xfrm>
            <a:off x="9469139" y="5929964"/>
            <a:ext cx="6629400" cy="304698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rgbClr val="1F497D">
                    <a:lumMod val="50000"/>
                  </a:srgbClr>
                </a:solidFill>
                <a:effectLst/>
                <a:uLnTx/>
                <a:uFillTx/>
                <a:latin typeface="Calibri"/>
                <a:ea typeface="+mn-ea"/>
                <a:cs typeface="+mn-cs"/>
              </a:rPr>
              <a:t>With 52.8% of users only allowing location access "Only when using the app," the platform must include a real-time tracking mode that activates during manual speed tests to ensure location data is captured.</a:t>
            </a:r>
          </a:p>
        </p:txBody>
      </p:sp>
    </p:spTree>
    <p:extLst>
      <p:ext uri="{BB962C8B-B14F-4D97-AF65-F5344CB8AC3E}">
        <p14:creationId xmlns:p14="http://schemas.microsoft.com/office/powerpoint/2010/main" val="23190319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83FFA-C795-F263-E538-9E174B740A0A}"/>
            </a:ext>
          </a:extLst>
        </p:cNvPr>
        <p:cNvGrpSpPr/>
        <p:nvPr/>
      </p:nvGrpSpPr>
      <p:grpSpPr>
        <a:xfrm>
          <a:off x="0" y="0"/>
          <a:ext cx="0" cy="0"/>
          <a:chOff x="0" y="0"/>
          <a:chExt cx="0" cy="0"/>
        </a:xfrm>
      </p:grpSpPr>
      <p:pic>
        <p:nvPicPr>
          <p:cNvPr id="8" name="Picture 7" descr="Forms response chart. Question title: What concerns you most about such an app?. Number of responses: 53 responses.">
            <a:extLst>
              <a:ext uri="{FF2B5EF4-FFF2-40B4-BE49-F238E27FC236}">
                <a16:creationId xmlns:a16="http://schemas.microsoft.com/office/drawing/2014/main" id="{5F9A8F78-4918-073C-FE21-E123CA4F6385}"/>
              </a:ext>
            </a:extLst>
          </p:cNvPr>
          <p:cNvPicPr>
            <a:picLocks noChangeAspect="1"/>
          </p:cNvPicPr>
          <p:nvPr/>
        </p:nvPicPr>
        <p:blipFill>
          <a:blip r:embed="rId2"/>
          <a:stretch>
            <a:fillRect/>
          </a:stretch>
        </p:blipFill>
        <p:spPr>
          <a:xfrm>
            <a:off x="304800" y="898686"/>
            <a:ext cx="12663833" cy="6020511"/>
          </a:xfrm>
          <a:prstGeom prst="rect">
            <a:avLst/>
          </a:prstGeom>
        </p:spPr>
      </p:pic>
      <p:grpSp>
        <p:nvGrpSpPr>
          <p:cNvPr id="2" name="Group 2">
            <a:extLst>
              <a:ext uri="{FF2B5EF4-FFF2-40B4-BE49-F238E27FC236}">
                <a16:creationId xmlns:a16="http://schemas.microsoft.com/office/drawing/2014/main" id="{811A12FA-A7AD-1B4B-E4F0-A2DA7AA89239}"/>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9754FA5E-E2E2-ABB0-BBF8-79D00F3B36DA}"/>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836B8EFE-8DFE-3940-8235-0D3880160D99}"/>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62C28ED6-93E5-C4C1-018D-3AD4135CCEC0}"/>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4C6408B2-C31E-1AD9-8104-4A95D6843EF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4F23FF6D-A521-453F-BB60-1FD12B29E8AE}"/>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F1F32C6D-287C-5F12-31BB-EEBEDD7F8FBB}"/>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341090C0-5CC7-A5B1-FF9D-6A4EEB3EBE36}"/>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22" name="TextBox 21">
            <a:extLst>
              <a:ext uri="{FF2B5EF4-FFF2-40B4-BE49-F238E27FC236}">
                <a16:creationId xmlns:a16="http://schemas.microsoft.com/office/drawing/2014/main" id="{C377F18C-FD82-478B-18F4-E90997F74C14}"/>
              </a:ext>
            </a:extLst>
          </p:cNvPr>
          <p:cNvSpPr txBox="1"/>
          <p:nvPr/>
        </p:nvSpPr>
        <p:spPr>
          <a:xfrm>
            <a:off x="9629422" y="4674178"/>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329B10C1-A57D-80A5-87F5-7F8665B66D17}"/>
              </a:ext>
            </a:extLst>
          </p:cNvPr>
          <p:cNvSpPr txBox="1"/>
          <p:nvPr/>
        </p:nvSpPr>
        <p:spPr>
          <a:xfrm>
            <a:off x="533400" y="265469"/>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
        <p:nvSpPr>
          <p:cNvPr id="10" name="TextBox 9">
            <a:extLst>
              <a:ext uri="{FF2B5EF4-FFF2-40B4-BE49-F238E27FC236}">
                <a16:creationId xmlns:a16="http://schemas.microsoft.com/office/drawing/2014/main" id="{419CAF84-DB5C-B92E-3CEC-D96B2678F9C5}"/>
              </a:ext>
            </a:extLst>
          </p:cNvPr>
          <p:cNvSpPr txBox="1"/>
          <p:nvPr/>
        </p:nvSpPr>
        <p:spPr>
          <a:xfrm>
            <a:off x="9469139" y="5929964"/>
            <a:ext cx="6629400" cy="3046988"/>
          </a:xfrm>
          <a:prstGeom prst="rect">
            <a:avLst/>
          </a:prstGeom>
          <a:noFill/>
        </p:spPr>
        <p:txBody>
          <a:bodyPr wrap="square">
            <a:spAutoFit/>
          </a:bodyPr>
          <a:lstStyle/>
          <a:p>
            <a:r>
              <a:rPr lang="en-US" sz="3200" b="0" i="0" dirty="0">
                <a:solidFill>
                  <a:schemeClr val="tx2">
                    <a:lumMod val="50000"/>
                  </a:schemeClr>
                </a:solidFill>
                <a:effectLst/>
              </a:rPr>
              <a:t>Because 56.6% of users prioritize privacy and 37.7% worry about battery, the app must include robust data encryption and a low-energy background mode to address these primary adoption barriers.</a:t>
            </a:r>
          </a:p>
        </p:txBody>
      </p:sp>
    </p:spTree>
    <p:extLst>
      <p:ext uri="{BB962C8B-B14F-4D97-AF65-F5344CB8AC3E}">
        <p14:creationId xmlns:p14="http://schemas.microsoft.com/office/powerpoint/2010/main" val="4121578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82E64-01DB-70DC-6B43-CA3D4C261655}"/>
            </a:ext>
          </a:extLst>
        </p:cNvPr>
        <p:cNvGrpSpPr/>
        <p:nvPr/>
      </p:nvGrpSpPr>
      <p:grpSpPr>
        <a:xfrm>
          <a:off x="0" y="0"/>
          <a:ext cx="0" cy="0"/>
          <a:chOff x="0" y="0"/>
          <a:chExt cx="0" cy="0"/>
        </a:xfrm>
      </p:grpSpPr>
      <p:pic>
        <p:nvPicPr>
          <p:cNvPr id="8" name="Picture 7" descr="Forms response chart. Question title: What would make you trust this app?. Number of responses: 54 responses.">
            <a:extLst>
              <a:ext uri="{FF2B5EF4-FFF2-40B4-BE49-F238E27FC236}">
                <a16:creationId xmlns:a16="http://schemas.microsoft.com/office/drawing/2014/main" id="{F95334C1-4514-DA82-C2EC-F09020ADDF62}"/>
              </a:ext>
            </a:extLst>
          </p:cNvPr>
          <p:cNvPicPr>
            <a:picLocks noChangeAspect="1"/>
          </p:cNvPicPr>
          <p:nvPr/>
        </p:nvPicPr>
        <p:blipFill>
          <a:blip r:embed="rId2"/>
          <a:stretch>
            <a:fillRect/>
          </a:stretch>
        </p:blipFill>
        <p:spPr>
          <a:xfrm>
            <a:off x="392723" y="1490327"/>
            <a:ext cx="12663831" cy="6020510"/>
          </a:xfrm>
          <a:prstGeom prst="rect">
            <a:avLst/>
          </a:prstGeom>
        </p:spPr>
      </p:pic>
      <p:grpSp>
        <p:nvGrpSpPr>
          <p:cNvPr id="2" name="Group 2">
            <a:extLst>
              <a:ext uri="{FF2B5EF4-FFF2-40B4-BE49-F238E27FC236}">
                <a16:creationId xmlns:a16="http://schemas.microsoft.com/office/drawing/2014/main" id="{82490090-3894-025A-ED6B-8527699489EB}"/>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722D7BA1-3209-1C87-035D-CC8E6135A5C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42C34B56-70E1-A4A9-A536-40C88A86F517}"/>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2E26371D-EB97-25BC-A57F-64B5B3E27E48}"/>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64848E50-5258-3630-8186-B08E3365CF4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0C64BC7A-6206-805D-2779-A1648EDCED90}"/>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8C3A5DE7-5DE6-B3F4-D71B-924EBE12B7C4}"/>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03714692-E2A7-868C-B200-246223BE5F70}"/>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22" name="TextBox 21">
            <a:extLst>
              <a:ext uri="{FF2B5EF4-FFF2-40B4-BE49-F238E27FC236}">
                <a16:creationId xmlns:a16="http://schemas.microsoft.com/office/drawing/2014/main" id="{942CBA88-A6F9-37AA-155C-29730C4683DA}"/>
              </a:ext>
            </a:extLst>
          </p:cNvPr>
          <p:cNvSpPr txBox="1"/>
          <p:nvPr/>
        </p:nvSpPr>
        <p:spPr>
          <a:xfrm>
            <a:off x="9906000" y="549732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CA2EA77A-573B-C876-9434-603E5ABE7602}"/>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
        <p:nvSpPr>
          <p:cNvPr id="10" name="TextBox 9">
            <a:extLst>
              <a:ext uri="{FF2B5EF4-FFF2-40B4-BE49-F238E27FC236}">
                <a16:creationId xmlns:a16="http://schemas.microsoft.com/office/drawing/2014/main" id="{F27DB55C-D6B7-B606-112F-DCB4D850FFB3}"/>
              </a:ext>
            </a:extLst>
          </p:cNvPr>
          <p:cNvSpPr txBox="1"/>
          <p:nvPr/>
        </p:nvSpPr>
        <p:spPr>
          <a:xfrm>
            <a:off x="9906000" y="6032826"/>
            <a:ext cx="6629400" cy="3046988"/>
          </a:xfrm>
          <a:prstGeom prst="rect">
            <a:avLst/>
          </a:prstGeom>
          <a:noFill/>
        </p:spPr>
        <p:txBody>
          <a:bodyPr wrap="square">
            <a:spAutoFit/>
          </a:bodyPr>
          <a:lstStyle/>
          <a:p>
            <a:r>
              <a:rPr lang="en-US" sz="3200" b="0" i="0" dirty="0">
                <a:solidFill>
                  <a:schemeClr val="tx2">
                    <a:lumMod val="50000"/>
                  </a:schemeClr>
                </a:solidFill>
                <a:effectLst/>
              </a:rPr>
              <a:t>Since 57.4% of users demand a clear explanation and 50% want the ability to disable tracking, the app must include a transparent data policy and a one-tap kill switch to build and maintain user trust.</a:t>
            </a:r>
          </a:p>
        </p:txBody>
      </p:sp>
    </p:spTree>
    <p:extLst>
      <p:ext uri="{BB962C8B-B14F-4D97-AF65-F5344CB8AC3E}">
        <p14:creationId xmlns:p14="http://schemas.microsoft.com/office/powerpoint/2010/main" val="7839247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55B2D-2947-8F12-4164-91F6F56CC3C1}"/>
            </a:ext>
          </a:extLst>
        </p:cNvPr>
        <p:cNvGrpSpPr/>
        <p:nvPr/>
      </p:nvGrpSpPr>
      <p:grpSpPr>
        <a:xfrm>
          <a:off x="0" y="0"/>
          <a:ext cx="0" cy="0"/>
          <a:chOff x="0" y="0"/>
          <a:chExt cx="0" cy="0"/>
        </a:xfrm>
      </p:grpSpPr>
      <p:pic>
        <p:nvPicPr>
          <p:cNvPr id="8" name="Picture 7" descr="Forms response chart. Question title: Would you allow the app to access your location to map network quality?. Number of responses: 52 responses.">
            <a:extLst>
              <a:ext uri="{FF2B5EF4-FFF2-40B4-BE49-F238E27FC236}">
                <a16:creationId xmlns:a16="http://schemas.microsoft.com/office/drawing/2014/main" id="{23A6B348-CEE9-BFC6-9A97-661C4FFD4B71}"/>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7554" y="1424932"/>
            <a:ext cx="12115800" cy="5097438"/>
          </a:xfrm>
          <a:prstGeom prst="rect">
            <a:avLst/>
          </a:prstGeom>
          <a:noFill/>
          <a:ln>
            <a:noFill/>
          </a:ln>
        </p:spPr>
      </p:pic>
      <p:grpSp>
        <p:nvGrpSpPr>
          <p:cNvPr id="2" name="Group 2">
            <a:extLst>
              <a:ext uri="{FF2B5EF4-FFF2-40B4-BE49-F238E27FC236}">
                <a16:creationId xmlns:a16="http://schemas.microsoft.com/office/drawing/2014/main" id="{C7BC213D-8659-CD89-67E7-6A04589A2CFB}"/>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94E48504-1140-AB91-1F81-F0A30DCF905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51B9EF5E-B164-4961-4BF9-1FAE2825C0DD}"/>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323C1D16-0B29-6ADA-92F4-E8981D304EB9}"/>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18722A85-9ACD-1BF6-6A21-032E7AF81DA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6BBBFEC5-DC09-436F-4A01-18A77ED028E4}"/>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6CF177E3-60D7-137F-9972-2433C0C10485}"/>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A9B79AB7-FCB9-5187-77FA-1B607E5D3985}"/>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22" name="TextBox 21">
            <a:extLst>
              <a:ext uri="{FF2B5EF4-FFF2-40B4-BE49-F238E27FC236}">
                <a16:creationId xmlns:a16="http://schemas.microsoft.com/office/drawing/2014/main" id="{C84D10C8-65E4-E7AC-9B2E-E00B733FBC0E}"/>
              </a:ext>
            </a:extLst>
          </p:cNvPr>
          <p:cNvSpPr txBox="1"/>
          <p:nvPr/>
        </p:nvSpPr>
        <p:spPr>
          <a:xfrm>
            <a:off x="9629422" y="4674178"/>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E4A04DEB-0A33-0DD4-7AD6-0A877FD5042A}"/>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
        <p:nvSpPr>
          <p:cNvPr id="10" name="TextBox 9">
            <a:extLst>
              <a:ext uri="{FF2B5EF4-FFF2-40B4-BE49-F238E27FC236}">
                <a16:creationId xmlns:a16="http://schemas.microsoft.com/office/drawing/2014/main" id="{B6287392-5D4F-533E-DB98-8050C162F0E4}"/>
              </a:ext>
            </a:extLst>
          </p:cNvPr>
          <p:cNvSpPr txBox="1"/>
          <p:nvPr/>
        </p:nvSpPr>
        <p:spPr>
          <a:xfrm>
            <a:off x="9469139" y="5929964"/>
            <a:ext cx="6629400" cy="3046988"/>
          </a:xfrm>
          <a:prstGeom prst="rect">
            <a:avLst/>
          </a:prstGeom>
          <a:noFill/>
        </p:spPr>
        <p:txBody>
          <a:bodyPr wrap="square">
            <a:spAutoFit/>
          </a:bodyPr>
          <a:lstStyle/>
          <a:p>
            <a:r>
              <a:rPr lang="en-US" sz="3200" b="0" i="0" dirty="0">
                <a:solidFill>
                  <a:schemeClr val="tx2">
                    <a:lumMod val="50000"/>
                  </a:schemeClr>
                </a:solidFill>
                <a:effectLst/>
              </a:rPr>
              <a:t>The survey shows that 42.6% of users only want to give feedback after a problem occurs, meaning the app must include event-triggered surveys that only appear when a network failure is detected.</a:t>
            </a:r>
            <a:endParaRPr lang="en-US" sz="3200" dirty="0">
              <a:solidFill>
                <a:schemeClr val="tx2">
                  <a:lumMod val="50000"/>
                </a:schemeClr>
              </a:solidFill>
            </a:endParaRPr>
          </a:p>
        </p:txBody>
      </p:sp>
    </p:spTree>
    <p:extLst>
      <p:ext uri="{BB962C8B-B14F-4D97-AF65-F5344CB8AC3E}">
        <p14:creationId xmlns:p14="http://schemas.microsoft.com/office/powerpoint/2010/main" val="3923683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A840C-F0D3-626B-B8D6-75E6231B5E5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62523EA3-5F46-092E-31A9-BB20AFD1DCD1}"/>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EA6AD2CC-6332-0542-746C-0B774A712C34}"/>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09ED46F0-6502-52A0-B0E2-125CF8E9F740}"/>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1EA3555E-33AF-16AA-8045-955A07DD838F}"/>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E51AA83D-02E4-AADB-B985-93540F0935E7}"/>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22C07C89-6A1C-6F18-A1A8-F9BC0A108562}"/>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a:extLst>
              <a:ext uri="{FF2B5EF4-FFF2-40B4-BE49-F238E27FC236}">
                <a16:creationId xmlns:a16="http://schemas.microsoft.com/office/drawing/2014/main" id="{0077E09E-73B5-78E7-2687-C5BFF59E016C}"/>
              </a:ext>
            </a:extLst>
          </p:cNvPr>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a:extLst>
              <a:ext uri="{FF2B5EF4-FFF2-40B4-BE49-F238E27FC236}">
                <a16:creationId xmlns:a16="http://schemas.microsoft.com/office/drawing/2014/main" id="{F6B5D4E4-F228-12B7-3838-047AF7BA6CEB}"/>
              </a:ext>
            </a:extLst>
          </p:cNvPr>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a:extLst>
              <a:ext uri="{FF2B5EF4-FFF2-40B4-BE49-F238E27FC236}">
                <a16:creationId xmlns:a16="http://schemas.microsoft.com/office/drawing/2014/main" id="{9A8C9B09-D9E8-65EA-1FC3-8A051D792602}"/>
              </a:ext>
            </a:extLst>
          </p:cNvPr>
          <p:cNvSpPr txBox="1"/>
          <p:nvPr/>
        </p:nvSpPr>
        <p:spPr>
          <a:xfrm>
            <a:off x="2059765" y="2424446"/>
            <a:ext cx="14168470" cy="907002"/>
          </a:xfrm>
          <a:prstGeom prst="rect">
            <a:avLst/>
          </a:prstGeom>
        </p:spPr>
        <p:txBody>
          <a:bodyPr lIns="0" tIns="0" rIns="0" bIns="0" rtlCol="0" anchor="t">
            <a:spAutoFit/>
          </a:bodyPr>
          <a:lstStyle/>
          <a:p>
            <a:pPr marL="0" lvl="0" indent="0" algn="l">
              <a:lnSpc>
                <a:spcPts val="6599"/>
              </a:lnSpc>
            </a:pPr>
            <a:r>
              <a:rPr lang="en-US" sz="7950" b="1" dirty="0">
                <a:solidFill>
                  <a:srgbClr val="001E3A"/>
                </a:solidFill>
                <a:latin typeface="Garet Ultra-Bold"/>
                <a:ea typeface="Garet Ultra-Bold"/>
                <a:cs typeface="Garet Ultra-Bold"/>
                <a:sym typeface="Garet Ultra-Bold"/>
              </a:rPr>
              <a:t>Privacy and Trust Analysis</a:t>
            </a:r>
          </a:p>
        </p:txBody>
      </p:sp>
      <p:sp>
        <p:nvSpPr>
          <p:cNvPr id="11" name="TextBox 11">
            <a:extLst>
              <a:ext uri="{FF2B5EF4-FFF2-40B4-BE49-F238E27FC236}">
                <a16:creationId xmlns:a16="http://schemas.microsoft.com/office/drawing/2014/main" id="{B885995D-6398-BFAF-70A3-396FF6AA3C61}"/>
              </a:ext>
            </a:extLst>
          </p:cNvPr>
          <p:cNvSpPr txBox="1"/>
          <p:nvPr/>
        </p:nvSpPr>
        <p:spPr>
          <a:xfrm>
            <a:off x="4463329" y="4219313"/>
            <a:ext cx="10552228" cy="1773978"/>
          </a:xfrm>
          <a:prstGeom prst="rect">
            <a:avLst/>
          </a:prstGeom>
        </p:spPr>
        <p:txBody>
          <a:bodyPr lIns="0" tIns="0" rIns="0" bIns="0" rtlCol="0" anchor="t">
            <a:spAutoFit/>
          </a:bodyPr>
          <a:lstStyle/>
          <a:p>
            <a:pPr marL="0" lvl="0" indent="0" algn="l">
              <a:lnSpc>
                <a:spcPts val="3546"/>
              </a:lnSpc>
            </a:pPr>
            <a:r>
              <a:rPr lang="en-US" sz="2533">
                <a:solidFill>
                  <a:srgbClr val="001E3A"/>
                </a:solidFill>
                <a:latin typeface="Garet"/>
                <a:ea typeface="Garet"/>
                <a:cs typeface="Garet"/>
                <a:sym typeface="Garet"/>
              </a:rPr>
              <a:t>Privacy concerns strongly affect app acceptance. Users express conditional consent for background data collection only when processes are transparent and controllable. Major concerns include location tracking and background activity monitoring.</a:t>
            </a:r>
          </a:p>
        </p:txBody>
      </p:sp>
      <p:grpSp>
        <p:nvGrpSpPr>
          <p:cNvPr id="12" name="Group 12">
            <a:extLst>
              <a:ext uri="{FF2B5EF4-FFF2-40B4-BE49-F238E27FC236}">
                <a16:creationId xmlns:a16="http://schemas.microsoft.com/office/drawing/2014/main" id="{31D2ABE0-9761-46C8-F86C-FAFBEEE1792C}"/>
              </a:ext>
            </a:extLst>
          </p:cNvPr>
          <p:cNvGrpSpPr/>
          <p:nvPr/>
        </p:nvGrpSpPr>
        <p:grpSpPr>
          <a:xfrm>
            <a:off x="3272443" y="4266938"/>
            <a:ext cx="876562" cy="876562"/>
            <a:chOff x="0" y="0"/>
            <a:chExt cx="812800" cy="812800"/>
          </a:xfrm>
        </p:grpSpPr>
        <p:sp>
          <p:nvSpPr>
            <p:cNvPr id="13" name="Freeform 13">
              <a:extLst>
                <a:ext uri="{FF2B5EF4-FFF2-40B4-BE49-F238E27FC236}">
                  <a16:creationId xmlns:a16="http://schemas.microsoft.com/office/drawing/2014/main" id="{F5B31D26-C033-98F9-BAE0-9E5B4D9E6500}"/>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4" name="TextBox 14">
              <a:extLst>
                <a:ext uri="{FF2B5EF4-FFF2-40B4-BE49-F238E27FC236}">
                  <a16:creationId xmlns:a16="http://schemas.microsoft.com/office/drawing/2014/main" id="{D93F8EC9-4C35-6284-CC39-C9AD26C029C2}"/>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5" name="TextBox 15">
            <a:extLst>
              <a:ext uri="{FF2B5EF4-FFF2-40B4-BE49-F238E27FC236}">
                <a16:creationId xmlns:a16="http://schemas.microsoft.com/office/drawing/2014/main" id="{A8E9171C-C33B-F00E-735B-F4A60DD38411}"/>
              </a:ext>
            </a:extLst>
          </p:cNvPr>
          <p:cNvSpPr txBox="1"/>
          <p:nvPr/>
        </p:nvSpPr>
        <p:spPr>
          <a:xfrm>
            <a:off x="4463329" y="6420425"/>
            <a:ext cx="10552228" cy="2221653"/>
          </a:xfrm>
          <a:prstGeom prst="rect">
            <a:avLst/>
          </a:prstGeom>
        </p:spPr>
        <p:txBody>
          <a:bodyPr lIns="0" tIns="0" rIns="0" bIns="0" rtlCol="0" anchor="t">
            <a:spAutoFit/>
          </a:bodyPr>
          <a:lstStyle/>
          <a:p>
            <a:pPr marL="0" lvl="0" indent="0" algn="l">
              <a:lnSpc>
                <a:spcPts val="3546"/>
              </a:lnSpc>
            </a:pPr>
            <a:r>
              <a:rPr lang="en-US" sz="2533">
                <a:solidFill>
                  <a:srgbClr val="001E3A"/>
                </a:solidFill>
                <a:latin typeface="Garet"/>
                <a:ea typeface="Garet"/>
                <a:cs typeface="Garet"/>
                <a:sym typeface="Garet"/>
              </a:rPr>
              <a:t>Required measures: data anonymization, minimal data collection, clear communication about usage, explicit commitment to no access to personal information, and user-controlled permission settings. Trust is built through transparency.</a:t>
            </a:r>
          </a:p>
        </p:txBody>
      </p:sp>
      <p:grpSp>
        <p:nvGrpSpPr>
          <p:cNvPr id="16" name="Group 16">
            <a:extLst>
              <a:ext uri="{FF2B5EF4-FFF2-40B4-BE49-F238E27FC236}">
                <a16:creationId xmlns:a16="http://schemas.microsoft.com/office/drawing/2014/main" id="{5DC2E13D-0E73-BD7E-CACA-9EC703983F42}"/>
              </a:ext>
            </a:extLst>
          </p:cNvPr>
          <p:cNvGrpSpPr/>
          <p:nvPr/>
        </p:nvGrpSpPr>
        <p:grpSpPr>
          <a:xfrm>
            <a:off x="3272443" y="6468050"/>
            <a:ext cx="876562" cy="876562"/>
            <a:chOff x="0" y="0"/>
            <a:chExt cx="812800" cy="812800"/>
          </a:xfrm>
        </p:grpSpPr>
        <p:sp>
          <p:nvSpPr>
            <p:cNvPr id="17" name="Freeform 17">
              <a:extLst>
                <a:ext uri="{FF2B5EF4-FFF2-40B4-BE49-F238E27FC236}">
                  <a16:creationId xmlns:a16="http://schemas.microsoft.com/office/drawing/2014/main" id="{BF03FAE9-61B0-F524-14F4-8E6ED81D8CE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8" name="TextBox 18">
              <a:extLst>
                <a:ext uri="{FF2B5EF4-FFF2-40B4-BE49-F238E27FC236}">
                  <a16:creationId xmlns:a16="http://schemas.microsoft.com/office/drawing/2014/main" id="{0689FE01-8814-563D-02CB-0148F18F456F}"/>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9" name="TextBox 19">
            <a:extLst>
              <a:ext uri="{FF2B5EF4-FFF2-40B4-BE49-F238E27FC236}">
                <a16:creationId xmlns:a16="http://schemas.microsoft.com/office/drawing/2014/main" id="{F119A54B-06B0-B8BE-B523-7A7EB205031C}"/>
              </a:ext>
            </a:extLst>
          </p:cNvPr>
          <p:cNvSpPr txBox="1"/>
          <p:nvPr/>
        </p:nvSpPr>
        <p:spPr>
          <a:xfrm>
            <a:off x="14250620" y="9229725"/>
            <a:ext cx="1865504" cy="211803"/>
          </a:xfrm>
          <a:prstGeom prst="rect">
            <a:avLst/>
          </a:prstGeom>
        </p:spPr>
        <p:txBody>
          <a:bodyPr lIns="0" tIns="0" rIns="0" bIns="0" rtlCol="0" anchor="t">
            <a:spAutoFit/>
          </a:bodyPr>
          <a:lstStyle/>
          <a:p>
            <a:pPr marL="0" lvl="0" indent="0" algn="l">
              <a:lnSpc>
                <a:spcPts val="1696"/>
              </a:lnSpc>
            </a:pPr>
            <a:r>
              <a:rPr lang="en-US" sz="1211">
                <a:solidFill>
                  <a:srgbClr val="001E3A"/>
                </a:solidFill>
                <a:latin typeface="Garet"/>
                <a:ea typeface="Garet"/>
                <a:cs typeface="Garet"/>
                <a:sym typeface="Garet"/>
              </a:rPr>
              <a:t>University of Buea</a:t>
            </a:r>
          </a:p>
        </p:txBody>
      </p:sp>
      <p:sp>
        <p:nvSpPr>
          <p:cNvPr id="20" name="TextBox 20">
            <a:extLst>
              <a:ext uri="{FF2B5EF4-FFF2-40B4-BE49-F238E27FC236}">
                <a16:creationId xmlns:a16="http://schemas.microsoft.com/office/drawing/2014/main" id="{D73E3F62-053B-B7CD-C9B1-9C94BD123196}"/>
              </a:ext>
            </a:extLst>
          </p:cNvPr>
          <p:cNvSpPr txBox="1"/>
          <p:nvPr/>
        </p:nvSpPr>
        <p:spPr>
          <a:xfrm>
            <a:off x="14250620" y="9443214"/>
            <a:ext cx="3008680" cy="234673"/>
          </a:xfrm>
          <a:prstGeom prst="rect">
            <a:avLst/>
          </a:prstGeom>
        </p:spPr>
        <p:txBody>
          <a:bodyPr lIns="0" tIns="0" rIns="0" bIns="0" rtlCol="0" anchor="t">
            <a:spAutoFit/>
          </a:bodyPr>
          <a:lstStyle/>
          <a:p>
            <a:pPr marL="0" lvl="0" indent="0" algn="l">
              <a:lnSpc>
                <a:spcPts val="1995"/>
              </a:lnSpc>
            </a:pPr>
            <a:r>
              <a:rPr lang="en-US" sz="1425">
                <a:solidFill>
                  <a:srgbClr val="001E3A"/>
                </a:solidFill>
                <a:latin typeface="Garet"/>
                <a:ea typeface="Garet"/>
                <a:cs typeface="Garet"/>
                <a:sym typeface="Garet"/>
              </a:rPr>
              <a:t>CEF440 – Group 5</a:t>
            </a:r>
          </a:p>
        </p:txBody>
      </p:sp>
      <p:sp>
        <p:nvSpPr>
          <p:cNvPr id="21" name="TextBox 21">
            <a:extLst>
              <a:ext uri="{FF2B5EF4-FFF2-40B4-BE49-F238E27FC236}">
                <a16:creationId xmlns:a16="http://schemas.microsoft.com/office/drawing/2014/main" id="{755DFBA2-C9F8-DB14-1A4B-4A4028802760}"/>
              </a:ext>
            </a:extLst>
          </p:cNvPr>
          <p:cNvSpPr txBox="1"/>
          <p:nvPr/>
        </p:nvSpPr>
        <p:spPr>
          <a:xfrm>
            <a:off x="13691401" y="9334500"/>
            <a:ext cx="559219" cy="212555"/>
          </a:xfrm>
          <a:prstGeom prst="rect">
            <a:avLst/>
          </a:prstGeom>
        </p:spPr>
        <p:txBody>
          <a:bodyPr lIns="0" tIns="0" rIns="0" bIns="0" rtlCol="0" anchor="t">
            <a:spAutoFit/>
          </a:bodyPr>
          <a:lstStyle/>
          <a:p>
            <a:pPr marL="0" lvl="0" indent="0" algn="ctr">
              <a:lnSpc>
                <a:spcPts val="1582"/>
              </a:lnSpc>
            </a:pPr>
            <a:r>
              <a:rPr lang="en-US" sz="1907" b="1">
                <a:solidFill>
                  <a:srgbClr val="001E3A"/>
                </a:solidFill>
                <a:latin typeface="Garet Ultra-Bold"/>
                <a:ea typeface="Garet Ultra-Bold"/>
                <a:cs typeface="Garet Ultra-Bold"/>
                <a:sym typeface="Garet Ultra-Bold"/>
              </a:rPr>
              <a:t>7</a:t>
            </a:r>
          </a:p>
        </p:txBody>
      </p:sp>
    </p:spTree>
    <p:extLst>
      <p:ext uri="{BB962C8B-B14F-4D97-AF65-F5344CB8AC3E}">
        <p14:creationId xmlns:p14="http://schemas.microsoft.com/office/powerpoint/2010/main" val="5849212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0" name="TextBox 10"/>
          <p:cNvSpPr txBox="1"/>
          <p:nvPr/>
        </p:nvSpPr>
        <p:spPr>
          <a:xfrm>
            <a:off x="4564629" y="4476219"/>
            <a:ext cx="10589435" cy="1622752"/>
          </a:xfrm>
          <a:prstGeom prst="rect">
            <a:avLst/>
          </a:prstGeom>
        </p:spPr>
        <p:txBody>
          <a:bodyPr wrap="square" lIns="0" tIns="0" rIns="0" bIns="0" rtlCol="0" anchor="t">
            <a:spAutoFit/>
          </a:bodyPr>
          <a:lstStyle/>
          <a:p>
            <a:pPr marL="0" lvl="0" indent="0" algn="l">
              <a:lnSpc>
                <a:spcPts val="5960"/>
              </a:lnSpc>
            </a:pPr>
            <a:r>
              <a:rPr lang="en-US" sz="7180" b="1" dirty="0">
                <a:solidFill>
                  <a:srgbClr val="001E3A"/>
                </a:solidFill>
                <a:latin typeface="Garet Ultra-Bold"/>
                <a:ea typeface="Garet Ultra-Bold"/>
                <a:cs typeface="Garet Ultra-Bold"/>
                <a:sym typeface="Garet Ultra-Bold"/>
              </a:rPr>
              <a:t>User Motivation and Adoption Factors</a:t>
            </a:r>
          </a:p>
        </p:txBody>
      </p:sp>
      <p:sp>
        <p:nvSpPr>
          <p:cNvPr id="19" name="TextBox 19"/>
          <p:cNvSpPr txBox="1"/>
          <p:nvPr/>
        </p:nvSpPr>
        <p:spPr>
          <a:xfrm>
            <a:off x="14250620" y="9229725"/>
            <a:ext cx="1865504" cy="211803"/>
          </a:xfrm>
          <a:prstGeom prst="rect">
            <a:avLst/>
          </a:prstGeom>
        </p:spPr>
        <p:txBody>
          <a:bodyPr lIns="0" tIns="0" rIns="0" bIns="0" rtlCol="0" anchor="t">
            <a:spAutoFit/>
          </a:bodyPr>
          <a:lstStyle/>
          <a:p>
            <a:pPr marL="0" lvl="0" indent="0" algn="l">
              <a:lnSpc>
                <a:spcPts val="1696"/>
              </a:lnSpc>
            </a:pPr>
            <a:r>
              <a:rPr lang="en-US" sz="1211">
                <a:solidFill>
                  <a:srgbClr val="001E3A"/>
                </a:solidFill>
                <a:latin typeface="Garet"/>
                <a:ea typeface="Garet"/>
                <a:cs typeface="Garet"/>
                <a:sym typeface="Garet"/>
              </a:rPr>
              <a:t>University of Buea</a:t>
            </a:r>
          </a:p>
        </p:txBody>
      </p:sp>
      <p:sp>
        <p:nvSpPr>
          <p:cNvPr id="20" name="TextBox 20"/>
          <p:cNvSpPr txBox="1"/>
          <p:nvPr/>
        </p:nvSpPr>
        <p:spPr>
          <a:xfrm>
            <a:off x="14250620" y="9443214"/>
            <a:ext cx="3008680" cy="234673"/>
          </a:xfrm>
          <a:prstGeom prst="rect">
            <a:avLst/>
          </a:prstGeom>
        </p:spPr>
        <p:txBody>
          <a:bodyPr lIns="0" tIns="0" rIns="0" bIns="0" rtlCol="0" anchor="t">
            <a:spAutoFit/>
          </a:bodyPr>
          <a:lstStyle/>
          <a:p>
            <a:pPr marL="0" lvl="0" indent="0" algn="l">
              <a:lnSpc>
                <a:spcPts val="1995"/>
              </a:lnSpc>
            </a:pPr>
            <a:r>
              <a:rPr lang="en-US" sz="1425">
                <a:solidFill>
                  <a:srgbClr val="001E3A"/>
                </a:solidFill>
                <a:latin typeface="Garet"/>
                <a:ea typeface="Garet"/>
                <a:cs typeface="Garet"/>
                <a:sym typeface="Garet"/>
              </a:rPr>
              <a:t>CEF440 – Group 5</a:t>
            </a:r>
          </a:p>
        </p:txBody>
      </p:sp>
      <p:sp>
        <p:nvSpPr>
          <p:cNvPr id="21" name="TextBox 21"/>
          <p:cNvSpPr txBox="1"/>
          <p:nvPr/>
        </p:nvSpPr>
        <p:spPr>
          <a:xfrm>
            <a:off x="13691401" y="9315450"/>
            <a:ext cx="559219" cy="201590"/>
          </a:xfrm>
          <a:prstGeom prst="rect">
            <a:avLst/>
          </a:prstGeom>
        </p:spPr>
        <p:txBody>
          <a:bodyPr lIns="0" tIns="0" rIns="0" bIns="0" rtlCol="0" anchor="t">
            <a:spAutoFit/>
          </a:bodyPr>
          <a:lstStyle/>
          <a:p>
            <a:pPr marL="0" lvl="0" indent="0" algn="ctr">
              <a:lnSpc>
                <a:spcPts val="1429"/>
              </a:lnSpc>
            </a:pPr>
            <a:r>
              <a:rPr lang="en-US" sz="1722" b="1">
                <a:solidFill>
                  <a:srgbClr val="001E3A"/>
                </a:solidFill>
                <a:latin typeface="Garet Ultra-Bold"/>
                <a:ea typeface="Garet Ultra-Bold"/>
                <a:cs typeface="Garet Ultra-Bold"/>
                <a:sym typeface="Garet Ultra-Bold"/>
              </a:rPr>
              <a:t>9</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8FC30-CA13-A8DC-94E5-16563021EFEE}"/>
            </a:ext>
          </a:extLst>
        </p:cNvPr>
        <p:cNvGrpSpPr/>
        <p:nvPr/>
      </p:nvGrpSpPr>
      <p:grpSpPr>
        <a:xfrm>
          <a:off x="0" y="0"/>
          <a:ext cx="0" cy="0"/>
          <a:chOff x="0" y="0"/>
          <a:chExt cx="0" cy="0"/>
        </a:xfrm>
      </p:grpSpPr>
      <p:pic>
        <p:nvPicPr>
          <p:cNvPr id="8" name="Picture 7" descr="Forms response chart. Question title: What would make you trust this app?. Number of responses: 53 responses.">
            <a:extLst>
              <a:ext uri="{FF2B5EF4-FFF2-40B4-BE49-F238E27FC236}">
                <a16:creationId xmlns:a16="http://schemas.microsoft.com/office/drawing/2014/main" id="{EEBE148F-B496-C8FB-6564-1932034B15F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5831" y="1490327"/>
            <a:ext cx="11734800" cy="5579045"/>
          </a:xfrm>
          <a:prstGeom prst="rect">
            <a:avLst/>
          </a:prstGeom>
          <a:noFill/>
          <a:ln>
            <a:noFill/>
          </a:ln>
        </p:spPr>
      </p:pic>
      <p:grpSp>
        <p:nvGrpSpPr>
          <p:cNvPr id="2" name="Group 2">
            <a:extLst>
              <a:ext uri="{FF2B5EF4-FFF2-40B4-BE49-F238E27FC236}">
                <a16:creationId xmlns:a16="http://schemas.microsoft.com/office/drawing/2014/main" id="{3FD64E45-06E4-07B2-9BC2-70B3AFB4A8BC}"/>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67420D48-E5CF-D47B-25D7-420BB6B9EDB0}"/>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A9F2F38E-7B6F-F95A-DD46-71DB8829FD40}"/>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C7CDAEB3-2D3D-22A6-6B12-1FFFBF9D031B}"/>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1A452540-D319-33C7-199A-08CBFABAFF6A}"/>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2DB32053-D4D4-57B9-199B-8392F68804A2}"/>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D2B92EF9-0498-F858-4AB4-9782E15A3459}"/>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EFC15848-8363-F3DB-2973-1E2734CFFD7D}"/>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22" name="TextBox 21">
            <a:extLst>
              <a:ext uri="{FF2B5EF4-FFF2-40B4-BE49-F238E27FC236}">
                <a16:creationId xmlns:a16="http://schemas.microsoft.com/office/drawing/2014/main" id="{019482F6-E1BC-0FB5-96AE-92DA73D66A03}"/>
              </a:ext>
            </a:extLst>
          </p:cNvPr>
          <p:cNvSpPr txBox="1"/>
          <p:nvPr/>
        </p:nvSpPr>
        <p:spPr>
          <a:xfrm>
            <a:off x="9469139" y="5425094"/>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F21332FA-D9AE-80C9-78FE-12D2AC258FE0}"/>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
        <p:nvSpPr>
          <p:cNvPr id="10" name="TextBox 9">
            <a:extLst>
              <a:ext uri="{FF2B5EF4-FFF2-40B4-BE49-F238E27FC236}">
                <a16:creationId xmlns:a16="http://schemas.microsoft.com/office/drawing/2014/main" id="{CCD623B4-9FBC-3121-E95F-8BDB1965A555}"/>
              </a:ext>
            </a:extLst>
          </p:cNvPr>
          <p:cNvSpPr txBox="1"/>
          <p:nvPr/>
        </p:nvSpPr>
        <p:spPr>
          <a:xfrm>
            <a:off x="9469139" y="5929964"/>
            <a:ext cx="6629400" cy="3046988"/>
          </a:xfrm>
          <a:prstGeom prst="rect">
            <a:avLst/>
          </a:prstGeom>
          <a:noFill/>
        </p:spPr>
        <p:txBody>
          <a:bodyPr wrap="square">
            <a:spAutoFit/>
          </a:bodyPr>
          <a:lstStyle/>
          <a:p>
            <a:r>
              <a:rPr lang="en-US" sz="3200" b="0" i="0" dirty="0">
                <a:solidFill>
                  <a:schemeClr val="tx2">
                    <a:lumMod val="50000"/>
                  </a:schemeClr>
                </a:solidFill>
                <a:effectLst/>
              </a:rPr>
              <a:t>Because 58.5% of users demand a clear explanation and 49.1% want control, the app must include a transparent privacy policy and an easy-to-use tracking toggle to build user trust.</a:t>
            </a:r>
          </a:p>
        </p:txBody>
      </p:sp>
    </p:spTree>
    <p:extLst>
      <p:ext uri="{BB962C8B-B14F-4D97-AF65-F5344CB8AC3E}">
        <p14:creationId xmlns:p14="http://schemas.microsoft.com/office/powerpoint/2010/main" val="29794715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6AC1E-FFE8-8497-20D7-E9CE718D4D7A}"/>
            </a:ext>
          </a:extLst>
        </p:cNvPr>
        <p:cNvGrpSpPr/>
        <p:nvPr/>
      </p:nvGrpSpPr>
      <p:grpSpPr>
        <a:xfrm>
          <a:off x="0" y="0"/>
          <a:ext cx="0" cy="0"/>
          <a:chOff x="0" y="0"/>
          <a:chExt cx="0" cy="0"/>
        </a:xfrm>
      </p:grpSpPr>
      <p:pic>
        <p:nvPicPr>
          <p:cNvPr id="8" name="Picture 7" descr="Forms response chart. Question title: What would motivate you to keep this app installed?. Number of responses: 10 responses.">
            <a:extLst>
              <a:ext uri="{FF2B5EF4-FFF2-40B4-BE49-F238E27FC236}">
                <a16:creationId xmlns:a16="http://schemas.microsoft.com/office/drawing/2014/main" id="{04666918-DFB4-BFEA-0322-D9A0FF8C8601}"/>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9277" y="1246123"/>
            <a:ext cx="11963402" cy="5687728"/>
          </a:xfrm>
          <a:prstGeom prst="rect">
            <a:avLst/>
          </a:prstGeom>
          <a:noFill/>
          <a:ln>
            <a:noFill/>
          </a:ln>
        </p:spPr>
      </p:pic>
      <p:grpSp>
        <p:nvGrpSpPr>
          <p:cNvPr id="2" name="Group 2">
            <a:extLst>
              <a:ext uri="{FF2B5EF4-FFF2-40B4-BE49-F238E27FC236}">
                <a16:creationId xmlns:a16="http://schemas.microsoft.com/office/drawing/2014/main" id="{6BEE8114-6406-6AC5-253F-291F52CC5A27}"/>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3C67B0A4-860C-4E28-774A-B138ECAAA91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7D3AA440-71C2-6811-A119-C7299312BB12}"/>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FBBC61F1-ADD8-BAC0-01B1-81A2D4608591}"/>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7257BC44-1341-77D7-EEF0-5C40D4E8F72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0512ED00-FA33-F2DA-84D2-A71EE6CFC183}"/>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5E9D5BA4-155E-7F60-F522-962A80CB27B7}"/>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D1D674D1-D809-F057-5DE9-0DB9CFEFD395}"/>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22" name="TextBox 21">
            <a:extLst>
              <a:ext uri="{FF2B5EF4-FFF2-40B4-BE49-F238E27FC236}">
                <a16:creationId xmlns:a16="http://schemas.microsoft.com/office/drawing/2014/main" id="{8270C8C6-EA3A-8AD8-919C-B498D3D86C4C}"/>
              </a:ext>
            </a:extLst>
          </p:cNvPr>
          <p:cNvSpPr txBox="1"/>
          <p:nvPr/>
        </p:nvSpPr>
        <p:spPr>
          <a:xfrm>
            <a:off x="9469139" y="5104859"/>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3C5FACEA-D0DF-58EF-FAB3-BDABC07016BE}"/>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
        <p:nvSpPr>
          <p:cNvPr id="10" name="TextBox 9">
            <a:extLst>
              <a:ext uri="{FF2B5EF4-FFF2-40B4-BE49-F238E27FC236}">
                <a16:creationId xmlns:a16="http://schemas.microsoft.com/office/drawing/2014/main" id="{FC843753-A118-FC6B-8EDD-0DC673C20E4B}"/>
              </a:ext>
            </a:extLst>
          </p:cNvPr>
          <p:cNvSpPr txBox="1"/>
          <p:nvPr/>
        </p:nvSpPr>
        <p:spPr>
          <a:xfrm>
            <a:off x="9469139" y="5929964"/>
            <a:ext cx="6629400" cy="2554545"/>
          </a:xfrm>
          <a:prstGeom prst="rect">
            <a:avLst/>
          </a:prstGeom>
          <a:noFill/>
        </p:spPr>
        <p:txBody>
          <a:bodyPr wrap="square">
            <a:spAutoFit/>
          </a:bodyPr>
          <a:lstStyle/>
          <a:p>
            <a:r>
              <a:rPr lang="en-US" sz="3200" b="0" i="0" dirty="0">
                <a:solidFill>
                  <a:schemeClr val="tx2">
                    <a:lumMod val="50000"/>
                  </a:schemeClr>
                </a:solidFill>
                <a:effectLst/>
              </a:rPr>
              <a:t>Since 70% of users are motivated by seeing their own performance data, the app must include a personal network quality history dashboard to drive long-term retention.</a:t>
            </a:r>
            <a:endParaRPr lang="en-US" sz="3200" dirty="0">
              <a:solidFill>
                <a:schemeClr val="tx2">
                  <a:lumMod val="50000"/>
                </a:schemeClr>
              </a:solidFill>
            </a:endParaRPr>
          </a:p>
        </p:txBody>
      </p:sp>
    </p:spTree>
    <p:extLst>
      <p:ext uri="{BB962C8B-B14F-4D97-AF65-F5344CB8AC3E}">
        <p14:creationId xmlns:p14="http://schemas.microsoft.com/office/powerpoint/2010/main" val="404551594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CB1F1E-7C94-78D1-D2AE-4F75C0C638A9}"/>
            </a:ext>
          </a:extLst>
        </p:cNvPr>
        <p:cNvGrpSpPr/>
        <p:nvPr/>
      </p:nvGrpSpPr>
      <p:grpSpPr>
        <a:xfrm>
          <a:off x="0" y="0"/>
          <a:ext cx="0" cy="0"/>
          <a:chOff x="0" y="0"/>
          <a:chExt cx="0" cy="0"/>
        </a:xfrm>
      </p:grpSpPr>
      <p:pic>
        <p:nvPicPr>
          <p:cNvPr id="8" name="Picture 7" descr="Forms response chart. Question title: Would you like to see a map showing network quality in your area?. Number of responses: 52 responses.">
            <a:extLst>
              <a:ext uri="{FF2B5EF4-FFF2-40B4-BE49-F238E27FC236}">
                <a16:creationId xmlns:a16="http://schemas.microsoft.com/office/drawing/2014/main" id="{730D050A-5BB3-7AF3-3C55-8D72F0022AA5}"/>
              </a:ext>
            </a:extLst>
          </p:cNvPr>
          <p:cNvPicPr>
            <a:picLocks noChangeAspect="1"/>
          </p:cNvPicPr>
          <p:nvPr/>
        </p:nvPicPr>
        <p:blipFill>
          <a:blip r:embed="rId2"/>
          <a:stretch>
            <a:fillRect/>
          </a:stretch>
        </p:blipFill>
        <p:spPr>
          <a:xfrm>
            <a:off x="0" y="1310048"/>
            <a:ext cx="18446262" cy="7761542"/>
          </a:xfrm>
          <a:prstGeom prst="rect">
            <a:avLst/>
          </a:prstGeom>
        </p:spPr>
      </p:pic>
      <p:grpSp>
        <p:nvGrpSpPr>
          <p:cNvPr id="2" name="Group 2">
            <a:extLst>
              <a:ext uri="{FF2B5EF4-FFF2-40B4-BE49-F238E27FC236}">
                <a16:creationId xmlns:a16="http://schemas.microsoft.com/office/drawing/2014/main" id="{DDBAEC1D-D341-07A7-4520-ED35E64CE651}"/>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589FA3C7-341B-F77C-2B2A-69B6ED089635}"/>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8DA66D3A-AC14-213A-86EA-15F6136042D3}"/>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6A46783B-5CD4-2EC7-81CA-30DC116819DC}"/>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0EDF154E-BFFF-604D-B94E-BD1A50634B37}"/>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9C07E9FA-5A93-98BD-49D2-DDD44F4EB5CF}"/>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35373E5D-F6CC-7221-6903-D83BF6B5B568}"/>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2A9CC07E-DEB5-7EF9-2FD0-B864CC012143}"/>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22" name="TextBox 21">
            <a:extLst>
              <a:ext uri="{FF2B5EF4-FFF2-40B4-BE49-F238E27FC236}">
                <a16:creationId xmlns:a16="http://schemas.microsoft.com/office/drawing/2014/main" id="{5E024A33-A86B-D19D-023A-7BFF09E8EEF1}"/>
              </a:ext>
            </a:extLst>
          </p:cNvPr>
          <p:cNvSpPr txBox="1"/>
          <p:nvPr/>
        </p:nvSpPr>
        <p:spPr>
          <a:xfrm>
            <a:off x="9469139" y="5283633"/>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ABEC4162-DD54-5B84-5B2D-2C4A4090B14C}"/>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
        <p:nvSpPr>
          <p:cNvPr id="10" name="TextBox 9">
            <a:extLst>
              <a:ext uri="{FF2B5EF4-FFF2-40B4-BE49-F238E27FC236}">
                <a16:creationId xmlns:a16="http://schemas.microsoft.com/office/drawing/2014/main" id="{3AB7DF6E-9254-95E8-76E3-80BFF2D3CDD2}"/>
              </a:ext>
            </a:extLst>
          </p:cNvPr>
          <p:cNvSpPr txBox="1"/>
          <p:nvPr/>
        </p:nvSpPr>
        <p:spPr>
          <a:xfrm>
            <a:off x="9469139" y="5929964"/>
            <a:ext cx="6629400" cy="2554545"/>
          </a:xfrm>
          <a:prstGeom prst="rect">
            <a:avLst/>
          </a:prstGeom>
          <a:noFill/>
        </p:spPr>
        <p:txBody>
          <a:bodyPr wrap="square">
            <a:spAutoFit/>
          </a:bodyPr>
          <a:lstStyle/>
          <a:p>
            <a:r>
              <a:rPr lang="en-US" sz="3200" b="0" i="0" dirty="0">
                <a:solidFill>
                  <a:schemeClr val="tx2">
                    <a:lumMod val="50000"/>
                  </a:schemeClr>
                </a:solidFill>
                <a:effectLst/>
              </a:rPr>
              <a:t>With 82.4% of users wanting to see local network conditions, the app must include a real-time coverage heatmap to provide immediate value and transparency to the community.</a:t>
            </a:r>
          </a:p>
        </p:txBody>
      </p:sp>
    </p:spTree>
    <p:extLst>
      <p:ext uri="{BB962C8B-B14F-4D97-AF65-F5344CB8AC3E}">
        <p14:creationId xmlns:p14="http://schemas.microsoft.com/office/powerpoint/2010/main" val="32064331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5E62D-30B8-07D3-C7B3-300E0359A918}"/>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B9F9AB1-7B8B-044B-BE26-2279E7CC23DC}"/>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8E373D0B-71DC-E6A0-6EC7-3C3B51AFAE5F}"/>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TextBox 4">
              <a:extLst>
                <a:ext uri="{FF2B5EF4-FFF2-40B4-BE49-F238E27FC236}">
                  <a16:creationId xmlns:a16="http://schemas.microsoft.com/office/drawing/2014/main" id="{08AD8AE4-7861-D10F-FA44-478276DC37BD}"/>
                </a:ext>
              </a:extLst>
            </p:cNvPr>
            <p:cNvSpPr txBox="1"/>
            <p:nvPr/>
          </p:nvSpPr>
          <p:spPr>
            <a:xfrm>
              <a:off x="76200" y="38100"/>
              <a:ext cx="660400" cy="698500"/>
            </a:xfrm>
            <a:prstGeom prst="rect">
              <a:avLst/>
            </a:prstGeom>
          </p:spPr>
          <p:txBody>
            <a:bodyPr lIns="50800" tIns="50800" rIns="50800" bIns="50800" rtlCol="0" anchor="ctr"/>
            <a:lstStyle/>
            <a:p>
              <a:pPr marL="0" marR="0" lvl="0" indent="0" algn="ctr" defTabSz="914400" rtl="0" eaLnBrk="1" fontAlgn="auto" latinLnBrk="0" hangingPunct="1">
                <a:lnSpc>
                  <a:spcPts val="2659"/>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grpSp>
        <p:nvGrpSpPr>
          <p:cNvPr id="5" name="Group 5">
            <a:extLst>
              <a:ext uri="{FF2B5EF4-FFF2-40B4-BE49-F238E27FC236}">
                <a16:creationId xmlns:a16="http://schemas.microsoft.com/office/drawing/2014/main" id="{F257A6CD-9BF7-3A01-8DCA-2CB06BDEC3B2}"/>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8307AF50-1792-1F1C-0EE3-9EF524DE0A7C}"/>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sp>
          <p:nvSpPr>
            <p:cNvPr id="7" name="TextBox 7">
              <a:extLst>
                <a:ext uri="{FF2B5EF4-FFF2-40B4-BE49-F238E27FC236}">
                  <a16:creationId xmlns:a16="http://schemas.microsoft.com/office/drawing/2014/main" id="{D555AA66-73D1-1A56-2EFA-0D6EF865DC78}"/>
                </a:ext>
              </a:extLst>
            </p:cNvPr>
            <p:cNvSpPr txBox="1"/>
            <p:nvPr/>
          </p:nvSpPr>
          <p:spPr>
            <a:xfrm>
              <a:off x="76200" y="38100"/>
              <a:ext cx="660400" cy="698500"/>
            </a:xfrm>
            <a:prstGeom prst="rect">
              <a:avLst/>
            </a:prstGeom>
          </p:spPr>
          <p:txBody>
            <a:bodyPr lIns="50800" tIns="50800" rIns="50800" bIns="50800" rtlCol="0" anchor="ctr"/>
            <a:lstStyle/>
            <a:p>
              <a:pPr marL="0" marR="0" lvl="0" indent="0" algn="ctr" defTabSz="914400" rtl="0" eaLnBrk="1" fontAlgn="auto" latinLnBrk="0" hangingPunct="1">
                <a:lnSpc>
                  <a:spcPts val="2659"/>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10" name="TextBox 10">
            <a:extLst>
              <a:ext uri="{FF2B5EF4-FFF2-40B4-BE49-F238E27FC236}">
                <a16:creationId xmlns:a16="http://schemas.microsoft.com/office/drawing/2014/main" id="{86090E70-157E-DD41-34AB-9DD16AA034CB}"/>
              </a:ext>
            </a:extLst>
          </p:cNvPr>
          <p:cNvSpPr txBox="1"/>
          <p:nvPr/>
        </p:nvSpPr>
        <p:spPr>
          <a:xfrm>
            <a:off x="2059765" y="2386346"/>
            <a:ext cx="14168470" cy="1585197"/>
          </a:xfrm>
          <a:prstGeom prst="rect">
            <a:avLst/>
          </a:prstGeom>
        </p:spPr>
        <p:txBody>
          <a:bodyPr lIns="0" tIns="0" rIns="0" bIns="0" rtlCol="0" anchor="t">
            <a:spAutoFit/>
          </a:bodyPr>
          <a:lstStyle/>
          <a:p>
            <a:pPr marL="0" marR="0" lvl="0" indent="0" algn="l" defTabSz="914400" rtl="0" eaLnBrk="1" fontAlgn="auto" latinLnBrk="0" hangingPunct="1">
              <a:lnSpc>
                <a:spcPts val="5960"/>
              </a:lnSpc>
              <a:spcBef>
                <a:spcPts val="0"/>
              </a:spcBef>
              <a:spcAft>
                <a:spcPts val="0"/>
              </a:spcAft>
              <a:buClrTx/>
              <a:buSzTx/>
              <a:buFontTx/>
              <a:buNone/>
              <a:tabLst/>
              <a:defRPr/>
            </a:pPr>
            <a:r>
              <a:rPr kumimoji="0" lang="en-US" sz="7180" b="1" i="0" u="none" strike="noStrike" kern="1200" cap="none" spc="0" normalizeH="0" baseline="0" noProof="0">
                <a:ln>
                  <a:noFill/>
                </a:ln>
                <a:solidFill>
                  <a:srgbClr val="001E3A"/>
                </a:solidFill>
                <a:effectLst/>
                <a:uLnTx/>
                <a:uFillTx/>
                <a:latin typeface="Garet Ultra-Bold"/>
                <a:ea typeface="Garet Ultra-Bold"/>
                <a:cs typeface="Garet Ultra-Bold"/>
                <a:sym typeface="Garet Ultra-Bold"/>
              </a:rPr>
              <a:t>User Motivation and Adoption Factors</a:t>
            </a:r>
          </a:p>
        </p:txBody>
      </p:sp>
      <p:sp>
        <p:nvSpPr>
          <p:cNvPr id="11" name="TextBox 11">
            <a:extLst>
              <a:ext uri="{FF2B5EF4-FFF2-40B4-BE49-F238E27FC236}">
                <a16:creationId xmlns:a16="http://schemas.microsoft.com/office/drawing/2014/main" id="{9EE361CF-569D-89FF-C890-2A327FEB3DD3}"/>
              </a:ext>
            </a:extLst>
          </p:cNvPr>
          <p:cNvSpPr txBox="1"/>
          <p:nvPr/>
        </p:nvSpPr>
        <p:spPr>
          <a:xfrm>
            <a:off x="4463329" y="4219313"/>
            <a:ext cx="10552228" cy="1773978"/>
          </a:xfrm>
          <a:prstGeom prst="rect">
            <a:avLst/>
          </a:prstGeom>
        </p:spPr>
        <p:txBody>
          <a:bodyPr lIns="0" tIns="0" rIns="0" bIns="0" rtlCol="0" anchor="t">
            <a:spAutoFit/>
          </a:bodyPr>
          <a:lstStyle/>
          <a:p>
            <a:pPr marL="0" marR="0" lvl="0" indent="0" algn="l" defTabSz="914400" rtl="0" eaLnBrk="1" fontAlgn="auto" latinLnBrk="0" hangingPunct="1">
              <a:lnSpc>
                <a:spcPts val="3546"/>
              </a:lnSpc>
              <a:spcBef>
                <a:spcPts val="0"/>
              </a:spcBef>
              <a:spcAft>
                <a:spcPts val="0"/>
              </a:spcAft>
              <a:buClrTx/>
              <a:buSzTx/>
              <a:buFontTx/>
              <a:buNone/>
              <a:tabLst/>
              <a:defRPr/>
            </a:pPr>
            <a:r>
              <a:rPr kumimoji="0" lang="en-US" sz="2533" b="0" i="0" u="none" strike="noStrike" kern="1200" cap="none" spc="0" normalizeH="0" baseline="0" noProof="0">
                <a:ln>
                  <a:noFill/>
                </a:ln>
                <a:solidFill>
                  <a:srgbClr val="001E3A"/>
                </a:solidFill>
                <a:effectLst/>
                <a:uLnTx/>
                <a:uFillTx/>
                <a:latin typeface="Garet"/>
                <a:ea typeface="Garet"/>
                <a:cs typeface="Garet"/>
                <a:sym typeface="Garet"/>
              </a:rPr>
              <a:t>Retention depends on providing tangible benefits to users. Key motivators include access to personal network insights, visibility into their own connectivity performance, and the sense of contributing to broader network improvements in Cameroon.</a:t>
            </a:r>
          </a:p>
        </p:txBody>
      </p:sp>
      <p:grpSp>
        <p:nvGrpSpPr>
          <p:cNvPr id="12" name="Group 12">
            <a:extLst>
              <a:ext uri="{FF2B5EF4-FFF2-40B4-BE49-F238E27FC236}">
                <a16:creationId xmlns:a16="http://schemas.microsoft.com/office/drawing/2014/main" id="{C3808E65-9CBB-9184-8241-374B47BCF37F}"/>
              </a:ext>
            </a:extLst>
          </p:cNvPr>
          <p:cNvGrpSpPr/>
          <p:nvPr/>
        </p:nvGrpSpPr>
        <p:grpSpPr>
          <a:xfrm>
            <a:off x="3272443" y="4266938"/>
            <a:ext cx="876562" cy="876562"/>
            <a:chOff x="0" y="0"/>
            <a:chExt cx="812800" cy="812800"/>
          </a:xfrm>
        </p:grpSpPr>
        <p:sp>
          <p:nvSpPr>
            <p:cNvPr id="13" name="Freeform 13">
              <a:extLst>
                <a:ext uri="{FF2B5EF4-FFF2-40B4-BE49-F238E27FC236}">
                  <a16:creationId xmlns:a16="http://schemas.microsoft.com/office/drawing/2014/main" id="{AE88C31A-2A7A-B807-2E93-C306000751B0}"/>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sp>
          <p:nvSpPr>
            <p:cNvPr id="14" name="TextBox 14">
              <a:extLst>
                <a:ext uri="{FF2B5EF4-FFF2-40B4-BE49-F238E27FC236}">
                  <a16:creationId xmlns:a16="http://schemas.microsoft.com/office/drawing/2014/main" id="{F606DFFD-BFB1-E09C-A734-0E83BA25E8E2}"/>
                </a:ext>
              </a:extLst>
            </p:cNvPr>
            <p:cNvSpPr txBox="1"/>
            <p:nvPr/>
          </p:nvSpPr>
          <p:spPr>
            <a:xfrm>
              <a:off x="76200" y="38100"/>
              <a:ext cx="660400" cy="698500"/>
            </a:xfrm>
            <a:prstGeom prst="rect">
              <a:avLst/>
            </a:prstGeom>
          </p:spPr>
          <p:txBody>
            <a:bodyPr lIns="50800" tIns="50800" rIns="50800" bIns="50800" rtlCol="0" anchor="ctr"/>
            <a:lstStyle/>
            <a:p>
              <a:pPr marL="0" marR="0" lvl="0" indent="0" algn="ctr" defTabSz="914400" rtl="0" eaLnBrk="1" fontAlgn="auto" latinLnBrk="0" hangingPunct="1">
                <a:lnSpc>
                  <a:spcPts val="2659"/>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15" name="TextBox 15">
            <a:extLst>
              <a:ext uri="{FF2B5EF4-FFF2-40B4-BE49-F238E27FC236}">
                <a16:creationId xmlns:a16="http://schemas.microsoft.com/office/drawing/2014/main" id="{39B5496B-456F-622D-A99C-A059417F2528}"/>
              </a:ext>
            </a:extLst>
          </p:cNvPr>
          <p:cNvSpPr txBox="1"/>
          <p:nvPr/>
        </p:nvSpPr>
        <p:spPr>
          <a:xfrm>
            <a:off x="4463329" y="6420425"/>
            <a:ext cx="10552228" cy="1773978"/>
          </a:xfrm>
          <a:prstGeom prst="rect">
            <a:avLst/>
          </a:prstGeom>
        </p:spPr>
        <p:txBody>
          <a:bodyPr lIns="0" tIns="0" rIns="0" bIns="0" rtlCol="0" anchor="t">
            <a:spAutoFit/>
          </a:bodyPr>
          <a:lstStyle/>
          <a:p>
            <a:pPr marL="0" marR="0" lvl="0" indent="0" algn="l" defTabSz="914400" rtl="0" eaLnBrk="1" fontAlgn="auto" latinLnBrk="0" hangingPunct="1">
              <a:lnSpc>
                <a:spcPts val="3546"/>
              </a:lnSpc>
              <a:spcBef>
                <a:spcPts val="0"/>
              </a:spcBef>
              <a:spcAft>
                <a:spcPts val="0"/>
              </a:spcAft>
              <a:buClrTx/>
              <a:buSzTx/>
              <a:buFontTx/>
              <a:buNone/>
              <a:tabLst/>
              <a:defRPr/>
            </a:pPr>
            <a:r>
              <a:rPr kumimoji="0" lang="en-US" sz="2533" b="0" i="0" u="none" strike="noStrike" kern="1200" cap="none" spc="0" normalizeH="0" baseline="0" noProof="0">
                <a:ln>
                  <a:noFill/>
                </a:ln>
                <a:solidFill>
                  <a:srgbClr val="001E3A"/>
                </a:solidFill>
                <a:effectLst/>
                <a:uLnTx/>
                <a:uFillTx/>
                <a:latin typeface="Garet"/>
                <a:ea typeface="Garet"/>
                <a:cs typeface="Garet"/>
                <a:sym typeface="Garet"/>
              </a:rPr>
              <a:t>Suggested user-facing features to drive engagement include simple dashboards displaying network quality metrics, performance summaries over time, and easy-to-understand visualizations that help users see the value of their participation.</a:t>
            </a:r>
          </a:p>
        </p:txBody>
      </p:sp>
      <p:grpSp>
        <p:nvGrpSpPr>
          <p:cNvPr id="16" name="Group 16">
            <a:extLst>
              <a:ext uri="{FF2B5EF4-FFF2-40B4-BE49-F238E27FC236}">
                <a16:creationId xmlns:a16="http://schemas.microsoft.com/office/drawing/2014/main" id="{3A35FA92-2EAC-2F47-D977-9A11E397DC4D}"/>
              </a:ext>
            </a:extLst>
          </p:cNvPr>
          <p:cNvGrpSpPr/>
          <p:nvPr/>
        </p:nvGrpSpPr>
        <p:grpSpPr>
          <a:xfrm>
            <a:off x="3272443" y="6468050"/>
            <a:ext cx="876562" cy="876562"/>
            <a:chOff x="0" y="0"/>
            <a:chExt cx="812800" cy="812800"/>
          </a:xfrm>
        </p:grpSpPr>
        <p:sp>
          <p:nvSpPr>
            <p:cNvPr id="17" name="Freeform 17">
              <a:extLst>
                <a:ext uri="{FF2B5EF4-FFF2-40B4-BE49-F238E27FC236}">
                  <a16:creationId xmlns:a16="http://schemas.microsoft.com/office/drawing/2014/main" id="{60488B8F-3C54-DAC7-0BE5-042EA5E03CD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sp>
          <p:nvSpPr>
            <p:cNvPr id="18" name="TextBox 18">
              <a:extLst>
                <a:ext uri="{FF2B5EF4-FFF2-40B4-BE49-F238E27FC236}">
                  <a16:creationId xmlns:a16="http://schemas.microsoft.com/office/drawing/2014/main" id="{123DDDEC-79C2-67AA-4174-DCF72BD184FD}"/>
                </a:ext>
              </a:extLst>
            </p:cNvPr>
            <p:cNvSpPr txBox="1"/>
            <p:nvPr/>
          </p:nvSpPr>
          <p:spPr>
            <a:xfrm>
              <a:off x="76200" y="38100"/>
              <a:ext cx="660400" cy="698500"/>
            </a:xfrm>
            <a:prstGeom prst="rect">
              <a:avLst/>
            </a:prstGeom>
          </p:spPr>
          <p:txBody>
            <a:bodyPr lIns="50800" tIns="50800" rIns="50800" bIns="50800" rtlCol="0" anchor="ctr"/>
            <a:lstStyle/>
            <a:p>
              <a:pPr marL="0" marR="0" lvl="0" indent="0" algn="ctr" defTabSz="914400" rtl="0" eaLnBrk="1" fontAlgn="auto" latinLnBrk="0" hangingPunct="1">
                <a:lnSpc>
                  <a:spcPts val="2659"/>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19" name="TextBox 19">
            <a:extLst>
              <a:ext uri="{FF2B5EF4-FFF2-40B4-BE49-F238E27FC236}">
                <a16:creationId xmlns:a16="http://schemas.microsoft.com/office/drawing/2014/main" id="{AB5BE47C-3DD1-0C28-7981-EAA65B0A0657}"/>
              </a:ext>
            </a:extLst>
          </p:cNvPr>
          <p:cNvSpPr txBox="1"/>
          <p:nvPr/>
        </p:nvSpPr>
        <p:spPr>
          <a:xfrm>
            <a:off x="14250620" y="9229725"/>
            <a:ext cx="1865504" cy="211803"/>
          </a:xfrm>
          <a:prstGeom prst="rect">
            <a:avLst/>
          </a:prstGeom>
        </p:spPr>
        <p:txBody>
          <a:bodyPr lIns="0" tIns="0" rIns="0" bIns="0" rtlCol="0" anchor="t">
            <a:spAutoFit/>
          </a:bodyPr>
          <a:lstStyle/>
          <a:p>
            <a:pPr marL="0" marR="0" lvl="0" indent="0" algn="l" defTabSz="914400" rtl="0" eaLnBrk="1" fontAlgn="auto" latinLnBrk="0" hangingPunct="1">
              <a:lnSpc>
                <a:spcPts val="1696"/>
              </a:lnSpc>
              <a:spcBef>
                <a:spcPts val="0"/>
              </a:spcBef>
              <a:spcAft>
                <a:spcPts val="0"/>
              </a:spcAft>
              <a:buClrTx/>
              <a:buSzTx/>
              <a:buFontTx/>
              <a:buNone/>
              <a:tabLst/>
              <a:defRPr/>
            </a:pPr>
            <a:r>
              <a:rPr kumimoji="0" lang="en-US" sz="1211" b="0" i="0" u="none" strike="noStrike" kern="1200" cap="none" spc="0" normalizeH="0" baseline="0" noProof="0">
                <a:ln>
                  <a:noFill/>
                </a:ln>
                <a:solidFill>
                  <a:srgbClr val="001E3A"/>
                </a:solidFill>
                <a:effectLst/>
                <a:uLnTx/>
                <a:uFillTx/>
                <a:latin typeface="Garet"/>
                <a:ea typeface="Garet"/>
                <a:cs typeface="Garet"/>
                <a:sym typeface="Garet"/>
              </a:rPr>
              <a:t>University of Buea</a:t>
            </a:r>
          </a:p>
        </p:txBody>
      </p:sp>
      <p:sp>
        <p:nvSpPr>
          <p:cNvPr id="20" name="TextBox 20">
            <a:extLst>
              <a:ext uri="{FF2B5EF4-FFF2-40B4-BE49-F238E27FC236}">
                <a16:creationId xmlns:a16="http://schemas.microsoft.com/office/drawing/2014/main" id="{6F1A4F94-1803-0CAC-2BCC-2363A3D94885}"/>
              </a:ext>
            </a:extLst>
          </p:cNvPr>
          <p:cNvSpPr txBox="1"/>
          <p:nvPr/>
        </p:nvSpPr>
        <p:spPr>
          <a:xfrm>
            <a:off x="14250620" y="9443214"/>
            <a:ext cx="3008680" cy="234673"/>
          </a:xfrm>
          <a:prstGeom prst="rect">
            <a:avLst/>
          </a:prstGeom>
        </p:spPr>
        <p:txBody>
          <a:bodyPr lIns="0" tIns="0" rIns="0" bIns="0" rtlCol="0" anchor="t">
            <a:spAutoFit/>
          </a:bodyPr>
          <a:lstStyle/>
          <a:p>
            <a:pPr marL="0" marR="0" lvl="0" indent="0" algn="l" defTabSz="914400" rtl="0" eaLnBrk="1" fontAlgn="auto" latinLnBrk="0" hangingPunct="1">
              <a:lnSpc>
                <a:spcPts val="1995"/>
              </a:lnSpc>
              <a:spcBef>
                <a:spcPts val="0"/>
              </a:spcBef>
              <a:spcAft>
                <a:spcPts val="0"/>
              </a:spcAft>
              <a:buClrTx/>
              <a:buSzTx/>
              <a:buFontTx/>
              <a:buNone/>
              <a:tabLst/>
              <a:defRPr/>
            </a:pPr>
            <a:r>
              <a:rPr kumimoji="0" lang="en-US" sz="1425" b="0" i="0" u="none" strike="noStrike" kern="1200" cap="none" spc="0" normalizeH="0" baseline="0" noProof="0">
                <a:ln>
                  <a:noFill/>
                </a:ln>
                <a:solidFill>
                  <a:srgbClr val="001E3A"/>
                </a:solidFill>
                <a:effectLst/>
                <a:uLnTx/>
                <a:uFillTx/>
                <a:latin typeface="Garet"/>
                <a:ea typeface="Garet"/>
                <a:cs typeface="Garet"/>
                <a:sym typeface="Garet"/>
              </a:rPr>
              <a:t>CEF440 – Group 5</a:t>
            </a:r>
          </a:p>
        </p:txBody>
      </p:sp>
      <p:sp>
        <p:nvSpPr>
          <p:cNvPr id="21" name="TextBox 21">
            <a:extLst>
              <a:ext uri="{FF2B5EF4-FFF2-40B4-BE49-F238E27FC236}">
                <a16:creationId xmlns:a16="http://schemas.microsoft.com/office/drawing/2014/main" id="{09BC1EF1-CCC0-7DEE-BCEC-1FF3C9D75B3E}"/>
              </a:ext>
            </a:extLst>
          </p:cNvPr>
          <p:cNvSpPr txBox="1"/>
          <p:nvPr/>
        </p:nvSpPr>
        <p:spPr>
          <a:xfrm>
            <a:off x="13691401" y="9315450"/>
            <a:ext cx="559219" cy="201590"/>
          </a:xfrm>
          <a:prstGeom prst="rect">
            <a:avLst/>
          </a:prstGeom>
        </p:spPr>
        <p:txBody>
          <a:bodyPr lIns="0" tIns="0" rIns="0" bIns="0" rtlCol="0" anchor="t">
            <a:spAutoFit/>
          </a:bodyPr>
          <a:lstStyle/>
          <a:p>
            <a:pPr marL="0" marR="0" lvl="0" indent="0" algn="ctr" defTabSz="914400" rtl="0" eaLnBrk="1" fontAlgn="auto" latinLnBrk="0" hangingPunct="1">
              <a:lnSpc>
                <a:spcPts val="1429"/>
              </a:lnSpc>
              <a:spcBef>
                <a:spcPts val="0"/>
              </a:spcBef>
              <a:spcAft>
                <a:spcPts val="0"/>
              </a:spcAft>
              <a:buClrTx/>
              <a:buSzTx/>
              <a:buFontTx/>
              <a:buNone/>
              <a:tabLst/>
              <a:defRPr/>
            </a:pPr>
            <a:r>
              <a:rPr kumimoji="0" lang="en-US" sz="1722" b="1" i="0" u="none" strike="noStrike" kern="1200" cap="none" spc="0" normalizeH="0" baseline="0" noProof="0">
                <a:ln>
                  <a:noFill/>
                </a:ln>
                <a:solidFill>
                  <a:srgbClr val="001E3A"/>
                </a:solidFill>
                <a:effectLst/>
                <a:uLnTx/>
                <a:uFillTx/>
                <a:latin typeface="Garet Ultra-Bold"/>
                <a:ea typeface="Garet Ultra-Bold"/>
                <a:cs typeface="Garet Ultra-Bold"/>
                <a:sym typeface="Garet Ultra-Bold"/>
              </a:rPr>
              <a:t>9</a:t>
            </a:r>
          </a:p>
        </p:txBody>
      </p:sp>
    </p:spTree>
    <p:extLst>
      <p:ext uri="{BB962C8B-B14F-4D97-AF65-F5344CB8AC3E}">
        <p14:creationId xmlns:p14="http://schemas.microsoft.com/office/powerpoint/2010/main" val="28980742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DEF4BC-0F62-3EF3-1BEE-045008B8745B}"/>
            </a:ext>
          </a:extLst>
        </p:cNvPr>
        <p:cNvGrpSpPr/>
        <p:nvPr/>
      </p:nvGrpSpPr>
      <p:grpSpPr>
        <a:xfrm>
          <a:off x="0" y="0"/>
          <a:ext cx="0" cy="0"/>
          <a:chOff x="0" y="0"/>
          <a:chExt cx="0" cy="0"/>
        </a:xfrm>
      </p:grpSpPr>
      <p:pic>
        <p:nvPicPr>
          <p:cNvPr id="8" name="Picture 7" descr="Forms response chart. Question title: Would you prefer the app in which language?. Number of responses: 54 responses.">
            <a:extLst>
              <a:ext uri="{FF2B5EF4-FFF2-40B4-BE49-F238E27FC236}">
                <a16:creationId xmlns:a16="http://schemas.microsoft.com/office/drawing/2014/main" id="{6AFB72B2-5033-DA46-1B24-7A3B01945E01}"/>
              </a:ext>
            </a:extLst>
          </p:cNvPr>
          <p:cNvPicPr>
            <a:picLocks noChangeAspect="1"/>
          </p:cNvPicPr>
          <p:nvPr/>
        </p:nvPicPr>
        <p:blipFill>
          <a:blip r:embed="rId2"/>
          <a:stretch>
            <a:fillRect/>
          </a:stretch>
        </p:blipFill>
        <p:spPr>
          <a:xfrm>
            <a:off x="306549" y="1147963"/>
            <a:ext cx="18446262" cy="7761542"/>
          </a:xfrm>
          <a:prstGeom prst="rect">
            <a:avLst/>
          </a:prstGeom>
        </p:spPr>
      </p:pic>
      <p:grpSp>
        <p:nvGrpSpPr>
          <p:cNvPr id="2" name="Group 2">
            <a:extLst>
              <a:ext uri="{FF2B5EF4-FFF2-40B4-BE49-F238E27FC236}">
                <a16:creationId xmlns:a16="http://schemas.microsoft.com/office/drawing/2014/main" id="{80634223-41EA-BBE4-9C02-AB8914AB3C3A}"/>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B7F0734B-03DA-7F64-AD1A-C02E83044FE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F0AF7957-D9C0-6E99-B426-EA536E806640}"/>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3CB3C3A1-A63E-AD58-FFF9-30741C191753}"/>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26E0B557-3E55-D631-C92E-12150B39AD8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7CBCD282-39FE-DA34-6329-65CEE856DB9B}"/>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B0F3C85D-7777-64FA-685B-E0AE966BFF9A}"/>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D0492EE0-7FBE-9BE5-34F0-7C3B36BD530C}"/>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22" name="TextBox 21">
            <a:extLst>
              <a:ext uri="{FF2B5EF4-FFF2-40B4-BE49-F238E27FC236}">
                <a16:creationId xmlns:a16="http://schemas.microsoft.com/office/drawing/2014/main" id="{9DE9B689-7E3A-DBD6-3F34-6093C1A260F2}"/>
              </a:ext>
            </a:extLst>
          </p:cNvPr>
          <p:cNvSpPr txBox="1"/>
          <p:nvPr/>
        </p:nvSpPr>
        <p:spPr>
          <a:xfrm>
            <a:off x="9469139" y="5283633"/>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8EFBB720-D6AA-3C3A-4955-17EBB3245D9D}"/>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
        <p:nvSpPr>
          <p:cNvPr id="10" name="TextBox 9">
            <a:extLst>
              <a:ext uri="{FF2B5EF4-FFF2-40B4-BE49-F238E27FC236}">
                <a16:creationId xmlns:a16="http://schemas.microsoft.com/office/drawing/2014/main" id="{83E0B44F-83A3-2F9B-4F12-D65A3EAAB5C0}"/>
              </a:ext>
            </a:extLst>
          </p:cNvPr>
          <p:cNvSpPr txBox="1"/>
          <p:nvPr/>
        </p:nvSpPr>
        <p:spPr>
          <a:xfrm>
            <a:off x="9469139" y="5929964"/>
            <a:ext cx="6629400" cy="2554545"/>
          </a:xfrm>
          <a:prstGeom prst="rect">
            <a:avLst/>
          </a:prstGeom>
          <a:noFill/>
        </p:spPr>
        <p:txBody>
          <a:bodyPr wrap="square">
            <a:spAutoFit/>
          </a:bodyPr>
          <a:lstStyle/>
          <a:p>
            <a:r>
              <a:rPr lang="en-US" sz="3200" b="0" i="0" dirty="0">
                <a:solidFill>
                  <a:schemeClr val="tx2">
                    <a:lumMod val="50000"/>
                  </a:schemeClr>
                </a:solidFill>
                <a:effectLst/>
              </a:rPr>
              <a:t>Since 92.6% of users require either English or a bilingual experience, the app must include a multi-language toggle supporting English and French to ensure full accessibility.</a:t>
            </a:r>
          </a:p>
        </p:txBody>
      </p:sp>
      <p:sp>
        <p:nvSpPr>
          <p:cNvPr id="9" name="Rectangle 8">
            <a:extLst>
              <a:ext uri="{FF2B5EF4-FFF2-40B4-BE49-F238E27FC236}">
                <a16:creationId xmlns:a16="http://schemas.microsoft.com/office/drawing/2014/main" id="{692CD713-4F43-DE09-1488-A56D9F602555}"/>
              </a:ext>
            </a:extLst>
          </p:cNvPr>
          <p:cNvSpPr/>
          <p:nvPr/>
        </p:nvSpPr>
        <p:spPr>
          <a:xfrm>
            <a:off x="838200" y="1714500"/>
            <a:ext cx="8630939" cy="58959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200" dirty="0">
                <a:solidFill>
                  <a:schemeClr val="tx1">
                    <a:lumMod val="85000"/>
                    <a:lumOff val="15000"/>
                  </a:schemeClr>
                </a:solidFill>
              </a:rPr>
              <a:t>What Language should the app use?</a:t>
            </a:r>
          </a:p>
        </p:txBody>
      </p:sp>
    </p:spTree>
    <p:extLst>
      <p:ext uri="{BB962C8B-B14F-4D97-AF65-F5344CB8AC3E}">
        <p14:creationId xmlns:p14="http://schemas.microsoft.com/office/powerpoint/2010/main" val="8712063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2386346"/>
            <a:ext cx="14168470" cy="1585197"/>
          </a:xfrm>
          <a:prstGeom prst="rect">
            <a:avLst/>
          </a:prstGeom>
        </p:spPr>
        <p:txBody>
          <a:bodyPr lIns="0" tIns="0" rIns="0" bIns="0" rtlCol="0" anchor="t">
            <a:spAutoFit/>
          </a:bodyPr>
          <a:lstStyle/>
          <a:p>
            <a:pPr marL="0" lvl="0" indent="0" algn="l">
              <a:lnSpc>
                <a:spcPts val="5960"/>
              </a:lnSpc>
            </a:pPr>
            <a:r>
              <a:rPr lang="en-US" sz="7180" b="1">
                <a:solidFill>
                  <a:srgbClr val="001E3A"/>
                </a:solidFill>
                <a:latin typeface="Garet Ultra-Bold"/>
                <a:ea typeface="Garet Ultra-Bold"/>
                <a:cs typeface="Garet Ultra-Bold"/>
                <a:sym typeface="Garet Ultra-Bold"/>
              </a:rPr>
              <a:t>Language and Localisation Preferences</a:t>
            </a:r>
          </a:p>
        </p:txBody>
      </p:sp>
      <p:sp>
        <p:nvSpPr>
          <p:cNvPr id="11" name="TextBox 11"/>
          <p:cNvSpPr txBox="1"/>
          <p:nvPr/>
        </p:nvSpPr>
        <p:spPr>
          <a:xfrm>
            <a:off x="2192763" y="4209788"/>
            <a:ext cx="8473430" cy="3648905"/>
          </a:xfrm>
          <a:prstGeom prst="rect">
            <a:avLst/>
          </a:prstGeom>
        </p:spPr>
        <p:txBody>
          <a:bodyPr lIns="0" tIns="0" rIns="0" bIns="0" rtlCol="0" anchor="t">
            <a:spAutoFit/>
          </a:bodyPr>
          <a:lstStyle/>
          <a:p>
            <a:pPr marL="0" lvl="0" indent="0" algn="l">
              <a:lnSpc>
                <a:spcPts val="3629"/>
              </a:lnSpc>
            </a:pPr>
            <a:r>
              <a:rPr lang="en-US" sz="2592" dirty="0">
                <a:solidFill>
                  <a:srgbClr val="001E3A"/>
                </a:solidFill>
                <a:latin typeface="Garet"/>
                <a:ea typeface="Garet"/>
                <a:cs typeface="Garet"/>
                <a:sym typeface="Garet"/>
              </a:rPr>
              <a:t>Our survey reveals clear language preferences among mobile subscribers. Nearly half (49.1%) prefer English as their primary interface language, while 43.4% favor a bilingual English and French option. A smaller group prefers French only. For the Central African context, the app will default to English with an easy option to switch to French, ensuring accessibility for all users in Cameroon.</a:t>
            </a:r>
          </a:p>
        </p:txBody>
      </p:sp>
      <p:pic>
        <p:nvPicPr>
          <p:cNvPr id="12" name="Picture 12"/>
          <p:cNvPicPr>
            <a:picLocks noChangeAspect="1"/>
          </p:cNvPicPr>
          <p:nvPr/>
        </p:nvPicPr>
        <p:blipFill>
          <a:blip r:embed="rId4"/>
          <a:stretch>
            <a:fillRect/>
          </a:stretch>
        </p:blipFill>
        <p:spPr>
          <a:xfrm>
            <a:off x="10513632" y="3883322"/>
            <a:ext cx="6089023" cy="4382252"/>
          </a:xfrm>
          <a:prstGeom prst="rect">
            <a:avLst/>
          </a:prstGeom>
        </p:spPr>
      </p:pic>
      <p:sp>
        <p:nvSpPr>
          <p:cNvPr id="13" name="TextBox 13"/>
          <p:cNvSpPr txBox="1"/>
          <p:nvPr/>
        </p:nvSpPr>
        <p:spPr>
          <a:xfrm>
            <a:off x="14250620" y="9229725"/>
            <a:ext cx="1865504" cy="214538"/>
          </a:xfrm>
          <a:prstGeom prst="rect">
            <a:avLst/>
          </a:prstGeom>
        </p:spPr>
        <p:txBody>
          <a:bodyPr lIns="0" tIns="0" rIns="0" bIns="0" rtlCol="0" anchor="t">
            <a:spAutoFit/>
          </a:bodyPr>
          <a:lstStyle/>
          <a:p>
            <a:pPr marL="0" lvl="0" indent="0" algn="l">
              <a:lnSpc>
                <a:spcPts val="1735"/>
              </a:lnSpc>
            </a:pPr>
            <a:r>
              <a:rPr lang="en-US" sz="1239">
                <a:solidFill>
                  <a:srgbClr val="001E3A"/>
                </a:solidFill>
                <a:latin typeface="Garet"/>
                <a:ea typeface="Garet"/>
                <a:cs typeface="Garet"/>
                <a:sym typeface="Garet"/>
              </a:rPr>
              <a:t>University of Buea</a:t>
            </a:r>
          </a:p>
        </p:txBody>
      </p:sp>
      <p:sp>
        <p:nvSpPr>
          <p:cNvPr id="14" name="TextBox 14"/>
          <p:cNvSpPr txBox="1"/>
          <p:nvPr/>
        </p:nvSpPr>
        <p:spPr>
          <a:xfrm>
            <a:off x="14250620" y="9433689"/>
            <a:ext cx="3008680" cy="247418"/>
          </a:xfrm>
          <a:prstGeom prst="rect">
            <a:avLst/>
          </a:prstGeom>
        </p:spPr>
        <p:txBody>
          <a:bodyPr lIns="0" tIns="0" rIns="0" bIns="0" rtlCol="0" anchor="t">
            <a:spAutoFit/>
          </a:bodyPr>
          <a:lstStyle/>
          <a:p>
            <a:pPr marL="0" lvl="0" indent="0" algn="l">
              <a:lnSpc>
                <a:spcPts val="2042"/>
              </a:lnSpc>
            </a:pPr>
            <a:r>
              <a:rPr lang="en-US" sz="1458">
                <a:solidFill>
                  <a:srgbClr val="001E3A"/>
                </a:solidFill>
                <a:latin typeface="Garet"/>
                <a:ea typeface="Garet"/>
                <a:cs typeface="Garet"/>
                <a:sym typeface="Garet"/>
              </a:rPr>
              <a:t>CEF440 – Group 5</a:t>
            </a:r>
          </a:p>
        </p:txBody>
      </p:sp>
      <p:sp>
        <p:nvSpPr>
          <p:cNvPr id="15" name="TextBox 15"/>
          <p:cNvSpPr txBox="1"/>
          <p:nvPr/>
        </p:nvSpPr>
        <p:spPr>
          <a:xfrm>
            <a:off x="13691401" y="9315450"/>
            <a:ext cx="559219" cy="201590"/>
          </a:xfrm>
          <a:prstGeom prst="rect">
            <a:avLst/>
          </a:prstGeom>
        </p:spPr>
        <p:txBody>
          <a:bodyPr lIns="0" tIns="0" rIns="0" bIns="0" rtlCol="0" anchor="t">
            <a:spAutoFit/>
          </a:bodyPr>
          <a:lstStyle/>
          <a:p>
            <a:pPr marL="0" lvl="0" indent="0" algn="ctr">
              <a:lnSpc>
                <a:spcPts val="1429"/>
              </a:lnSpc>
            </a:pPr>
            <a:r>
              <a:rPr lang="en-US" sz="1722" b="1">
                <a:solidFill>
                  <a:srgbClr val="001E3A"/>
                </a:solidFill>
                <a:latin typeface="Garet Ultra-Bold"/>
                <a:ea typeface="Garet Ultra-Bold"/>
                <a:cs typeface="Garet Ultra-Bold"/>
                <a:sym typeface="Garet Ultra-Bold"/>
              </a:rPr>
              <a:t>10</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099-3FF3-DD74-8DE2-F34C41FA0498}"/>
            </a:ext>
          </a:extLst>
        </p:cNvPr>
        <p:cNvGrpSpPr/>
        <p:nvPr/>
      </p:nvGrpSpPr>
      <p:grpSpPr>
        <a:xfrm>
          <a:off x="0" y="0"/>
          <a:ext cx="0" cy="0"/>
          <a:chOff x="0" y="0"/>
          <a:chExt cx="0" cy="0"/>
        </a:xfrm>
      </p:grpSpPr>
      <p:pic>
        <p:nvPicPr>
          <p:cNvPr id="8" name="Picture 7" descr="Forms response chart. Question title: Would you allow the app to run in the background to collect network data?. Number of responses: 54 responses.">
            <a:extLst>
              <a:ext uri="{FF2B5EF4-FFF2-40B4-BE49-F238E27FC236}">
                <a16:creationId xmlns:a16="http://schemas.microsoft.com/office/drawing/2014/main" id="{DB3F3E35-CC9B-8BCE-BDE2-A91042327853}"/>
              </a:ext>
            </a:extLst>
          </p:cNvPr>
          <p:cNvPicPr>
            <a:picLocks noChangeAspect="1"/>
          </p:cNvPicPr>
          <p:nvPr/>
        </p:nvPicPr>
        <p:blipFill>
          <a:blip r:embed="rId2"/>
          <a:stretch>
            <a:fillRect/>
          </a:stretch>
        </p:blipFill>
        <p:spPr>
          <a:xfrm>
            <a:off x="43784" y="1408124"/>
            <a:ext cx="18446262" cy="7761542"/>
          </a:xfrm>
          <a:prstGeom prst="rect">
            <a:avLst/>
          </a:prstGeom>
        </p:spPr>
      </p:pic>
      <p:grpSp>
        <p:nvGrpSpPr>
          <p:cNvPr id="2" name="Group 2">
            <a:extLst>
              <a:ext uri="{FF2B5EF4-FFF2-40B4-BE49-F238E27FC236}">
                <a16:creationId xmlns:a16="http://schemas.microsoft.com/office/drawing/2014/main" id="{6845CC6F-0AD3-D85D-D330-7FF4220952C4}"/>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B1B4F77D-E350-32A9-1123-C97B51925B4A}"/>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F27DF5D3-F5D0-AFAB-5D9F-735173C34050}"/>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03DC8D42-649B-E6BA-9D83-52AA85452E50}"/>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1478DBA9-52E9-AF1A-8346-899EFCCB130A}"/>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27523F23-6253-939C-5003-8FD834B206DE}"/>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90E14FE9-248E-F56E-D220-3A58F55BC28C}"/>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D8A6B700-3865-901A-FC63-B517E355A63B}"/>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22" name="TextBox 21">
            <a:extLst>
              <a:ext uri="{FF2B5EF4-FFF2-40B4-BE49-F238E27FC236}">
                <a16:creationId xmlns:a16="http://schemas.microsoft.com/office/drawing/2014/main" id="{45D60C19-ED10-AC23-8BFE-E09A11F1FB7C}"/>
              </a:ext>
            </a:extLst>
          </p:cNvPr>
          <p:cNvSpPr txBox="1"/>
          <p:nvPr/>
        </p:nvSpPr>
        <p:spPr>
          <a:xfrm>
            <a:off x="9457415" y="5345250"/>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81CF6451-2E08-CB72-3601-2B9305C45922}"/>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
        <p:nvSpPr>
          <p:cNvPr id="10" name="TextBox 9">
            <a:extLst>
              <a:ext uri="{FF2B5EF4-FFF2-40B4-BE49-F238E27FC236}">
                <a16:creationId xmlns:a16="http://schemas.microsoft.com/office/drawing/2014/main" id="{CA25126D-1F20-FD2C-19D9-EFD252050B58}"/>
              </a:ext>
            </a:extLst>
          </p:cNvPr>
          <p:cNvSpPr txBox="1"/>
          <p:nvPr/>
        </p:nvSpPr>
        <p:spPr>
          <a:xfrm>
            <a:off x="9469138" y="5929964"/>
            <a:ext cx="8361661" cy="3046988"/>
          </a:xfrm>
          <a:prstGeom prst="rect">
            <a:avLst/>
          </a:prstGeom>
          <a:noFill/>
        </p:spPr>
        <p:txBody>
          <a:bodyPr wrap="square">
            <a:spAutoFit/>
          </a:bodyPr>
          <a:lstStyle/>
          <a:p>
            <a:r>
              <a:rPr lang="en-US" sz="3200" b="0" i="0" dirty="0">
                <a:solidFill>
                  <a:schemeClr val="tx2">
                    <a:lumMod val="50000"/>
                  </a:schemeClr>
                </a:solidFill>
                <a:effectLst/>
              </a:rPr>
              <a:t>Since 57.4% of users are willing to allow background data collection (including those who prefer it "Only when charging"), the app must include a background execution toggle with a specific "Charge-Only" mode to maximize data gathering while respecting user preferences.</a:t>
            </a:r>
          </a:p>
        </p:txBody>
      </p:sp>
    </p:spTree>
    <p:extLst>
      <p:ext uri="{BB962C8B-B14F-4D97-AF65-F5344CB8AC3E}">
        <p14:creationId xmlns:p14="http://schemas.microsoft.com/office/powerpoint/2010/main" val="38389650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A0D1BC-B4D3-AEF3-7397-9B5174642A7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DC5930CD-3ED5-82DA-B06F-0EC99AACB625}"/>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323401A1-4DE0-8670-8673-338DBB230EF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59211D08-EACB-C514-CF0C-A9B409ACB193}"/>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336B4BBC-E403-742F-12DC-F2DEBF582828}"/>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54CF600C-9FD5-D89A-2460-CCDE036EBF37}"/>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ADB0B274-6F1D-C41C-2778-2337FF253EE9}"/>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AE03F320-1802-423A-98B4-4812C64B5D63}"/>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07F56956-5D15-842E-8F90-EEACCA741A17}"/>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23" name="TextBox 22">
            <a:extLst>
              <a:ext uri="{FF2B5EF4-FFF2-40B4-BE49-F238E27FC236}">
                <a16:creationId xmlns:a16="http://schemas.microsoft.com/office/drawing/2014/main" id="{B1E8C0A5-90D7-273C-7868-CDBB7797B482}"/>
              </a:ext>
            </a:extLst>
          </p:cNvPr>
          <p:cNvSpPr txBox="1"/>
          <p:nvPr/>
        </p:nvSpPr>
        <p:spPr>
          <a:xfrm>
            <a:off x="5333999" y="4820334"/>
            <a:ext cx="8357401" cy="1107996"/>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lang="en-US" sz="6600" b="1" dirty="0">
                <a:solidFill>
                  <a:srgbClr val="1F497D">
                    <a:lumMod val="50000"/>
                  </a:srgbClr>
                </a:solidFill>
                <a:latin typeface="Calibri"/>
              </a:rPr>
              <a:t>General Analysis</a:t>
            </a:r>
            <a:endParaRPr kumimoji="0" lang="en-US" sz="66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Tree>
    <p:extLst>
      <p:ext uri="{BB962C8B-B14F-4D97-AF65-F5344CB8AC3E}">
        <p14:creationId xmlns:p14="http://schemas.microsoft.com/office/powerpoint/2010/main" val="210999809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7400" y="1348566"/>
            <a:ext cx="15694835" cy="1048364"/>
          </a:xfrm>
          <a:prstGeom prst="rect">
            <a:avLst/>
          </a:prstGeom>
        </p:spPr>
        <p:txBody>
          <a:bodyPr wrap="square" lIns="0" tIns="0" rIns="0" bIns="0" rtlCol="0" anchor="t">
            <a:spAutoFit/>
          </a:bodyPr>
          <a:lstStyle/>
          <a:p>
            <a:pPr marL="0" lvl="0" indent="0" algn="l">
              <a:lnSpc>
                <a:spcPts val="7664"/>
              </a:lnSpc>
            </a:pPr>
            <a:r>
              <a:rPr lang="en-US" sz="8000" b="1" dirty="0">
                <a:solidFill>
                  <a:srgbClr val="001E3A"/>
                </a:solidFill>
                <a:latin typeface="Garet Ultra-Bold"/>
                <a:ea typeface="Garet Ultra-Bold"/>
                <a:cs typeface="Garet Ultra-Bold"/>
                <a:sym typeface="Garet Ultra-Bold"/>
              </a:rPr>
              <a:t>SYSTEM CONSTRAINTS</a:t>
            </a:r>
          </a:p>
        </p:txBody>
      </p:sp>
      <p:sp>
        <p:nvSpPr>
          <p:cNvPr id="11" name="TextBox 11"/>
          <p:cNvSpPr txBox="1"/>
          <p:nvPr/>
        </p:nvSpPr>
        <p:spPr>
          <a:xfrm>
            <a:off x="3634428" y="4209788"/>
            <a:ext cx="6461119" cy="4921604"/>
          </a:xfrm>
          <a:prstGeom prst="rect">
            <a:avLst/>
          </a:prstGeom>
        </p:spPr>
        <p:txBody>
          <a:bodyPr wrap="square" lIns="0" tIns="0" rIns="0" bIns="0" rtlCol="0" anchor="t">
            <a:spAutoFit/>
          </a:bodyPr>
          <a:lstStyle/>
          <a:p>
            <a:pPr lvl="0" algn="l">
              <a:lnSpc>
                <a:spcPts val="3513"/>
              </a:lnSpc>
            </a:pPr>
            <a:r>
              <a:rPr lang="en-US" sz="2509" b="1" dirty="0">
                <a:solidFill>
                  <a:srgbClr val="001E3A"/>
                </a:solidFill>
                <a:latin typeface="Garet"/>
                <a:ea typeface="Garet"/>
                <a:cs typeface="Garet"/>
                <a:sym typeface="Garet"/>
              </a:rPr>
              <a:t>Device &amp; Battery Limitations</a:t>
            </a:r>
          </a:p>
          <a:p>
            <a:pPr lvl="0" algn="l">
              <a:lnSpc>
                <a:spcPts val="3513"/>
              </a:lnSpc>
            </a:pPr>
            <a:endParaRPr lang="en-US" sz="2509" b="1" dirty="0">
              <a:solidFill>
                <a:srgbClr val="001E3A"/>
              </a:solidFill>
              <a:latin typeface="Garet"/>
              <a:ea typeface="Garet"/>
              <a:cs typeface="Garet"/>
              <a:sym typeface="Garet"/>
            </a:endParaRPr>
          </a:p>
          <a:p>
            <a:pPr marL="457200" lvl="0" indent="-457200" algn="l">
              <a:lnSpc>
                <a:spcPts val="3513"/>
              </a:lnSpc>
              <a:buFont typeface="Wingdings" panose="05000000000000000000" pitchFamily="2" charset="2"/>
              <a:buChar char="v"/>
            </a:pPr>
            <a:r>
              <a:rPr lang="en-US" sz="2509" dirty="0">
                <a:solidFill>
                  <a:srgbClr val="001E3A"/>
                </a:solidFill>
                <a:latin typeface="Garet"/>
                <a:ea typeface="Garet"/>
                <a:cs typeface="Garet"/>
                <a:sym typeface="Garet"/>
              </a:rPr>
              <a:t>Battery sensitivity: Users highly aware of apps draining power</a:t>
            </a:r>
          </a:p>
          <a:p>
            <a:pPr marL="457200" lvl="0" indent="-457200" algn="l">
              <a:lnSpc>
                <a:spcPts val="3513"/>
              </a:lnSpc>
              <a:buFont typeface="Wingdings" panose="05000000000000000000" pitchFamily="2" charset="2"/>
              <a:buChar char="v"/>
            </a:pPr>
            <a:r>
              <a:rPr lang="en-US" sz="2509" dirty="0">
                <a:solidFill>
                  <a:srgbClr val="001E3A"/>
                </a:solidFill>
                <a:latin typeface="Garet"/>
                <a:ea typeface="Garet"/>
                <a:cs typeface="Garet"/>
                <a:sym typeface="Garet"/>
              </a:rPr>
              <a:t> Low-end devices: Limited RAM, storage, and processing capabilities common in target market</a:t>
            </a:r>
          </a:p>
          <a:p>
            <a:pPr marL="457200" lvl="0" indent="-457200" algn="l">
              <a:lnSpc>
                <a:spcPts val="3513"/>
              </a:lnSpc>
              <a:buFont typeface="Wingdings" panose="05000000000000000000" pitchFamily="2" charset="2"/>
              <a:buChar char="v"/>
            </a:pPr>
            <a:r>
              <a:rPr lang="en-US" sz="2509" dirty="0">
                <a:solidFill>
                  <a:srgbClr val="001E3A"/>
                </a:solidFill>
                <a:latin typeface="Garet"/>
                <a:ea typeface="Garet"/>
                <a:cs typeface="Garet"/>
                <a:sym typeface="Garet"/>
              </a:rPr>
              <a:t>Background activity must be minimized to preserve battery life</a:t>
            </a:r>
          </a:p>
          <a:p>
            <a:pPr marL="457200" lvl="0" indent="-457200" algn="l">
              <a:lnSpc>
                <a:spcPts val="3513"/>
              </a:lnSpc>
              <a:buFont typeface="Wingdings" panose="05000000000000000000" pitchFamily="2" charset="2"/>
              <a:buChar char="v"/>
            </a:pPr>
            <a:r>
              <a:rPr lang="en-US" sz="2509" dirty="0">
                <a:solidFill>
                  <a:srgbClr val="001E3A"/>
                </a:solidFill>
                <a:latin typeface="Garet"/>
                <a:ea typeface="Garet"/>
                <a:cs typeface="Garet"/>
                <a:sym typeface="Garet"/>
              </a:rPr>
              <a:t>Energy-efficient algorithms required for continuous monitoring</a:t>
            </a:r>
          </a:p>
        </p:txBody>
      </p:sp>
      <p:grpSp>
        <p:nvGrpSpPr>
          <p:cNvPr id="12" name="Group 12"/>
          <p:cNvGrpSpPr/>
          <p:nvPr/>
        </p:nvGrpSpPr>
        <p:grpSpPr>
          <a:xfrm>
            <a:off x="2997896" y="3960275"/>
            <a:ext cx="876562" cy="876562"/>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dirty="0"/>
            </a:p>
          </p:txBody>
        </p:sp>
        <p:sp>
          <p:nvSpPr>
            <p:cNvPr id="14" name="TextBox 1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5" name="TextBox 15"/>
          <p:cNvSpPr txBox="1"/>
          <p:nvPr/>
        </p:nvSpPr>
        <p:spPr>
          <a:xfrm>
            <a:off x="10492049" y="4209788"/>
            <a:ext cx="7643551" cy="5370445"/>
          </a:xfrm>
          <a:prstGeom prst="rect">
            <a:avLst/>
          </a:prstGeom>
        </p:spPr>
        <p:txBody>
          <a:bodyPr wrap="square" lIns="0" tIns="0" rIns="0" bIns="0" rtlCol="0" anchor="t">
            <a:spAutoFit/>
          </a:bodyPr>
          <a:lstStyle/>
          <a:p>
            <a:pPr lvl="0" algn="l">
              <a:lnSpc>
                <a:spcPts val="3513"/>
              </a:lnSpc>
            </a:pPr>
            <a:r>
              <a:rPr lang="en-US" sz="2509" b="1" dirty="0">
                <a:solidFill>
                  <a:srgbClr val="001E3A"/>
                </a:solidFill>
                <a:latin typeface="Garet"/>
                <a:ea typeface="Garet"/>
                <a:cs typeface="Garet"/>
                <a:sym typeface="Garet"/>
              </a:rPr>
              <a:t>Design Requirements</a:t>
            </a:r>
          </a:p>
          <a:p>
            <a:pPr lvl="0" algn="l">
              <a:lnSpc>
                <a:spcPts val="3513"/>
              </a:lnSpc>
            </a:pPr>
            <a:endParaRPr lang="en-US" sz="2509" b="1" dirty="0">
              <a:solidFill>
                <a:srgbClr val="001E3A"/>
              </a:solidFill>
              <a:latin typeface="Garet"/>
              <a:ea typeface="Garet"/>
              <a:cs typeface="Garet"/>
              <a:sym typeface="Garet"/>
            </a:endParaRPr>
          </a:p>
          <a:p>
            <a:pPr marL="457200" lvl="0" indent="-457200" algn="l">
              <a:lnSpc>
                <a:spcPts val="3513"/>
              </a:lnSpc>
              <a:buFont typeface="Wingdings" panose="05000000000000000000" pitchFamily="2" charset="2"/>
              <a:buChar char="v"/>
            </a:pPr>
            <a:r>
              <a:rPr lang="en-US" sz="2509" dirty="0">
                <a:solidFill>
                  <a:srgbClr val="001E3A"/>
                </a:solidFill>
                <a:latin typeface="Garet"/>
                <a:ea typeface="Garet"/>
                <a:cs typeface="Garet"/>
                <a:sym typeface="Garet"/>
              </a:rPr>
              <a:t> Offline-first storage: Cache data locally during connectivity gaps</a:t>
            </a:r>
          </a:p>
          <a:p>
            <a:pPr marL="457200" lvl="0" indent="-457200" algn="l">
              <a:lnSpc>
                <a:spcPts val="3513"/>
              </a:lnSpc>
              <a:buFont typeface="Wingdings" panose="05000000000000000000" pitchFamily="2" charset="2"/>
              <a:buChar char="v"/>
            </a:pPr>
            <a:r>
              <a:rPr lang="en-US" sz="2509" dirty="0">
                <a:solidFill>
                  <a:srgbClr val="001E3A"/>
                </a:solidFill>
                <a:latin typeface="Garet"/>
                <a:ea typeface="Garet"/>
                <a:cs typeface="Garet"/>
                <a:sym typeface="Garet"/>
              </a:rPr>
              <a:t> Adaptive syncing: Upload data only when conditions are favorable</a:t>
            </a:r>
          </a:p>
          <a:p>
            <a:pPr marL="457200" lvl="0" indent="-457200" algn="l">
              <a:lnSpc>
                <a:spcPts val="3513"/>
              </a:lnSpc>
              <a:buFont typeface="Wingdings" panose="05000000000000000000" pitchFamily="2" charset="2"/>
              <a:buChar char="v"/>
            </a:pPr>
            <a:r>
              <a:rPr lang="en-US" sz="2509" dirty="0">
                <a:solidFill>
                  <a:srgbClr val="001E3A"/>
                </a:solidFill>
                <a:latin typeface="Garet"/>
                <a:ea typeface="Garet"/>
                <a:cs typeface="Garet"/>
                <a:sym typeface="Garet"/>
              </a:rPr>
              <a:t> Minimal background processes to reduce resource consumption</a:t>
            </a:r>
          </a:p>
          <a:p>
            <a:pPr marL="457200" lvl="0" indent="-457200" algn="l">
              <a:lnSpc>
                <a:spcPts val="3513"/>
              </a:lnSpc>
              <a:buFont typeface="Wingdings" panose="05000000000000000000" pitchFamily="2" charset="2"/>
              <a:buChar char="v"/>
            </a:pPr>
            <a:r>
              <a:rPr lang="en-US" sz="2509" dirty="0">
                <a:solidFill>
                  <a:srgbClr val="001E3A"/>
                </a:solidFill>
                <a:latin typeface="Garet"/>
                <a:ea typeface="Garet"/>
                <a:cs typeface="Garet"/>
                <a:sym typeface="Garet"/>
              </a:rPr>
              <a:t> Graceful degradation on unstable networks</a:t>
            </a:r>
          </a:p>
          <a:p>
            <a:pPr marL="457200" lvl="0" indent="-457200" algn="l">
              <a:lnSpc>
                <a:spcPts val="3513"/>
              </a:lnSpc>
              <a:buFont typeface="Wingdings" panose="05000000000000000000" pitchFamily="2" charset="2"/>
              <a:buChar char="v"/>
            </a:pPr>
            <a:r>
              <a:rPr lang="en-US" sz="2509" dirty="0">
                <a:solidFill>
                  <a:srgbClr val="001E3A"/>
                </a:solidFill>
                <a:latin typeface="Garet"/>
                <a:ea typeface="Garet"/>
                <a:cs typeface="Garet"/>
                <a:sym typeface="Garet"/>
              </a:rPr>
              <a:t>Lightweight data formats to reduce transmission costs</a:t>
            </a:r>
          </a:p>
        </p:txBody>
      </p:sp>
      <p:grpSp>
        <p:nvGrpSpPr>
          <p:cNvPr id="16" name="Group 16"/>
          <p:cNvGrpSpPr/>
          <p:nvPr/>
        </p:nvGrpSpPr>
        <p:grpSpPr>
          <a:xfrm>
            <a:off x="9904817" y="3960275"/>
            <a:ext cx="876562" cy="876562"/>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8" name="TextBox 18"/>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9" name="TextBox 19"/>
          <p:cNvSpPr txBox="1"/>
          <p:nvPr/>
        </p:nvSpPr>
        <p:spPr>
          <a:xfrm>
            <a:off x="14250620" y="9229725"/>
            <a:ext cx="1865504" cy="208643"/>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University of Buea</a:t>
            </a:r>
          </a:p>
        </p:txBody>
      </p:sp>
      <p:sp>
        <p:nvSpPr>
          <p:cNvPr id="20" name="TextBox 20"/>
          <p:cNvSpPr txBox="1"/>
          <p:nvPr/>
        </p:nvSpPr>
        <p:spPr>
          <a:xfrm>
            <a:off x="14250620" y="9443214"/>
            <a:ext cx="3008680" cy="230955"/>
          </a:xfrm>
          <a:prstGeom prst="rect">
            <a:avLst/>
          </a:prstGeom>
        </p:spPr>
        <p:txBody>
          <a:bodyPr lIns="0" tIns="0" rIns="0" bIns="0" rtlCol="0" anchor="t">
            <a:spAutoFit/>
          </a:bodyPr>
          <a:lstStyle/>
          <a:p>
            <a:pPr marL="0" lvl="0" indent="0" algn="l">
              <a:lnSpc>
                <a:spcPts val="1977"/>
              </a:lnSpc>
            </a:pPr>
            <a:r>
              <a:rPr lang="en-US" sz="1412" dirty="0">
                <a:solidFill>
                  <a:srgbClr val="001E3A"/>
                </a:solidFill>
                <a:latin typeface="Garet"/>
                <a:ea typeface="Garet"/>
                <a:cs typeface="Garet"/>
                <a:sym typeface="Garet"/>
              </a:rPr>
              <a:t>CEF440 - Group 5</a:t>
            </a:r>
          </a:p>
        </p:txBody>
      </p:sp>
      <p:sp>
        <p:nvSpPr>
          <p:cNvPr id="21" name="TextBox 21"/>
          <p:cNvSpPr txBox="1"/>
          <p:nvPr/>
        </p:nvSpPr>
        <p:spPr>
          <a:xfrm>
            <a:off x="13691401" y="9334500"/>
            <a:ext cx="559219" cy="255467"/>
          </a:xfrm>
          <a:prstGeom prst="rect">
            <a:avLst/>
          </a:prstGeom>
        </p:spPr>
        <p:txBody>
          <a:bodyPr lIns="0" tIns="0" rIns="0" bIns="0" rtlCol="0" anchor="t">
            <a:spAutoFit/>
          </a:bodyPr>
          <a:lstStyle/>
          <a:p>
            <a:pPr marL="0" lvl="0" indent="0" algn="ctr">
              <a:lnSpc>
                <a:spcPts val="1838"/>
              </a:lnSpc>
            </a:pPr>
            <a:r>
              <a:rPr lang="en-US" sz="2214" b="1">
                <a:solidFill>
                  <a:srgbClr val="001E3A"/>
                </a:solidFill>
                <a:latin typeface="Garet Ultra-Bold"/>
                <a:ea typeface="Garet Ultra-Bold"/>
                <a:cs typeface="Garet Ultra-Bold"/>
                <a:sym typeface="Garet Ultra-Bold"/>
              </a:rPr>
              <a:t>8</a:t>
            </a:r>
          </a:p>
        </p:txBody>
      </p:sp>
      <p:sp>
        <p:nvSpPr>
          <p:cNvPr id="25" name="TextBox 24">
            <a:extLst>
              <a:ext uri="{FF2B5EF4-FFF2-40B4-BE49-F238E27FC236}">
                <a16:creationId xmlns:a16="http://schemas.microsoft.com/office/drawing/2014/main" id="{5D1013F2-EDD8-20FC-6610-DA796018BF4C}"/>
              </a:ext>
            </a:extLst>
          </p:cNvPr>
          <p:cNvSpPr txBox="1"/>
          <p:nvPr/>
        </p:nvSpPr>
        <p:spPr>
          <a:xfrm>
            <a:off x="3222360" y="4209788"/>
            <a:ext cx="565474" cy="478464"/>
          </a:xfrm>
          <a:prstGeom prst="rect">
            <a:avLst/>
          </a:prstGeom>
          <a:noFill/>
        </p:spPr>
        <p:txBody>
          <a:bodyPr wrap="square">
            <a:spAutoFit/>
          </a:bodyPr>
          <a:lstStyle/>
          <a:p>
            <a:r>
              <a:rPr kumimoji="0" lang="en-US" sz="2509" b="0" i="0" u="none" strike="noStrike" kern="1200" cap="none" spc="0" normalizeH="0" baseline="0" noProof="0" dirty="0">
                <a:ln>
                  <a:noFill/>
                </a:ln>
                <a:solidFill>
                  <a:schemeClr val="bg1"/>
                </a:solidFill>
                <a:effectLst/>
                <a:uLnTx/>
                <a:uFillTx/>
                <a:latin typeface="Garet"/>
                <a:ea typeface="Garet"/>
                <a:cs typeface="Garet"/>
                <a:sym typeface="Garet"/>
              </a:rPr>
              <a:t>D</a:t>
            </a:r>
            <a:endParaRPr lang="en-US" dirty="0">
              <a:solidFill>
                <a:schemeClr val="bg1"/>
              </a:solidFill>
            </a:endParaRPr>
          </a:p>
        </p:txBody>
      </p:sp>
      <p:sp>
        <p:nvSpPr>
          <p:cNvPr id="26" name="TextBox 25">
            <a:extLst>
              <a:ext uri="{FF2B5EF4-FFF2-40B4-BE49-F238E27FC236}">
                <a16:creationId xmlns:a16="http://schemas.microsoft.com/office/drawing/2014/main" id="{43944558-E402-F635-E022-CBF43AF28165}"/>
              </a:ext>
            </a:extLst>
          </p:cNvPr>
          <p:cNvSpPr txBox="1"/>
          <p:nvPr/>
        </p:nvSpPr>
        <p:spPr>
          <a:xfrm>
            <a:off x="10133728" y="4220695"/>
            <a:ext cx="565474" cy="478464"/>
          </a:xfrm>
          <a:prstGeom prst="rect">
            <a:avLst/>
          </a:prstGeom>
          <a:noFill/>
        </p:spPr>
        <p:txBody>
          <a:bodyPr wrap="square">
            <a:spAutoFit/>
          </a:bodyPr>
          <a:lstStyle/>
          <a:p>
            <a:r>
              <a:rPr kumimoji="0" lang="en-US" sz="2509" b="0" i="0" u="none" strike="noStrike" kern="1200" cap="none" spc="0" normalizeH="0" baseline="0" noProof="0" dirty="0">
                <a:ln>
                  <a:noFill/>
                </a:ln>
                <a:solidFill>
                  <a:schemeClr val="bg1"/>
                </a:solidFill>
                <a:effectLst/>
                <a:uLnTx/>
                <a:uFillTx/>
                <a:latin typeface="Garet"/>
                <a:ea typeface="Garet"/>
                <a:cs typeface="Garet"/>
                <a:sym typeface="Garet"/>
              </a:rPr>
              <a:t>D</a:t>
            </a:r>
            <a:endParaRPr lang="en-US" dirty="0">
              <a:solidFill>
                <a:schemeClr val="bg1"/>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0" name="TextBox 10"/>
          <p:cNvSpPr txBox="1"/>
          <p:nvPr/>
        </p:nvSpPr>
        <p:spPr>
          <a:xfrm>
            <a:off x="2301731" y="2412532"/>
            <a:ext cx="16380635" cy="979114"/>
          </a:xfrm>
          <a:prstGeom prst="rect">
            <a:avLst/>
          </a:prstGeom>
        </p:spPr>
        <p:txBody>
          <a:bodyPr wrap="square" lIns="0" tIns="0" rIns="0" bIns="0" rtlCol="0" anchor="t">
            <a:spAutoFit/>
          </a:bodyPr>
          <a:lstStyle/>
          <a:p>
            <a:pPr marL="0" lvl="0" indent="0" algn="l">
              <a:lnSpc>
                <a:spcPts val="7344"/>
              </a:lnSpc>
            </a:pPr>
            <a:r>
              <a:rPr lang="en-US" sz="7200" b="1" dirty="0">
                <a:solidFill>
                  <a:srgbClr val="001E3A"/>
                </a:solidFill>
                <a:latin typeface="Garet Ultra-Bold"/>
                <a:ea typeface="Garet Ultra-Bold"/>
                <a:cs typeface="Garet Ultra-Bold"/>
                <a:sym typeface="Garet Ultra-Bold"/>
              </a:rPr>
              <a:t>TECHNOLOGY ANALYSIS</a:t>
            </a:r>
          </a:p>
        </p:txBody>
      </p:sp>
      <p:sp>
        <p:nvSpPr>
          <p:cNvPr id="11" name="TextBox 11"/>
          <p:cNvSpPr txBox="1"/>
          <p:nvPr/>
        </p:nvSpPr>
        <p:spPr>
          <a:xfrm>
            <a:off x="3634428" y="4209788"/>
            <a:ext cx="6293198" cy="4600427"/>
          </a:xfrm>
          <a:prstGeom prst="rect">
            <a:avLst/>
          </a:prstGeom>
        </p:spPr>
        <p:txBody>
          <a:bodyPr wrap="square" lIns="0" tIns="0" rIns="0" bIns="0" rtlCol="0" anchor="t">
            <a:spAutoFit/>
          </a:bodyPr>
          <a:lstStyle/>
          <a:p>
            <a:pPr marL="0" lvl="0" indent="0" algn="l">
              <a:lnSpc>
                <a:spcPts val="3608"/>
              </a:lnSpc>
            </a:pPr>
            <a:r>
              <a:rPr lang="en-US" sz="2577" dirty="0">
                <a:solidFill>
                  <a:srgbClr val="001E3A"/>
                </a:solidFill>
                <a:latin typeface="Garet"/>
                <a:ea typeface="Garet"/>
                <a:cs typeface="Garet"/>
                <a:sym typeface="Garet"/>
              </a:rPr>
              <a:t>Python &amp; Go</a:t>
            </a:r>
          </a:p>
          <a:p>
            <a:pPr marL="0" lvl="0" indent="0" algn="l">
              <a:lnSpc>
                <a:spcPts val="3608"/>
              </a:lnSpc>
            </a:pPr>
            <a:endParaRPr lang="en-US" sz="2577" dirty="0">
              <a:solidFill>
                <a:srgbClr val="001E3A"/>
              </a:solidFill>
              <a:latin typeface="Garet"/>
              <a:ea typeface="Garet"/>
              <a:cs typeface="Garet"/>
              <a:sym typeface="Garet"/>
            </a:endParaRPr>
          </a:p>
          <a:p>
            <a:pPr marL="457200" lvl="0" indent="-457200" algn="l">
              <a:lnSpc>
                <a:spcPts val="3608"/>
              </a:lnSpc>
              <a:buFont typeface="Wingdings" panose="05000000000000000000" pitchFamily="2" charset="2"/>
              <a:buChar char="v"/>
            </a:pPr>
            <a:r>
              <a:rPr lang="en-US" sz="2577" dirty="0">
                <a:solidFill>
                  <a:srgbClr val="001E3A"/>
                </a:solidFill>
                <a:latin typeface="Garet"/>
                <a:ea typeface="Garet"/>
                <a:cs typeface="Garet"/>
                <a:sym typeface="Garet"/>
              </a:rPr>
              <a:t> Python: Rapid development, extensive libraries for data processing and analysis</a:t>
            </a:r>
          </a:p>
          <a:p>
            <a:pPr marL="457200" lvl="0" indent="-457200" algn="l">
              <a:lnSpc>
                <a:spcPts val="3608"/>
              </a:lnSpc>
              <a:buFont typeface="Wingdings" panose="05000000000000000000" pitchFamily="2" charset="2"/>
              <a:buChar char="v"/>
            </a:pPr>
            <a:r>
              <a:rPr lang="en-US" sz="2577" dirty="0">
                <a:solidFill>
                  <a:srgbClr val="001E3A"/>
                </a:solidFill>
                <a:latin typeface="Garet"/>
                <a:ea typeface="Garet"/>
                <a:cs typeface="Garet"/>
                <a:sym typeface="Garet"/>
              </a:rPr>
              <a:t> Go: Excellent for high concurrency, efficient for backend services</a:t>
            </a:r>
          </a:p>
          <a:p>
            <a:pPr marL="457200" lvl="0" indent="-457200" algn="l">
              <a:lnSpc>
                <a:spcPts val="3608"/>
              </a:lnSpc>
              <a:buFont typeface="Wingdings" panose="05000000000000000000" pitchFamily="2" charset="2"/>
              <a:buChar char="v"/>
            </a:pPr>
            <a:r>
              <a:rPr lang="en-US" sz="2577" dirty="0">
                <a:solidFill>
                  <a:srgbClr val="001E3A"/>
                </a:solidFill>
                <a:latin typeface="Garet"/>
                <a:ea typeface="Garet"/>
                <a:cs typeface="Garet"/>
                <a:sym typeface="Garet"/>
              </a:rPr>
              <a:t>Critical: Backend handles data aggregation and storage</a:t>
            </a:r>
          </a:p>
        </p:txBody>
      </p:sp>
      <p:grpSp>
        <p:nvGrpSpPr>
          <p:cNvPr id="12" name="Group 12"/>
          <p:cNvGrpSpPr/>
          <p:nvPr/>
        </p:nvGrpSpPr>
        <p:grpSpPr>
          <a:xfrm>
            <a:off x="2443542" y="4266938"/>
            <a:ext cx="876562" cy="876562"/>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4" name="TextBox 1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5" name="TextBox 15"/>
          <p:cNvSpPr txBox="1"/>
          <p:nvPr/>
        </p:nvSpPr>
        <p:spPr>
          <a:xfrm>
            <a:off x="10492049" y="4209788"/>
            <a:ext cx="6293198" cy="4138762"/>
          </a:xfrm>
          <a:prstGeom prst="rect">
            <a:avLst/>
          </a:prstGeom>
        </p:spPr>
        <p:txBody>
          <a:bodyPr wrap="square" lIns="0" tIns="0" rIns="0" bIns="0" rtlCol="0" anchor="t">
            <a:spAutoFit/>
          </a:bodyPr>
          <a:lstStyle/>
          <a:p>
            <a:pPr marL="0" lvl="0" indent="0" algn="l">
              <a:lnSpc>
                <a:spcPts val="3608"/>
              </a:lnSpc>
            </a:pPr>
            <a:r>
              <a:rPr lang="en-US" sz="2577" dirty="0">
                <a:solidFill>
                  <a:srgbClr val="001E3A"/>
                </a:solidFill>
                <a:latin typeface="Garet"/>
                <a:ea typeface="Garet"/>
                <a:cs typeface="Garet"/>
                <a:sym typeface="Garet"/>
              </a:rPr>
              <a:t>C/C++ &amp; Rust</a:t>
            </a:r>
          </a:p>
          <a:p>
            <a:pPr marL="0" lvl="0" indent="0" algn="l">
              <a:lnSpc>
                <a:spcPts val="3608"/>
              </a:lnSpc>
            </a:pPr>
            <a:endParaRPr lang="en-US" sz="2577" dirty="0">
              <a:solidFill>
                <a:srgbClr val="001E3A"/>
              </a:solidFill>
              <a:latin typeface="Garet"/>
              <a:ea typeface="Garet"/>
              <a:cs typeface="Garet"/>
              <a:sym typeface="Garet"/>
            </a:endParaRPr>
          </a:p>
          <a:p>
            <a:pPr marL="457200" lvl="0" indent="-457200" algn="l">
              <a:lnSpc>
                <a:spcPts val="3608"/>
              </a:lnSpc>
              <a:buFont typeface="Wingdings" panose="05000000000000000000" pitchFamily="2" charset="2"/>
              <a:buChar char="v"/>
            </a:pPr>
            <a:r>
              <a:rPr lang="en-US" sz="2577" dirty="0">
                <a:solidFill>
                  <a:srgbClr val="001E3A"/>
                </a:solidFill>
                <a:latin typeface="Garet"/>
                <a:ea typeface="Garet"/>
                <a:cs typeface="Garet"/>
                <a:sym typeface="Garet"/>
              </a:rPr>
              <a:t>C/C++: High precision for network measurements, but complex memory management</a:t>
            </a:r>
          </a:p>
          <a:p>
            <a:pPr marL="457200" lvl="0" indent="-457200" algn="l">
              <a:lnSpc>
                <a:spcPts val="3608"/>
              </a:lnSpc>
              <a:buFont typeface="Wingdings" panose="05000000000000000000" pitchFamily="2" charset="2"/>
              <a:buChar char="v"/>
            </a:pPr>
            <a:r>
              <a:rPr lang="en-US" sz="2577" dirty="0">
                <a:solidFill>
                  <a:srgbClr val="001E3A"/>
                </a:solidFill>
                <a:latin typeface="Garet"/>
                <a:ea typeface="Garet"/>
                <a:cs typeface="Garet"/>
                <a:sym typeface="Garet"/>
              </a:rPr>
              <a:t>Rust: Performance and memory safety, steep learning curve</a:t>
            </a:r>
          </a:p>
          <a:p>
            <a:pPr marL="457200" lvl="0" indent="-457200" algn="l">
              <a:lnSpc>
                <a:spcPts val="3608"/>
              </a:lnSpc>
              <a:buFont typeface="Wingdings" panose="05000000000000000000" pitchFamily="2" charset="2"/>
              <a:buChar char="v"/>
            </a:pPr>
            <a:r>
              <a:rPr lang="en-US" sz="2577" dirty="0">
                <a:solidFill>
                  <a:srgbClr val="001E3A"/>
                </a:solidFill>
                <a:latin typeface="Garet"/>
                <a:ea typeface="Garet"/>
                <a:cs typeface="Garet"/>
                <a:sym typeface="Garet"/>
              </a:rPr>
              <a:t>Critical: Mobile device performs actual network measurements</a:t>
            </a:r>
          </a:p>
        </p:txBody>
      </p:sp>
      <p:grpSp>
        <p:nvGrpSpPr>
          <p:cNvPr id="16" name="Group 16"/>
          <p:cNvGrpSpPr/>
          <p:nvPr/>
        </p:nvGrpSpPr>
        <p:grpSpPr>
          <a:xfrm>
            <a:off x="9301162" y="4266938"/>
            <a:ext cx="876562" cy="876562"/>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8" name="TextBox 18"/>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9" name="TextBox 19"/>
          <p:cNvSpPr txBox="1"/>
          <p:nvPr/>
        </p:nvSpPr>
        <p:spPr>
          <a:xfrm>
            <a:off x="14250620" y="9229725"/>
            <a:ext cx="1865504" cy="214717"/>
          </a:xfrm>
          <a:prstGeom prst="rect">
            <a:avLst/>
          </a:prstGeom>
        </p:spPr>
        <p:txBody>
          <a:bodyPr lIns="0" tIns="0" rIns="0" bIns="0" rtlCol="0" anchor="t">
            <a:spAutoFit/>
          </a:bodyPr>
          <a:lstStyle/>
          <a:p>
            <a:pPr marL="0" lvl="0" indent="0" algn="l">
              <a:lnSpc>
                <a:spcPts val="1725"/>
              </a:lnSpc>
            </a:pPr>
            <a:r>
              <a:rPr lang="en-US" sz="1232">
                <a:solidFill>
                  <a:srgbClr val="001E3A"/>
                </a:solidFill>
                <a:latin typeface="Garet"/>
                <a:ea typeface="Garet"/>
                <a:cs typeface="Garet"/>
                <a:sym typeface="Garet"/>
              </a:rPr>
              <a:t>University of Buea</a:t>
            </a:r>
          </a:p>
        </p:txBody>
      </p:sp>
      <p:sp>
        <p:nvSpPr>
          <p:cNvPr id="20" name="TextBox 20"/>
          <p:cNvSpPr txBox="1"/>
          <p:nvPr/>
        </p:nvSpPr>
        <p:spPr>
          <a:xfrm>
            <a:off x="14250620" y="9433689"/>
            <a:ext cx="3008680" cy="247628"/>
          </a:xfrm>
          <a:prstGeom prst="rect">
            <a:avLst/>
          </a:prstGeom>
        </p:spPr>
        <p:txBody>
          <a:bodyPr lIns="0" tIns="0" rIns="0" bIns="0" rtlCol="0" anchor="t">
            <a:spAutoFit/>
          </a:bodyPr>
          <a:lstStyle/>
          <a:p>
            <a:pPr marL="0" lvl="0" indent="0" algn="l">
              <a:lnSpc>
                <a:spcPts val="2030"/>
              </a:lnSpc>
            </a:pPr>
            <a:r>
              <a:rPr lang="en-US" sz="1450">
                <a:solidFill>
                  <a:srgbClr val="001E3A"/>
                </a:solidFill>
                <a:latin typeface="Garet"/>
                <a:ea typeface="Garet"/>
                <a:cs typeface="Garet"/>
                <a:sym typeface="Garet"/>
              </a:rPr>
              <a:t>CEF440 – Group 5</a:t>
            </a:r>
          </a:p>
        </p:txBody>
      </p:sp>
      <p:sp>
        <p:nvSpPr>
          <p:cNvPr id="21" name="TextBox 21"/>
          <p:cNvSpPr txBox="1"/>
          <p:nvPr/>
        </p:nvSpPr>
        <p:spPr>
          <a:xfrm>
            <a:off x="13691401" y="9334500"/>
            <a:ext cx="559219" cy="244016"/>
          </a:xfrm>
          <a:prstGeom prst="rect">
            <a:avLst/>
          </a:prstGeom>
        </p:spPr>
        <p:txBody>
          <a:bodyPr lIns="0" tIns="0" rIns="0" bIns="0" rtlCol="0" anchor="t">
            <a:spAutoFit/>
          </a:bodyPr>
          <a:lstStyle/>
          <a:p>
            <a:pPr marL="0" lvl="0" indent="0" algn="ctr">
              <a:lnSpc>
                <a:spcPts val="1761"/>
              </a:lnSpc>
            </a:pPr>
            <a:r>
              <a:rPr lang="en-US" sz="2122" b="1">
                <a:solidFill>
                  <a:srgbClr val="001E3A"/>
                </a:solidFill>
                <a:latin typeface="Garet Ultra-Bold"/>
                <a:ea typeface="Garet Ultra-Bold"/>
                <a:cs typeface="Garet Ultra-Bold"/>
                <a:sym typeface="Garet Ultra-Bold"/>
              </a:rPr>
              <a:t>11</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1883736"/>
            <a:ext cx="14168470" cy="1923604"/>
          </a:xfrm>
          <a:prstGeom prst="rect">
            <a:avLst/>
          </a:prstGeom>
        </p:spPr>
        <p:txBody>
          <a:bodyPr lIns="0" tIns="0" rIns="0" bIns="0" rtlCol="0" anchor="t">
            <a:spAutoFit/>
          </a:bodyPr>
          <a:lstStyle/>
          <a:p>
            <a:pPr marL="0" lvl="0" indent="0" algn="l">
              <a:lnSpc>
                <a:spcPts val="7184"/>
              </a:lnSpc>
            </a:pPr>
            <a:r>
              <a:rPr lang="en-US" sz="6600" b="1" dirty="0">
                <a:solidFill>
                  <a:srgbClr val="001E3A"/>
                </a:solidFill>
                <a:latin typeface="Garet Ultra-Bold"/>
                <a:ea typeface="Garet Ultra-Bold"/>
                <a:cs typeface="Garet Ultra-Bold"/>
                <a:sym typeface="Garet Ultra-Bold"/>
              </a:rPr>
              <a:t>Technology Selection and System Architecture</a:t>
            </a:r>
          </a:p>
        </p:txBody>
      </p:sp>
      <p:sp>
        <p:nvSpPr>
          <p:cNvPr id="11" name="TextBox 11"/>
          <p:cNvSpPr txBox="1"/>
          <p:nvPr/>
        </p:nvSpPr>
        <p:spPr>
          <a:xfrm>
            <a:off x="2059765" y="4378701"/>
            <a:ext cx="14168470" cy="4374913"/>
          </a:xfrm>
          <a:prstGeom prst="rect">
            <a:avLst/>
          </a:prstGeom>
        </p:spPr>
        <p:txBody>
          <a:bodyPr lIns="0" tIns="0" rIns="0" bIns="0" rtlCol="0" anchor="t">
            <a:spAutoFit/>
          </a:bodyPr>
          <a:lstStyle/>
          <a:p>
            <a:pPr marL="0" lvl="0" indent="0" algn="l">
              <a:lnSpc>
                <a:spcPts val="3513"/>
              </a:lnSpc>
            </a:pPr>
            <a:r>
              <a:rPr lang="en-US" sz="2509" dirty="0">
                <a:solidFill>
                  <a:srgbClr val="001E3A"/>
                </a:solidFill>
                <a:latin typeface="Garet"/>
                <a:ea typeface="Garet"/>
                <a:cs typeface="Garet"/>
                <a:sym typeface="Garet"/>
              </a:rPr>
              <a:t>Our system employs a client-server architecture designed for cross-platform compatibility and scalability. The frontend utilizes React Native with Expo, enabling a single codebase for both Android and iOS platforms while maintaining native performance. For performance-critical network measurements, we integrate native modules written in Kotlin (Android) and Swift (iOS) to ensure accurate QoE data collection. The backend leverages Node.js with Express, providing a lightweight, event-driven framework for scalable RESTful APIs capable of real-time data ingestion. This architecture ensures efficient communication between the mobile client and server while supporting the high-concurrency demands of collecting user experience data from numerous subscribers.</a:t>
            </a:r>
          </a:p>
        </p:txBody>
      </p:sp>
      <p:sp>
        <p:nvSpPr>
          <p:cNvPr id="12" name="TextBox 12"/>
          <p:cNvSpPr txBox="1"/>
          <p:nvPr/>
        </p:nvSpPr>
        <p:spPr>
          <a:xfrm>
            <a:off x="14250620" y="9229725"/>
            <a:ext cx="1865504" cy="208643"/>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University of Buea</a:t>
            </a:r>
          </a:p>
        </p:txBody>
      </p:sp>
      <p:sp>
        <p:nvSpPr>
          <p:cNvPr id="13" name="TextBox 13"/>
          <p:cNvSpPr txBox="1"/>
          <p:nvPr/>
        </p:nvSpPr>
        <p:spPr>
          <a:xfrm>
            <a:off x="14250620" y="9443214"/>
            <a:ext cx="3008680" cy="230955"/>
          </a:xfrm>
          <a:prstGeom prst="rect">
            <a:avLst/>
          </a:prstGeom>
        </p:spPr>
        <p:txBody>
          <a:bodyPr lIns="0" tIns="0" rIns="0" bIns="0" rtlCol="0" anchor="t">
            <a:spAutoFit/>
          </a:bodyPr>
          <a:lstStyle/>
          <a:p>
            <a:pPr marL="0" lvl="0" indent="0" algn="l">
              <a:lnSpc>
                <a:spcPts val="1977"/>
              </a:lnSpc>
            </a:pPr>
            <a:r>
              <a:rPr lang="en-US" sz="1412">
                <a:solidFill>
                  <a:srgbClr val="001E3A"/>
                </a:solidFill>
                <a:latin typeface="Garet"/>
                <a:ea typeface="Garet"/>
                <a:cs typeface="Garet"/>
                <a:sym typeface="Garet"/>
              </a:rPr>
              <a:t>CEF440 – Group 5</a:t>
            </a:r>
          </a:p>
        </p:txBody>
      </p:sp>
      <p:sp>
        <p:nvSpPr>
          <p:cNvPr id="14" name="TextBox 14"/>
          <p:cNvSpPr txBox="1"/>
          <p:nvPr/>
        </p:nvSpPr>
        <p:spPr>
          <a:xfrm>
            <a:off x="13691401" y="9324975"/>
            <a:ext cx="559219" cy="244259"/>
          </a:xfrm>
          <a:prstGeom prst="rect">
            <a:avLst/>
          </a:prstGeom>
        </p:spPr>
        <p:txBody>
          <a:bodyPr lIns="0" tIns="0" rIns="0" bIns="0" rtlCol="0" anchor="t">
            <a:spAutoFit/>
          </a:bodyPr>
          <a:lstStyle/>
          <a:p>
            <a:pPr marL="0" lvl="0" indent="0" algn="ctr">
              <a:lnSpc>
                <a:spcPts val="1723"/>
              </a:lnSpc>
            </a:pPr>
            <a:r>
              <a:rPr lang="en-US" sz="2076" b="1">
                <a:solidFill>
                  <a:srgbClr val="001E3A"/>
                </a:solidFill>
                <a:latin typeface="Garet Ultra-Bold"/>
                <a:ea typeface="Garet Ultra-Bold"/>
                <a:cs typeface="Garet Ultra-Bold"/>
                <a:sym typeface="Garet Ultra-Bold"/>
              </a:rPr>
              <a:t>12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2046665"/>
            <a:ext cx="14168470" cy="1009861"/>
          </a:xfrm>
          <a:prstGeom prst="rect">
            <a:avLst/>
          </a:prstGeom>
        </p:spPr>
        <p:txBody>
          <a:bodyPr lIns="0" tIns="0" rIns="0" bIns="0" rtlCol="0" anchor="t">
            <a:spAutoFit/>
          </a:bodyPr>
          <a:lstStyle/>
          <a:p>
            <a:pPr marL="0" lvl="0" indent="0" algn="l">
              <a:lnSpc>
                <a:spcPts val="7238"/>
              </a:lnSpc>
            </a:pPr>
            <a:r>
              <a:rPr lang="en-US" sz="8720" b="1" dirty="0">
                <a:solidFill>
                  <a:srgbClr val="001E3A"/>
                </a:solidFill>
                <a:latin typeface="Garet Ultra-Bold"/>
                <a:ea typeface="Garet Ultra-Bold"/>
                <a:cs typeface="Garet Ultra-Bold"/>
                <a:sym typeface="Garet Ultra-Bold"/>
              </a:rPr>
              <a:t>Frontend Design Details</a:t>
            </a:r>
          </a:p>
        </p:txBody>
      </p:sp>
      <p:sp>
        <p:nvSpPr>
          <p:cNvPr id="11" name="TextBox 11"/>
          <p:cNvSpPr txBox="1"/>
          <p:nvPr/>
        </p:nvSpPr>
        <p:spPr>
          <a:xfrm>
            <a:off x="2059765" y="4209788"/>
            <a:ext cx="14168470" cy="3936763"/>
          </a:xfrm>
          <a:prstGeom prst="rect">
            <a:avLst/>
          </a:prstGeom>
        </p:spPr>
        <p:txBody>
          <a:bodyPr lIns="0" tIns="0" rIns="0" bIns="0" rtlCol="0" anchor="t">
            <a:spAutoFit/>
          </a:bodyPr>
          <a:lstStyle/>
          <a:p>
            <a:pPr marL="0" lvl="0" indent="0" algn="l">
              <a:lnSpc>
                <a:spcPts val="3513"/>
              </a:lnSpc>
            </a:pPr>
            <a:r>
              <a:rPr lang="en-US" sz="2509" dirty="0">
                <a:solidFill>
                  <a:srgbClr val="001E3A"/>
                </a:solidFill>
                <a:latin typeface="Garet"/>
                <a:ea typeface="Garet"/>
                <a:cs typeface="Garet"/>
                <a:sym typeface="Garet"/>
              </a:rPr>
              <a:t>The mobile application leverages React Native with Expo to maintain a single codebase for both Android and iOS platforms, significantly reducing development time and ensuring consistent user experience. For performance-critical network measurements requiring direct hardware access, native modules are implemented in Kotlin (Android) and Swift (iOS). On Android, </a:t>
            </a:r>
            <a:r>
              <a:rPr lang="en-US" sz="2509" dirty="0" err="1">
                <a:solidFill>
                  <a:srgbClr val="001E3A"/>
                </a:solidFill>
                <a:latin typeface="Garet"/>
                <a:ea typeface="Garet"/>
                <a:cs typeface="Garet"/>
                <a:sym typeface="Garet"/>
              </a:rPr>
              <a:t>WorkManager</a:t>
            </a:r>
            <a:r>
              <a:rPr lang="en-US" sz="2509" dirty="0">
                <a:solidFill>
                  <a:srgbClr val="001E3A"/>
                </a:solidFill>
                <a:latin typeface="Garet"/>
                <a:ea typeface="Garet"/>
                <a:cs typeface="Garet"/>
                <a:sym typeface="Garet"/>
              </a:rPr>
              <a:t> handles background task scheduling for continuous data collection, while Room provides robust local database storage. The architecture follows an offline-first approach, storing collected QoE data locally and synchronizing with the backend when connectivity is available, ensuring no data loss during network disruptions.</a:t>
            </a:r>
          </a:p>
        </p:txBody>
      </p:sp>
      <p:sp>
        <p:nvSpPr>
          <p:cNvPr id="12" name="TextBox 12"/>
          <p:cNvSpPr txBox="1"/>
          <p:nvPr/>
        </p:nvSpPr>
        <p:spPr>
          <a:xfrm>
            <a:off x="14250620" y="9229725"/>
            <a:ext cx="1865504" cy="208643"/>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University of Buea</a:t>
            </a:r>
          </a:p>
        </p:txBody>
      </p:sp>
      <p:sp>
        <p:nvSpPr>
          <p:cNvPr id="13" name="TextBox 13"/>
          <p:cNvSpPr txBox="1"/>
          <p:nvPr/>
        </p:nvSpPr>
        <p:spPr>
          <a:xfrm>
            <a:off x="14250620" y="9443214"/>
            <a:ext cx="3008680" cy="230955"/>
          </a:xfrm>
          <a:prstGeom prst="rect">
            <a:avLst/>
          </a:prstGeom>
        </p:spPr>
        <p:txBody>
          <a:bodyPr lIns="0" tIns="0" rIns="0" bIns="0" rtlCol="0" anchor="t">
            <a:spAutoFit/>
          </a:bodyPr>
          <a:lstStyle/>
          <a:p>
            <a:pPr marL="0" lvl="0" indent="0" algn="l">
              <a:lnSpc>
                <a:spcPts val="1977"/>
              </a:lnSpc>
            </a:pPr>
            <a:r>
              <a:rPr lang="en-US" sz="1412">
                <a:solidFill>
                  <a:srgbClr val="001E3A"/>
                </a:solidFill>
                <a:latin typeface="Garet"/>
                <a:ea typeface="Garet"/>
                <a:cs typeface="Garet"/>
                <a:sym typeface="Garet"/>
              </a:rPr>
              <a:t>CEF440 – Group 5</a:t>
            </a:r>
          </a:p>
        </p:txBody>
      </p:sp>
      <p:sp>
        <p:nvSpPr>
          <p:cNvPr id="14" name="TextBox 14"/>
          <p:cNvSpPr txBox="1"/>
          <p:nvPr/>
        </p:nvSpPr>
        <p:spPr>
          <a:xfrm>
            <a:off x="13691401" y="9324975"/>
            <a:ext cx="559219" cy="252095"/>
          </a:xfrm>
          <a:prstGeom prst="rect">
            <a:avLst/>
          </a:prstGeom>
        </p:spPr>
        <p:txBody>
          <a:bodyPr lIns="0" tIns="0" rIns="0" bIns="0" rtlCol="0" anchor="t">
            <a:spAutoFit/>
          </a:bodyPr>
          <a:lstStyle/>
          <a:p>
            <a:pPr marL="0" lvl="0" indent="0" algn="ctr">
              <a:lnSpc>
                <a:spcPts val="1736"/>
              </a:lnSpc>
            </a:pPr>
            <a:r>
              <a:rPr lang="en-US" sz="2091" b="1">
                <a:solidFill>
                  <a:srgbClr val="001E3A"/>
                </a:solidFill>
                <a:latin typeface="Garet Ultra-Bold"/>
                <a:ea typeface="Garet Ultra-Bold"/>
                <a:cs typeface="Garet Ultra-Bold"/>
                <a:sym typeface="Garet Ultra-Bold"/>
              </a:rPr>
              <a:t>13</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2433971"/>
            <a:ext cx="14168470" cy="1034941"/>
          </a:xfrm>
          <a:prstGeom prst="rect">
            <a:avLst/>
          </a:prstGeom>
        </p:spPr>
        <p:txBody>
          <a:bodyPr lIns="0" tIns="0" rIns="0" bIns="0" rtlCol="0" anchor="t">
            <a:spAutoFit/>
          </a:bodyPr>
          <a:lstStyle/>
          <a:p>
            <a:pPr marL="0" lvl="0" indent="0" algn="l">
              <a:lnSpc>
                <a:spcPts val="7344"/>
              </a:lnSpc>
            </a:pPr>
            <a:r>
              <a:rPr lang="en-US" sz="8849" b="1">
                <a:solidFill>
                  <a:srgbClr val="001E3A"/>
                </a:solidFill>
                <a:latin typeface="Garet Ultra-Bold"/>
                <a:ea typeface="Garet Ultra-Bold"/>
                <a:cs typeface="Garet Ultra-Bold"/>
                <a:sym typeface="Garet Ultra-Bold"/>
              </a:rPr>
              <a:t>Backend Design Details</a:t>
            </a:r>
          </a:p>
        </p:txBody>
      </p:sp>
      <p:sp>
        <p:nvSpPr>
          <p:cNvPr id="11" name="TextBox 11"/>
          <p:cNvSpPr txBox="1"/>
          <p:nvPr/>
        </p:nvSpPr>
        <p:spPr>
          <a:xfrm>
            <a:off x="2059765" y="4228838"/>
            <a:ext cx="14168470" cy="3704932"/>
          </a:xfrm>
          <a:prstGeom prst="rect">
            <a:avLst/>
          </a:prstGeom>
        </p:spPr>
        <p:txBody>
          <a:bodyPr lIns="0" tIns="0" rIns="0" bIns="0" rtlCol="0" anchor="t">
            <a:spAutoFit/>
          </a:bodyPr>
          <a:lstStyle/>
          <a:p>
            <a:pPr marL="0" lvl="0" indent="0" algn="l">
              <a:lnSpc>
                <a:spcPts val="3691"/>
              </a:lnSpc>
            </a:pPr>
            <a:r>
              <a:rPr lang="en-US" sz="2636">
                <a:solidFill>
                  <a:srgbClr val="001E3A"/>
                </a:solidFill>
                <a:latin typeface="Garet"/>
                <a:ea typeface="Garet"/>
                <a:cs typeface="Garet"/>
                <a:sym typeface="Garet"/>
              </a:rPr>
              <a:t>The backend infrastructure leverages Node.js with Express framework, providing a lightweight, event-driven architecture ideal for handling RESTful APIs. This stack efficiently manages receiving, validating, and processing QoE/QoS data submitted by mobile clients. MongoDB serves as the primary database, offering horizontal scalability and flexible schema design for diverse telemetry data. Importantly, the backend does NOT perform network speed tests—these measurements are conducted exclusively on the client device to ensure accuracy. The server focuses on data aggregation, storage, and providing endpoints for dashboard analytics.</a:t>
            </a:r>
          </a:p>
        </p:txBody>
      </p:sp>
      <p:sp>
        <p:nvSpPr>
          <p:cNvPr id="12" name="TextBox 12"/>
          <p:cNvSpPr txBox="1"/>
          <p:nvPr/>
        </p:nvSpPr>
        <p:spPr>
          <a:xfrm>
            <a:off x="14250620" y="9229725"/>
            <a:ext cx="1865504" cy="217453"/>
          </a:xfrm>
          <a:prstGeom prst="rect">
            <a:avLst/>
          </a:prstGeom>
        </p:spPr>
        <p:txBody>
          <a:bodyPr lIns="0" tIns="0" rIns="0" bIns="0" rtlCol="0" anchor="t">
            <a:spAutoFit/>
          </a:bodyPr>
          <a:lstStyle/>
          <a:p>
            <a:pPr marL="0" lvl="0" indent="0" algn="l">
              <a:lnSpc>
                <a:spcPts val="1765"/>
              </a:lnSpc>
            </a:pPr>
            <a:r>
              <a:rPr lang="en-US" sz="1260">
                <a:solidFill>
                  <a:srgbClr val="001E3A"/>
                </a:solidFill>
                <a:latin typeface="Garet"/>
                <a:ea typeface="Garet"/>
                <a:cs typeface="Garet"/>
                <a:sym typeface="Garet"/>
              </a:rPr>
              <a:t>University of Buea</a:t>
            </a:r>
          </a:p>
        </p:txBody>
      </p:sp>
      <p:sp>
        <p:nvSpPr>
          <p:cNvPr id="13" name="TextBox 13"/>
          <p:cNvSpPr txBox="1"/>
          <p:nvPr/>
        </p:nvSpPr>
        <p:spPr>
          <a:xfrm>
            <a:off x="14250620" y="9433689"/>
            <a:ext cx="3008680" cy="250848"/>
          </a:xfrm>
          <a:prstGeom prst="rect">
            <a:avLst/>
          </a:prstGeom>
        </p:spPr>
        <p:txBody>
          <a:bodyPr lIns="0" tIns="0" rIns="0" bIns="0" rtlCol="0" anchor="t">
            <a:spAutoFit/>
          </a:bodyPr>
          <a:lstStyle/>
          <a:p>
            <a:pPr marL="0" lvl="0" indent="0" algn="l">
              <a:lnSpc>
                <a:spcPts val="2077"/>
              </a:lnSpc>
            </a:pPr>
            <a:r>
              <a:rPr lang="en-US" sz="1483">
                <a:solidFill>
                  <a:srgbClr val="001E3A"/>
                </a:solidFill>
                <a:latin typeface="Garet"/>
                <a:ea typeface="Garet"/>
                <a:cs typeface="Garet"/>
                <a:sym typeface="Garet"/>
              </a:rPr>
              <a:t>CEF440 – Group 5</a:t>
            </a:r>
          </a:p>
        </p:txBody>
      </p:sp>
      <p:sp>
        <p:nvSpPr>
          <p:cNvPr id="14" name="TextBox 14"/>
          <p:cNvSpPr txBox="1"/>
          <p:nvPr/>
        </p:nvSpPr>
        <p:spPr>
          <a:xfrm>
            <a:off x="13691401" y="9334500"/>
            <a:ext cx="559219" cy="244016"/>
          </a:xfrm>
          <a:prstGeom prst="rect">
            <a:avLst/>
          </a:prstGeom>
        </p:spPr>
        <p:txBody>
          <a:bodyPr lIns="0" tIns="0" rIns="0" bIns="0" rtlCol="0" anchor="t">
            <a:spAutoFit/>
          </a:bodyPr>
          <a:lstStyle/>
          <a:p>
            <a:pPr marL="0" lvl="0" indent="0" algn="ctr">
              <a:lnSpc>
                <a:spcPts val="1761"/>
              </a:lnSpc>
            </a:pPr>
            <a:r>
              <a:rPr lang="en-US" sz="2122" b="1">
                <a:solidFill>
                  <a:srgbClr val="001E3A"/>
                </a:solidFill>
                <a:latin typeface="Garet Ultra-Bold"/>
                <a:ea typeface="Garet Ultra-Bold"/>
                <a:cs typeface="Garet Ultra-Bold"/>
                <a:sym typeface="Garet Ultra-Bold"/>
              </a:rPr>
              <a:t>14</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2386346"/>
            <a:ext cx="14168470" cy="1585197"/>
          </a:xfrm>
          <a:prstGeom prst="rect">
            <a:avLst/>
          </a:prstGeom>
        </p:spPr>
        <p:txBody>
          <a:bodyPr lIns="0" tIns="0" rIns="0" bIns="0" rtlCol="0" anchor="t">
            <a:spAutoFit/>
          </a:bodyPr>
          <a:lstStyle/>
          <a:p>
            <a:pPr marL="0" lvl="0" indent="0" algn="l">
              <a:lnSpc>
                <a:spcPts val="5960"/>
              </a:lnSpc>
            </a:pPr>
            <a:r>
              <a:rPr lang="en-US" sz="7180" b="1">
                <a:solidFill>
                  <a:srgbClr val="001E3A"/>
                </a:solidFill>
                <a:latin typeface="Garet Ultra-Bold"/>
                <a:ea typeface="Garet Ultra-Bold"/>
                <a:cs typeface="Garet Ultra-Bold"/>
                <a:sym typeface="Garet Ultra-Bold"/>
              </a:rPr>
              <a:t>Security and Privacy Measures</a:t>
            </a:r>
          </a:p>
        </p:txBody>
      </p:sp>
      <p:sp>
        <p:nvSpPr>
          <p:cNvPr id="11" name="TextBox 11"/>
          <p:cNvSpPr txBox="1"/>
          <p:nvPr/>
        </p:nvSpPr>
        <p:spPr>
          <a:xfrm>
            <a:off x="4463329" y="4219313"/>
            <a:ext cx="10552228" cy="1847183"/>
          </a:xfrm>
          <a:prstGeom prst="rect">
            <a:avLst/>
          </a:prstGeom>
        </p:spPr>
        <p:txBody>
          <a:bodyPr lIns="0" tIns="0" rIns="0" bIns="0" rtlCol="0" anchor="t">
            <a:spAutoFit/>
          </a:bodyPr>
          <a:lstStyle/>
          <a:p>
            <a:pPr marL="0" lvl="0" indent="0" algn="l">
              <a:lnSpc>
                <a:spcPts val="3711"/>
              </a:lnSpc>
            </a:pPr>
            <a:r>
              <a:rPr lang="en-US" sz="2651">
                <a:solidFill>
                  <a:srgbClr val="001E3A"/>
                </a:solidFill>
                <a:latin typeface="Garet"/>
                <a:ea typeface="Garet"/>
                <a:cs typeface="Garet"/>
                <a:sym typeface="Garet"/>
              </a:rPr>
              <a:t>HTTPS Encryption: All data transmission between the mobile app and backend servers uses secure HTTPS protocols, ensuring end-to-end encryption and protection against interception or man-in-the-middle attacks.</a:t>
            </a:r>
          </a:p>
        </p:txBody>
      </p:sp>
      <p:grpSp>
        <p:nvGrpSpPr>
          <p:cNvPr id="12" name="Group 12"/>
          <p:cNvGrpSpPr/>
          <p:nvPr/>
        </p:nvGrpSpPr>
        <p:grpSpPr>
          <a:xfrm>
            <a:off x="3272443" y="4266938"/>
            <a:ext cx="876562" cy="876562"/>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4" name="TextBox 1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5" name="TextBox 15"/>
          <p:cNvSpPr txBox="1"/>
          <p:nvPr/>
        </p:nvSpPr>
        <p:spPr>
          <a:xfrm>
            <a:off x="4463329" y="6420425"/>
            <a:ext cx="10552228" cy="2313908"/>
          </a:xfrm>
          <a:prstGeom prst="rect">
            <a:avLst/>
          </a:prstGeom>
        </p:spPr>
        <p:txBody>
          <a:bodyPr lIns="0" tIns="0" rIns="0" bIns="0" rtlCol="0" anchor="t">
            <a:spAutoFit/>
          </a:bodyPr>
          <a:lstStyle/>
          <a:p>
            <a:pPr marL="0" lvl="0" indent="0" algn="l">
              <a:lnSpc>
                <a:spcPts val="3711"/>
              </a:lnSpc>
            </a:pPr>
            <a:r>
              <a:rPr lang="en-US" sz="2651">
                <a:solidFill>
                  <a:srgbClr val="001E3A"/>
                </a:solidFill>
                <a:latin typeface="Garet"/>
                <a:ea typeface="Garet"/>
                <a:cs typeface="Garet"/>
                <a:sym typeface="Garet"/>
              </a:rPr>
              <a:t>Data Anonymization: User identities are protected through anonymization techniques. Personal identifiers are stripped from collected QoE data, with strict permission handling and transparent communication about data usage and user controls.</a:t>
            </a:r>
          </a:p>
        </p:txBody>
      </p:sp>
      <p:grpSp>
        <p:nvGrpSpPr>
          <p:cNvPr id="16" name="Group 16"/>
          <p:cNvGrpSpPr/>
          <p:nvPr/>
        </p:nvGrpSpPr>
        <p:grpSpPr>
          <a:xfrm>
            <a:off x="3272443" y="6468050"/>
            <a:ext cx="876562" cy="876562"/>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8" name="TextBox 18"/>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9" name="TextBox 19"/>
          <p:cNvSpPr txBox="1"/>
          <p:nvPr/>
        </p:nvSpPr>
        <p:spPr>
          <a:xfrm>
            <a:off x="14250620" y="9229725"/>
            <a:ext cx="1865504" cy="220725"/>
          </a:xfrm>
          <a:prstGeom prst="rect">
            <a:avLst/>
          </a:prstGeom>
        </p:spPr>
        <p:txBody>
          <a:bodyPr lIns="0" tIns="0" rIns="0" bIns="0" rtlCol="0" anchor="t">
            <a:spAutoFit/>
          </a:bodyPr>
          <a:lstStyle/>
          <a:p>
            <a:pPr marL="0" lvl="0" indent="0" algn="l">
              <a:lnSpc>
                <a:spcPts val="1775"/>
              </a:lnSpc>
            </a:pPr>
            <a:r>
              <a:rPr lang="en-US" sz="1267">
                <a:solidFill>
                  <a:srgbClr val="001E3A"/>
                </a:solidFill>
                <a:latin typeface="Garet"/>
                <a:ea typeface="Garet"/>
                <a:cs typeface="Garet"/>
                <a:sym typeface="Garet"/>
              </a:rPr>
              <a:t>University of Buea</a:t>
            </a:r>
          </a:p>
        </p:txBody>
      </p:sp>
      <p:sp>
        <p:nvSpPr>
          <p:cNvPr id="20" name="TextBox 20"/>
          <p:cNvSpPr txBox="1"/>
          <p:nvPr/>
        </p:nvSpPr>
        <p:spPr>
          <a:xfrm>
            <a:off x="14250620" y="9433689"/>
            <a:ext cx="3008680" cy="254699"/>
          </a:xfrm>
          <a:prstGeom prst="rect">
            <a:avLst/>
          </a:prstGeom>
        </p:spPr>
        <p:txBody>
          <a:bodyPr lIns="0" tIns="0" rIns="0" bIns="0" rtlCol="0" anchor="t">
            <a:spAutoFit/>
          </a:bodyPr>
          <a:lstStyle/>
          <a:p>
            <a:pPr marL="0" lvl="0" indent="0" algn="l">
              <a:lnSpc>
                <a:spcPts val="2088"/>
              </a:lnSpc>
            </a:pPr>
            <a:r>
              <a:rPr lang="en-US" sz="1492">
                <a:solidFill>
                  <a:srgbClr val="001E3A"/>
                </a:solidFill>
                <a:latin typeface="Garet"/>
                <a:ea typeface="Garet"/>
                <a:cs typeface="Garet"/>
                <a:sym typeface="Garet"/>
              </a:rPr>
              <a:t>CEF440 – Group 5</a:t>
            </a:r>
          </a:p>
        </p:txBody>
      </p:sp>
      <p:sp>
        <p:nvSpPr>
          <p:cNvPr id="21" name="TextBox 21"/>
          <p:cNvSpPr txBox="1"/>
          <p:nvPr/>
        </p:nvSpPr>
        <p:spPr>
          <a:xfrm>
            <a:off x="13691401" y="9315450"/>
            <a:ext cx="559219" cy="201590"/>
          </a:xfrm>
          <a:prstGeom prst="rect">
            <a:avLst/>
          </a:prstGeom>
        </p:spPr>
        <p:txBody>
          <a:bodyPr lIns="0" tIns="0" rIns="0" bIns="0" rtlCol="0" anchor="t">
            <a:spAutoFit/>
          </a:bodyPr>
          <a:lstStyle/>
          <a:p>
            <a:pPr marL="0" lvl="0" indent="0" algn="ctr">
              <a:lnSpc>
                <a:spcPts val="1429"/>
              </a:lnSpc>
            </a:pPr>
            <a:r>
              <a:rPr lang="en-US" sz="1722" b="1">
                <a:solidFill>
                  <a:srgbClr val="001E3A"/>
                </a:solidFill>
                <a:latin typeface="Garet Ultra-Bold"/>
                <a:ea typeface="Garet Ultra-Bold"/>
                <a:cs typeface="Garet Ultra-Bold"/>
                <a:sym typeface="Garet Ultra-Bold"/>
              </a:rPr>
              <a:t>15</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2567321"/>
            <a:ext cx="14168470" cy="1423341"/>
          </a:xfrm>
          <a:prstGeom prst="rect">
            <a:avLst/>
          </a:prstGeom>
        </p:spPr>
        <p:txBody>
          <a:bodyPr lIns="0" tIns="0" rIns="0" bIns="0" rtlCol="0" anchor="t">
            <a:spAutoFit/>
          </a:bodyPr>
          <a:lstStyle/>
          <a:p>
            <a:pPr marL="0" lvl="0" indent="0" algn="l">
              <a:lnSpc>
                <a:spcPts val="10167"/>
              </a:lnSpc>
            </a:pPr>
            <a:r>
              <a:rPr lang="en-US" sz="12249" b="1">
                <a:solidFill>
                  <a:srgbClr val="001E3A"/>
                </a:solidFill>
                <a:latin typeface="Garet Ultra-Bold"/>
                <a:ea typeface="Garet Ultra-Bold"/>
                <a:cs typeface="Garet Ultra-Bold"/>
                <a:sym typeface="Garet Ultra-Bold"/>
              </a:rPr>
              <a:t>Conclusion</a:t>
            </a:r>
          </a:p>
        </p:txBody>
      </p:sp>
      <p:sp>
        <p:nvSpPr>
          <p:cNvPr id="11" name="TextBox 11"/>
          <p:cNvSpPr txBox="1"/>
          <p:nvPr/>
        </p:nvSpPr>
        <p:spPr>
          <a:xfrm>
            <a:off x="2059765" y="4209788"/>
            <a:ext cx="14168470" cy="3936763"/>
          </a:xfrm>
          <a:prstGeom prst="rect">
            <a:avLst/>
          </a:prstGeom>
        </p:spPr>
        <p:txBody>
          <a:bodyPr lIns="0" tIns="0" rIns="0" bIns="0" rtlCol="0" anchor="t">
            <a:spAutoFit/>
          </a:bodyPr>
          <a:lstStyle/>
          <a:p>
            <a:pPr marL="0" lvl="0" indent="0" algn="l">
              <a:lnSpc>
                <a:spcPts val="3513"/>
              </a:lnSpc>
            </a:pPr>
            <a:r>
              <a:rPr lang="en-US" sz="2509">
                <a:solidFill>
                  <a:srgbClr val="001E3A"/>
                </a:solidFill>
                <a:latin typeface="Garet"/>
                <a:ea typeface="Garet"/>
                <a:cs typeface="Garet"/>
                <a:sym typeface="Garet"/>
              </a:rPr>
              <a:t>Our requirements analysis has yielded a balanced technology stack that aligns with user needs and technical constraints. The client-server architecture supports accurate QoE/QoS data collection while ensuring performance and scalability for network operators in Cameroon. Our user-centric design approach addresses critical concerns including privacy transparency, intuitive usability, and long-term motivation through tangible benefits. With React Native for cross-platform development, native modules for precise measurements, and a robust Node.js backend, we have established a solid foundation for successful system implementation that will bridge the gap between objective network metrics and real user experience feedback.</a:t>
            </a:r>
          </a:p>
        </p:txBody>
      </p:sp>
      <p:sp>
        <p:nvSpPr>
          <p:cNvPr id="12" name="TextBox 12"/>
          <p:cNvSpPr txBox="1"/>
          <p:nvPr/>
        </p:nvSpPr>
        <p:spPr>
          <a:xfrm>
            <a:off x="14250620" y="9229725"/>
            <a:ext cx="1865504" cy="208643"/>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University of Buea</a:t>
            </a:r>
          </a:p>
        </p:txBody>
      </p:sp>
      <p:sp>
        <p:nvSpPr>
          <p:cNvPr id="13" name="TextBox 13"/>
          <p:cNvSpPr txBox="1"/>
          <p:nvPr/>
        </p:nvSpPr>
        <p:spPr>
          <a:xfrm>
            <a:off x="14250620" y="9443214"/>
            <a:ext cx="3008680" cy="230955"/>
          </a:xfrm>
          <a:prstGeom prst="rect">
            <a:avLst/>
          </a:prstGeom>
        </p:spPr>
        <p:txBody>
          <a:bodyPr lIns="0" tIns="0" rIns="0" bIns="0" rtlCol="0" anchor="t">
            <a:spAutoFit/>
          </a:bodyPr>
          <a:lstStyle/>
          <a:p>
            <a:pPr marL="0" lvl="0" indent="0" algn="l">
              <a:lnSpc>
                <a:spcPts val="1977"/>
              </a:lnSpc>
            </a:pPr>
            <a:r>
              <a:rPr lang="en-US" sz="1412">
                <a:solidFill>
                  <a:srgbClr val="001E3A"/>
                </a:solidFill>
                <a:latin typeface="Garet"/>
                <a:ea typeface="Garet"/>
                <a:cs typeface="Garet"/>
                <a:sym typeface="Garet"/>
              </a:rPr>
              <a:t>CEF440 – Group 5</a:t>
            </a:r>
          </a:p>
        </p:txBody>
      </p:sp>
      <p:sp>
        <p:nvSpPr>
          <p:cNvPr id="14" name="TextBox 14"/>
          <p:cNvSpPr txBox="1"/>
          <p:nvPr/>
        </p:nvSpPr>
        <p:spPr>
          <a:xfrm>
            <a:off x="13691401" y="9363075"/>
            <a:ext cx="559219" cy="339118"/>
          </a:xfrm>
          <a:prstGeom prst="rect">
            <a:avLst/>
          </a:prstGeom>
        </p:spPr>
        <p:txBody>
          <a:bodyPr lIns="0" tIns="0" rIns="0" bIns="0" rtlCol="0" anchor="t">
            <a:spAutoFit/>
          </a:bodyPr>
          <a:lstStyle/>
          <a:p>
            <a:pPr marL="0" lvl="0" indent="0" algn="ctr">
              <a:lnSpc>
                <a:spcPts val="2438"/>
              </a:lnSpc>
            </a:pPr>
            <a:r>
              <a:rPr lang="en-US" sz="2938" b="1">
                <a:solidFill>
                  <a:srgbClr val="001E3A"/>
                </a:solidFill>
                <a:latin typeface="Garet Ultra-Bold"/>
                <a:ea typeface="Garet Ultra-Bold"/>
                <a:cs typeface="Garet Ultra-Bold"/>
                <a:sym typeface="Garet Ultra-Bold"/>
              </a:rPr>
              <a:t>16</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42BB0-0BFD-0E3F-802F-CE6972C715E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FCBC31FD-BA4C-EB8C-B6AC-D05EEE583C49}"/>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04264793-2765-0F4B-6C38-4903BD26461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78930CCF-808D-4A00-C3FE-B70116513E79}"/>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BAB5D676-4CE8-E54F-2614-FBAA72E5CA26}"/>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472A3F15-9365-8141-3458-AFF55E51972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02ABF2FE-0AFC-34C1-B2D4-DD70148FDBA8}"/>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a:extLst>
              <a:ext uri="{FF2B5EF4-FFF2-40B4-BE49-F238E27FC236}">
                <a16:creationId xmlns:a16="http://schemas.microsoft.com/office/drawing/2014/main" id="{8DA1A786-BA01-710B-5983-08047800B547}"/>
              </a:ext>
            </a:extLst>
          </p:cNvPr>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a:extLst>
              <a:ext uri="{FF2B5EF4-FFF2-40B4-BE49-F238E27FC236}">
                <a16:creationId xmlns:a16="http://schemas.microsoft.com/office/drawing/2014/main" id="{6D556368-572F-FCF9-15DD-5F208BD088F1}"/>
              </a:ext>
            </a:extLst>
          </p:cNvPr>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a:extLst>
              <a:ext uri="{FF2B5EF4-FFF2-40B4-BE49-F238E27FC236}">
                <a16:creationId xmlns:a16="http://schemas.microsoft.com/office/drawing/2014/main" id="{04897C2B-4A49-07D9-4CC4-5D96488CAAEC}"/>
              </a:ext>
            </a:extLst>
          </p:cNvPr>
          <p:cNvSpPr txBox="1"/>
          <p:nvPr/>
        </p:nvSpPr>
        <p:spPr>
          <a:xfrm>
            <a:off x="5286081" y="3893464"/>
            <a:ext cx="7715839" cy="3027077"/>
          </a:xfrm>
          <a:prstGeom prst="rect">
            <a:avLst/>
          </a:prstGeom>
        </p:spPr>
        <p:txBody>
          <a:bodyPr lIns="0" tIns="0" rIns="0" bIns="0" rtlCol="0" anchor="t">
            <a:spAutoFit/>
          </a:bodyPr>
          <a:lstStyle/>
          <a:p>
            <a:pPr marL="0" lvl="0" indent="0" algn="ctr">
              <a:lnSpc>
                <a:spcPts val="7706"/>
              </a:lnSpc>
            </a:pPr>
            <a:r>
              <a:rPr lang="en-US" sz="9284" b="1">
                <a:solidFill>
                  <a:srgbClr val="001E3A"/>
                </a:solidFill>
                <a:latin typeface="Garet Ultra-Bold"/>
                <a:ea typeface="Garet Ultra-Bold"/>
                <a:cs typeface="Garet Ultra-Bold"/>
                <a:sym typeface="Garet Ultra-Bold"/>
              </a:rPr>
              <a:t>Thank You</a:t>
            </a:r>
          </a:p>
          <a:p>
            <a:pPr marL="0" lvl="0" indent="0" algn="ctr">
              <a:lnSpc>
                <a:spcPts val="7706"/>
              </a:lnSpc>
            </a:pPr>
            <a:r>
              <a:rPr lang="en-US" sz="9284" b="1">
                <a:solidFill>
                  <a:srgbClr val="001E3A"/>
                </a:solidFill>
                <a:latin typeface="Garet Ultra-Bold"/>
                <a:ea typeface="Garet Ultra-Bold"/>
                <a:cs typeface="Garet Ultra-Bold"/>
                <a:sym typeface="Garet Ultra-Bold"/>
              </a:rPr>
              <a:t>For Your Attention</a:t>
            </a:r>
          </a:p>
        </p:txBody>
      </p:sp>
      <p:sp>
        <p:nvSpPr>
          <p:cNvPr id="11" name="TextBox 11">
            <a:extLst>
              <a:ext uri="{FF2B5EF4-FFF2-40B4-BE49-F238E27FC236}">
                <a16:creationId xmlns:a16="http://schemas.microsoft.com/office/drawing/2014/main" id="{4CA8CAD6-B55B-C2BC-1435-2BC96B5F813F}"/>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2" name="TextBox 12">
            <a:extLst>
              <a:ext uri="{FF2B5EF4-FFF2-40B4-BE49-F238E27FC236}">
                <a16:creationId xmlns:a16="http://schemas.microsoft.com/office/drawing/2014/main" id="{1E24E0B3-C87B-6251-7305-6A9E9F83261D}"/>
              </a:ext>
            </a:extLst>
          </p:cNvPr>
          <p:cNvSpPr txBox="1"/>
          <p:nvPr/>
        </p:nvSpPr>
        <p:spPr>
          <a:xfrm>
            <a:off x="14250620" y="9433689"/>
            <a:ext cx="3008680" cy="631746"/>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GitHub: github.com/BrayanMorningstar237/CEF440_Group5</a:t>
            </a:r>
          </a:p>
        </p:txBody>
      </p:sp>
      <p:sp>
        <p:nvSpPr>
          <p:cNvPr id="13" name="TextBox 13">
            <a:extLst>
              <a:ext uri="{FF2B5EF4-FFF2-40B4-BE49-F238E27FC236}">
                <a16:creationId xmlns:a16="http://schemas.microsoft.com/office/drawing/2014/main" id="{D5727E3E-08F8-678C-FE92-70F99675AED7}"/>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Tree>
    <p:extLst>
      <p:ext uri="{BB962C8B-B14F-4D97-AF65-F5344CB8AC3E}">
        <p14:creationId xmlns:p14="http://schemas.microsoft.com/office/powerpoint/2010/main" val="2388544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1690</TotalTime>
  <Words>3310</Words>
  <Application>Microsoft Office PowerPoint</Application>
  <PresentationFormat>Custom</PresentationFormat>
  <Paragraphs>344</Paragraphs>
  <Slides>54</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54</vt:i4>
      </vt:variant>
    </vt:vector>
  </HeadingPairs>
  <TitlesOfParts>
    <vt:vector size="62" baseType="lpstr">
      <vt:lpstr>Wingdings</vt:lpstr>
      <vt:lpstr>Calibri</vt:lpstr>
      <vt:lpstr>Garet Ultra-Bold</vt:lpstr>
      <vt:lpstr>Google Sans</vt:lpstr>
      <vt:lpstr>Garet</vt: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Mobile QoE Data Collection App Design</dc:title>
  <cp:lastModifiedBy>HP-USER PC</cp:lastModifiedBy>
  <cp:revision>18</cp:revision>
  <dcterms:created xsi:type="dcterms:W3CDTF">2006-08-16T00:00:00Z</dcterms:created>
  <dcterms:modified xsi:type="dcterms:W3CDTF">2026-04-28T14:26:49Z</dcterms:modified>
  <dc:identifier>DAHH9Ll8hZY</dc:identifier>
</cp:coreProperties>
</file>