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DM Sans Bold" charset="1" panose="00000000000000000000"/>
      <p:regular r:id="rId25"/>
    </p:embeddedFont>
    <p:embeddedFont>
      <p:font typeface="Agrandir Bold" charset="1" panose="00000800000000000000"/>
      <p:regular r:id="rId26"/>
    </p:embeddedFont>
    <p:embeddedFont>
      <p:font typeface="DM Sans" charset="1" panose="00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6585969" y="330832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3912036" y="2694003"/>
            <a:ext cx="10492502" cy="1485825"/>
          </a:xfrm>
          <a:prstGeom prst="rect">
            <a:avLst/>
          </a:prstGeom>
        </p:spPr>
        <p:txBody>
          <a:bodyPr anchor="t" rtlCol="false" tIns="0" lIns="0" bIns="0" rIns="0">
            <a:spAutoFit/>
          </a:bodyPr>
          <a:lstStyle/>
          <a:p>
            <a:pPr algn="ctr" marL="0" indent="0" lvl="0">
              <a:lnSpc>
                <a:spcPts val="5548"/>
              </a:lnSpc>
            </a:pPr>
            <a:r>
              <a:rPr lang="en-US" b="true" sz="6936" spc="-305">
                <a:solidFill>
                  <a:srgbClr val="000000"/>
                </a:solidFill>
                <a:latin typeface="DM Sans Bold"/>
                <a:ea typeface="DM Sans Bold"/>
                <a:cs typeface="DM Sans Bold"/>
                <a:sym typeface="DM Sans Bold"/>
              </a:rPr>
              <a:t>CEF440 – Internet and Mobile Programming</a:t>
            </a:r>
          </a:p>
        </p:txBody>
      </p:sp>
      <p:sp>
        <p:nvSpPr>
          <p:cNvPr name="TextBox 13" id="13"/>
          <p:cNvSpPr txBox="true"/>
          <p:nvPr/>
        </p:nvSpPr>
        <p:spPr>
          <a:xfrm rot="0">
            <a:off x="2447114" y="4285070"/>
            <a:ext cx="13393773" cy="2827637"/>
          </a:xfrm>
          <a:prstGeom prst="rect">
            <a:avLst/>
          </a:prstGeom>
        </p:spPr>
        <p:txBody>
          <a:bodyPr anchor="t" rtlCol="false" tIns="0" lIns="0" bIns="0" rIns="0">
            <a:spAutoFit/>
          </a:bodyPr>
          <a:lstStyle/>
          <a:p>
            <a:pPr algn="ctr" marL="0" indent="0" lvl="0">
              <a:lnSpc>
                <a:spcPts val="6579"/>
              </a:lnSpc>
            </a:pPr>
            <a:r>
              <a:rPr lang="en-US" b="true" sz="8224" spc="-361">
                <a:solidFill>
                  <a:srgbClr val="000000"/>
                </a:solidFill>
                <a:latin typeface="Agrandir Bold"/>
                <a:ea typeface="Agrandir Bold"/>
                <a:cs typeface="Agrandir Bold"/>
                <a:sym typeface="Agrandir Bold"/>
              </a:rPr>
              <a:t>MOBILE APP FOR USER EXPERIENCE DATA COLLECTION</a:t>
            </a:r>
          </a:p>
        </p:txBody>
      </p:sp>
      <p:sp>
        <p:nvSpPr>
          <p:cNvPr name="TextBox 14" id="14"/>
          <p:cNvSpPr txBox="true"/>
          <p:nvPr/>
        </p:nvSpPr>
        <p:spPr>
          <a:xfrm rot="0">
            <a:off x="2750258" y="7363822"/>
            <a:ext cx="13402689" cy="727193"/>
          </a:xfrm>
          <a:prstGeom prst="rect">
            <a:avLst/>
          </a:prstGeom>
        </p:spPr>
        <p:txBody>
          <a:bodyPr anchor="t" rtlCol="false" tIns="0" lIns="0" bIns="0" rIns="0">
            <a:spAutoFit/>
          </a:bodyPr>
          <a:lstStyle/>
          <a:p>
            <a:pPr algn="ctr" marL="0" indent="0" lvl="0">
              <a:lnSpc>
                <a:spcPts val="1704"/>
              </a:lnSpc>
            </a:pPr>
            <a:r>
              <a:rPr lang="en-US" sz="1704" spc="-57">
                <a:solidFill>
                  <a:srgbClr val="000000"/>
                </a:solidFill>
                <a:latin typeface="DM Sans"/>
                <a:ea typeface="DM Sans"/>
                <a:cs typeface="DM Sans"/>
                <a:sym typeface="DM Sans"/>
              </a:rPr>
              <a:t>University of Buea, Faculty of Engineering &amp; Technology</a:t>
            </a:r>
          </a:p>
          <a:p>
            <a:pPr algn="ctr" marL="0" indent="0" lvl="0">
              <a:lnSpc>
                <a:spcPts val="1704"/>
              </a:lnSpc>
            </a:pPr>
          </a:p>
          <a:p>
            <a:pPr algn="ctr" marL="0" indent="0" lvl="0">
              <a:lnSpc>
                <a:spcPts val="2304"/>
              </a:lnSpc>
            </a:pPr>
            <a:r>
              <a:rPr lang="en-US" sz="2304" spc="-78">
                <a:solidFill>
                  <a:srgbClr val="000000"/>
                </a:solidFill>
                <a:latin typeface="DM Sans"/>
                <a:ea typeface="DM Sans"/>
                <a:cs typeface="DM Sans"/>
                <a:sym typeface="DM Sans"/>
              </a:rPr>
              <a:t>Mugha Brayan Aya-ah Ndefru • Ako McPeace Njoh • Eyong Akago Anelka Nelvine • Ngolien Lucy Ethel Libog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4995148" y="1669791"/>
            <a:ext cx="8297704" cy="1183679"/>
          </a:xfrm>
          <a:prstGeom prst="rect">
            <a:avLst/>
          </a:prstGeom>
        </p:spPr>
        <p:txBody>
          <a:bodyPr anchor="t" rtlCol="false" tIns="0" lIns="0" bIns="0" rIns="0">
            <a:spAutoFit/>
          </a:bodyPr>
          <a:lstStyle/>
          <a:p>
            <a:pPr algn="ctr" marL="0" indent="0" lvl="0">
              <a:lnSpc>
                <a:spcPts val="6640"/>
              </a:lnSpc>
            </a:pPr>
            <a:r>
              <a:rPr lang="en-US" b="true" sz="8300" spc="-365">
                <a:solidFill>
                  <a:srgbClr val="000000"/>
                </a:solidFill>
                <a:latin typeface="Agrandir Bold"/>
                <a:ea typeface="Agrandir Bold"/>
                <a:cs typeface="Agrandir Bold"/>
                <a:sym typeface="Agrandir Bold"/>
              </a:rPr>
              <a:t>Problem Context</a:t>
            </a:r>
          </a:p>
        </p:txBody>
      </p:sp>
      <p:sp>
        <p:nvSpPr>
          <p:cNvPr name="TextBox 12" id="12"/>
          <p:cNvSpPr txBox="true"/>
          <p:nvPr/>
        </p:nvSpPr>
        <p:spPr>
          <a:xfrm rot="0">
            <a:off x="3669977" y="6076335"/>
            <a:ext cx="10948045" cy="1407915"/>
          </a:xfrm>
          <a:prstGeom prst="rect">
            <a:avLst/>
          </a:prstGeom>
        </p:spPr>
        <p:txBody>
          <a:bodyPr anchor="t" rtlCol="false" tIns="0" lIns="0" bIns="0" rIns="0">
            <a:spAutoFit/>
          </a:bodyPr>
          <a:lstStyle/>
          <a:p>
            <a:pPr algn="just" marL="0" indent="0" lvl="0">
              <a:lnSpc>
                <a:spcPts val="3773"/>
              </a:lnSpc>
            </a:pPr>
            <a:r>
              <a:rPr lang="en-US" sz="2695" spc="-91">
                <a:solidFill>
                  <a:srgbClr val="000000"/>
                </a:solidFill>
                <a:latin typeface="DM Sans"/>
                <a:ea typeface="DM Sans"/>
                <a:cs typeface="DM Sans"/>
                <a:sym typeface="DM Sans"/>
              </a:rPr>
              <a:t>Mobile operators currently rely on technical QoS metrics, but these fail to capture real user experience (QoE). Despite existing monitoring systems, actual user perceptions of network quality remain unmeasured.</a:t>
            </a:r>
          </a:p>
        </p:txBody>
      </p:sp>
      <p:sp>
        <p:nvSpPr>
          <p:cNvPr name="TextBox 13" id="13"/>
          <p:cNvSpPr txBox="true"/>
          <p:nvPr/>
        </p:nvSpPr>
        <p:spPr>
          <a:xfrm rot="0">
            <a:off x="3595548" y="3730643"/>
            <a:ext cx="11022474" cy="1884165"/>
          </a:xfrm>
          <a:prstGeom prst="rect">
            <a:avLst/>
          </a:prstGeom>
        </p:spPr>
        <p:txBody>
          <a:bodyPr anchor="t" rtlCol="false" tIns="0" lIns="0" bIns="0" rIns="0">
            <a:spAutoFit/>
          </a:bodyPr>
          <a:lstStyle/>
          <a:p>
            <a:pPr algn="just" marL="0" indent="0" lvl="0">
              <a:lnSpc>
                <a:spcPts val="3773"/>
              </a:lnSpc>
            </a:pPr>
            <a:r>
              <a:rPr lang="en-US" sz="2695" spc="-91">
                <a:solidFill>
                  <a:srgbClr val="000000"/>
                </a:solidFill>
                <a:latin typeface="DM Sans"/>
                <a:ea typeface="DM Sans"/>
                <a:cs typeface="DM Sans"/>
                <a:sym typeface="DM Sans"/>
              </a:rPr>
              <a:t>Mobile network subscribers in Cameroon face persistent connectivity challenges: slow internet speeds, unstable connections, weak signal strength, and frequent service interruptions that impact daily communication and productivity.</a:t>
            </a:r>
          </a:p>
        </p:txBody>
      </p:sp>
      <p:sp>
        <p:nvSpPr>
          <p:cNvPr name="Freeform 14" id="14"/>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4995148" y="1650741"/>
            <a:ext cx="8297704" cy="816708"/>
          </a:xfrm>
          <a:prstGeom prst="rect">
            <a:avLst/>
          </a:prstGeom>
        </p:spPr>
        <p:txBody>
          <a:bodyPr anchor="t" rtlCol="false" tIns="0" lIns="0" bIns="0" rIns="0">
            <a:spAutoFit/>
          </a:bodyPr>
          <a:lstStyle/>
          <a:p>
            <a:pPr algn="ctr" marL="0" indent="0" lvl="0">
              <a:lnSpc>
                <a:spcPts val="4611"/>
              </a:lnSpc>
            </a:pPr>
            <a:r>
              <a:rPr lang="en-US" b="true" sz="5764" spc="-253">
                <a:solidFill>
                  <a:srgbClr val="000000"/>
                </a:solidFill>
                <a:latin typeface="Agrandir Bold"/>
                <a:ea typeface="Agrandir Bold"/>
                <a:cs typeface="Agrandir Bold"/>
                <a:sym typeface="Agrandir Bold"/>
              </a:rPr>
              <a:t>Project Objective</a:t>
            </a:r>
          </a:p>
        </p:txBody>
      </p:sp>
      <p:sp>
        <p:nvSpPr>
          <p:cNvPr name="Freeform 12" id="12"/>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2821635" y="4423202"/>
            <a:ext cx="3751571" cy="320136"/>
          </a:xfrm>
          <a:prstGeom prst="rect">
            <a:avLst/>
          </a:prstGeom>
        </p:spPr>
        <p:txBody>
          <a:bodyPr anchor="t" rtlCol="false" tIns="0" lIns="0" bIns="0" rIns="0">
            <a:spAutoFit/>
          </a:bodyPr>
          <a:lstStyle/>
          <a:p>
            <a:pPr algn="l" marL="0" indent="0" lvl="0">
              <a:lnSpc>
                <a:spcPts val="2341"/>
              </a:lnSpc>
            </a:pPr>
            <a:r>
              <a:rPr lang="en-US" b="true" sz="2926" spc="-128">
                <a:solidFill>
                  <a:srgbClr val="000000"/>
                </a:solidFill>
                <a:latin typeface="DM Sans Bold"/>
                <a:ea typeface="DM Sans Bold"/>
                <a:cs typeface="DM Sans Bold"/>
                <a:sym typeface="DM Sans Bold"/>
              </a:rPr>
              <a:t>Objective Data (QoS)</a:t>
            </a:r>
          </a:p>
        </p:txBody>
      </p:sp>
      <p:sp>
        <p:nvSpPr>
          <p:cNvPr name="TextBox 14" id="14"/>
          <p:cNvSpPr txBox="true"/>
          <p:nvPr/>
        </p:nvSpPr>
        <p:spPr>
          <a:xfrm rot="0">
            <a:off x="10181500" y="4423202"/>
            <a:ext cx="3941268" cy="320136"/>
          </a:xfrm>
          <a:prstGeom prst="rect">
            <a:avLst/>
          </a:prstGeom>
        </p:spPr>
        <p:txBody>
          <a:bodyPr anchor="t" rtlCol="false" tIns="0" lIns="0" bIns="0" rIns="0">
            <a:spAutoFit/>
          </a:bodyPr>
          <a:lstStyle/>
          <a:p>
            <a:pPr algn="l" marL="0" indent="0" lvl="0">
              <a:lnSpc>
                <a:spcPts val="2341"/>
              </a:lnSpc>
            </a:pPr>
            <a:r>
              <a:rPr lang="en-US" b="true" sz="2926" spc="-128">
                <a:solidFill>
                  <a:srgbClr val="000000"/>
                </a:solidFill>
                <a:latin typeface="DM Sans Bold"/>
                <a:ea typeface="DM Sans Bold"/>
                <a:cs typeface="DM Sans Bold"/>
                <a:sym typeface="DM Sans Bold"/>
              </a:rPr>
              <a:t>Subjective Data (QoE)</a:t>
            </a:r>
          </a:p>
        </p:txBody>
      </p:sp>
      <p:sp>
        <p:nvSpPr>
          <p:cNvPr name="TextBox 15" id="15"/>
          <p:cNvSpPr txBox="true"/>
          <p:nvPr/>
        </p:nvSpPr>
        <p:spPr>
          <a:xfrm rot="0">
            <a:off x="10181500" y="5086350"/>
            <a:ext cx="5284865" cy="3453111"/>
          </a:xfrm>
          <a:prstGeom prst="rect">
            <a:avLst/>
          </a:prstGeom>
        </p:spPr>
        <p:txBody>
          <a:bodyPr anchor="t" rtlCol="false" tIns="0" lIns="0" bIns="0" rIns="0">
            <a:spAutoFit/>
          </a:bodyPr>
          <a:lstStyle/>
          <a:p>
            <a:pPr algn="l" marL="604681" indent="-302341" lvl="1">
              <a:lnSpc>
                <a:spcPts val="3921"/>
              </a:lnSpc>
              <a:buFont typeface="Arial"/>
              <a:buChar char="•"/>
            </a:pPr>
            <a:r>
              <a:rPr lang="en-US" sz="2800" spc="-95">
                <a:solidFill>
                  <a:srgbClr val="000000"/>
                </a:solidFill>
                <a:latin typeface="DM Sans"/>
                <a:ea typeface="DM Sans"/>
                <a:cs typeface="DM Sans"/>
                <a:sym typeface="DM Sans"/>
              </a:rPr>
              <a:t>User ratings and satisfaction levels</a:t>
            </a:r>
          </a:p>
          <a:p>
            <a:pPr algn="l" marL="604681" indent="-302341" lvl="1">
              <a:lnSpc>
                <a:spcPts val="3921"/>
              </a:lnSpc>
              <a:buFont typeface="Arial"/>
              <a:buChar char="•"/>
            </a:pPr>
            <a:r>
              <a:rPr lang="en-US" sz="2800" spc="-95">
                <a:solidFill>
                  <a:srgbClr val="000000"/>
                </a:solidFill>
                <a:latin typeface="DM Sans"/>
                <a:ea typeface="DM Sans"/>
                <a:cs typeface="DM Sans"/>
                <a:sym typeface="DM Sans"/>
              </a:rPr>
              <a:t>Perceived network issues</a:t>
            </a:r>
          </a:p>
          <a:p>
            <a:pPr algn="l" marL="604681" indent="-302341" lvl="1">
              <a:lnSpc>
                <a:spcPts val="3921"/>
              </a:lnSpc>
              <a:buFont typeface="Arial"/>
              <a:buChar char="•"/>
            </a:pPr>
            <a:r>
              <a:rPr lang="en-US" sz="2800" spc="-95">
                <a:solidFill>
                  <a:srgbClr val="000000"/>
                </a:solidFill>
                <a:latin typeface="DM Sans"/>
                <a:ea typeface="DM Sans"/>
                <a:cs typeface="DM Sans"/>
                <a:sym typeface="DM Sans"/>
              </a:rPr>
              <a:t>Feedback on service quality</a:t>
            </a:r>
          </a:p>
          <a:p>
            <a:pPr algn="l" marL="604681" indent="-302341" lvl="1">
              <a:lnSpc>
                <a:spcPts val="3921"/>
              </a:lnSpc>
              <a:buFont typeface="Arial"/>
              <a:buChar char="•"/>
            </a:pPr>
            <a:r>
              <a:rPr lang="en-US" sz="2800" spc="-95">
                <a:solidFill>
                  <a:srgbClr val="000000"/>
                </a:solidFill>
                <a:latin typeface="DM Sans"/>
                <a:ea typeface="DM Sans"/>
                <a:cs typeface="DM Sans"/>
                <a:sym typeface="DM Sans"/>
              </a:rPr>
              <a:t>Mobile app runs in background for continuous monitoring</a:t>
            </a:r>
          </a:p>
        </p:txBody>
      </p:sp>
      <p:sp>
        <p:nvSpPr>
          <p:cNvPr name="TextBox 16" id="16"/>
          <p:cNvSpPr txBox="true"/>
          <p:nvPr/>
        </p:nvSpPr>
        <p:spPr>
          <a:xfrm rot="0">
            <a:off x="2821635" y="5095875"/>
            <a:ext cx="5284865" cy="3181966"/>
          </a:xfrm>
          <a:prstGeom prst="rect">
            <a:avLst/>
          </a:prstGeom>
        </p:spPr>
        <p:txBody>
          <a:bodyPr anchor="t" rtlCol="false" tIns="0" lIns="0" bIns="0" rIns="0">
            <a:spAutoFit/>
          </a:bodyPr>
          <a:lstStyle/>
          <a:p>
            <a:pPr algn="l" marL="561502" indent="-280751" lvl="1">
              <a:lnSpc>
                <a:spcPts val="3641"/>
              </a:lnSpc>
              <a:buFont typeface="Arial"/>
              <a:buChar char="•"/>
            </a:pPr>
            <a:r>
              <a:rPr lang="en-US" sz="2600" spc="-88">
                <a:solidFill>
                  <a:srgbClr val="000000"/>
                </a:solidFill>
                <a:latin typeface="DM Sans"/>
                <a:ea typeface="DM Sans"/>
                <a:cs typeface="DM Sans"/>
                <a:sym typeface="DM Sans"/>
              </a:rPr>
              <a:t>Latency and jitter measurements</a:t>
            </a:r>
          </a:p>
          <a:p>
            <a:pPr algn="l" marL="561502" indent="-280751" lvl="1">
              <a:lnSpc>
                <a:spcPts val="3641"/>
              </a:lnSpc>
              <a:buFont typeface="Arial"/>
              <a:buChar char="•"/>
            </a:pPr>
            <a:r>
              <a:rPr lang="en-US" sz="2600" spc="-88">
                <a:solidFill>
                  <a:srgbClr val="000000"/>
                </a:solidFill>
                <a:latin typeface="DM Sans"/>
                <a:ea typeface="DM Sans"/>
                <a:cs typeface="DM Sans"/>
                <a:sym typeface="DM Sans"/>
              </a:rPr>
              <a:t>Packet loss detection</a:t>
            </a:r>
          </a:p>
          <a:p>
            <a:pPr algn="l" marL="561502" indent="-280751" lvl="1">
              <a:lnSpc>
                <a:spcPts val="3641"/>
              </a:lnSpc>
              <a:buFont typeface="Arial"/>
              <a:buChar char="•"/>
            </a:pPr>
            <a:r>
              <a:rPr lang="en-US" sz="2600" spc="-88">
                <a:solidFill>
                  <a:srgbClr val="000000"/>
                </a:solidFill>
                <a:latin typeface="DM Sans"/>
                <a:ea typeface="DM Sans"/>
                <a:cs typeface="DM Sans"/>
                <a:sym typeface="DM Sans"/>
              </a:rPr>
              <a:t>Signal strength monitoring</a:t>
            </a:r>
          </a:p>
          <a:p>
            <a:pPr algn="l" marL="561502" indent="-280751" lvl="1">
              <a:lnSpc>
                <a:spcPts val="3641"/>
              </a:lnSpc>
              <a:buFont typeface="Arial"/>
              <a:buChar char="•"/>
            </a:pPr>
            <a:r>
              <a:rPr lang="en-US" sz="2600" spc="-88">
                <a:solidFill>
                  <a:srgbClr val="000000"/>
                </a:solidFill>
                <a:latin typeface="DM Sans"/>
                <a:ea typeface="DM Sans"/>
                <a:cs typeface="DM Sans"/>
                <a:sym typeface="DM Sans"/>
              </a:rPr>
              <a:t>Throughput analysis</a:t>
            </a:r>
          </a:p>
          <a:p>
            <a:pPr algn="l" marL="561502" indent="-280751" lvl="1">
              <a:lnSpc>
                <a:spcPts val="3641"/>
              </a:lnSpc>
              <a:buFont typeface="Arial"/>
              <a:buChar char="•"/>
            </a:pPr>
            <a:r>
              <a:rPr lang="en-US" sz="2600" spc="-88">
                <a:solidFill>
                  <a:srgbClr val="000000"/>
                </a:solidFill>
                <a:latin typeface="DM Sans"/>
                <a:ea typeface="DM Sans"/>
                <a:cs typeface="DM Sans"/>
                <a:sym typeface="DM Sans"/>
              </a:rPr>
              <a:t>Combined QoE and QoS data provides complete network performance view</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2644316" y="1085850"/>
            <a:ext cx="12249864" cy="802131"/>
          </a:xfrm>
          <a:prstGeom prst="rect">
            <a:avLst/>
          </a:prstGeom>
        </p:spPr>
        <p:txBody>
          <a:bodyPr anchor="t" rtlCol="false" tIns="0" lIns="0" bIns="0" rIns="0">
            <a:spAutoFit/>
          </a:bodyPr>
          <a:lstStyle/>
          <a:p>
            <a:pPr algn="ctr" marL="0" indent="0" lvl="0">
              <a:lnSpc>
                <a:spcPts val="4531"/>
              </a:lnSpc>
            </a:pPr>
            <a:r>
              <a:rPr lang="en-US" b="true" sz="5664" spc="-249">
                <a:solidFill>
                  <a:srgbClr val="000000"/>
                </a:solidFill>
                <a:latin typeface="Agrandir Bold"/>
                <a:ea typeface="Agrandir Bold"/>
                <a:cs typeface="Agrandir Bold"/>
                <a:sym typeface="Agrandir Bold"/>
              </a:rPr>
              <a:t>Requirements Gathering Approach</a:t>
            </a:r>
          </a:p>
        </p:txBody>
      </p:sp>
      <p:sp>
        <p:nvSpPr>
          <p:cNvPr name="TextBox 12" id="12"/>
          <p:cNvSpPr txBox="true"/>
          <p:nvPr/>
        </p:nvSpPr>
        <p:spPr>
          <a:xfrm rot="0">
            <a:off x="3343083" y="3554863"/>
            <a:ext cx="13071348" cy="2113901"/>
          </a:xfrm>
          <a:prstGeom prst="rect">
            <a:avLst/>
          </a:prstGeom>
        </p:spPr>
        <p:txBody>
          <a:bodyPr anchor="t" rtlCol="false" tIns="0" lIns="0" bIns="0" rIns="0">
            <a:spAutoFit/>
          </a:bodyPr>
          <a:lstStyle/>
          <a:p>
            <a:pPr algn="l" marL="0" indent="0" lvl="0">
              <a:lnSpc>
                <a:spcPts val="4235"/>
              </a:lnSpc>
            </a:pPr>
            <a:r>
              <a:rPr lang="en-US" sz="3025" spc="-102">
                <a:solidFill>
                  <a:srgbClr val="000000"/>
                </a:solidFill>
                <a:latin typeface="DM Sans"/>
                <a:ea typeface="DM Sans"/>
                <a:cs typeface="DM Sans"/>
                <a:sym typeface="DM Sans"/>
              </a:rPr>
              <a:t>Our methodology was data-driven, using a structured questionnaire targeting mobile network subscribers in Cameroon, with over 50 responses Collected. </a:t>
            </a:r>
          </a:p>
          <a:p>
            <a:pPr algn="l" marL="0" indent="0" lvl="0">
              <a:lnSpc>
                <a:spcPts val="4235"/>
              </a:lnSpc>
            </a:pPr>
            <a:r>
              <a:rPr lang="en-US" sz="3025" spc="-102">
                <a:solidFill>
                  <a:srgbClr val="000000"/>
                </a:solidFill>
                <a:latin typeface="DM Sans"/>
                <a:ea typeface="DM Sans"/>
                <a:cs typeface="DM Sans"/>
                <a:sym typeface="DM Sans"/>
              </a:rPr>
              <a:t>The systematic flow progressed from </a:t>
            </a:r>
          </a:p>
          <a:p>
            <a:pPr algn="l" marL="0" indent="0" lvl="0">
              <a:lnSpc>
                <a:spcPts val="4235"/>
              </a:lnSpc>
            </a:pPr>
          </a:p>
        </p:txBody>
      </p:sp>
      <p:sp>
        <p:nvSpPr>
          <p:cNvPr name="Freeform 13" id="13"/>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3343083" y="7612234"/>
            <a:ext cx="11551097" cy="2076451"/>
          </a:xfrm>
          <a:prstGeom prst="rect">
            <a:avLst/>
          </a:prstGeom>
        </p:spPr>
        <p:txBody>
          <a:bodyPr anchor="t" rtlCol="false" tIns="0" lIns="0" bIns="0" rIns="0">
            <a:spAutoFit/>
          </a:bodyPr>
          <a:lstStyle/>
          <a:p>
            <a:pPr algn="l">
              <a:lnSpc>
                <a:spcPts val="4199"/>
              </a:lnSpc>
              <a:spcBef>
                <a:spcPct val="0"/>
              </a:spcBef>
            </a:pPr>
            <a:r>
              <a:rPr lang="en-US" sz="2999" spc="-101">
                <a:solidFill>
                  <a:srgbClr val="000000"/>
                </a:solidFill>
                <a:latin typeface="DM Sans"/>
                <a:ea typeface="DM Sans"/>
                <a:cs typeface="DM Sans"/>
                <a:sym typeface="DM Sans"/>
              </a:rPr>
              <a:t>Descriptive analysis techniques identified key patterns and trends in user behavior, technical environments, and privacy concerns. These insights were directly converted into actionable system requirements, ensuring our design decisions are grounded in real user data.</a:t>
            </a:r>
          </a:p>
        </p:txBody>
      </p:sp>
      <p:sp>
        <p:nvSpPr>
          <p:cNvPr name="TextBox 15" id="15"/>
          <p:cNvSpPr txBox="true"/>
          <p:nvPr/>
        </p:nvSpPr>
        <p:spPr>
          <a:xfrm rot="0">
            <a:off x="3134727" y="5984540"/>
            <a:ext cx="12204353" cy="455296"/>
          </a:xfrm>
          <a:prstGeom prst="rect">
            <a:avLst/>
          </a:prstGeom>
        </p:spPr>
        <p:txBody>
          <a:bodyPr anchor="t" rtlCol="false" tIns="0" lIns="0" bIns="0" rIns="0">
            <a:spAutoFit/>
          </a:bodyPr>
          <a:lstStyle/>
          <a:p>
            <a:pPr algn="ctr">
              <a:lnSpc>
                <a:spcPts val="3779"/>
              </a:lnSpc>
              <a:spcBef>
                <a:spcPct val="0"/>
              </a:spcBef>
            </a:pPr>
            <a:r>
              <a:rPr lang="en-US" b="true" sz="2699" spc="-91">
                <a:solidFill>
                  <a:srgbClr val="004AAD"/>
                </a:solidFill>
                <a:latin typeface="DM Sans Bold"/>
                <a:ea typeface="DM Sans Bold"/>
                <a:cs typeface="DM Sans Bold"/>
                <a:sym typeface="DM Sans Bold"/>
              </a:rPr>
              <a:t>Users → Questionnaire → Data Collection → Analysis → System Requirements.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4995148" y="1650741"/>
            <a:ext cx="8297704" cy="802131"/>
          </a:xfrm>
          <a:prstGeom prst="rect">
            <a:avLst/>
          </a:prstGeom>
        </p:spPr>
        <p:txBody>
          <a:bodyPr anchor="t" rtlCol="false" tIns="0" lIns="0" bIns="0" rIns="0">
            <a:spAutoFit/>
          </a:bodyPr>
          <a:lstStyle/>
          <a:p>
            <a:pPr algn="ctr" marL="0" indent="0" lvl="0">
              <a:lnSpc>
                <a:spcPts val="4531"/>
              </a:lnSpc>
            </a:pPr>
            <a:r>
              <a:rPr lang="en-US" b="true" sz="5664" spc="-249">
                <a:solidFill>
                  <a:srgbClr val="000000"/>
                </a:solidFill>
                <a:latin typeface="Agrandir Bold"/>
                <a:ea typeface="Agrandir Bold"/>
                <a:cs typeface="Agrandir Bold"/>
                <a:sym typeface="Agrandir Bold"/>
              </a:rPr>
              <a:t>Targeted Data Types</a:t>
            </a:r>
          </a:p>
        </p:txBody>
      </p:sp>
      <p:sp>
        <p:nvSpPr>
          <p:cNvPr name="Freeform 12" id="12"/>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2821635" y="4404152"/>
            <a:ext cx="3527940" cy="312928"/>
          </a:xfrm>
          <a:prstGeom prst="rect">
            <a:avLst/>
          </a:prstGeom>
        </p:spPr>
        <p:txBody>
          <a:bodyPr anchor="t" rtlCol="false" tIns="0" lIns="0" bIns="0" rIns="0">
            <a:spAutoFit/>
          </a:bodyPr>
          <a:lstStyle/>
          <a:p>
            <a:pPr algn="l" marL="0" indent="0" lvl="0">
              <a:lnSpc>
                <a:spcPts val="2228"/>
              </a:lnSpc>
            </a:pPr>
            <a:r>
              <a:rPr lang="en-US" b="true" sz="2785" spc="-122">
                <a:solidFill>
                  <a:srgbClr val="000000"/>
                </a:solidFill>
                <a:latin typeface="DM Sans Bold"/>
                <a:ea typeface="DM Sans Bold"/>
                <a:cs typeface="DM Sans Bold"/>
                <a:sym typeface="DM Sans Bold"/>
              </a:rPr>
              <a:t>Subjective Data (QoE)</a:t>
            </a:r>
          </a:p>
        </p:txBody>
      </p:sp>
      <p:sp>
        <p:nvSpPr>
          <p:cNvPr name="TextBox 14" id="14"/>
          <p:cNvSpPr txBox="true"/>
          <p:nvPr/>
        </p:nvSpPr>
        <p:spPr>
          <a:xfrm rot="0">
            <a:off x="10181500" y="4404152"/>
            <a:ext cx="3773544" cy="298323"/>
          </a:xfrm>
          <a:prstGeom prst="rect">
            <a:avLst/>
          </a:prstGeom>
        </p:spPr>
        <p:txBody>
          <a:bodyPr anchor="t" rtlCol="false" tIns="0" lIns="0" bIns="0" rIns="0">
            <a:spAutoFit/>
          </a:bodyPr>
          <a:lstStyle/>
          <a:p>
            <a:pPr algn="l" marL="0" indent="0" lvl="0">
              <a:lnSpc>
                <a:spcPts val="2148"/>
              </a:lnSpc>
            </a:pPr>
            <a:r>
              <a:rPr lang="en-US" b="true" sz="2685" spc="-118">
                <a:solidFill>
                  <a:srgbClr val="000000"/>
                </a:solidFill>
                <a:latin typeface="DM Sans Bold"/>
                <a:ea typeface="DM Sans Bold"/>
                <a:cs typeface="DM Sans Bold"/>
                <a:sym typeface="DM Sans Bold"/>
              </a:rPr>
              <a:t>Objective Data (QoS)</a:t>
            </a:r>
          </a:p>
        </p:txBody>
      </p:sp>
      <p:sp>
        <p:nvSpPr>
          <p:cNvPr name="TextBox 15" id="15"/>
          <p:cNvSpPr txBox="true"/>
          <p:nvPr/>
        </p:nvSpPr>
        <p:spPr>
          <a:xfrm rot="0">
            <a:off x="10181500" y="5095875"/>
            <a:ext cx="5284865" cy="3116036"/>
          </a:xfrm>
          <a:prstGeom prst="rect">
            <a:avLst/>
          </a:prstGeom>
        </p:spPr>
        <p:txBody>
          <a:bodyPr anchor="t" rtlCol="false" tIns="0" lIns="0" bIns="0" rIns="0">
            <a:spAutoFit/>
          </a:bodyPr>
          <a:lstStyle/>
          <a:p>
            <a:pPr algn="just" marL="0" indent="0" lvl="0">
              <a:lnSpc>
                <a:spcPts val="3599"/>
              </a:lnSpc>
            </a:pPr>
            <a:r>
              <a:rPr lang="en-US" sz="2571" spc="-87">
                <a:solidFill>
                  <a:srgbClr val="000000"/>
                </a:solidFill>
                <a:latin typeface="DM Sans"/>
                <a:ea typeface="DM Sans"/>
                <a:cs typeface="DM Sans"/>
                <a:sym typeface="DM Sans"/>
              </a:rPr>
              <a:t>Technical network metrics measured automatically:</a:t>
            </a:r>
          </a:p>
          <a:p>
            <a:pPr algn="just" marL="0" indent="0" lvl="0">
              <a:lnSpc>
                <a:spcPts val="3599"/>
              </a:lnSpc>
            </a:pPr>
            <a:r>
              <a:rPr lang="en-US" sz="2571" spc="-87">
                <a:solidFill>
                  <a:srgbClr val="000000"/>
                </a:solidFill>
                <a:latin typeface="DM Sans"/>
                <a:ea typeface="DM Sans"/>
                <a:cs typeface="DM Sans"/>
                <a:sym typeface="DM Sans"/>
              </a:rPr>
              <a:t>• Latency and response times</a:t>
            </a:r>
          </a:p>
          <a:p>
            <a:pPr algn="just" marL="0" indent="0" lvl="0">
              <a:lnSpc>
                <a:spcPts val="3599"/>
              </a:lnSpc>
            </a:pPr>
            <a:r>
              <a:rPr lang="en-US" sz="2571" spc="-87">
                <a:solidFill>
                  <a:srgbClr val="000000"/>
                </a:solidFill>
                <a:latin typeface="DM Sans"/>
                <a:ea typeface="DM Sans"/>
                <a:cs typeface="DM Sans"/>
                <a:sym typeface="DM Sans"/>
              </a:rPr>
              <a:t>• Jitter variability</a:t>
            </a:r>
          </a:p>
          <a:p>
            <a:pPr algn="just" marL="0" indent="0" lvl="0">
              <a:lnSpc>
                <a:spcPts val="3599"/>
              </a:lnSpc>
            </a:pPr>
            <a:r>
              <a:rPr lang="en-US" sz="2571" spc="-87">
                <a:solidFill>
                  <a:srgbClr val="000000"/>
                </a:solidFill>
                <a:latin typeface="DM Sans"/>
                <a:ea typeface="DM Sans"/>
                <a:cs typeface="DM Sans"/>
                <a:sym typeface="DM Sans"/>
              </a:rPr>
              <a:t>• Throughput speeds</a:t>
            </a:r>
          </a:p>
          <a:p>
            <a:pPr algn="just" marL="0" indent="0" lvl="0">
              <a:lnSpc>
                <a:spcPts val="3599"/>
              </a:lnSpc>
            </a:pPr>
            <a:r>
              <a:rPr lang="en-US" sz="2571" spc="-87">
                <a:solidFill>
                  <a:srgbClr val="000000"/>
                </a:solidFill>
                <a:latin typeface="DM Sans"/>
                <a:ea typeface="DM Sans"/>
                <a:cs typeface="DM Sans"/>
                <a:sym typeface="DM Sans"/>
              </a:rPr>
              <a:t>• Signal strength levels</a:t>
            </a:r>
          </a:p>
          <a:p>
            <a:pPr algn="just" marL="0" indent="0" lvl="0">
              <a:lnSpc>
                <a:spcPts val="3599"/>
              </a:lnSpc>
            </a:pPr>
            <a:r>
              <a:rPr lang="en-US" sz="2571" spc="-87">
                <a:solidFill>
                  <a:srgbClr val="000000"/>
                </a:solidFill>
                <a:latin typeface="DM Sans"/>
                <a:ea typeface="DM Sans"/>
                <a:cs typeface="DM Sans"/>
                <a:sym typeface="DM Sans"/>
              </a:rPr>
              <a:t>• Packet loss rates</a:t>
            </a:r>
          </a:p>
        </p:txBody>
      </p:sp>
      <p:sp>
        <p:nvSpPr>
          <p:cNvPr name="TextBox 16" id="16"/>
          <p:cNvSpPr txBox="true"/>
          <p:nvPr/>
        </p:nvSpPr>
        <p:spPr>
          <a:xfrm rot="0">
            <a:off x="2821635" y="5095875"/>
            <a:ext cx="5284865" cy="2780121"/>
          </a:xfrm>
          <a:prstGeom prst="rect">
            <a:avLst/>
          </a:prstGeom>
        </p:spPr>
        <p:txBody>
          <a:bodyPr anchor="t" rtlCol="false" tIns="0" lIns="0" bIns="0" rIns="0">
            <a:spAutoFit/>
          </a:bodyPr>
          <a:lstStyle/>
          <a:p>
            <a:pPr algn="just" marL="0" indent="0" lvl="0">
              <a:lnSpc>
                <a:spcPts val="3739"/>
              </a:lnSpc>
            </a:pPr>
            <a:r>
              <a:rPr lang="en-US" sz="2671" spc="-90">
                <a:solidFill>
                  <a:srgbClr val="000000"/>
                </a:solidFill>
                <a:latin typeface="DM Sans"/>
                <a:ea typeface="DM Sans"/>
                <a:cs typeface="DM Sans"/>
                <a:sym typeface="DM Sans"/>
              </a:rPr>
              <a:t>User-reported experience data:</a:t>
            </a:r>
          </a:p>
          <a:p>
            <a:pPr algn="just" marL="0" indent="0" lvl="0">
              <a:lnSpc>
                <a:spcPts val="3739"/>
              </a:lnSpc>
            </a:pPr>
            <a:r>
              <a:rPr lang="en-US" sz="2671" spc="-90">
                <a:solidFill>
                  <a:srgbClr val="000000"/>
                </a:solidFill>
                <a:latin typeface="DM Sans"/>
                <a:ea typeface="DM Sans"/>
                <a:cs typeface="DM Sans"/>
                <a:sym typeface="DM Sans"/>
              </a:rPr>
              <a:t>• Perception and satisfaction ratings</a:t>
            </a:r>
          </a:p>
          <a:p>
            <a:pPr algn="just" marL="0" indent="0" lvl="0">
              <a:lnSpc>
                <a:spcPts val="3739"/>
              </a:lnSpc>
            </a:pPr>
            <a:r>
              <a:rPr lang="en-US" sz="2671" spc="-90">
                <a:solidFill>
                  <a:srgbClr val="000000"/>
                </a:solidFill>
                <a:latin typeface="DM Sans"/>
                <a:ea typeface="DM Sans"/>
                <a:cs typeface="DM Sans"/>
                <a:sym typeface="DM Sans"/>
              </a:rPr>
              <a:t>• Feedback behavior patterns</a:t>
            </a:r>
          </a:p>
          <a:p>
            <a:pPr algn="just" marL="0" indent="0" lvl="0">
              <a:lnSpc>
                <a:spcPts val="3739"/>
              </a:lnSpc>
            </a:pPr>
            <a:r>
              <a:rPr lang="en-US" sz="2671" spc="-90">
                <a:solidFill>
                  <a:srgbClr val="000000"/>
                </a:solidFill>
                <a:latin typeface="DM Sans"/>
                <a:ea typeface="DM Sans"/>
                <a:cs typeface="DM Sans"/>
                <a:sym typeface="DM Sans"/>
              </a:rPr>
              <a:t>• Interaction preferences</a:t>
            </a:r>
          </a:p>
          <a:p>
            <a:pPr algn="just" marL="0" indent="0" lvl="0">
              <a:lnSpc>
                <a:spcPts val="3739"/>
              </a:lnSpc>
            </a:pPr>
            <a:r>
              <a:rPr lang="en-US" sz="2671" spc="-90">
                <a:solidFill>
                  <a:srgbClr val="000000"/>
                </a:solidFill>
                <a:latin typeface="DM Sans"/>
                <a:ea typeface="DM Sans"/>
                <a:cs typeface="DM Sans"/>
                <a:sym typeface="DM Sans"/>
              </a:rPr>
              <a:t>• Privacy concerns</a:t>
            </a:r>
          </a:p>
          <a:p>
            <a:pPr algn="just" marL="0" indent="0" lvl="0">
              <a:lnSpc>
                <a:spcPts val="3739"/>
              </a:lnSpc>
            </a:pPr>
            <a:r>
              <a:rPr lang="en-US" sz="2671" spc="-90">
                <a:solidFill>
                  <a:srgbClr val="000000"/>
                </a:solidFill>
                <a:latin typeface="DM Sans"/>
                <a:ea typeface="DM Sans"/>
                <a:cs typeface="DM Sans"/>
                <a:sym typeface="DM Sans"/>
              </a:rPr>
              <a:t>• Issue reporting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3010417" y="1650741"/>
            <a:ext cx="13636909" cy="802131"/>
          </a:xfrm>
          <a:prstGeom prst="rect">
            <a:avLst/>
          </a:prstGeom>
        </p:spPr>
        <p:txBody>
          <a:bodyPr anchor="t" rtlCol="false" tIns="0" lIns="0" bIns="0" rIns="0">
            <a:spAutoFit/>
          </a:bodyPr>
          <a:lstStyle/>
          <a:p>
            <a:pPr algn="ctr" marL="0" indent="0" lvl="0">
              <a:lnSpc>
                <a:spcPts val="4531"/>
              </a:lnSpc>
            </a:pPr>
            <a:r>
              <a:rPr lang="en-US" b="true" sz="5664" spc="-249">
                <a:solidFill>
                  <a:srgbClr val="000000"/>
                </a:solidFill>
                <a:latin typeface="Agrandir Bold"/>
                <a:ea typeface="Agrandir Bold"/>
                <a:cs typeface="Agrandir Bold"/>
                <a:sym typeface="Agrandir Bold"/>
              </a:rPr>
              <a:t>Key Findings – Technical Environment</a:t>
            </a:r>
          </a:p>
        </p:txBody>
      </p:sp>
      <p:sp>
        <p:nvSpPr>
          <p:cNvPr name="TextBox 13" id="13"/>
          <p:cNvSpPr txBox="true"/>
          <p:nvPr/>
        </p:nvSpPr>
        <p:spPr>
          <a:xfrm rot="0">
            <a:off x="2724892" y="4577413"/>
            <a:ext cx="6030290" cy="2920519"/>
          </a:xfrm>
          <a:prstGeom prst="rect">
            <a:avLst/>
          </a:prstGeom>
        </p:spPr>
        <p:txBody>
          <a:bodyPr anchor="t" rtlCol="false" tIns="0" lIns="0" bIns="0" rIns="0">
            <a:spAutoFit/>
          </a:bodyPr>
          <a:lstStyle/>
          <a:p>
            <a:pPr algn="just" marL="0" indent="0" lvl="0">
              <a:lnSpc>
                <a:spcPts val="3351"/>
              </a:lnSpc>
            </a:pPr>
            <a:r>
              <a:rPr lang="en-US" sz="2393" spc="-81">
                <a:solidFill>
                  <a:srgbClr val="000000"/>
                </a:solidFill>
                <a:latin typeface="DM Sans"/>
                <a:ea typeface="DM Sans"/>
                <a:cs typeface="DM Sans"/>
                <a:sym typeface="DM Sans"/>
              </a:rPr>
              <a:t>Our survey reveals Android dominates with 75.9% of users, with half running Android 13 or newer. A minority of iOS users are also present. This device landscape necessitates cross-platform compatibility rather than an Android-only approach, ensuring maximum reach across the subscriber base.</a:t>
            </a:r>
          </a:p>
        </p:txBody>
      </p:sp>
      <p:pic>
        <p:nvPicPr>
          <p:cNvPr name="Picture 14" id="14"/>
          <p:cNvPicPr>
            <a:picLocks noChangeAspect="true"/>
          </p:cNvPicPr>
          <p:nvPr/>
        </p:nvPicPr>
        <p:blipFill>
          <a:blip r:embed="rId8"/>
          <a:stretch>
            <a:fillRect/>
          </a:stretch>
        </p:blipFill>
        <p:spPr>
          <a:xfrm rot="0">
            <a:off x="11269087" y="3872981"/>
            <a:ext cx="4047529" cy="4376963"/>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995148" y="1650741"/>
            <a:ext cx="8297704" cy="1373631"/>
          </a:xfrm>
          <a:prstGeom prst="rect">
            <a:avLst/>
          </a:prstGeom>
        </p:spPr>
        <p:txBody>
          <a:bodyPr anchor="t" rtlCol="false" tIns="0" lIns="0" bIns="0" rIns="0">
            <a:spAutoFit/>
          </a:bodyPr>
          <a:lstStyle/>
          <a:p>
            <a:pPr algn="ctr" marL="0" indent="0" lvl="0">
              <a:lnSpc>
                <a:spcPts val="4531"/>
              </a:lnSpc>
            </a:pPr>
            <a:r>
              <a:rPr lang="en-US" b="true" sz="5664" spc="-249">
                <a:solidFill>
                  <a:srgbClr val="000000"/>
                </a:solidFill>
                <a:latin typeface="Agrandir Bold"/>
                <a:ea typeface="Agrandir Bold"/>
                <a:cs typeface="Agrandir Bold"/>
                <a:sym typeface="Agrandir Bold"/>
              </a:rPr>
              <a:t>Key Findings – Technical Environment (Part 2)</a:t>
            </a:r>
          </a:p>
        </p:txBody>
      </p:sp>
      <p:pic>
        <p:nvPicPr>
          <p:cNvPr name="Picture 13" id="13"/>
          <p:cNvPicPr>
            <a:picLocks noChangeAspect="true"/>
          </p:cNvPicPr>
          <p:nvPr/>
        </p:nvPicPr>
        <p:blipFill>
          <a:blip r:embed="rId8"/>
          <a:stretch>
            <a:fillRect/>
          </a:stretch>
        </p:blipFill>
        <p:spPr>
          <a:xfrm rot="0">
            <a:off x="10055430" y="3503556"/>
            <a:ext cx="5642410" cy="4769411"/>
          </a:xfrm>
          <a:prstGeom prst="rect">
            <a:avLst/>
          </a:prstGeom>
        </p:spPr>
      </p:pic>
      <p:sp>
        <p:nvSpPr>
          <p:cNvPr name="TextBox 14" id="14"/>
          <p:cNvSpPr txBox="true"/>
          <p:nvPr/>
        </p:nvSpPr>
        <p:spPr>
          <a:xfrm rot="0">
            <a:off x="2715202" y="4586938"/>
            <a:ext cx="6030290" cy="2656715"/>
          </a:xfrm>
          <a:prstGeom prst="rect">
            <a:avLst/>
          </a:prstGeom>
        </p:spPr>
        <p:txBody>
          <a:bodyPr anchor="t" rtlCol="false" tIns="0" lIns="0" bIns="0" rIns="0">
            <a:spAutoFit/>
          </a:bodyPr>
          <a:lstStyle/>
          <a:p>
            <a:pPr algn="just" marL="0" indent="0" lvl="0">
              <a:lnSpc>
                <a:spcPts val="2666"/>
              </a:lnSpc>
            </a:pPr>
            <a:r>
              <a:rPr lang="en-US" sz="1904" spc="-64">
                <a:solidFill>
                  <a:srgbClr val="000000"/>
                </a:solidFill>
                <a:latin typeface="DM Sans"/>
                <a:ea typeface="DM Sans"/>
                <a:cs typeface="DM Sans"/>
                <a:sym typeface="DM Sans"/>
              </a:rPr>
              <a:t>Dual-SIM device usage is prevalent among Cameroonian mobile users. Many subscribers operate phones with two SIM cards, frequently switching networks based on availability, signal quality, and cost considerations. This behavior has critical implications for data collection accuracy—the app must detect which SIM is actively providing data connectivity to correctly attribute network performance metrics to the appropriate operator.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995148" y="1650741"/>
            <a:ext cx="8297704" cy="1373631"/>
          </a:xfrm>
          <a:prstGeom prst="rect">
            <a:avLst/>
          </a:prstGeom>
        </p:spPr>
        <p:txBody>
          <a:bodyPr anchor="t" rtlCol="false" tIns="0" lIns="0" bIns="0" rIns="0">
            <a:spAutoFit/>
          </a:bodyPr>
          <a:lstStyle/>
          <a:p>
            <a:pPr algn="ctr" marL="0" indent="0" lvl="0">
              <a:lnSpc>
                <a:spcPts val="4531"/>
              </a:lnSpc>
            </a:pPr>
            <a:r>
              <a:rPr lang="en-US" b="true" sz="5664" spc="-249">
                <a:solidFill>
                  <a:srgbClr val="000000"/>
                </a:solidFill>
                <a:latin typeface="Agrandir Bold"/>
                <a:ea typeface="Agrandir Bold"/>
                <a:cs typeface="Agrandir Bold"/>
                <a:sym typeface="Agrandir Bold"/>
              </a:rPr>
              <a:t>Key Findings – Network Experience Issues</a:t>
            </a:r>
          </a:p>
        </p:txBody>
      </p:sp>
      <p:sp>
        <p:nvSpPr>
          <p:cNvPr name="TextBox 13" id="13"/>
          <p:cNvSpPr txBox="true"/>
          <p:nvPr/>
        </p:nvSpPr>
        <p:spPr>
          <a:xfrm rot="0">
            <a:off x="2724892" y="4596463"/>
            <a:ext cx="6030290" cy="2722116"/>
          </a:xfrm>
          <a:prstGeom prst="rect">
            <a:avLst/>
          </a:prstGeom>
        </p:spPr>
        <p:txBody>
          <a:bodyPr anchor="t" rtlCol="false" tIns="0" lIns="0" bIns="0" rIns="0">
            <a:spAutoFit/>
          </a:bodyPr>
          <a:lstStyle/>
          <a:p>
            <a:pPr algn="just" marL="0" indent="0" lvl="0">
              <a:lnSpc>
                <a:spcPts val="2737"/>
              </a:lnSpc>
            </a:pPr>
            <a:r>
              <a:rPr lang="en-US" sz="1955" spc="-66">
                <a:solidFill>
                  <a:srgbClr val="000000"/>
                </a:solidFill>
                <a:latin typeface="DM Sans"/>
                <a:ea typeface="DM Sans"/>
                <a:cs typeface="DM Sans"/>
                <a:sym typeface="DM Sans"/>
              </a:rPr>
              <a:t>Survey respondents reported significant network quality challenges affecting their daily mobile experience:</a:t>
            </a:r>
          </a:p>
          <a:p>
            <a:pPr algn="just" marL="0" indent="0" lvl="0">
              <a:lnSpc>
                <a:spcPts val="2737"/>
              </a:lnSpc>
            </a:pPr>
            <a:r>
              <a:rPr lang="en-US" sz="1955" spc="-66">
                <a:solidFill>
                  <a:srgbClr val="000000"/>
                </a:solidFill>
                <a:latin typeface="DM Sans"/>
                <a:ea typeface="DM Sans"/>
                <a:cs typeface="DM Sans"/>
                <a:sym typeface="DM Sans"/>
              </a:rPr>
              <a:t>• Slow internet speeds – most frequently cited issue</a:t>
            </a:r>
          </a:p>
          <a:p>
            <a:pPr algn="just" marL="0" indent="0" lvl="0">
              <a:lnSpc>
                <a:spcPts val="2737"/>
              </a:lnSpc>
            </a:pPr>
            <a:r>
              <a:rPr lang="en-US" sz="1955" spc="-66">
                <a:solidFill>
                  <a:srgbClr val="000000"/>
                </a:solidFill>
                <a:latin typeface="DM Sans"/>
                <a:ea typeface="DM Sans"/>
                <a:cs typeface="DM Sans"/>
                <a:sym typeface="DM Sans"/>
              </a:rPr>
              <a:t>• Weak signal strength in various locations</a:t>
            </a:r>
          </a:p>
          <a:p>
            <a:pPr algn="just" marL="0" indent="0" lvl="0">
              <a:lnSpc>
                <a:spcPts val="2737"/>
              </a:lnSpc>
            </a:pPr>
            <a:r>
              <a:rPr lang="en-US" sz="1955" spc="-66">
                <a:solidFill>
                  <a:srgbClr val="000000"/>
                </a:solidFill>
                <a:latin typeface="DM Sans"/>
                <a:ea typeface="DM Sans"/>
                <a:cs typeface="DM Sans"/>
                <a:sym typeface="DM Sans"/>
              </a:rPr>
              <a:t>• Intermittent connectivity disruptions</a:t>
            </a:r>
          </a:p>
          <a:p>
            <a:pPr algn="just" marL="0" indent="0" lvl="0">
              <a:lnSpc>
                <a:spcPts val="2737"/>
              </a:lnSpc>
            </a:pPr>
            <a:r>
              <a:rPr lang="en-US" sz="1955" spc="-66">
                <a:solidFill>
                  <a:srgbClr val="000000"/>
                </a:solidFill>
                <a:latin typeface="DM Sans"/>
                <a:ea typeface="DM Sans"/>
                <a:cs typeface="DM Sans"/>
                <a:sym typeface="DM Sans"/>
              </a:rPr>
              <a:t>• Problems occur across different times and areas</a:t>
            </a:r>
          </a:p>
          <a:p>
            <a:pPr algn="just" marL="0" indent="0" lvl="0">
              <a:lnSpc>
                <a:spcPts val="2737"/>
              </a:lnSpc>
            </a:pPr>
            <a:r>
              <a:rPr lang="en-US" sz="1955" spc="-66">
                <a:solidFill>
                  <a:srgbClr val="000000"/>
                </a:solidFill>
                <a:latin typeface="DM Sans"/>
                <a:ea typeface="DM Sans"/>
                <a:cs typeface="DM Sans"/>
                <a:sym typeface="DM Sans"/>
              </a:rPr>
              <a:t>These findings justify continuous monitoring of latency, jitter, packet loss, and signal strength metrics.</a:t>
            </a:r>
          </a:p>
        </p:txBody>
      </p:sp>
      <p:pic>
        <p:nvPicPr>
          <p:cNvPr name="Picture 14" id="14"/>
          <p:cNvPicPr>
            <a:picLocks noChangeAspect="true"/>
          </p:cNvPicPr>
          <p:nvPr/>
        </p:nvPicPr>
        <p:blipFill>
          <a:blip r:embed="rId8"/>
          <a:stretch>
            <a:fillRect/>
          </a:stretch>
        </p:blipFill>
        <p:spPr>
          <a:xfrm rot="0">
            <a:off x="10921418" y="4024320"/>
            <a:ext cx="4742868" cy="4074287"/>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995148" y="1650741"/>
            <a:ext cx="8297704" cy="1373631"/>
          </a:xfrm>
          <a:prstGeom prst="rect">
            <a:avLst/>
          </a:prstGeom>
        </p:spPr>
        <p:txBody>
          <a:bodyPr anchor="t" rtlCol="false" tIns="0" lIns="0" bIns="0" rIns="0">
            <a:spAutoFit/>
          </a:bodyPr>
          <a:lstStyle/>
          <a:p>
            <a:pPr algn="ctr" marL="0" indent="0" lvl="0">
              <a:lnSpc>
                <a:spcPts val="4531"/>
              </a:lnSpc>
            </a:pPr>
            <a:r>
              <a:rPr lang="en-US" b="true" sz="5664" spc="-249">
                <a:solidFill>
                  <a:srgbClr val="000000"/>
                </a:solidFill>
                <a:latin typeface="Agrandir Bold"/>
                <a:ea typeface="Agrandir Bold"/>
                <a:cs typeface="Agrandir Bold"/>
                <a:sym typeface="Agrandir Bold"/>
              </a:rPr>
              <a:t>User Interaction Preferences</a:t>
            </a:r>
          </a:p>
        </p:txBody>
      </p:sp>
      <p:pic>
        <p:nvPicPr>
          <p:cNvPr name="Picture 13" id="13"/>
          <p:cNvPicPr>
            <a:picLocks noChangeAspect="true"/>
          </p:cNvPicPr>
          <p:nvPr/>
        </p:nvPicPr>
        <p:blipFill>
          <a:blip r:embed="rId8"/>
          <a:stretch>
            <a:fillRect/>
          </a:stretch>
        </p:blipFill>
        <p:spPr>
          <a:xfrm rot="0">
            <a:off x="9943066" y="3524661"/>
            <a:ext cx="5867137" cy="4727201"/>
          </a:xfrm>
          <a:prstGeom prst="rect">
            <a:avLst/>
          </a:prstGeom>
        </p:spPr>
      </p:pic>
      <p:sp>
        <p:nvSpPr>
          <p:cNvPr name="TextBox 14" id="14"/>
          <p:cNvSpPr txBox="true"/>
          <p:nvPr/>
        </p:nvSpPr>
        <p:spPr>
          <a:xfrm rot="0">
            <a:off x="2715202" y="4577413"/>
            <a:ext cx="6030290" cy="2724634"/>
          </a:xfrm>
          <a:prstGeom prst="rect">
            <a:avLst/>
          </a:prstGeom>
        </p:spPr>
        <p:txBody>
          <a:bodyPr anchor="t" rtlCol="false" tIns="0" lIns="0" bIns="0" rIns="0">
            <a:spAutoFit/>
          </a:bodyPr>
          <a:lstStyle/>
          <a:p>
            <a:pPr algn="just" marL="0" indent="0" lvl="0">
              <a:lnSpc>
                <a:spcPts val="3123"/>
              </a:lnSpc>
            </a:pPr>
            <a:r>
              <a:rPr lang="en-US" sz="2230" spc="-75">
                <a:solidFill>
                  <a:srgbClr val="000000"/>
                </a:solidFill>
                <a:latin typeface="DM Sans"/>
                <a:ea typeface="DM Sans"/>
                <a:cs typeface="DM Sans"/>
                <a:sym typeface="DM Sans"/>
              </a:rPr>
              <a:t>Users prefer minimal, non-intrusive interaction with the app. Most are willing to provide feedback occasionally, primarily after experiencing network issues. Simple methods are favored: rating scales and emoji feedback. Desired interaction time is under 10 seconds. Context-aware feedback triggering is essential for engagement.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995148" y="1650741"/>
            <a:ext cx="8297704" cy="1373631"/>
          </a:xfrm>
          <a:prstGeom prst="rect">
            <a:avLst/>
          </a:prstGeom>
        </p:spPr>
        <p:txBody>
          <a:bodyPr anchor="t" rtlCol="false" tIns="0" lIns="0" bIns="0" rIns="0">
            <a:spAutoFit/>
          </a:bodyPr>
          <a:lstStyle/>
          <a:p>
            <a:pPr algn="ctr" marL="0" indent="0" lvl="0">
              <a:lnSpc>
                <a:spcPts val="4531"/>
              </a:lnSpc>
            </a:pPr>
            <a:r>
              <a:rPr lang="en-US" b="true" sz="5664" spc="-249">
                <a:solidFill>
                  <a:srgbClr val="000000"/>
                </a:solidFill>
                <a:latin typeface="Agrandir Bold"/>
                <a:ea typeface="Agrandir Bold"/>
                <a:cs typeface="Agrandir Bold"/>
                <a:sym typeface="Agrandir Bold"/>
              </a:rPr>
              <a:t>Privacy and Trust Considerations</a:t>
            </a:r>
          </a:p>
        </p:txBody>
      </p:sp>
      <p:sp>
        <p:nvSpPr>
          <p:cNvPr name="TextBox 13" id="13"/>
          <p:cNvSpPr txBox="true"/>
          <p:nvPr/>
        </p:nvSpPr>
        <p:spPr>
          <a:xfrm rot="0">
            <a:off x="3669977" y="6076335"/>
            <a:ext cx="10948045" cy="1134979"/>
          </a:xfrm>
          <a:prstGeom prst="rect">
            <a:avLst/>
          </a:prstGeom>
        </p:spPr>
        <p:txBody>
          <a:bodyPr anchor="t" rtlCol="false" tIns="0" lIns="0" bIns="0" rIns="0">
            <a:spAutoFit/>
          </a:bodyPr>
          <a:lstStyle/>
          <a:p>
            <a:pPr algn="just" marL="0" indent="0" lvl="0">
              <a:lnSpc>
                <a:spcPts val="3067"/>
              </a:lnSpc>
            </a:pPr>
            <a:r>
              <a:rPr lang="en-US" sz="2190" spc="-74">
                <a:solidFill>
                  <a:srgbClr val="000000"/>
                </a:solidFill>
                <a:latin typeface="DM Sans"/>
                <a:ea typeface="DM Sans"/>
                <a:cs typeface="DM Sans"/>
                <a:sym typeface="DM Sans"/>
              </a:rPr>
              <a:t>Acceptance Factors: Transparency in data handling, user control over permissions, strict anonymization protocols, minimal data collection principles. Privacy Measures: Explicit data access statements, granular permission management, clear opt-in/opt-out mechanisms.</a:t>
            </a:r>
          </a:p>
        </p:txBody>
      </p:sp>
      <p:sp>
        <p:nvSpPr>
          <p:cNvPr name="TextBox 14" id="14"/>
          <p:cNvSpPr txBox="true"/>
          <p:nvPr/>
        </p:nvSpPr>
        <p:spPr>
          <a:xfrm rot="0">
            <a:off x="3632763" y="4233814"/>
            <a:ext cx="11022474" cy="1134979"/>
          </a:xfrm>
          <a:prstGeom prst="rect">
            <a:avLst/>
          </a:prstGeom>
        </p:spPr>
        <p:txBody>
          <a:bodyPr anchor="t" rtlCol="false" tIns="0" lIns="0" bIns="0" rIns="0">
            <a:spAutoFit/>
          </a:bodyPr>
          <a:lstStyle/>
          <a:p>
            <a:pPr algn="just" marL="0" indent="0" lvl="0">
              <a:lnSpc>
                <a:spcPts val="3067"/>
              </a:lnSpc>
            </a:pPr>
            <a:r>
              <a:rPr lang="en-US" sz="2190" spc="-74">
                <a:solidFill>
                  <a:srgbClr val="000000"/>
                </a:solidFill>
                <a:latin typeface="DM Sans"/>
                <a:ea typeface="DM Sans"/>
                <a:cs typeface="DM Sans"/>
                <a:sym typeface="DM Sans"/>
              </a:rPr>
              <a:t>User Concerns: Location tracking, background monitoring, access to personal data, battery consumption transparency, and data usage visibility. Users expressed sensitivity about continuous data collection without clear communication.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2350658" y="3533767"/>
            <a:ext cx="13586683" cy="986486"/>
            <a:chOff x="0" y="0"/>
            <a:chExt cx="3578386" cy="259815"/>
          </a:xfrm>
        </p:grpSpPr>
        <p:sp>
          <p:nvSpPr>
            <p:cNvPr name="Freeform 12" id="12"/>
            <p:cNvSpPr/>
            <p:nvPr/>
          </p:nvSpPr>
          <p:spPr>
            <a:xfrm flipH="false" flipV="false" rot="0">
              <a:off x="0" y="0"/>
              <a:ext cx="3578386" cy="259815"/>
            </a:xfrm>
            <a:custGeom>
              <a:avLst/>
              <a:gdLst/>
              <a:ahLst/>
              <a:cxnLst/>
              <a:rect r="r" b="b" t="t" l="l"/>
              <a:pathLst>
                <a:path h="259815" w="3578386">
                  <a:moveTo>
                    <a:pt x="21083" y="0"/>
                  </a:moveTo>
                  <a:lnTo>
                    <a:pt x="3557303" y="0"/>
                  </a:lnTo>
                  <a:cubicBezTo>
                    <a:pt x="3568946" y="0"/>
                    <a:pt x="3578386" y="9439"/>
                    <a:pt x="3578386" y="21083"/>
                  </a:cubicBezTo>
                  <a:lnTo>
                    <a:pt x="3578386" y="238732"/>
                  </a:lnTo>
                  <a:cubicBezTo>
                    <a:pt x="3578386" y="250376"/>
                    <a:pt x="3568946" y="259815"/>
                    <a:pt x="3557303" y="259815"/>
                  </a:cubicBezTo>
                  <a:lnTo>
                    <a:pt x="21083" y="259815"/>
                  </a:lnTo>
                  <a:cubicBezTo>
                    <a:pt x="9439" y="259815"/>
                    <a:pt x="0" y="250376"/>
                    <a:pt x="0" y="238732"/>
                  </a:cubicBezTo>
                  <a:lnTo>
                    <a:pt x="0" y="21083"/>
                  </a:lnTo>
                  <a:cubicBezTo>
                    <a:pt x="0" y="9439"/>
                    <a:pt x="9439" y="0"/>
                    <a:pt x="21083" y="0"/>
                  </a:cubicBezTo>
                  <a:close/>
                </a:path>
              </a:pathLst>
            </a:custGeom>
            <a:solidFill>
              <a:srgbClr val="393939"/>
            </a:solidFill>
            <a:ln w="47625" cap="rnd">
              <a:solidFill>
                <a:srgbClr val="FDD56F"/>
              </a:solidFill>
              <a:prstDash val="solid"/>
              <a:round/>
            </a:ln>
          </p:spPr>
        </p:sp>
        <p:sp>
          <p:nvSpPr>
            <p:cNvPr name="TextBox 13" id="13"/>
            <p:cNvSpPr txBox="true"/>
            <p:nvPr/>
          </p:nvSpPr>
          <p:spPr>
            <a:xfrm>
              <a:off x="0" y="-38100"/>
              <a:ext cx="3578386" cy="297915"/>
            </a:xfrm>
            <a:prstGeom prst="rect">
              <a:avLst/>
            </a:prstGeom>
          </p:spPr>
          <p:txBody>
            <a:bodyPr anchor="ctr" rtlCol="false" tIns="50800" lIns="50800" bIns="50800" rIns="50800"/>
            <a:lstStyle/>
            <a:p>
              <a:pPr algn="ctr" marL="0" indent="0" lvl="0">
                <a:lnSpc>
                  <a:spcPts val="2659"/>
                </a:lnSpc>
              </a:pPr>
            </a:p>
          </p:txBody>
        </p:sp>
      </p:grpSp>
      <p:sp>
        <p:nvSpPr>
          <p:cNvPr name="TextBox 14" id="14"/>
          <p:cNvSpPr txBox="true"/>
          <p:nvPr/>
        </p:nvSpPr>
        <p:spPr>
          <a:xfrm rot="0">
            <a:off x="2907324" y="3462697"/>
            <a:ext cx="5094018" cy="743304"/>
          </a:xfrm>
          <a:prstGeom prst="rect">
            <a:avLst/>
          </a:prstGeom>
        </p:spPr>
        <p:txBody>
          <a:bodyPr anchor="t" rtlCol="false" tIns="0" lIns="0" bIns="0" rIns="0">
            <a:spAutoFit/>
          </a:bodyPr>
          <a:lstStyle/>
          <a:p>
            <a:pPr algn="just" marL="0" indent="0" lvl="0">
              <a:lnSpc>
                <a:spcPts val="6555"/>
              </a:lnSpc>
            </a:pPr>
            <a:r>
              <a:rPr lang="en-US" sz="3277" spc="-111">
                <a:solidFill>
                  <a:srgbClr val="FFFFFF"/>
                </a:solidFill>
                <a:latin typeface="DM Sans"/>
                <a:ea typeface="DM Sans"/>
                <a:cs typeface="DM Sans"/>
                <a:sym typeface="DM Sans"/>
              </a:rPr>
              <a:t>Limited Battery Life</a:t>
            </a:r>
          </a:p>
        </p:txBody>
      </p:sp>
      <p:grpSp>
        <p:nvGrpSpPr>
          <p:cNvPr name="Group 15" id="15"/>
          <p:cNvGrpSpPr/>
          <p:nvPr/>
        </p:nvGrpSpPr>
        <p:grpSpPr>
          <a:xfrm rot="0">
            <a:off x="2350658" y="4684847"/>
            <a:ext cx="13586683" cy="986486"/>
            <a:chOff x="0" y="0"/>
            <a:chExt cx="3578386" cy="259815"/>
          </a:xfrm>
        </p:grpSpPr>
        <p:sp>
          <p:nvSpPr>
            <p:cNvPr name="Freeform 16" id="16"/>
            <p:cNvSpPr/>
            <p:nvPr/>
          </p:nvSpPr>
          <p:spPr>
            <a:xfrm flipH="false" flipV="false" rot="0">
              <a:off x="0" y="0"/>
              <a:ext cx="3578386" cy="259815"/>
            </a:xfrm>
            <a:custGeom>
              <a:avLst/>
              <a:gdLst/>
              <a:ahLst/>
              <a:cxnLst/>
              <a:rect r="r" b="b" t="t" l="l"/>
              <a:pathLst>
                <a:path h="259815" w="3578386">
                  <a:moveTo>
                    <a:pt x="21083" y="0"/>
                  </a:moveTo>
                  <a:lnTo>
                    <a:pt x="3557303" y="0"/>
                  </a:lnTo>
                  <a:cubicBezTo>
                    <a:pt x="3568946" y="0"/>
                    <a:pt x="3578386" y="9439"/>
                    <a:pt x="3578386" y="21083"/>
                  </a:cubicBezTo>
                  <a:lnTo>
                    <a:pt x="3578386" y="238732"/>
                  </a:lnTo>
                  <a:cubicBezTo>
                    <a:pt x="3578386" y="250376"/>
                    <a:pt x="3568946" y="259815"/>
                    <a:pt x="3557303" y="259815"/>
                  </a:cubicBezTo>
                  <a:lnTo>
                    <a:pt x="21083" y="259815"/>
                  </a:lnTo>
                  <a:cubicBezTo>
                    <a:pt x="9439" y="259815"/>
                    <a:pt x="0" y="250376"/>
                    <a:pt x="0" y="238732"/>
                  </a:cubicBezTo>
                  <a:lnTo>
                    <a:pt x="0" y="21083"/>
                  </a:lnTo>
                  <a:cubicBezTo>
                    <a:pt x="0" y="9439"/>
                    <a:pt x="9439" y="0"/>
                    <a:pt x="21083" y="0"/>
                  </a:cubicBezTo>
                  <a:close/>
                </a:path>
              </a:pathLst>
            </a:custGeom>
            <a:solidFill>
              <a:srgbClr val="393939"/>
            </a:solidFill>
            <a:ln w="47625" cap="rnd">
              <a:solidFill>
                <a:srgbClr val="FDD56F"/>
              </a:solidFill>
              <a:prstDash val="solid"/>
              <a:round/>
            </a:ln>
          </p:spPr>
        </p:sp>
        <p:sp>
          <p:nvSpPr>
            <p:cNvPr name="TextBox 17" id="17"/>
            <p:cNvSpPr txBox="true"/>
            <p:nvPr/>
          </p:nvSpPr>
          <p:spPr>
            <a:xfrm>
              <a:off x="0" y="-38100"/>
              <a:ext cx="3578386" cy="297915"/>
            </a:xfrm>
            <a:prstGeom prst="rect">
              <a:avLst/>
            </a:prstGeom>
          </p:spPr>
          <p:txBody>
            <a:bodyPr anchor="ctr" rtlCol="false" tIns="50800" lIns="50800" bIns="50800" rIns="50800"/>
            <a:lstStyle/>
            <a:p>
              <a:pPr algn="ctr" marL="0" indent="0" lvl="0">
                <a:lnSpc>
                  <a:spcPts val="2659"/>
                </a:lnSpc>
              </a:pPr>
            </a:p>
          </p:txBody>
        </p:sp>
      </p:grpSp>
      <p:sp>
        <p:nvSpPr>
          <p:cNvPr name="TextBox 18" id="18"/>
          <p:cNvSpPr txBox="true"/>
          <p:nvPr/>
        </p:nvSpPr>
        <p:spPr>
          <a:xfrm rot="0">
            <a:off x="2907324" y="4626203"/>
            <a:ext cx="5094018" cy="743304"/>
          </a:xfrm>
          <a:prstGeom prst="rect">
            <a:avLst/>
          </a:prstGeom>
        </p:spPr>
        <p:txBody>
          <a:bodyPr anchor="t" rtlCol="false" tIns="0" lIns="0" bIns="0" rIns="0">
            <a:spAutoFit/>
          </a:bodyPr>
          <a:lstStyle/>
          <a:p>
            <a:pPr algn="just" marL="0" indent="0" lvl="0">
              <a:lnSpc>
                <a:spcPts val="6555"/>
              </a:lnSpc>
            </a:pPr>
            <a:r>
              <a:rPr lang="en-US" sz="3277" spc="-111">
                <a:solidFill>
                  <a:srgbClr val="FFFFFF"/>
                </a:solidFill>
                <a:latin typeface="DM Sans"/>
                <a:ea typeface="DM Sans"/>
                <a:cs typeface="DM Sans"/>
                <a:sym typeface="DM Sans"/>
              </a:rPr>
              <a:t>Low-End Device Support</a:t>
            </a:r>
          </a:p>
        </p:txBody>
      </p:sp>
      <p:grpSp>
        <p:nvGrpSpPr>
          <p:cNvPr name="Group 19" id="19"/>
          <p:cNvGrpSpPr/>
          <p:nvPr/>
        </p:nvGrpSpPr>
        <p:grpSpPr>
          <a:xfrm rot="0">
            <a:off x="2364946" y="5833258"/>
            <a:ext cx="13586683" cy="986486"/>
            <a:chOff x="0" y="0"/>
            <a:chExt cx="3578386" cy="259815"/>
          </a:xfrm>
        </p:grpSpPr>
        <p:sp>
          <p:nvSpPr>
            <p:cNvPr name="Freeform 20" id="20"/>
            <p:cNvSpPr/>
            <p:nvPr/>
          </p:nvSpPr>
          <p:spPr>
            <a:xfrm flipH="false" flipV="false" rot="0">
              <a:off x="0" y="0"/>
              <a:ext cx="3578386" cy="259815"/>
            </a:xfrm>
            <a:custGeom>
              <a:avLst/>
              <a:gdLst/>
              <a:ahLst/>
              <a:cxnLst/>
              <a:rect r="r" b="b" t="t" l="l"/>
              <a:pathLst>
                <a:path h="259815" w="3578386">
                  <a:moveTo>
                    <a:pt x="21083" y="0"/>
                  </a:moveTo>
                  <a:lnTo>
                    <a:pt x="3557303" y="0"/>
                  </a:lnTo>
                  <a:cubicBezTo>
                    <a:pt x="3568946" y="0"/>
                    <a:pt x="3578386" y="9439"/>
                    <a:pt x="3578386" y="21083"/>
                  </a:cubicBezTo>
                  <a:lnTo>
                    <a:pt x="3578386" y="238732"/>
                  </a:lnTo>
                  <a:cubicBezTo>
                    <a:pt x="3578386" y="250376"/>
                    <a:pt x="3568946" y="259815"/>
                    <a:pt x="3557303" y="259815"/>
                  </a:cubicBezTo>
                  <a:lnTo>
                    <a:pt x="21083" y="259815"/>
                  </a:lnTo>
                  <a:cubicBezTo>
                    <a:pt x="9439" y="259815"/>
                    <a:pt x="0" y="250376"/>
                    <a:pt x="0" y="238732"/>
                  </a:cubicBezTo>
                  <a:lnTo>
                    <a:pt x="0" y="21083"/>
                  </a:lnTo>
                  <a:cubicBezTo>
                    <a:pt x="0" y="9439"/>
                    <a:pt x="9439" y="0"/>
                    <a:pt x="21083" y="0"/>
                  </a:cubicBezTo>
                  <a:close/>
                </a:path>
              </a:pathLst>
            </a:custGeom>
            <a:solidFill>
              <a:srgbClr val="393939"/>
            </a:solidFill>
            <a:ln w="47625" cap="rnd">
              <a:solidFill>
                <a:srgbClr val="FDD56F"/>
              </a:solidFill>
              <a:prstDash val="solid"/>
              <a:round/>
            </a:ln>
          </p:spPr>
        </p:sp>
        <p:sp>
          <p:nvSpPr>
            <p:cNvPr name="TextBox 21" id="21"/>
            <p:cNvSpPr txBox="true"/>
            <p:nvPr/>
          </p:nvSpPr>
          <p:spPr>
            <a:xfrm>
              <a:off x="0" y="-38100"/>
              <a:ext cx="3578386" cy="297915"/>
            </a:xfrm>
            <a:prstGeom prst="rect">
              <a:avLst/>
            </a:prstGeom>
          </p:spPr>
          <p:txBody>
            <a:bodyPr anchor="ctr" rtlCol="false" tIns="50800" lIns="50800" bIns="50800" rIns="50800"/>
            <a:lstStyle/>
            <a:p>
              <a:pPr algn="ctr" marL="0" indent="0" lvl="0">
                <a:lnSpc>
                  <a:spcPts val="2659"/>
                </a:lnSpc>
              </a:pPr>
            </a:p>
          </p:txBody>
        </p:sp>
      </p:grpSp>
      <p:sp>
        <p:nvSpPr>
          <p:cNvPr name="TextBox 22" id="22"/>
          <p:cNvSpPr txBox="true"/>
          <p:nvPr/>
        </p:nvSpPr>
        <p:spPr>
          <a:xfrm rot="0">
            <a:off x="2907324" y="5789710"/>
            <a:ext cx="5094018" cy="743304"/>
          </a:xfrm>
          <a:prstGeom prst="rect">
            <a:avLst/>
          </a:prstGeom>
        </p:spPr>
        <p:txBody>
          <a:bodyPr anchor="t" rtlCol="false" tIns="0" lIns="0" bIns="0" rIns="0">
            <a:spAutoFit/>
          </a:bodyPr>
          <a:lstStyle/>
          <a:p>
            <a:pPr algn="just" marL="0" indent="0" lvl="0">
              <a:lnSpc>
                <a:spcPts val="6555"/>
              </a:lnSpc>
            </a:pPr>
            <a:r>
              <a:rPr lang="en-US" sz="3277" spc="-111">
                <a:solidFill>
                  <a:srgbClr val="FFFFFF"/>
                </a:solidFill>
                <a:latin typeface="DM Sans"/>
                <a:ea typeface="DM Sans"/>
                <a:cs typeface="DM Sans"/>
                <a:sym typeface="DM Sans"/>
              </a:rPr>
              <a:t>Unstable Connectivity</a:t>
            </a:r>
          </a:p>
        </p:txBody>
      </p:sp>
      <p:grpSp>
        <p:nvGrpSpPr>
          <p:cNvPr name="Group 23" id="23"/>
          <p:cNvGrpSpPr/>
          <p:nvPr/>
        </p:nvGrpSpPr>
        <p:grpSpPr>
          <a:xfrm rot="0">
            <a:off x="2364946" y="6981669"/>
            <a:ext cx="13586683" cy="986486"/>
            <a:chOff x="0" y="0"/>
            <a:chExt cx="3578386" cy="259815"/>
          </a:xfrm>
        </p:grpSpPr>
        <p:sp>
          <p:nvSpPr>
            <p:cNvPr name="Freeform 24" id="24"/>
            <p:cNvSpPr/>
            <p:nvPr/>
          </p:nvSpPr>
          <p:spPr>
            <a:xfrm flipH="false" flipV="false" rot="0">
              <a:off x="0" y="0"/>
              <a:ext cx="3578386" cy="259815"/>
            </a:xfrm>
            <a:custGeom>
              <a:avLst/>
              <a:gdLst/>
              <a:ahLst/>
              <a:cxnLst/>
              <a:rect r="r" b="b" t="t" l="l"/>
              <a:pathLst>
                <a:path h="259815" w="3578386">
                  <a:moveTo>
                    <a:pt x="21083" y="0"/>
                  </a:moveTo>
                  <a:lnTo>
                    <a:pt x="3557303" y="0"/>
                  </a:lnTo>
                  <a:cubicBezTo>
                    <a:pt x="3568946" y="0"/>
                    <a:pt x="3578386" y="9439"/>
                    <a:pt x="3578386" y="21083"/>
                  </a:cubicBezTo>
                  <a:lnTo>
                    <a:pt x="3578386" y="238732"/>
                  </a:lnTo>
                  <a:cubicBezTo>
                    <a:pt x="3578386" y="250376"/>
                    <a:pt x="3568946" y="259815"/>
                    <a:pt x="3557303" y="259815"/>
                  </a:cubicBezTo>
                  <a:lnTo>
                    <a:pt x="21083" y="259815"/>
                  </a:lnTo>
                  <a:cubicBezTo>
                    <a:pt x="9439" y="259815"/>
                    <a:pt x="0" y="250376"/>
                    <a:pt x="0" y="238732"/>
                  </a:cubicBezTo>
                  <a:lnTo>
                    <a:pt x="0" y="21083"/>
                  </a:lnTo>
                  <a:cubicBezTo>
                    <a:pt x="0" y="9439"/>
                    <a:pt x="9439" y="0"/>
                    <a:pt x="21083" y="0"/>
                  </a:cubicBezTo>
                  <a:close/>
                </a:path>
              </a:pathLst>
            </a:custGeom>
            <a:solidFill>
              <a:srgbClr val="393939"/>
            </a:solidFill>
            <a:ln w="47625" cap="rnd">
              <a:solidFill>
                <a:srgbClr val="FDD56F"/>
              </a:solidFill>
              <a:prstDash val="solid"/>
              <a:round/>
            </a:ln>
          </p:spPr>
        </p:sp>
        <p:sp>
          <p:nvSpPr>
            <p:cNvPr name="TextBox 25" id="25"/>
            <p:cNvSpPr txBox="true"/>
            <p:nvPr/>
          </p:nvSpPr>
          <p:spPr>
            <a:xfrm>
              <a:off x="0" y="-38100"/>
              <a:ext cx="3578386" cy="297915"/>
            </a:xfrm>
            <a:prstGeom prst="rect">
              <a:avLst/>
            </a:prstGeom>
          </p:spPr>
          <p:txBody>
            <a:bodyPr anchor="ctr" rtlCol="false" tIns="50800" lIns="50800" bIns="50800" rIns="50800"/>
            <a:lstStyle/>
            <a:p>
              <a:pPr algn="ctr" marL="0" indent="0" lvl="0">
                <a:lnSpc>
                  <a:spcPts val="2659"/>
                </a:lnSpc>
              </a:pPr>
            </a:p>
          </p:txBody>
        </p:sp>
      </p:grpSp>
      <p:sp>
        <p:nvSpPr>
          <p:cNvPr name="TextBox 26" id="26"/>
          <p:cNvSpPr txBox="true"/>
          <p:nvPr/>
        </p:nvSpPr>
        <p:spPr>
          <a:xfrm rot="0">
            <a:off x="2907324" y="6953216"/>
            <a:ext cx="5094018" cy="743304"/>
          </a:xfrm>
          <a:prstGeom prst="rect">
            <a:avLst/>
          </a:prstGeom>
        </p:spPr>
        <p:txBody>
          <a:bodyPr anchor="t" rtlCol="false" tIns="0" lIns="0" bIns="0" rIns="0">
            <a:spAutoFit/>
          </a:bodyPr>
          <a:lstStyle/>
          <a:p>
            <a:pPr algn="just" marL="0" indent="0" lvl="0">
              <a:lnSpc>
                <a:spcPts val="6555"/>
              </a:lnSpc>
            </a:pPr>
            <a:r>
              <a:rPr lang="en-US" sz="3277" spc="-111">
                <a:solidFill>
                  <a:srgbClr val="FFFFFF"/>
                </a:solidFill>
                <a:latin typeface="DM Sans"/>
                <a:ea typeface="DM Sans"/>
                <a:cs typeface="DM Sans"/>
                <a:sym typeface="DM Sans"/>
              </a:rPr>
              <a:t>Device Fragmentation</a:t>
            </a:r>
          </a:p>
        </p:txBody>
      </p:sp>
      <p:sp>
        <p:nvSpPr>
          <p:cNvPr name="TextBox 27" id="27"/>
          <p:cNvSpPr txBox="true"/>
          <p:nvPr/>
        </p:nvSpPr>
        <p:spPr>
          <a:xfrm rot="0">
            <a:off x="10024900" y="3453172"/>
            <a:ext cx="5094018" cy="743304"/>
          </a:xfrm>
          <a:prstGeom prst="rect">
            <a:avLst/>
          </a:prstGeom>
        </p:spPr>
        <p:txBody>
          <a:bodyPr anchor="t" rtlCol="false" tIns="0" lIns="0" bIns="0" rIns="0">
            <a:spAutoFit/>
          </a:bodyPr>
          <a:lstStyle/>
          <a:p>
            <a:pPr algn="just" marL="0" indent="0" lvl="0">
              <a:lnSpc>
                <a:spcPts val="6555"/>
              </a:lnSpc>
            </a:pPr>
            <a:r>
              <a:rPr lang="en-US" sz="3277" spc="-111">
                <a:solidFill>
                  <a:srgbClr val="FFFFFF"/>
                </a:solidFill>
                <a:latin typeface="DM Sans"/>
                <a:ea typeface="DM Sans"/>
                <a:cs typeface="DM Sans"/>
                <a:sym typeface="DM Sans"/>
              </a:rPr>
              <a:t>Energy-Efficient Design</a:t>
            </a:r>
          </a:p>
        </p:txBody>
      </p:sp>
      <p:sp>
        <p:nvSpPr>
          <p:cNvPr name="TextBox 28" id="28"/>
          <p:cNvSpPr txBox="true"/>
          <p:nvPr/>
        </p:nvSpPr>
        <p:spPr>
          <a:xfrm rot="0">
            <a:off x="9977275" y="4616678"/>
            <a:ext cx="5094018" cy="743304"/>
          </a:xfrm>
          <a:prstGeom prst="rect">
            <a:avLst/>
          </a:prstGeom>
        </p:spPr>
        <p:txBody>
          <a:bodyPr anchor="t" rtlCol="false" tIns="0" lIns="0" bIns="0" rIns="0">
            <a:spAutoFit/>
          </a:bodyPr>
          <a:lstStyle/>
          <a:p>
            <a:pPr algn="just" marL="0" indent="0" lvl="0">
              <a:lnSpc>
                <a:spcPts val="6555"/>
              </a:lnSpc>
            </a:pPr>
            <a:r>
              <a:rPr lang="en-US" sz="3277" spc="-111">
                <a:solidFill>
                  <a:srgbClr val="FFFFFF"/>
                </a:solidFill>
                <a:latin typeface="DM Sans"/>
                <a:ea typeface="DM Sans"/>
                <a:cs typeface="DM Sans"/>
                <a:sym typeface="DM Sans"/>
              </a:rPr>
              <a:t>Minimal Background Activity</a:t>
            </a:r>
          </a:p>
        </p:txBody>
      </p:sp>
      <p:sp>
        <p:nvSpPr>
          <p:cNvPr name="TextBox 29" id="29"/>
          <p:cNvSpPr txBox="true"/>
          <p:nvPr/>
        </p:nvSpPr>
        <p:spPr>
          <a:xfrm rot="0">
            <a:off x="9929650" y="5780185"/>
            <a:ext cx="5094018" cy="743304"/>
          </a:xfrm>
          <a:prstGeom prst="rect">
            <a:avLst/>
          </a:prstGeom>
        </p:spPr>
        <p:txBody>
          <a:bodyPr anchor="t" rtlCol="false" tIns="0" lIns="0" bIns="0" rIns="0">
            <a:spAutoFit/>
          </a:bodyPr>
          <a:lstStyle/>
          <a:p>
            <a:pPr algn="just" marL="0" indent="0" lvl="0">
              <a:lnSpc>
                <a:spcPts val="6555"/>
              </a:lnSpc>
            </a:pPr>
            <a:r>
              <a:rPr lang="en-US" sz="3277" spc="-111">
                <a:solidFill>
                  <a:srgbClr val="FFFFFF"/>
                </a:solidFill>
                <a:latin typeface="DM Sans"/>
                <a:ea typeface="DM Sans"/>
                <a:cs typeface="DM Sans"/>
                <a:sym typeface="DM Sans"/>
              </a:rPr>
              <a:t>Offline Storage &amp; Sync</a:t>
            </a:r>
          </a:p>
        </p:txBody>
      </p:sp>
      <p:sp>
        <p:nvSpPr>
          <p:cNvPr name="TextBox 30" id="30"/>
          <p:cNvSpPr txBox="true"/>
          <p:nvPr/>
        </p:nvSpPr>
        <p:spPr>
          <a:xfrm rot="0">
            <a:off x="9882025" y="6943691"/>
            <a:ext cx="5094018" cy="743304"/>
          </a:xfrm>
          <a:prstGeom prst="rect">
            <a:avLst/>
          </a:prstGeom>
        </p:spPr>
        <p:txBody>
          <a:bodyPr anchor="t" rtlCol="false" tIns="0" lIns="0" bIns="0" rIns="0">
            <a:spAutoFit/>
          </a:bodyPr>
          <a:lstStyle/>
          <a:p>
            <a:pPr algn="just" marL="0" indent="0" lvl="0">
              <a:lnSpc>
                <a:spcPts val="6555"/>
              </a:lnSpc>
            </a:pPr>
            <a:r>
              <a:rPr lang="en-US" sz="3277" spc="-111">
                <a:solidFill>
                  <a:srgbClr val="FFFFFF"/>
                </a:solidFill>
                <a:latin typeface="DM Sans"/>
                <a:ea typeface="DM Sans"/>
                <a:cs typeface="DM Sans"/>
                <a:sym typeface="DM Sans"/>
              </a:rPr>
              <a:t>Low Data Usage</a:t>
            </a:r>
          </a:p>
        </p:txBody>
      </p:sp>
      <p:sp>
        <p:nvSpPr>
          <p:cNvPr name="TextBox 31" id="31"/>
          <p:cNvSpPr txBox="true"/>
          <p:nvPr/>
        </p:nvSpPr>
        <p:spPr>
          <a:xfrm rot="0">
            <a:off x="5009436" y="1657285"/>
            <a:ext cx="8297704" cy="1015744"/>
          </a:xfrm>
          <a:prstGeom prst="rect">
            <a:avLst/>
          </a:prstGeom>
        </p:spPr>
        <p:txBody>
          <a:bodyPr anchor="t" rtlCol="false" tIns="0" lIns="0" bIns="0" rIns="0">
            <a:spAutoFit/>
          </a:bodyPr>
          <a:lstStyle/>
          <a:p>
            <a:pPr algn="ctr" marL="0" indent="0" lvl="0">
              <a:lnSpc>
                <a:spcPts val="5645"/>
              </a:lnSpc>
            </a:pPr>
            <a:r>
              <a:rPr lang="en-US" b="true" sz="7057" spc="-310">
                <a:solidFill>
                  <a:srgbClr val="000000"/>
                </a:solidFill>
                <a:latin typeface="Agrandir Bold"/>
                <a:ea typeface="Agrandir Bold"/>
                <a:cs typeface="Agrandir Bold"/>
                <a:sym typeface="Agrandir Bold"/>
              </a:rPr>
              <a:t>System Constraints</a:t>
            </a:r>
          </a:p>
        </p:txBody>
      </p:sp>
      <p:sp>
        <p:nvSpPr>
          <p:cNvPr name="Freeform 32" id="32"/>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4995148" y="1650741"/>
            <a:ext cx="8297704" cy="845864"/>
          </a:xfrm>
          <a:prstGeom prst="rect">
            <a:avLst/>
          </a:prstGeom>
        </p:spPr>
        <p:txBody>
          <a:bodyPr anchor="t" rtlCol="false" tIns="0" lIns="0" bIns="0" rIns="0">
            <a:spAutoFit/>
          </a:bodyPr>
          <a:lstStyle/>
          <a:p>
            <a:pPr algn="ctr" marL="0" indent="0" lvl="0">
              <a:lnSpc>
                <a:spcPts val="4770"/>
              </a:lnSpc>
            </a:pPr>
            <a:r>
              <a:rPr lang="en-US" b="true" sz="5963" spc="-262">
                <a:solidFill>
                  <a:srgbClr val="000000"/>
                </a:solidFill>
                <a:latin typeface="Agrandir Bold"/>
                <a:ea typeface="Agrandir Bold"/>
                <a:cs typeface="Agrandir Bold"/>
                <a:sym typeface="Agrandir Bold"/>
              </a:rPr>
              <a:t>Data Analysis Approach</a:t>
            </a:r>
          </a:p>
        </p:txBody>
      </p:sp>
      <p:sp>
        <p:nvSpPr>
          <p:cNvPr name="TextBox 12" id="12"/>
          <p:cNvSpPr txBox="true"/>
          <p:nvPr/>
        </p:nvSpPr>
        <p:spPr>
          <a:xfrm rot="0">
            <a:off x="3669977" y="6076335"/>
            <a:ext cx="10948045" cy="1352752"/>
          </a:xfrm>
          <a:prstGeom prst="rect">
            <a:avLst/>
          </a:prstGeom>
        </p:spPr>
        <p:txBody>
          <a:bodyPr anchor="t" rtlCol="false" tIns="0" lIns="0" bIns="0" rIns="0">
            <a:spAutoFit/>
          </a:bodyPr>
          <a:lstStyle/>
          <a:p>
            <a:pPr algn="just" marL="0" indent="0" lvl="0">
              <a:lnSpc>
                <a:spcPts val="3663"/>
              </a:lnSpc>
            </a:pPr>
            <a:r>
              <a:rPr lang="en-US" sz="2617" spc="-88">
                <a:solidFill>
                  <a:srgbClr val="000000"/>
                </a:solidFill>
                <a:latin typeface="DM Sans"/>
                <a:ea typeface="DM Sans"/>
                <a:cs typeface="DM Sans"/>
                <a:sym typeface="DM Sans"/>
              </a:rPr>
              <a:t>Survey insights were directly translated into actionable system requirements. This data-driven methodology ensured that design and technology decisions were grounded in real user needs and constraints.</a:t>
            </a:r>
          </a:p>
        </p:txBody>
      </p:sp>
      <p:sp>
        <p:nvSpPr>
          <p:cNvPr name="TextBox 13" id="13"/>
          <p:cNvSpPr txBox="true"/>
          <p:nvPr/>
        </p:nvSpPr>
        <p:spPr>
          <a:xfrm rot="0">
            <a:off x="3632763" y="4233814"/>
            <a:ext cx="11022474" cy="1352752"/>
          </a:xfrm>
          <a:prstGeom prst="rect">
            <a:avLst/>
          </a:prstGeom>
        </p:spPr>
        <p:txBody>
          <a:bodyPr anchor="t" rtlCol="false" tIns="0" lIns="0" bIns="0" rIns="0">
            <a:spAutoFit/>
          </a:bodyPr>
          <a:lstStyle/>
          <a:p>
            <a:pPr algn="just" marL="0" indent="0" lvl="0">
              <a:lnSpc>
                <a:spcPts val="3663"/>
              </a:lnSpc>
            </a:pPr>
            <a:r>
              <a:rPr lang="en-US" sz="2617" spc="-88">
                <a:solidFill>
                  <a:srgbClr val="000000"/>
                </a:solidFill>
                <a:latin typeface="DM Sans"/>
                <a:ea typeface="DM Sans"/>
                <a:cs typeface="DM Sans"/>
                <a:sym typeface="DM Sans"/>
              </a:rPr>
              <a:t>Descriptive analysis was applied to over 45 quantitative survey responses to detect trends and patterns. The analysis focused on four key areas: technical environment, user behavior, privacy concerns, and operational constraints.</a:t>
            </a:r>
          </a:p>
        </p:txBody>
      </p:sp>
      <p:sp>
        <p:nvSpPr>
          <p:cNvPr name="Freeform 14" id="14"/>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4995148" y="1650741"/>
            <a:ext cx="8297704" cy="1373631"/>
          </a:xfrm>
          <a:prstGeom prst="rect">
            <a:avLst/>
          </a:prstGeom>
        </p:spPr>
        <p:txBody>
          <a:bodyPr anchor="t" rtlCol="false" tIns="0" lIns="0" bIns="0" rIns="0">
            <a:spAutoFit/>
          </a:bodyPr>
          <a:lstStyle/>
          <a:p>
            <a:pPr algn="ctr" marL="0" indent="0" lvl="0">
              <a:lnSpc>
                <a:spcPts val="4531"/>
              </a:lnSpc>
            </a:pPr>
            <a:r>
              <a:rPr lang="en-US" b="true" sz="5664" spc="-249">
                <a:solidFill>
                  <a:srgbClr val="000000"/>
                </a:solidFill>
                <a:latin typeface="Agrandir Bold"/>
                <a:ea typeface="Agrandir Bold"/>
                <a:cs typeface="Agrandir Bold"/>
                <a:sym typeface="Agrandir Bold"/>
              </a:rPr>
              <a:t>Drawing Conclusions from Analysis</a:t>
            </a:r>
          </a:p>
        </p:txBody>
      </p:sp>
      <p:sp>
        <p:nvSpPr>
          <p:cNvPr name="Freeform 12" id="12"/>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2821635" y="4385102"/>
            <a:ext cx="2912953" cy="511684"/>
          </a:xfrm>
          <a:prstGeom prst="rect">
            <a:avLst/>
          </a:prstGeom>
        </p:spPr>
        <p:txBody>
          <a:bodyPr anchor="t" rtlCol="false" tIns="0" lIns="0" bIns="0" rIns="0">
            <a:spAutoFit/>
          </a:bodyPr>
          <a:lstStyle/>
          <a:p>
            <a:pPr algn="l" marL="0" indent="0" lvl="0">
              <a:lnSpc>
                <a:spcPts val="1908"/>
              </a:lnSpc>
            </a:pPr>
            <a:r>
              <a:rPr lang="en-US" b="true" sz="2385" spc="-104">
                <a:solidFill>
                  <a:srgbClr val="000000"/>
                </a:solidFill>
                <a:latin typeface="DM Sans Bold"/>
                <a:ea typeface="DM Sans Bold"/>
                <a:cs typeface="DM Sans Bold"/>
                <a:sym typeface="DM Sans Bold"/>
              </a:rPr>
              <a:t>Platform &amp; UI Decisions</a:t>
            </a:r>
          </a:p>
        </p:txBody>
      </p:sp>
      <p:sp>
        <p:nvSpPr>
          <p:cNvPr name="TextBox 14" id="14"/>
          <p:cNvSpPr txBox="true"/>
          <p:nvPr/>
        </p:nvSpPr>
        <p:spPr>
          <a:xfrm rot="0">
            <a:off x="10181500" y="4385102"/>
            <a:ext cx="2990833" cy="511684"/>
          </a:xfrm>
          <a:prstGeom prst="rect">
            <a:avLst/>
          </a:prstGeom>
        </p:spPr>
        <p:txBody>
          <a:bodyPr anchor="t" rtlCol="false" tIns="0" lIns="0" bIns="0" rIns="0">
            <a:spAutoFit/>
          </a:bodyPr>
          <a:lstStyle/>
          <a:p>
            <a:pPr algn="l" marL="0" indent="0" lvl="0">
              <a:lnSpc>
                <a:spcPts val="1908"/>
              </a:lnSpc>
            </a:pPr>
            <a:r>
              <a:rPr lang="en-US" b="true" sz="2385" spc="-104">
                <a:solidFill>
                  <a:srgbClr val="000000"/>
                </a:solidFill>
                <a:latin typeface="DM Sans Bold"/>
                <a:ea typeface="DM Sans Bold"/>
                <a:cs typeface="DM Sans Bold"/>
                <a:sym typeface="DM Sans Bold"/>
              </a:rPr>
              <a:t>Data &amp; Privacy Strategy</a:t>
            </a:r>
          </a:p>
        </p:txBody>
      </p:sp>
      <p:sp>
        <p:nvSpPr>
          <p:cNvPr name="TextBox 15" id="15"/>
          <p:cNvSpPr txBox="true"/>
          <p:nvPr/>
        </p:nvSpPr>
        <p:spPr>
          <a:xfrm rot="0">
            <a:off x="10181500" y="5114925"/>
            <a:ext cx="5284865" cy="1462496"/>
          </a:xfrm>
          <a:prstGeom prst="rect">
            <a:avLst/>
          </a:prstGeom>
        </p:spPr>
        <p:txBody>
          <a:bodyPr anchor="t" rtlCol="false" tIns="0" lIns="0" bIns="0" rIns="0">
            <a:spAutoFit/>
          </a:bodyPr>
          <a:lstStyle/>
          <a:p>
            <a:pPr algn="just" marL="0" indent="0" lvl="0">
              <a:lnSpc>
                <a:spcPts val="2339"/>
              </a:lnSpc>
            </a:pPr>
            <a:r>
              <a:rPr lang="en-US" sz="1671" spc="-56">
                <a:solidFill>
                  <a:srgbClr val="000000"/>
                </a:solidFill>
                <a:latin typeface="DM Sans"/>
                <a:ea typeface="DM Sans"/>
                <a:cs typeface="DM Sans"/>
                <a:sym typeface="DM Sans"/>
              </a:rPr>
              <a:t>Data collection balances continuous background monitoring with energy efficiency. Active SIM detection critical for dual-SIM attribution. Privacy model emphasizes strict anonymization, transparency, and granular user control.</a:t>
            </a:r>
          </a:p>
        </p:txBody>
      </p:sp>
      <p:sp>
        <p:nvSpPr>
          <p:cNvPr name="TextBox 16" id="16"/>
          <p:cNvSpPr txBox="true"/>
          <p:nvPr/>
        </p:nvSpPr>
        <p:spPr>
          <a:xfrm rot="0">
            <a:off x="2821635" y="5114925"/>
            <a:ext cx="5284865" cy="1462496"/>
          </a:xfrm>
          <a:prstGeom prst="rect">
            <a:avLst/>
          </a:prstGeom>
        </p:spPr>
        <p:txBody>
          <a:bodyPr anchor="t" rtlCol="false" tIns="0" lIns="0" bIns="0" rIns="0">
            <a:spAutoFit/>
          </a:bodyPr>
          <a:lstStyle/>
          <a:p>
            <a:pPr algn="just" marL="0" indent="0" lvl="0">
              <a:lnSpc>
                <a:spcPts val="2339"/>
              </a:lnSpc>
            </a:pPr>
            <a:r>
              <a:rPr lang="en-US" sz="1671" spc="-56">
                <a:solidFill>
                  <a:srgbClr val="000000"/>
                </a:solidFill>
                <a:latin typeface="DM Sans"/>
                <a:ea typeface="DM Sans"/>
                <a:cs typeface="DM Sans"/>
                <a:sym typeface="DM Sans"/>
              </a:rPr>
              <a:t>Android dominance (75.9%) with iOS presence drove cross-platform development choice via React Native. UI design shaped by user preference for minimal, fast interactions under 10 seconds with simple feedback methods.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4995148" y="1650741"/>
            <a:ext cx="8297704" cy="1373631"/>
          </a:xfrm>
          <a:prstGeom prst="rect">
            <a:avLst/>
          </a:prstGeom>
        </p:spPr>
        <p:txBody>
          <a:bodyPr anchor="t" rtlCol="false" tIns="0" lIns="0" bIns="0" rIns="0">
            <a:spAutoFit/>
          </a:bodyPr>
          <a:lstStyle/>
          <a:p>
            <a:pPr algn="ctr" marL="0" indent="0" lvl="0">
              <a:lnSpc>
                <a:spcPts val="4531"/>
              </a:lnSpc>
            </a:pPr>
            <a:r>
              <a:rPr lang="en-US" b="true" sz="5664" spc="-249">
                <a:solidFill>
                  <a:srgbClr val="000000"/>
                </a:solidFill>
                <a:latin typeface="Agrandir Bold"/>
                <a:ea typeface="Agrandir Bold"/>
                <a:cs typeface="Agrandir Bold"/>
                <a:sym typeface="Agrandir Bold"/>
              </a:rPr>
              <a:t>Technology Decisions – Frontend</a:t>
            </a:r>
          </a:p>
        </p:txBody>
      </p:sp>
      <p:sp>
        <p:nvSpPr>
          <p:cNvPr name="TextBox 12" id="12"/>
          <p:cNvSpPr txBox="true"/>
          <p:nvPr/>
        </p:nvSpPr>
        <p:spPr>
          <a:xfrm rot="0">
            <a:off x="3669977" y="6076335"/>
            <a:ext cx="10948045" cy="1135752"/>
          </a:xfrm>
          <a:prstGeom prst="rect">
            <a:avLst/>
          </a:prstGeom>
        </p:spPr>
        <p:txBody>
          <a:bodyPr anchor="t" rtlCol="false" tIns="0" lIns="0" bIns="0" rIns="0">
            <a:spAutoFit/>
          </a:bodyPr>
          <a:lstStyle/>
          <a:p>
            <a:pPr algn="just" marL="0" indent="0" lvl="0">
              <a:lnSpc>
                <a:spcPts val="3024"/>
              </a:lnSpc>
            </a:pPr>
            <a:r>
              <a:rPr lang="en-US" sz="2160" spc="-73">
                <a:solidFill>
                  <a:srgbClr val="000000"/>
                </a:solidFill>
                <a:latin typeface="DM Sans"/>
                <a:ea typeface="DM Sans"/>
                <a:cs typeface="DM Sans"/>
                <a:sym typeface="DM Sans"/>
              </a:rPr>
              <a:t>Native module integration using Kotlin for Android and Swift for iOS enables performance-critical network measurements. React Native handles user interaction and visualization layers, while all network measurements are performed directly on the mobile device for accuracy.</a:t>
            </a:r>
          </a:p>
        </p:txBody>
      </p:sp>
      <p:sp>
        <p:nvSpPr>
          <p:cNvPr name="TextBox 13" id="13"/>
          <p:cNvSpPr txBox="true"/>
          <p:nvPr/>
        </p:nvSpPr>
        <p:spPr>
          <a:xfrm rot="0">
            <a:off x="3632763" y="4233814"/>
            <a:ext cx="11022474" cy="1135752"/>
          </a:xfrm>
          <a:prstGeom prst="rect">
            <a:avLst/>
          </a:prstGeom>
        </p:spPr>
        <p:txBody>
          <a:bodyPr anchor="t" rtlCol="false" tIns="0" lIns="0" bIns="0" rIns="0">
            <a:spAutoFit/>
          </a:bodyPr>
          <a:lstStyle/>
          <a:p>
            <a:pPr algn="just" marL="0" indent="0" lvl="0">
              <a:lnSpc>
                <a:spcPts val="3024"/>
              </a:lnSpc>
            </a:pPr>
            <a:r>
              <a:rPr lang="en-US" sz="2160" spc="-73">
                <a:solidFill>
                  <a:srgbClr val="000000"/>
                </a:solidFill>
                <a:latin typeface="DM Sans"/>
                <a:ea typeface="DM Sans"/>
                <a:cs typeface="DM Sans"/>
                <a:sym typeface="DM Sans"/>
              </a:rPr>
              <a:t>React Native with Expo was selected for cross-platform compatibility, enabling a single codebase for both Android and iOS. This approach significantly reduces development complexity and time while maintaining native performance where needed.</a:t>
            </a:r>
          </a:p>
        </p:txBody>
      </p:sp>
      <p:sp>
        <p:nvSpPr>
          <p:cNvPr name="Freeform 14" id="14"/>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995148" y="1650741"/>
            <a:ext cx="8297704" cy="1373631"/>
          </a:xfrm>
          <a:prstGeom prst="rect">
            <a:avLst/>
          </a:prstGeom>
        </p:spPr>
        <p:txBody>
          <a:bodyPr anchor="t" rtlCol="false" tIns="0" lIns="0" bIns="0" rIns="0">
            <a:spAutoFit/>
          </a:bodyPr>
          <a:lstStyle/>
          <a:p>
            <a:pPr algn="ctr" marL="0" indent="0" lvl="0">
              <a:lnSpc>
                <a:spcPts val="4531"/>
              </a:lnSpc>
            </a:pPr>
            <a:r>
              <a:rPr lang="en-US" b="true" sz="5664" spc="-249">
                <a:solidFill>
                  <a:srgbClr val="000000"/>
                </a:solidFill>
                <a:latin typeface="Agrandir Bold"/>
                <a:ea typeface="Agrandir Bold"/>
                <a:cs typeface="Agrandir Bold"/>
                <a:sym typeface="Agrandir Bold"/>
              </a:rPr>
              <a:t>Technology Decisions – Backend</a:t>
            </a:r>
          </a:p>
        </p:txBody>
      </p:sp>
      <p:sp>
        <p:nvSpPr>
          <p:cNvPr name="TextBox 13" id="13"/>
          <p:cNvSpPr txBox="true"/>
          <p:nvPr/>
        </p:nvSpPr>
        <p:spPr>
          <a:xfrm rot="0">
            <a:off x="3669977" y="6076335"/>
            <a:ext cx="10948045" cy="1190582"/>
          </a:xfrm>
          <a:prstGeom prst="rect">
            <a:avLst/>
          </a:prstGeom>
        </p:spPr>
        <p:txBody>
          <a:bodyPr anchor="t" rtlCol="false" tIns="0" lIns="0" bIns="0" rIns="0">
            <a:spAutoFit/>
          </a:bodyPr>
          <a:lstStyle/>
          <a:p>
            <a:pPr algn="just" marL="0" indent="0" lvl="0">
              <a:lnSpc>
                <a:spcPts val="3152"/>
              </a:lnSpc>
            </a:pPr>
            <a:r>
              <a:rPr lang="en-US" sz="2251" spc="-76">
                <a:solidFill>
                  <a:srgbClr val="000000"/>
                </a:solidFill>
                <a:latin typeface="DM Sans"/>
                <a:ea typeface="DM Sans"/>
                <a:cs typeface="DM Sans"/>
                <a:sym typeface="DM Sans"/>
              </a:rPr>
              <a:t>RESTful API architecture for data reception and retrieval. MongoDB selected for scalable, flexible document storage. Secure HTTPS communication ensures data integrity. Backend receives and stores measurement results only—does not perform network tests.</a:t>
            </a:r>
          </a:p>
        </p:txBody>
      </p:sp>
      <p:sp>
        <p:nvSpPr>
          <p:cNvPr name="TextBox 14" id="14"/>
          <p:cNvSpPr txBox="true"/>
          <p:nvPr/>
        </p:nvSpPr>
        <p:spPr>
          <a:xfrm rot="0">
            <a:off x="3632763" y="4233814"/>
            <a:ext cx="11022474" cy="1190582"/>
          </a:xfrm>
          <a:prstGeom prst="rect">
            <a:avLst/>
          </a:prstGeom>
        </p:spPr>
        <p:txBody>
          <a:bodyPr anchor="t" rtlCol="false" tIns="0" lIns="0" bIns="0" rIns="0">
            <a:spAutoFit/>
          </a:bodyPr>
          <a:lstStyle/>
          <a:p>
            <a:pPr algn="just" marL="0" indent="0" lvl="0">
              <a:lnSpc>
                <a:spcPts val="3152"/>
              </a:lnSpc>
            </a:pPr>
            <a:r>
              <a:rPr lang="en-US" sz="2251" spc="-76">
                <a:solidFill>
                  <a:srgbClr val="000000"/>
                </a:solidFill>
                <a:latin typeface="DM Sans"/>
                <a:ea typeface="DM Sans"/>
                <a:cs typeface="DM Sans"/>
                <a:sym typeface="DM Sans"/>
              </a:rPr>
              <a:t>Node.js with Express chosen for scalable, event-driven request handling. Efficient real-time data ingestion from mobile clients. Backend processes, validates, and stores anonymized network performance data.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5009436" y="1657285"/>
            <a:ext cx="8297704" cy="1373631"/>
          </a:xfrm>
          <a:prstGeom prst="rect">
            <a:avLst/>
          </a:prstGeom>
        </p:spPr>
        <p:txBody>
          <a:bodyPr anchor="t" rtlCol="false" tIns="0" lIns="0" bIns="0" rIns="0">
            <a:spAutoFit/>
          </a:bodyPr>
          <a:lstStyle/>
          <a:p>
            <a:pPr algn="ctr" marL="0" indent="0" lvl="0">
              <a:lnSpc>
                <a:spcPts val="4531"/>
              </a:lnSpc>
            </a:pPr>
            <a:r>
              <a:rPr lang="en-US" b="true" sz="5664" spc="-249">
                <a:solidFill>
                  <a:srgbClr val="000000"/>
                </a:solidFill>
                <a:latin typeface="Agrandir Bold"/>
                <a:ea typeface="Agrandir Bold"/>
                <a:cs typeface="Agrandir Bold"/>
                <a:sym typeface="Agrandir Bold"/>
              </a:rPr>
              <a:t>Language and Localization</a:t>
            </a:r>
          </a:p>
        </p:txBody>
      </p:sp>
      <p:sp>
        <p:nvSpPr>
          <p:cNvPr name="TextBox 12" id="12"/>
          <p:cNvSpPr txBox="true"/>
          <p:nvPr/>
        </p:nvSpPr>
        <p:spPr>
          <a:xfrm rot="0">
            <a:off x="4033977" y="4337100"/>
            <a:ext cx="10220045" cy="3312706"/>
          </a:xfrm>
          <a:prstGeom prst="rect">
            <a:avLst/>
          </a:prstGeom>
        </p:spPr>
        <p:txBody>
          <a:bodyPr anchor="t" rtlCol="false" tIns="0" lIns="0" bIns="0" rIns="0">
            <a:spAutoFit/>
          </a:bodyPr>
          <a:lstStyle/>
          <a:p>
            <a:pPr algn="ctr" marL="0" indent="0" lvl="0">
              <a:lnSpc>
                <a:spcPts val="3784"/>
              </a:lnSpc>
            </a:pPr>
            <a:r>
              <a:rPr lang="en-US" sz="2703" spc="-91">
                <a:solidFill>
                  <a:srgbClr val="000000"/>
                </a:solidFill>
                <a:latin typeface="DM Sans"/>
                <a:ea typeface="DM Sans"/>
                <a:cs typeface="DM Sans"/>
                <a:sym typeface="DM Sans"/>
              </a:rPr>
              <a:t>Survey results reveal clear language preferences among mobile network subscribers in Cameroon. 49.1% of users prefer English, while 43.4% are bilingual in English and French, with a minority preferring French only. Based on these findings, the app will default to English with a built-in language toggle enabling seamless switching to French. This bilingual support is critical for ensuring accessibility across the Central African user base and maximizing adoption rates.</a:t>
            </a:r>
          </a:p>
        </p:txBody>
      </p:sp>
      <p:sp>
        <p:nvSpPr>
          <p:cNvPr name="Freeform 13" id="13"/>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4995148" y="1650741"/>
            <a:ext cx="8297704" cy="1373631"/>
          </a:xfrm>
          <a:prstGeom prst="rect">
            <a:avLst/>
          </a:prstGeom>
        </p:spPr>
        <p:txBody>
          <a:bodyPr anchor="t" rtlCol="false" tIns="0" lIns="0" bIns="0" rIns="0">
            <a:spAutoFit/>
          </a:bodyPr>
          <a:lstStyle/>
          <a:p>
            <a:pPr algn="ctr" marL="0" indent="0" lvl="0">
              <a:lnSpc>
                <a:spcPts val="4531"/>
              </a:lnSpc>
            </a:pPr>
            <a:r>
              <a:rPr lang="en-US" b="true" sz="5664" spc="-249">
                <a:solidFill>
                  <a:srgbClr val="000000"/>
                </a:solidFill>
                <a:latin typeface="Agrandir Bold"/>
                <a:ea typeface="Agrandir Bold"/>
                <a:cs typeface="Agrandir Bold"/>
                <a:sym typeface="Agrandir Bold"/>
              </a:rPr>
              <a:t>User Motivation and Adoption</a:t>
            </a:r>
          </a:p>
        </p:txBody>
      </p:sp>
      <p:sp>
        <p:nvSpPr>
          <p:cNvPr name="TextBox 12" id="12"/>
          <p:cNvSpPr txBox="true"/>
          <p:nvPr/>
        </p:nvSpPr>
        <p:spPr>
          <a:xfrm rot="0">
            <a:off x="3669977" y="6076335"/>
            <a:ext cx="10948045" cy="1516855"/>
          </a:xfrm>
          <a:prstGeom prst="rect">
            <a:avLst/>
          </a:prstGeom>
        </p:spPr>
        <p:txBody>
          <a:bodyPr anchor="t" rtlCol="false" tIns="0" lIns="0" bIns="0" rIns="0">
            <a:spAutoFit/>
          </a:bodyPr>
          <a:lstStyle/>
          <a:p>
            <a:pPr algn="just" marL="0" indent="0" lvl="0">
              <a:lnSpc>
                <a:spcPts val="4068"/>
              </a:lnSpc>
            </a:pPr>
            <a:r>
              <a:rPr lang="en-US" sz="2906" spc="-98">
                <a:solidFill>
                  <a:srgbClr val="000000"/>
                </a:solidFill>
                <a:latin typeface="DM Sans"/>
                <a:ea typeface="DM Sans"/>
                <a:cs typeface="DM Sans"/>
                <a:sym typeface="DM Sans"/>
              </a:rPr>
              <a:t>Visualization and actionable insights increase perceived value. Transparent data use fosters trust and ongoing engagement with the application.</a:t>
            </a:r>
          </a:p>
        </p:txBody>
      </p:sp>
      <p:sp>
        <p:nvSpPr>
          <p:cNvPr name="TextBox 13" id="13"/>
          <p:cNvSpPr txBox="true"/>
          <p:nvPr/>
        </p:nvSpPr>
        <p:spPr>
          <a:xfrm rot="0">
            <a:off x="3632763" y="4233814"/>
            <a:ext cx="11022474" cy="1516855"/>
          </a:xfrm>
          <a:prstGeom prst="rect">
            <a:avLst/>
          </a:prstGeom>
        </p:spPr>
        <p:txBody>
          <a:bodyPr anchor="t" rtlCol="false" tIns="0" lIns="0" bIns="0" rIns="0">
            <a:spAutoFit/>
          </a:bodyPr>
          <a:lstStyle/>
          <a:p>
            <a:pPr algn="just" marL="0" indent="0" lvl="0">
              <a:lnSpc>
                <a:spcPts val="4068"/>
              </a:lnSpc>
            </a:pPr>
            <a:r>
              <a:rPr lang="en-US" sz="2906" spc="-98">
                <a:solidFill>
                  <a:srgbClr val="000000"/>
                </a:solidFill>
                <a:latin typeface="DM Sans"/>
                <a:ea typeface="DM Sans"/>
                <a:cs typeface="DM Sans"/>
                <a:sym typeface="DM Sans"/>
              </a:rPr>
              <a:t>Users are more likely to keep the app if they see personal network insights. Dashboards showing personal network performance over time drive retention.</a:t>
            </a:r>
          </a:p>
        </p:txBody>
      </p:sp>
      <p:sp>
        <p:nvSpPr>
          <p:cNvPr name="Freeform 14" id="14"/>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995148" y="1688841"/>
            <a:ext cx="8297704" cy="1349087"/>
          </a:xfrm>
          <a:prstGeom prst="rect">
            <a:avLst/>
          </a:prstGeom>
        </p:spPr>
        <p:txBody>
          <a:bodyPr anchor="t" rtlCol="false" tIns="0" lIns="0" bIns="0" rIns="0">
            <a:spAutoFit/>
          </a:bodyPr>
          <a:lstStyle/>
          <a:p>
            <a:pPr algn="ctr" marL="0" indent="0" lvl="0">
              <a:lnSpc>
                <a:spcPts val="7595"/>
              </a:lnSpc>
            </a:pPr>
            <a:r>
              <a:rPr lang="en-US" b="true" sz="9494" spc="-417">
                <a:solidFill>
                  <a:srgbClr val="000000"/>
                </a:solidFill>
                <a:latin typeface="Agrandir Bold"/>
                <a:ea typeface="Agrandir Bold"/>
                <a:cs typeface="Agrandir Bold"/>
                <a:sym typeface="Agrandir Bold"/>
              </a:rPr>
              <a:t>Conclusion</a:t>
            </a:r>
          </a:p>
        </p:txBody>
      </p:sp>
      <p:sp>
        <p:nvSpPr>
          <p:cNvPr name="TextBox 13" id="13"/>
          <p:cNvSpPr txBox="true"/>
          <p:nvPr/>
        </p:nvSpPr>
        <p:spPr>
          <a:xfrm rot="0">
            <a:off x="3669977" y="6085860"/>
            <a:ext cx="10948045" cy="1469900"/>
          </a:xfrm>
          <a:prstGeom prst="rect">
            <a:avLst/>
          </a:prstGeom>
        </p:spPr>
        <p:txBody>
          <a:bodyPr anchor="t" rtlCol="false" tIns="0" lIns="0" bIns="0" rIns="0">
            <a:spAutoFit/>
          </a:bodyPr>
          <a:lstStyle/>
          <a:p>
            <a:pPr algn="just" marL="0" indent="0" lvl="0">
              <a:lnSpc>
                <a:spcPts val="2981"/>
              </a:lnSpc>
            </a:pPr>
            <a:r>
              <a:rPr lang="en-US" sz="2129" spc="-72">
                <a:solidFill>
                  <a:srgbClr val="000000"/>
                </a:solidFill>
                <a:latin typeface="DM Sans"/>
                <a:ea typeface="DM Sans"/>
                <a:cs typeface="DM Sans"/>
                <a:sym typeface="DM Sans"/>
              </a:rPr>
              <a:t>Key architectural principles include client-side network measurements for accuracy, a privacy-first approach with user control and anonymization, and energy-efficient offline-capable design. The outcome is a scalable, accurate, and user-centered system for collecting both QoE and QoS data from mobile network subscribers.</a:t>
            </a:r>
          </a:p>
        </p:txBody>
      </p:sp>
      <p:sp>
        <p:nvSpPr>
          <p:cNvPr name="TextBox 14" id="14"/>
          <p:cNvSpPr txBox="true"/>
          <p:nvPr/>
        </p:nvSpPr>
        <p:spPr>
          <a:xfrm rot="0">
            <a:off x="3632763" y="4243339"/>
            <a:ext cx="11022474" cy="1469900"/>
          </a:xfrm>
          <a:prstGeom prst="rect">
            <a:avLst/>
          </a:prstGeom>
        </p:spPr>
        <p:txBody>
          <a:bodyPr anchor="t" rtlCol="false" tIns="0" lIns="0" bIns="0" rIns="0">
            <a:spAutoFit/>
          </a:bodyPr>
          <a:lstStyle/>
          <a:p>
            <a:pPr algn="just" marL="0" indent="0" lvl="0">
              <a:lnSpc>
                <a:spcPts val="2981"/>
              </a:lnSpc>
            </a:pPr>
            <a:r>
              <a:rPr lang="en-US" sz="2129" spc="-72">
                <a:solidFill>
                  <a:srgbClr val="000000"/>
                </a:solidFill>
                <a:latin typeface="DM Sans"/>
                <a:ea typeface="DM Sans"/>
                <a:cs typeface="DM Sans"/>
                <a:sym typeface="DM Sans"/>
              </a:rPr>
              <a:t>This requirements analysis established a comprehensive understanding of the technical environment, user expectations, and operational constraints. The resulting technology stack combines React Native with Expo and native modules for cross-platform frontend development, with Node.js, Express, and MongoDB powering the backend infrastructure.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243205"/>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5400000">
            <a:off x="8471887" y="6200247"/>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754150" y="3680571"/>
            <a:ext cx="12779699" cy="2179411"/>
          </a:xfrm>
          <a:prstGeom prst="rect">
            <a:avLst/>
          </a:prstGeom>
        </p:spPr>
        <p:txBody>
          <a:bodyPr anchor="t" rtlCol="false" tIns="0" lIns="0" bIns="0" rIns="0">
            <a:spAutoFit/>
          </a:bodyPr>
          <a:lstStyle/>
          <a:p>
            <a:pPr algn="ctr" marL="0" indent="0" lvl="0">
              <a:lnSpc>
                <a:spcPts val="12271"/>
              </a:lnSpc>
            </a:pPr>
            <a:r>
              <a:rPr lang="en-US" b="true" sz="15339" spc="-674">
                <a:solidFill>
                  <a:srgbClr val="000000"/>
                </a:solidFill>
                <a:latin typeface="Agrandir Bold"/>
                <a:ea typeface="Agrandir Bold"/>
                <a:cs typeface="Agrandir Bold"/>
                <a:sym typeface="Agrandir Bold"/>
              </a:rPr>
              <a:t>Thank You</a:t>
            </a:r>
          </a:p>
        </p:txBody>
      </p:sp>
      <p:sp>
        <p:nvSpPr>
          <p:cNvPr name="TextBox 11" id="11"/>
          <p:cNvSpPr txBox="true"/>
          <p:nvPr/>
        </p:nvSpPr>
        <p:spPr>
          <a:xfrm rot="0">
            <a:off x="4243940" y="6013278"/>
            <a:ext cx="9800119" cy="758151"/>
          </a:xfrm>
          <a:prstGeom prst="rect">
            <a:avLst/>
          </a:prstGeom>
        </p:spPr>
        <p:txBody>
          <a:bodyPr anchor="t" rtlCol="false" tIns="0" lIns="0" bIns="0" rIns="0">
            <a:spAutoFit/>
          </a:bodyPr>
          <a:lstStyle/>
          <a:p>
            <a:pPr algn="ctr" marL="0" indent="0" lvl="0">
              <a:lnSpc>
                <a:spcPts val="5848"/>
              </a:lnSpc>
            </a:pPr>
            <a:r>
              <a:rPr lang="en-US" b="true" sz="5848" spc="-257">
                <a:solidFill>
                  <a:srgbClr val="000000"/>
                </a:solidFill>
                <a:latin typeface="DM Sans Bold"/>
                <a:ea typeface="DM Sans Bold"/>
                <a:cs typeface="DM Sans Bold"/>
                <a:sym typeface="DM Sans Bold"/>
              </a:rPr>
              <a:t>Questions?</a:t>
            </a:r>
          </a:p>
        </p:txBody>
      </p:sp>
      <p:sp>
        <p:nvSpPr>
          <p:cNvPr name="Freeform 12" id="12"/>
          <p:cNvSpPr/>
          <p:nvPr/>
        </p:nvSpPr>
        <p:spPr>
          <a:xfrm flipH="true" flipV="true" rot="0">
            <a:off x="17727341" y="3383088"/>
            <a:ext cx="2760657" cy="4114800"/>
          </a:xfrm>
          <a:custGeom>
            <a:avLst/>
            <a:gdLst/>
            <a:ahLst/>
            <a:cxnLst/>
            <a:rect r="r" b="b" t="t" l="l"/>
            <a:pathLst>
              <a:path h="4114800" w="2760657">
                <a:moveTo>
                  <a:pt x="2760657" y="4114800"/>
                </a:moveTo>
                <a:lnTo>
                  <a:pt x="0" y="4114800"/>
                </a:lnTo>
                <a:lnTo>
                  <a:pt x="0" y="0"/>
                </a:lnTo>
                <a:lnTo>
                  <a:pt x="2760657" y="0"/>
                </a:lnTo>
                <a:lnTo>
                  <a:pt x="2760657"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DAHH9H0WgNA</dc:identifier>
  <dcterms:modified xsi:type="dcterms:W3CDTF">2011-08-01T06:04:30Z</dcterms:modified>
  <cp:revision>1</cp:revision>
  <dc:title>Designing QoE-QoS Mobile Data App</dc:title>
</cp:coreProperties>
</file>