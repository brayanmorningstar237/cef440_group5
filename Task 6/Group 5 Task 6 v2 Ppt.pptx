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63" r:id="rId4"/>
    <p:sldId id="275" r:id="rId5"/>
    <p:sldId id="264" r:id="rId6"/>
    <p:sldId id="267" r:id="rId7"/>
    <p:sldId id="277" r:id="rId8"/>
    <p:sldId id="278" r:id="rId9"/>
    <p:sldId id="276" r:id="rId10"/>
    <p:sldId id="268" r:id="rId11"/>
    <p:sldId id="279" r:id="rId12"/>
    <p:sldId id="269" r:id="rId13"/>
    <p:sldId id="270" r:id="rId14"/>
    <p:sldId id="271" r:id="rId15"/>
    <p:sldId id="272" r:id="rId16"/>
    <p:sldId id="274" r:id="rId17"/>
  </p:sldIdLst>
  <p:sldSz cx="18288000" cy="10287000"/>
  <p:notesSz cx="6858000" cy="9144000"/>
  <p:embeddedFontLst>
    <p:embeddedFont>
      <p:font typeface="Bahnschrift SemiLight Condensed" panose="020B0502040204020203" pitchFamily="34" charset="0"/>
      <p:regular r:id="rId18"/>
    </p:embeddedFont>
    <p:embeddedFont>
      <p:font typeface="Heading Now 71-78" panose="020B0604020202020204" charset="0"/>
      <p:regular r:id="rId19"/>
    </p:embeddedFont>
    <p:embeddedFont>
      <p:font typeface="Poppins" panose="020B0502040204020203" pitchFamily="2" charset="0"/>
      <p:regular r:id="rId20"/>
    </p:embeddedFont>
    <p:embeddedFont>
      <p:font typeface="Poppins Bold" panose="020B0604020202020204" charset="0"/>
      <p:regular r:id="rId21"/>
    </p:embeddedFont>
    <p:embeddedFont>
      <p:font typeface="TT Firs Neue" panose="020B0604020202020204" charset="0"/>
      <p:regular r:id="rId22"/>
    </p:embeddedFont>
    <p:embeddedFont>
      <p:font typeface="TT Firs Neue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719" autoAdjust="0"/>
  </p:normalViewPr>
  <p:slideViewPr>
    <p:cSldViewPr>
      <p:cViewPr>
        <p:scale>
          <a:sx n="47" d="100"/>
          <a:sy n="47" d="100"/>
        </p:scale>
        <p:origin x="69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5D072D25-6224-1407-BF37-B8942C7EDC68}"/>
              </a:ext>
            </a:extLst>
          </p:cNvPr>
          <p:cNvSpPr/>
          <p:nvPr/>
        </p:nvSpPr>
        <p:spPr>
          <a:xfrm>
            <a:off x="13381777" y="3459809"/>
            <a:ext cx="2204732" cy="2104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1334282" y="1439163"/>
            <a:ext cx="1933004" cy="781681"/>
            <a:chOff x="0" y="0"/>
            <a:chExt cx="397737" cy="160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7737" cy="160840"/>
            </a:xfrm>
            <a:custGeom>
              <a:avLst/>
              <a:gdLst/>
              <a:ahLst/>
              <a:cxnLst/>
              <a:rect l="l" t="t" r="r" b="b"/>
              <a:pathLst>
                <a:path w="397737" h="160840">
                  <a:moveTo>
                    <a:pt x="80420" y="0"/>
                  </a:moveTo>
                  <a:lnTo>
                    <a:pt x="317318" y="0"/>
                  </a:lnTo>
                  <a:cubicBezTo>
                    <a:pt x="338646" y="0"/>
                    <a:pt x="359101" y="8473"/>
                    <a:pt x="374183" y="23554"/>
                  </a:cubicBezTo>
                  <a:cubicBezTo>
                    <a:pt x="389265" y="38636"/>
                    <a:pt x="397737" y="59091"/>
                    <a:pt x="397737" y="80420"/>
                  </a:cubicBezTo>
                  <a:lnTo>
                    <a:pt x="397737" y="80420"/>
                  </a:lnTo>
                  <a:cubicBezTo>
                    <a:pt x="397737" y="124835"/>
                    <a:pt x="361732" y="160840"/>
                    <a:pt x="317318" y="160840"/>
                  </a:cubicBezTo>
                  <a:lnTo>
                    <a:pt x="80420" y="160840"/>
                  </a:lnTo>
                  <a:cubicBezTo>
                    <a:pt x="59091" y="160840"/>
                    <a:pt x="38636" y="152367"/>
                    <a:pt x="23554" y="137285"/>
                  </a:cubicBezTo>
                  <a:cubicBezTo>
                    <a:pt x="8473" y="122204"/>
                    <a:pt x="0" y="101749"/>
                    <a:pt x="0" y="80420"/>
                  </a:cubicBezTo>
                  <a:lnTo>
                    <a:pt x="0" y="80420"/>
                  </a:lnTo>
                  <a:cubicBezTo>
                    <a:pt x="0" y="59091"/>
                    <a:pt x="8473" y="38636"/>
                    <a:pt x="23554" y="23554"/>
                  </a:cubicBezTo>
                  <a:cubicBezTo>
                    <a:pt x="38636" y="8473"/>
                    <a:pt x="59091" y="0"/>
                    <a:pt x="80420" y="0"/>
                  </a:cubicBezTo>
                  <a:close/>
                </a:path>
              </a:pathLst>
            </a:custGeom>
            <a:solidFill>
              <a:srgbClr val="0053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97737" cy="208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 sz="3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-748449" y="2220845"/>
            <a:ext cx="9542238" cy="8891316"/>
          </a:xfrm>
          <a:custGeom>
            <a:avLst/>
            <a:gdLst/>
            <a:ahLst/>
            <a:cxnLst/>
            <a:rect l="l" t="t" r="r" b="b"/>
            <a:pathLst>
              <a:path w="9542238" h="8891316">
                <a:moveTo>
                  <a:pt x="0" y="0"/>
                </a:moveTo>
                <a:lnTo>
                  <a:pt x="9542238" y="0"/>
                </a:lnTo>
                <a:lnTo>
                  <a:pt x="9542238" y="8891315"/>
                </a:lnTo>
                <a:lnTo>
                  <a:pt x="0" y="8891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785730" y="3415853"/>
            <a:ext cx="6489060" cy="4323231"/>
          </a:xfrm>
          <a:custGeom>
            <a:avLst/>
            <a:gdLst/>
            <a:ahLst/>
            <a:cxnLst/>
            <a:rect l="l" t="t" r="r" b="b"/>
            <a:pathLst>
              <a:path w="6489060" h="4323231">
                <a:moveTo>
                  <a:pt x="0" y="0"/>
                </a:moveTo>
                <a:lnTo>
                  <a:pt x="6489060" y="0"/>
                </a:lnTo>
                <a:lnTo>
                  <a:pt x="6489060" y="4323231"/>
                </a:lnTo>
                <a:lnTo>
                  <a:pt x="0" y="43232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300784" y="1364122"/>
            <a:ext cx="1714473" cy="1474447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0742397" y="7468707"/>
            <a:ext cx="2639380" cy="22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739"/>
              </a:lnSpc>
            </a:pP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27386" y="7861203"/>
            <a:ext cx="3532580" cy="297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61"/>
              </a:lnSpc>
            </a:pPr>
            <a:r>
              <a:rPr lang="en-US" sz="24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Group 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42146" y="1678164"/>
            <a:ext cx="1382054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61"/>
              </a:lnSpc>
            </a:pPr>
            <a:r>
              <a:rPr lang="en-US" sz="2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Task 6</a:t>
            </a:r>
          </a:p>
        </p:txBody>
      </p:sp>
      <p:sp>
        <p:nvSpPr>
          <p:cNvPr id="7" name="Freeform 7"/>
          <p:cNvSpPr/>
          <p:nvPr/>
        </p:nvSpPr>
        <p:spPr>
          <a:xfrm>
            <a:off x="13335598" y="3237726"/>
            <a:ext cx="5998604" cy="7287193"/>
          </a:xfrm>
          <a:custGeom>
            <a:avLst/>
            <a:gdLst/>
            <a:ahLst/>
            <a:cxnLst/>
            <a:rect l="l" t="t" r="r" b="b"/>
            <a:pathLst>
              <a:path w="5998604" h="7287193">
                <a:moveTo>
                  <a:pt x="0" y="0"/>
                </a:moveTo>
                <a:lnTo>
                  <a:pt x="5998604" y="0"/>
                </a:lnTo>
                <a:lnTo>
                  <a:pt x="5998604" y="7287193"/>
                </a:lnTo>
                <a:lnTo>
                  <a:pt x="0" y="7287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9" name="Group 9"/>
          <p:cNvGrpSpPr/>
          <p:nvPr/>
        </p:nvGrpSpPr>
        <p:grpSpPr>
          <a:xfrm>
            <a:off x="15887636" y="7616458"/>
            <a:ext cx="2792358" cy="886365"/>
            <a:chOff x="0" y="0"/>
            <a:chExt cx="735436" cy="2334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5436" cy="233446"/>
            </a:xfrm>
            <a:custGeom>
              <a:avLst/>
              <a:gdLst/>
              <a:ahLst/>
              <a:cxnLst/>
              <a:rect l="l" t="t" r="r" b="b"/>
              <a:pathLst>
                <a:path w="735436" h="233446">
                  <a:moveTo>
                    <a:pt x="116723" y="0"/>
                  </a:moveTo>
                  <a:lnTo>
                    <a:pt x="618713" y="0"/>
                  </a:lnTo>
                  <a:cubicBezTo>
                    <a:pt x="649670" y="0"/>
                    <a:pt x="679359" y="12298"/>
                    <a:pt x="701248" y="34187"/>
                  </a:cubicBezTo>
                  <a:cubicBezTo>
                    <a:pt x="723138" y="56077"/>
                    <a:pt x="735436" y="85766"/>
                    <a:pt x="735436" y="116723"/>
                  </a:cubicBezTo>
                  <a:lnTo>
                    <a:pt x="735436" y="116723"/>
                  </a:lnTo>
                  <a:cubicBezTo>
                    <a:pt x="735436" y="181187"/>
                    <a:pt x="683177" y="233446"/>
                    <a:pt x="618713" y="233446"/>
                  </a:cubicBezTo>
                  <a:lnTo>
                    <a:pt x="116723" y="233446"/>
                  </a:lnTo>
                  <a:cubicBezTo>
                    <a:pt x="52259" y="233446"/>
                    <a:pt x="0" y="181187"/>
                    <a:pt x="0" y="116723"/>
                  </a:cubicBezTo>
                  <a:lnTo>
                    <a:pt x="0" y="116723"/>
                  </a:lnTo>
                  <a:cubicBezTo>
                    <a:pt x="0" y="52259"/>
                    <a:pt x="52259" y="0"/>
                    <a:pt x="116723" y="0"/>
                  </a:cubicBezTo>
                  <a:close/>
                </a:path>
              </a:pathLst>
            </a:custGeom>
            <a:solidFill>
              <a:srgbClr val="B0071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735436" cy="2810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6334900" y="7861203"/>
            <a:ext cx="125581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KILObYtes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03466" y="3860753"/>
            <a:ext cx="8467311" cy="1409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556"/>
              </a:lnSpc>
            </a:pPr>
            <a:r>
              <a:rPr lang="en-US" sz="4400" b="1" dirty="0">
                <a:solidFill>
                  <a:srgbClr val="000000"/>
                </a:solidFill>
                <a:latin typeface="Bahnschrift SemiLight Condensed" panose="020B0502040204020203" pitchFamily="34" charset="0"/>
                <a:ea typeface="Agrandir Bold"/>
                <a:cs typeface="Agrandir Bold"/>
                <a:sym typeface="Agrandir Bold"/>
              </a:rPr>
              <a:t>Database Design and Implementation of a Mobile App for Collection of User Experience Data from Mobile Network Subscribers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3101" y="3051251"/>
            <a:ext cx="4785638" cy="7534822"/>
            <a:chOff x="0" y="0"/>
            <a:chExt cx="1260415" cy="1984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0415" cy="1984480"/>
            </a:xfrm>
            <a:custGeom>
              <a:avLst/>
              <a:gdLst/>
              <a:ahLst/>
              <a:cxnLst/>
              <a:rect l="l" t="t" r="r" b="b"/>
              <a:pathLst>
                <a:path w="1260415" h="1984480">
                  <a:moveTo>
                    <a:pt x="82505" y="0"/>
                  </a:moveTo>
                  <a:lnTo>
                    <a:pt x="1177910" y="0"/>
                  </a:lnTo>
                  <a:cubicBezTo>
                    <a:pt x="1223476" y="0"/>
                    <a:pt x="1260415" y="36939"/>
                    <a:pt x="1260415" y="82505"/>
                  </a:cubicBezTo>
                  <a:lnTo>
                    <a:pt x="1260415" y="1901975"/>
                  </a:lnTo>
                  <a:cubicBezTo>
                    <a:pt x="1260415" y="1923857"/>
                    <a:pt x="1251723" y="1944842"/>
                    <a:pt x="1236250" y="1960315"/>
                  </a:cubicBezTo>
                  <a:cubicBezTo>
                    <a:pt x="1220777" y="1975787"/>
                    <a:pt x="1199792" y="1984480"/>
                    <a:pt x="1177910" y="1984480"/>
                  </a:cubicBezTo>
                  <a:lnTo>
                    <a:pt x="82505" y="1984480"/>
                  </a:lnTo>
                  <a:cubicBezTo>
                    <a:pt x="60623" y="1984480"/>
                    <a:pt x="39638" y="1975787"/>
                    <a:pt x="24165" y="1960315"/>
                  </a:cubicBezTo>
                  <a:cubicBezTo>
                    <a:pt x="8692" y="1944842"/>
                    <a:pt x="0" y="1923857"/>
                    <a:pt x="0" y="1901975"/>
                  </a:cubicBezTo>
                  <a:lnTo>
                    <a:pt x="0" y="82505"/>
                  </a:lnTo>
                  <a:cubicBezTo>
                    <a:pt x="0" y="60623"/>
                    <a:pt x="8692" y="39638"/>
                    <a:pt x="24165" y="24165"/>
                  </a:cubicBezTo>
                  <a:cubicBezTo>
                    <a:pt x="39638" y="8692"/>
                    <a:pt x="60623" y="0"/>
                    <a:pt x="82505" y="0"/>
                  </a:cubicBezTo>
                  <a:close/>
                </a:path>
              </a:pathLst>
            </a:custGeom>
            <a:solidFill>
              <a:srgbClr val="0053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60415" cy="2032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50947" y="3051251"/>
            <a:ext cx="4785638" cy="7534822"/>
            <a:chOff x="0" y="0"/>
            <a:chExt cx="1260415" cy="19844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0415" cy="1984480"/>
            </a:xfrm>
            <a:custGeom>
              <a:avLst/>
              <a:gdLst/>
              <a:ahLst/>
              <a:cxnLst/>
              <a:rect l="l" t="t" r="r" b="b"/>
              <a:pathLst>
                <a:path w="1260415" h="1984480">
                  <a:moveTo>
                    <a:pt x="82505" y="0"/>
                  </a:moveTo>
                  <a:lnTo>
                    <a:pt x="1177910" y="0"/>
                  </a:lnTo>
                  <a:cubicBezTo>
                    <a:pt x="1223476" y="0"/>
                    <a:pt x="1260415" y="36939"/>
                    <a:pt x="1260415" y="82505"/>
                  </a:cubicBezTo>
                  <a:lnTo>
                    <a:pt x="1260415" y="1901975"/>
                  </a:lnTo>
                  <a:cubicBezTo>
                    <a:pt x="1260415" y="1923857"/>
                    <a:pt x="1251723" y="1944842"/>
                    <a:pt x="1236250" y="1960315"/>
                  </a:cubicBezTo>
                  <a:cubicBezTo>
                    <a:pt x="1220777" y="1975787"/>
                    <a:pt x="1199792" y="1984480"/>
                    <a:pt x="1177910" y="1984480"/>
                  </a:cubicBezTo>
                  <a:lnTo>
                    <a:pt x="82505" y="1984480"/>
                  </a:lnTo>
                  <a:cubicBezTo>
                    <a:pt x="60623" y="1984480"/>
                    <a:pt x="39638" y="1975787"/>
                    <a:pt x="24165" y="1960315"/>
                  </a:cubicBezTo>
                  <a:cubicBezTo>
                    <a:pt x="8692" y="1944842"/>
                    <a:pt x="0" y="1923857"/>
                    <a:pt x="0" y="1901975"/>
                  </a:cubicBezTo>
                  <a:lnTo>
                    <a:pt x="0" y="82505"/>
                  </a:lnTo>
                  <a:cubicBezTo>
                    <a:pt x="0" y="60623"/>
                    <a:pt x="8692" y="39638"/>
                    <a:pt x="24165" y="24165"/>
                  </a:cubicBezTo>
                  <a:cubicBezTo>
                    <a:pt x="39638" y="8692"/>
                    <a:pt x="60623" y="0"/>
                    <a:pt x="82505" y="0"/>
                  </a:cubicBezTo>
                  <a:close/>
                </a:path>
              </a:pathLst>
            </a:custGeom>
            <a:solidFill>
              <a:srgbClr val="F8BC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60415" cy="2032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98794" y="3051251"/>
            <a:ext cx="4785638" cy="7534822"/>
            <a:chOff x="0" y="0"/>
            <a:chExt cx="1260415" cy="19844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60415" cy="1984480"/>
            </a:xfrm>
            <a:custGeom>
              <a:avLst/>
              <a:gdLst/>
              <a:ahLst/>
              <a:cxnLst/>
              <a:rect l="l" t="t" r="r" b="b"/>
              <a:pathLst>
                <a:path w="1260415" h="1984480">
                  <a:moveTo>
                    <a:pt x="82505" y="0"/>
                  </a:moveTo>
                  <a:lnTo>
                    <a:pt x="1177910" y="0"/>
                  </a:lnTo>
                  <a:cubicBezTo>
                    <a:pt x="1223476" y="0"/>
                    <a:pt x="1260415" y="36939"/>
                    <a:pt x="1260415" y="82505"/>
                  </a:cubicBezTo>
                  <a:lnTo>
                    <a:pt x="1260415" y="1901975"/>
                  </a:lnTo>
                  <a:cubicBezTo>
                    <a:pt x="1260415" y="1923857"/>
                    <a:pt x="1251723" y="1944842"/>
                    <a:pt x="1236250" y="1960315"/>
                  </a:cubicBezTo>
                  <a:cubicBezTo>
                    <a:pt x="1220777" y="1975787"/>
                    <a:pt x="1199792" y="1984480"/>
                    <a:pt x="1177910" y="1984480"/>
                  </a:cubicBezTo>
                  <a:lnTo>
                    <a:pt x="82505" y="1984480"/>
                  </a:lnTo>
                  <a:cubicBezTo>
                    <a:pt x="60623" y="1984480"/>
                    <a:pt x="39638" y="1975787"/>
                    <a:pt x="24165" y="1960315"/>
                  </a:cubicBezTo>
                  <a:cubicBezTo>
                    <a:pt x="8692" y="1944842"/>
                    <a:pt x="0" y="1923857"/>
                    <a:pt x="0" y="1901975"/>
                  </a:cubicBezTo>
                  <a:lnTo>
                    <a:pt x="0" y="82505"/>
                  </a:lnTo>
                  <a:cubicBezTo>
                    <a:pt x="0" y="60623"/>
                    <a:pt x="8692" y="39638"/>
                    <a:pt x="24165" y="24165"/>
                  </a:cubicBezTo>
                  <a:cubicBezTo>
                    <a:pt x="39638" y="8692"/>
                    <a:pt x="60623" y="0"/>
                    <a:pt x="82505" y="0"/>
                  </a:cubicBezTo>
                  <a:close/>
                </a:path>
              </a:pathLst>
            </a:custGeom>
            <a:solidFill>
              <a:srgbClr val="0053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60415" cy="2032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84342" y="3709503"/>
            <a:ext cx="2717384" cy="271738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932422" y="3709503"/>
            <a:ext cx="2717384" cy="271738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093304" y="3807050"/>
            <a:ext cx="2717384" cy="271738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3648806" y="6230206"/>
            <a:ext cx="588456" cy="588456"/>
          </a:xfrm>
          <a:custGeom>
            <a:avLst/>
            <a:gdLst/>
            <a:ahLst/>
            <a:cxnLst/>
            <a:rect l="l" t="t" r="r" b="b"/>
            <a:pathLst>
              <a:path w="588456" h="588456">
                <a:moveTo>
                  <a:pt x="0" y="0"/>
                </a:moveTo>
                <a:lnTo>
                  <a:pt x="588456" y="0"/>
                </a:lnTo>
                <a:lnTo>
                  <a:pt x="588456" y="588456"/>
                </a:lnTo>
                <a:lnTo>
                  <a:pt x="0" y="588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8996886" y="6230206"/>
            <a:ext cx="588456" cy="588456"/>
          </a:xfrm>
          <a:custGeom>
            <a:avLst/>
            <a:gdLst/>
            <a:ahLst/>
            <a:cxnLst/>
            <a:rect l="l" t="t" r="r" b="b"/>
            <a:pathLst>
              <a:path w="588456" h="588456">
                <a:moveTo>
                  <a:pt x="0" y="0"/>
                </a:moveTo>
                <a:lnTo>
                  <a:pt x="588456" y="0"/>
                </a:lnTo>
                <a:lnTo>
                  <a:pt x="588456" y="588456"/>
                </a:lnTo>
                <a:lnTo>
                  <a:pt x="0" y="588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4344499" y="6230206"/>
            <a:ext cx="588456" cy="588456"/>
          </a:xfrm>
          <a:custGeom>
            <a:avLst/>
            <a:gdLst/>
            <a:ahLst/>
            <a:cxnLst/>
            <a:rect l="l" t="t" r="r" b="b"/>
            <a:pathLst>
              <a:path w="588456" h="588456">
                <a:moveTo>
                  <a:pt x="0" y="0"/>
                </a:moveTo>
                <a:lnTo>
                  <a:pt x="588457" y="0"/>
                </a:lnTo>
                <a:lnTo>
                  <a:pt x="588457" y="588456"/>
                </a:lnTo>
                <a:lnTo>
                  <a:pt x="0" y="5884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687262" y="1441579"/>
            <a:ext cx="11752645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95"/>
              </a:lnSpc>
            </a:pPr>
            <a:r>
              <a:rPr lang="en-US" sz="6795" spc="-373" dirty="0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Backend Objectives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10879" y="7972312"/>
            <a:ext cx="3464311" cy="908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46"/>
              </a:lnSpc>
            </a:pPr>
            <a:r>
              <a:rPr lang="en-US" sz="1747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Enable secure user registration and authentication to protect subscriber data and access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58959" y="7972312"/>
            <a:ext cx="3464311" cy="122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46"/>
              </a:lnSpc>
            </a:pPr>
            <a:r>
              <a:rPr lang="en-US" sz="1747" dirty="0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Collect and synchronize network measurements reliably between mobile app and backend with Database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093304" y="7972312"/>
            <a:ext cx="3090847" cy="908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46"/>
              </a:lnSpc>
            </a:pPr>
            <a:r>
              <a:rPr lang="en-US" sz="1747" dirty="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Provide centralized analytics dashboard for administrators with QoS and QoE insights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10879" y="7347228"/>
            <a:ext cx="3464311" cy="406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0"/>
              </a:lnSpc>
              <a:spcBef>
                <a:spcPct val="0"/>
              </a:spcBef>
            </a:pPr>
            <a:r>
              <a:rPr lang="en-US" sz="2385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Secure Authentication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58959" y="7347228"/>
            <a:ext cx="3464311" cy="406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0"/>
              </a:lnSpc>
              <a:spcBef>
                <a:spcPct val="0"/>
              </a:spcBef>
            </a:pPr>
            <a:r>
              <a:rPr lang="en-US" sz="2385" b="1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Data Synchronization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906572" y="7347228"/>
            <a:ext cx="3464311" cy="406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0"/>
              </a:lnSpc>
              <a:spcBef>
                <a:spcPct val="0"/>
              </a:spcBef>
            </a:pPr>
            <a:r>
              <a:rPr lang="en-US" sz="2385" b="1" dirty="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Storing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0066" y="3051251"/>
            <a:ext cx="4785638" cy="6740449"/>
            <a:chOff x="0" y="0"/>
            <a:chExt cx="1260415" cy="1984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0415" cy="1984480"/>
            </a:xfrm>
            <a:custGeom>
              <a:avLst/>
              <a:gdLst/>
              <a:ahLst/>
              <a:cxnLst/>
              <a:rect l="l" t="t" r="r" b="b"/>
              <a:pathLst>
                <a:path w="1260415" h="1984480">
                  <a:moveTo>
                    <a:pt x="82505" y="0"/>
                  </a:moveTo>
                  <a:lnTo>
                    <a:pt x="1177910" y="0"/>
                  </a:lnTo>
                  <a:cubicBezTo>
                    <a:pt x="1223476" y="0"/>
                    <a:pt x="1260415" y="36939"/>
                    <a:pt x="1260415" y="82505"/>
                  </a:cubicBezTo>
                  <a:lnTo>
                    <a:pt x="1260415" y="1901975"/>
                  </a:lnTo>
                  <a:cubicBezTo>
                    <a:pt x="1260415" y="1923857"/>
                    <a:pt x="1251723" y="1944842"/>
                    <a:pt x="1236250" y="1960315"/>
                  </a:cubicBezTo>
                  <a:cubicBezTo>
                    <a:pt x="1220777" y="1975787"/>
                    <a:pt x="1199792" y="1984480"/>
                    <a:pt x="1177910" y="1984480"/>
                  </a:cubicBezTo>
                  <a:lnTo>
                    <a:pt x="82505" y="1984480"/>
                  </a:lnTo>
                  <a:cubicBezTo>
                    <a:pt x="60623" y="1984480"/>
                    <a:pt x="39638" y="1975787"/>
                    <a:pt x="24165" y="1960315"/>
                  </a:cubicBezTo>
                  <a:cubicBezTo>
                    <a:pt x="8692" y="1944842"/>
                    <a:pt x="0" y="1923857"/>
                    <a:pt x="0" y="1901975"/>
                  </a:cubicBezTo>
                  <a:lnTo>
                    <a:pt x="0" y="82505"/>
                  </a:lnTo>
                  <a:cubicBezTo>
                    <a:pt x="0" y="60623"/>
                    <a:pt x="8692" y="39638"/>
                    <a:pt x="24165" y="24165"/>
                  </a:cubicBezTo>
                  <a:cubicBezTo>
                    <a:pt x="39638" y="8692"/>
                    <a:pt x="60623" y="0"/>
                    <a:pt x="82505" y="0"/>
                  </a:cubicBezTo>
                  <a:close/>
                </a:path>
              </a:pathLst>
            </a:custGeom>
            <a:solidFill>
              <a:srgbClr val="0053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60415" cy="2032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50947" y="3051251"/>
            <a:ext cx="4785638" cy="6740449"/>
            <a:chOff x="0" y="0"/>
            <a:chExt cx="1260415" cy="19844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0415" cy="1984480"/>
            </a:xfrm>
            <a:custGeom>
              <a:avLst/>
              <a:gdLst/>
              <a:ahLst/>
              <a:cxnLst/>
              <a:rect l="l" t="t" r="r" b="b"/>
              <a:pathLst>
                <a:path w="1260415" h="1984480">
                  <a:moveTo>
                    <a:pt x="82505" y="0"/>
                  </a:moveTo>
                  <a:lnTo>
                    <a:pt x="1177910" y="0"/>
                  </a:lnTo>
                  <a:cubicBezTo>
                    <a:pt x="1223476" y="0"/>
                    <a:pt x="1260415" y="36939"/>
                    <a:pt x="1260415" y="82505"/>
                  </a:cubicBezTo>
                  <a:lnTo>
                    <a:pt x="1260415" y="1901975"/>
                  </a:lnTo>
                  <a:cubicBezTo>
                    <a:pt x="1260415" y="1923857"/>
                    <a:pt x="1251723" y="1944842"/>
                    <a:pt x="1236250" y="1960315"/>
                  </a:cubicBezTo>
                  <a:cubicBezTo>
                    <a:pt x="1220777" y="1975787"/>
                    <a:pt x="1199792" y="1984480"/>
                    <a:pt x="1177910" y="1984480"/>
                  </a:cubicBezTo>
                  <a:lnTo>
                    <a:pt x="82505" y="1984480"/>
                  </a:lnTo>
                  <a:cubicBezTo>
                    <a:pt x="60623" y="1984480"/>
                    <a:pt x="39638" y="1975787"/>
                    <a:pt x="24165" y="1960315"/>
                  </a:cubicBezTo>
                  <a:cubicBezTo>
                    <a:pt x="8692" y="1944842"/>
                    <a:pt x="0" y="1923857"/>
                    <a:pt x="0" y="1901975"/>
                  </a:cubicBezTo>
                  <a:lnTo>
                    <a:pt x="0" y="82505"/>
                  </a:lnTo>
                  <a:cubicBezTo>
                    <a:pt x="0" y="60623"/>
                    <a:pt x="8692" y="39638"/>
                    <a:pt x="24165" y="24165"/>
                  </a:cubicBezTo>
                  <a:cubicBezTo>
                    <a:pt x="39638" y="8692"/>
                    <a:pt x="60623" y="0"/>
                    <a:pt x="82505" y="0"/>
                  </a:cubicBezTo>
                  <a:close/>
                </a:path>
              </a:pathLst>
            </a:custGeom>
            <a:solidFill>
              <a:srgbClr val="F8BC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60415" cy="2032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98794" y="3051251"/>
            <a:ext cx="4785638" cy="6740449"/>
            <a:chOff x="0" y="0"/>
            <a:chExt cx="1260415" cy="19844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60415" cy="1984480"/>
            </a:xfrm>
            <a:custGeom>
              <a:avLst/>
              <a:gdLst/>
              <a:ahLst/>
              <a:cxnLst/>
              <a:rect l="l" t="t" r="r" b="b"/>
              <a:pathLst>
                <a:path w="1260415" h="1984480">
                  <a:moveTo>
                    <a:pt x="82505" y="0"/>
                  </a:moveTo>
                  <a:lnTo>
                    <a:pt x="1177910" y="0"/>
                  </a:lnTo>
                  <a:cubicBezTo>
                    <a:pt x="1223476" y="0"/>
                    <a:pt x="1260415" y="36939"/>
                    <a:pt x="1260415" y="82505"/>
                  </a:cubicBezTo>
                  <a:lnTo>
                    <a:pt x="1260415" y="1901975"/>
                  </a:lnTo>
                  <a:cubicBezTo>
                    <a:pt x="1260415" y="1923857"/>
                    <a:pt x="1251723" y="1944842"/>
                    <a:pt x="1236250" y="1960315"/>
                  </a:cubicBezTo>
                  <a:cubicBezTo>
                    <a:pt x="1220777" y="1975787"/>
                    <a:pt x="1199792" y="1984480"/>
                    <a:pt x="1177910" y="1984480"/>
                  </a:cubicBezTo>
                  <a:lnTo>
                    <a:pt x="82505" y="1984480"/>
                  </a:lnTo>
                  <a:cubicBezTo>
                    <a:pt x="60623" y="1984480"/>
                    <a:pt x="39638" y="1975787"/>
                    <a:pt x="24165" y="1960315"/>
                  </a:cubicBezTo>
                  <a:cubicBezTo>
                    <a:pt x="8692" y="1944842"/>
                    <a:pt x="0" y="1923857"/>
                    <a:pt x="0" y="1901975"/>
                  </a:cubicBezTo>
                  <a:lnTo>
                    <a:pt x="0" y="82505"/>
                  </a:lnTo>
                  <a:cubicBezTo>
                    <a:pt x="0" y="60623"/>
                    <a:pt x="8692" y="39638"/>
                    <a:pt x="24165" y="24165"/>
                  </a:cubicBezTo>
                  <a:cubicBezTo>
                    <a:pt x="39638" y="8692"/>
                    <a:pt x="60623" y="0"/>
                    <a:pt x="82505" y="0"/>
                  </a:cubicBezTo>
                  <a:close/>
                </a:path>
              </a:pathLst>
            </a:custGeom>
            <a:solidFill>
              <a:srgbClr val="0053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60415" cy="2032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84342" y="3709503"/>
            <a:ext cx="2717384" cy="271738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932422" y="3709503"/>
            <a:ext cx="2717384" cy="271738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093304" y="3807050"/>
            <a:ext cx="2717384" cy="271738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3602992" y="6144716"/>
            <a:ext cx="678862" cy="642656"/>
          </a:xfrm>
          <a:custGeom>
            <a:avLst/>
            <a:gdLst/>
            <a:ahLst/>
            <a:cxnLst/>
            <a:rect l="l" t="t" r="r" b="b"/>
            <a:pathLst>
              <a:path w="678862" h="642656">
                <a:moveTo>
                  <a:pt x="0" y="0"/>
                </a:moveTo>
                <a:lnTo>
                  <a:pt x="678862" y="0"/>
                </a:lnTo>
                <a:lnTo>
                  <a:pt x="678862" y="642656"/>
                </a:lnTo>
                <a:lnTo>
                  <a:pt x="0" y="642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8969627" y="6116314"/>
            <a:ext cx="588456" cy="730064"/>
          </a:xfrm>
          <a:custGeom>
            <a:avLst/>
            <a:gdLst/>
            <a:ahLst/>
            <a:cxnLst/>
            <a:rect l="l" t="t" r="r" b="b"/>
            <a:pathLst>
              <a:path w="588456" h="730064">
                <a:moveTo>
                  <a:pt x="0" y="0"/>
                </a:moveTo>
                <a:lnTo>
                  <a:pt x="588457" y="0"/>
                </a:lnTo>
                <a:lnTo>
                  <a:pt x="588457" y="730064"/>
                </a:lnTo>
                <a:lnTo>
                  <a:pt x="0" y="7300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4343854" y="5887740"/>
            <a:ext cx="588456" cy="1139579"/>
          </a:xfrm>
          <a:custGeom>
            <a:avLst/>
            <a:gdLst/>
            <a:ahLst/>
            <a:cxnLst/>
            <a:rect l="l" t="t" r="r" b="b"/>
            <a:pathLst>
              <a:path w="588456" h="1139579">
                <a:moveTo>
                  <a:pt x="0" y="0"/>
                </a:moveTo>
                <a:lnTo>
                  <a:pt x="588457" y="0"/>
                </a:lnTo>
                <a:lnTo>
                  <a:pt x="588457" y="1139579"/>
                </a:lnTo>
                <a:lnTo>
                  <a:pt x="0" y="1139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687262" y="1441579"/>
            <a:ext cx="11752645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95"/>
              </a:lnSpc>
            </a:pPr>
            <a:r>
              <a:rPr lang="en-US" sz="6795" spc="-373" dirty="0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Data Elements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10879" y="7981837"/>
            <a:ext cx="3464311" cy="87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3"/>
              </a:lnSpc>
            </a:pPr>
            <a:r>
              <a:rPr lang="en-US" sz="1695" dirty="0" err="1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userID</a:t>
            </a:r>
            <a:r>
              <a:rPr lang="en-US" sz="1695" dirty="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, username, email, password (hashed), role, profile data, registration date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58959" y="7981837"/>
            <a:ext cx="3464311" cy="87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3"/>
              </a:lnSpc>
            </a:pPr>
            <a:r>
              <a:rPr lang="en-US" sz="1695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measurementID, timestamp, QoS/QoE metrics, signal strength, latency, location, deviceInfo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093304" y="7981837"/>
            <a:ext cx="3090847" cy="87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3"/>
              </a:lnSpc>
            </a:pPr>
            <a:r>
              <a:rPr lang="en-US" sz="1695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cellID, location coordinates, network operator, frequency band, coverage area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10879" y="7347228"/>
            <a:ext cx="3464311" cy="40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7"/>
              </a:lnSpc>
              <a:spcBef>
                <a:spcPct val="0"/>
              </a:spcBef>
            </a:pPr>
            <a:r>
              <a:rPr lang="en-US" sz="2398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User Entity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58959" y="7347228"/>
            <a:ext cx="3464311" cy="40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7"/>
              </a:lnSpc>
              <a:spcBef>
                <a:spcPct val="0"/>
              </a:spcBef>
            </a:pPr>
            <a:r>
              <a:rPr lang="en-US" sz="2398" b="1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Measurement Entity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906572" y="7347228"/>
            <a:ext cx="3464311" cy="40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7"/>
              </a:lnSpc>
              <a:spcBef>
                <a:spcPct val="0"/>
              </a:spcBef>
            </a:pPr>
            <a:r>
              <a:rPr lang="en-US" sz="2398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Network Cell Entity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88798-23B2-4629-36A5-43CE25906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FCF4AFD5-0280-A875-5916-382CBFCC9641}"/>
              </a:ext>
            </a:extLst>
          </p:cNvPr>
          <p:cNvGrpSpPr/>
          <p:nvPr/>
        </p:nvGrpSpPr>
        <p:grpSpPr>
          <a:xfrm>
            <a:off x="11734800" y="1064858"/>
            <a:ext cx="5233904" cy="3421304"/>
            <a:chOff x="0" y="0"/>
            <a:chExt cx="1108506" cy="72460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7E76925-6356-5618-0FBF-1568DAEE5374}"/>
                </a:ext>
              </a:extLst>
            </p:cNvPr>
            <p:cNvSpPr/>
            <p:nvPr/>
          </p:nvSpPr>
          <p:spPr>
            <a:xfrm>
              <a:off x="0" y="0"/>
              <a:ext cx="1108506" cy="724609"/>
            </a:xfrm>
            <a:custGeom>
              <a:avLst/>
              <a:gdLst/>
              <a:ahLst/>
              <a:cxnLst/>
              <a:rect l="l" t="t" r="r" b="b"/>
              <a:pathLst>
                <a:path w="1108506" h="724609">
                  <a:moveTo>
                    <a:pt x="0" y="0"/>
                  </a:moveTo>
                  <a:lnTo>
                    <a:pt x="1108506" y="0"/>
                  </a:lnTo>
                  <a:lnTo>
                    <a:pt x="1108506" y="724609"/>
                  </a:lnTo>
                  <a:lnTo>
                    <a:pt x="0" y="724609"/>
                  </a:lnTo>
                  <a:close/>
                </a:path>
              </a:pathLst>
            </a:custGeom>
            <a:blipFill>
              <a:blip r:embed="rId2"/>
              <a:stretch>
                <a:fillRect t="-1535" b="-153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C33CC22-4CF7-5D67-241F-F81C8FB5BF97}"/>
              </a:ext>
            </a:extLst>
          </p:cNvPr>
          <p:cNvGrpSpPr/>
          <p:nvPr/>
        </p:nvGrpSpPr>
        <p:grpSpPr>
          <a:xfrm>
            <a:off x="9372600" y="1264620"/>
            <a:ext cx="2202914" cy="2202914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35B579E-8B38-FA3E-3C13-593E7818654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F1E3DE5C-9972-5933-206C-143A3537B507}"/>
              </a:ext>
            </a:extLst>
          </p:cNvPr>
          <p:cNvSpPr/>
          <p:nvPr/>
        </p:nvSpPr>
        <p:spPr>
          <a:xfrm flipH="1">
            <a:off x="-567388" y="0"/>
            <a:ext cx="8022901" cy="1064858"/>
          </a:xfrm>
          <a:custGeom>
            <a:avLst/>
            <a:gdLst/>
            <a:ahLst/>
            <a:cxnLst/>
            <a:rect l="l" t="t" r="r" b="b"/>
            <a:pathLst>
              <a:path w="8022901" h="1064858">
                <a:moveTo>
                  <a:pt x="8022901" y="0"/>
                </a:moveTo>
                <a:lnTo>
                  <a:pt x="0" y="0"/>
                </a:lnTo>
                <a:lnTo>
                  <a:pt x="0" y="1064858"/>
                </a:lnTo>
                <a:lnTo>
                  <a:pt x="8022901" y="1064858"/>
                </a:lnTo>
                <a:lnTo>
                  <a:pt x="802290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B2C41F4-7C07-A45B-650E-961F573C07C5}"/>
              </a:ext>
            </a:extLst>
          </p:cNvPr>
          <p:cNvSpPr txBox="1"/>
          <p:nvPr/>
        </p:nvSpPr>
        <p:spPr>
          <a:xfrm>
            <a:off x="1564268" y="2236636"/>
            <a:ext cx="6367309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35"/>
              </a:lnSpc>
            </a:pPr>
            <a:r>
              <a:rPr lang="en-US" sz="5335" spc="-293" dirty="0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Conceptual Design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0FEEC18-01EC-611B-DA3B-D5715E2ED4A7}"/>
              </a:ext>
            </a:extLst>
          </p:cNvPr>
          <p:cNvSpPr txBox="1"/>
          <p:nvPr/>
        </p:nvSpPr>
        <p:spPr>
          <a:xfrm>
            <a:off x="1369776" y="3865511"/>
            <a:ext cx="4148572" cy="2474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97"/>
              </a:lnSpc>
            </a:pPr>
            <a:r>
              <a:rPr lang="en-US" sz="1569" dirty="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Subscriber → Mobile App (Android)</a:t>
            </a:r>
          </a:p>
          <a:p>
            <a:pPr marL="0" lvl="0" indent="0" algn="l">
              <a:lnSpc>
                <a:spcPts val="2197"/>
              </a:lnSpc>
            </a:pPr>
            <a:r>
              <a:rPr lang="en-US" sz="1569" dirty="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↓  SQLite Local Database</a:t>
            </a:r>
          </a:p>
          <a:p>
            <a:pPr marL="0" lvl="0" indent="0" algn="l">
              <a:lnSpc>
                <a:spcPts val="2197"/>
              </a:lnSpc>
            </a:pPr>
            <a:r>
              <a:rPr lang="en-US" sz="1569" dirty="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↓  REST API Layer</a:t>
            </a:r>
          </a:p>
          <a:p>
            <a:pPr marL="0" lvl="0" indent="0" algn="l">
              <a:lnSpc>
                <a:spcPts val="2197"/>
              </a:lnSpc>
            </a:pPr>
            <a:r>
              <a:rPr lang="en-US" sz="1569" dirty="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↓  Node.js Backend Server</a:t>
            </a:r>
          </a:p>
          <a:p>
            <a:pPr marL="0" lvl="0" indent="0" algn="l">
              <a:lnSpc>
                <a:spcPts val="2197"/>
              </a:lnSpc>
            </a:pPr>
            <a:r>
              <a:rPr lang="en-US" sz="1569" dirty="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↓  MongoDB Cloud Database</a:t>
            </a:r>
          </a:p>
          <a:p>
            <a:pPr marL="0" lvl="0" indent="0" algn="l">
              <a:lnSpc>
                <a:spcPts val="2197"/>
              </a:lnSpc>
            </a:pPr>
            <a:r>
              <a:rPr lang="en-US" sz="1569" dirty="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↓  Administrator Dashboard</a:t>
            </a:r>
          </a:p>
          <a:p>
            <a:pPr marL="0" lvl="0" indent="0" algn="l">
              <a:lnSpc>
                <a:spcPts val="2197"/>
              </a:lnSpc>
            </a:pPr>
            <a:r>
              <a:rPr lang="en-US" sz="1569" dirty="0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JWT-secured endpoints with offline sync support and geospatial indexing across all layers.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018CFB4-DF30-5953-10FE-73F4F2894E16}"/>
              </a:ext>
            </a:extLst>
          </p:cNvPr>
          <p:cNvSpPr txBox="1"/>
          <p:nvPr/>
        </p:nvSpPr>
        <p:spPr>
          <a:xfrm>
            <a:off x="1273755" y="3271462"/>
            <a:ext cx="4615297" cy="32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6"/>
              </a:lnSpc>
            </a:pPr>
            <a:r>
              <a:rPr lang="en-US" sz="1883" b="1" dirty="0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End-to-End Components &amp; Data Flow</a:t>
            </a:r>
          </a:p>
        </p:txBody>
      </p:sp>
      <p:grpSp>
        <p:nvGrpSpPr>
          <p:cNvPr id="14" name="Group 8">
            <a:extLst>
              <a:ext uri="{FF2B5EF4-FFF2-40B4-BE49-F238E27FC236}">
                <a16:creationId xmlns:a16="http://schemas.microsoft.com/office/drawing/2014/main" id="{015BBBAA-231C-A349-AB17-455F8023A4EB}"/>
              </a:ext>
            </a:extLst>
          </p:cNvPr>
          <p:cNvGrpSpPr/>
          <p:nvPr/>
        </p:nvGrpSpPr>
        <p:grpSpPr>
          <a:xfrm>
            <a:off x="1188498" y="6896100"/>
            <a:ext cx="6743079" cy="2623231"/>
            <a:chOff x="0" y="0"/>
            <a:chExt cx="1673758" cy="651135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FDF3E3CF-0C9E-95AF-728D-8C3C7C1C8CE0}"/>
                </a:ext>
              </a:extLst>
            </p:cNvPr>
            <p:cNvSpPr/>
            <p:nvPr/>
          </p:nvSpPr>
          <p:spPr>
            <a:xfrm>
              <a:off x="0" y="0"/>
              <a:ext cx="1673758" cy="651135"/>
            </a:xfrm>
            <a:custGeom>
              <a:avLst/>
              <a:gdLst/>
              <a:ahLst/>
              <a:cxnLst/>
              <a:rect l="l" t="t" r="r" b="b"/>
              <a:pathLst>
                <a:path w="1673758" h="651135">
                  <a:moveTo>
                    <a:pt x="40184" y="0"/>
                  </a:moveTo>
                  <a:lnTo>
                    <a:pt x="1633573" y="0"/>
                  </a:lnTo>
                  <a:cubicBezTo>
                    <a:pt x="1644231" y="0"/>
                    <a:pt x="1654452" y="4234"/>
                    <a:pt x="1661988" y="11770"/>
                  </a:cubicBezTo>
                  <a:cubicBezTo>
                    <a:pt x="1669524" y="19306"/>
                    <a:pt x="1673758" y="29527"/>
                    <a:pt x="1673758" y="40184"/>
                  </a:cubicBezTo>
                  <a:lnTo>
                    <a:pt x="1673758" y="610950"/>
                  </a:lnTo>
                  <a:cubicBezTo>
                    <a:pt x="1673758" y="621608"/>
                    <a:pt x="1669524" y="631829"/>
                    <a:pt x="1661988" y="639365"/>
                  </a:cubicBezTo>
                  <a:cubicBezTo>
                    <a:pt x="1654452" y="646901"/>
                    <a:pt x="1644231" y="651135"/>
                    <a:pt x="1633573" y="651135"/>
                  </a:cubicBezTo>
                  <a:lnTo>
                    <a:pt x="40184" y="651135"/>
                  </a:lnTo>
                  <a:cubicBezTo>
                    <a:pt x="29527" y="651135"/>
                    <a:pt x="19306" y="646901"/>
                    <a:pt x="11770" y="639365"/>
                  </a:cubicBezTo>
                  <a:cubicBezTo>
                    <a:pt x="4234" y="631829"/>
                    <a:pt x="0" y="621608"/>
                    <a:pt x="0" y="610950"/>
                  </a:cubicBezTo>
                  <a:lnTo>
                    <a:pt x="0" y="40184"/>
                  </a:lnTo>
                  <a:cubicBezTo>
                    <a:pt x="0" y="29527"/>
                    <a:pt x="4234" y="19306"/>
                    <a:pt x="11770" y="11770"/>
                  </a:cubicBezTo>
                  <a:cubicBezTo>
                    <a:pt x="19306" y="4234"/>
                    <a:pt x="29527" y="0"/>
                    <a:pt x="40184" y="0"/>
                  </a:cubicBezTo>
                  <a:close/>
                </a:path>
              </a:pathLst>
            </a:custGeom>
            <a:solidFill>
              <a:srgbClr val="00538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0">
              <a:extLst>
                <a:ext uri="{FF2B5EF4-FFF2-40B4-BE49-F238E27FC236}">
                  <a16:creationId xmlns:a16="http://schemas.microsoft.com/office/drawing/2014/main" id="{23060999-2521-FBCF-A45D-943E1E8FD1FF}"/>
                </a:ext>
              </a:extLst>
            </p:cNvPr>
            <p:cNvSpPr txBox="1"/>
            <p:nvPr/>
          </p:nvSpPr>
          <p:spPr>
            <a:xfrm>
              <a:off x="0" y="-47625"/>
              <a:ext cx="1673758" cy="698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7" name="TextBox 11">
            <a:extLst>
              <a:ext uri="{FF2B5EF4-FFF2-40B4-BE49-F238E27FC236}">
                <a16:creationId xmlns:a16="http://schemas.microsoft.com/office/drawing/2014/main" id="{45EFE1A4-8207-1E8E-5C34-A1B6761E7AE2}"/>
              </a:ext>
            </a:extLst>
          </p:cNvPr>
          <p:cNvSpPr txBox="1"/>
          <p:nvPr/>
        </p:nvSpPr>
        <p:spPr>
          <a:xfrm>
            <a:off x="1924310" y="7344589"/>
            <a:ext cx="5550098" cy="1726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77"/>
              </a:lnSpc>
            </a:pPr>
            <a:r>
              <a:rPr lang="en-US" sz="1412" dirty="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A seamless end-to-end pipeline connects subscribers to actionable insights:</a:t>
            </a:r>
          </a:p>
          <a:p>
            <a:pPr marL="0" lvl="0" indent="0" algn="l">
              <a:lnSpc>
                <a:spcPts val="1977"/>
              </a:lnSpc>
            </a:pPr>
            <a:r>
              <a:rPr lang="en-US" sz="1412" dirty="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Subscriber → Mobile App → Database → Analytics Dashboard</a:t>
            </a:r>
          </a:p>
          <a:p>
            <a:pPr marL="0" lvl="0" indent="0" algn="l">
              <a:lnSpc>
                <a:spcPts val="1977"/>
              </a:lnSpc>
            </a:pPr>
            <a:r>
              <a:rPr lang="en-US" sz="1412" dirty="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Each component exchanges data via REST API with JWT-secured endpoints, enabling real-time collection, local SQLite caching, cloud sync to MongoDB, and centralized </a:t>
            </a:r>
            <a:r>
              <a:rPr lang="en-US" sz="1412" dirty="0" err="1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QoS</a:t>
            </a:r>
            <a:r>
              <a:rPr lang="en-US" sz="1412" dirty="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/</a:t>
            </a:r>
            <a:r>
              <a:rPr lang="en-US" sz="1412" dirty="0" err="1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QoE</a:t>
            </a:r>
            <a:r>
              <a:rPr lang="en-US" sz="1412" dirty="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 reporting for administrators.</a:t>
            </a:r>
          </a:p>
        </p:txBody>
      </p:sp>
      <p:pic>
        <p:nvPicPr>
          <p:cNvPr id="18" name="Picture 1">
            <a:extLst>
              <a:ext uri="{FF2B5EF4-FFF2-40B4-BE49-F238E27FC236}">
                <a16:creationId xmlns:a16="http://schemas.microsoft.com/office/drawing/2014/main" id="{28ECE8D0-45C2-8D07-4178-51F7087B9023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9525000" y="647701"/>
            <a:ext cx="8077200" cy="4419600"/>
          </a:xfrm>
          <a:prstGeom prst="rect">
            <a:avLst/>
          </a:prstGeom>
        </p:spPr>
      </p:pic>
      <p:pic>
        <p:nvPicPr>
          <p:cNvPr id="19" name="Picture 1">
            <a:extLst>
              <a:ext uri="{FF2B5EF4-FFF2-40B4-BE49-F238E27FC236}">
                <a16:creationId xmlns:a16="http://schemas.microsoft.com/office/drawing/2014/main" id="{A8D2EB8B-15A2-A934-5EBD-78295556E737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9525001" y="5295900"/>
            <a:ext cx="8077200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815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14400" y="3596863"/>
            <a:ext cx="4904272" cy="5299408"/>
            <a:chOff x="0" y="0"/>
            <a:chExt cx="1291660" cy="13957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91660" cy="1395729"/>
            </a:xfrm>
            <a:custGeom>
              <a:avLst/>
              <a:gdLst/>
              <a:ahLst/>
              <a:cxnLst/>
              <a:rect l="l" t="t" r="r" b="b"/>
              <a:pathLst>
                <a:path w="1291660" h="1395729">
                  <a:moveTo>
                    <a:pt x="0" y="0"/>
                  </a:moveTo>
                  <a:lnTo>
                    <a:pt x="1291660" y="0"/>
                  </a:lnTo>
                  <a:lnTo>
                    <a:pt x="1291660" y="1395729"/>
                  </a:lnTo>
                  <a:lnTo>
                    <a:pt x="0" y="1395729"/>
                  </a:lnTo>
                  <a:close/>
                </a:path>
              </a:pathLst>
            </a:custGeom>
            <a:solidFill>
              <a:srgbClr val="F8BC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291660" cy="14433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97268" y="3906647"/>
            <a:ext cx="4338537" cy="2133370"/>
            <a:chOff x="0" y="0"/>
            <a:chExt cx="707961" cy="3481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7961" cy="348123"/>
            </a:xfrm>
            <a:custGeom>
              <a:avLst/>
              <a:gdLst/>
              <a:ahLst/>
              <a:cxnLst/>
              <a:rect l="l" t="t" r="r" b="b"/>
              <a:pathLst>
                <a:path w="707961" h="348123">
                  <a:moveTo>
                    <a:pt x="0" y="0"/>
                  </a:moveTo>
                  <a:lnTo>
                    <a:pt x="707961" y="0"/>
                  </a:lnTo>
                  <a:lnTo>
                    <a:pt x="707961" y="348123"/>
                  </a:lnTo>
                  <a:lnTo>
                    <a:pt x="0" y="348123"/>
                  </a:lnTo>
                  <a:close/>
                </a:path>
              </a:pathLst>
            </a:custGeom>
            <a:blipFill>
              <a:blip r:embed="rId2"/>
              <a:stretch>
                <a:fillRect t="-7959" b="-795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81000" y="2110876"/>
            <a:ext cx="6829010" cy="105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95"/>
              </a:lnSpc>
            </a:pPr>
            <a:r>
              <a:rPr lang="en-US" sz="6795" spc="-373" dirty="0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ER Diagram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1000" y="1112892"/>
            <a:ext cx="6829010" cy="345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88"/>
              </a:lnSpc>
            </a:pPr>
            <a:r>
              <a:rPr lang="en-US" sz="2134" b="1" dirty="0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Database Schema Entity Relationship Diagram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0135" y="6198942"/>
            <a:ext cx="4338537" cy="211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Entities: User, Measurement, Network Cell. A User submits many Measurements. Each Measurement links to a Network Cell. Primary and foreign keys define referential integrity across the data model.</a:t>
            </a:r>
          </a:p>
        </p:txBody>
      </p:sp>
      <p:pic>
        <p:nvPicPr>
          <p:cNvPr id="19" name="Picture 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54259"/>
            <a:ext cx="9842816" cy="89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3101" y="3051251"/>
            <a:ext cx="4785638" cy="7534822"/>
            <a:chOff x="0" y="0"/>
            <a:chExt cx="1260415" cy="1984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0415" cy="1984480"/>
            </a:xfrm>
            <a:custGeom>
              <a:avLst/>
              <a:gdLst/>
              <a:ahLst/>
              <a:cxnLst/>
              <a:rect l="l" t="t" r="r" b="b"/>
              <a:pathLst>
                <a:path w="1260415" h="1984480">
                  <a:moveTo>
                    <a:pt x="82505" y="0"/>
                  </a:moveTo>
                  <a:lnTo>
                    <a:pt x="1177910" y="0"/>
                  </a:lnTo>
                  <a:cubicBezTo>
                    <a:pt x="1223476" y="0"/>
                    <a:pt x="1260415" y="36939"/>
                    <a:pt x="1260415" y="82505"/>
                  </a:cubicBezTo>
                  <a:lnTo>
                    <a:pt x="1260415" y="1901975"/>
                  </a:lnTo>
                  <a:cubicBezTo>
                    <a:pt x="1260415" y="1923857"/>
                    <a:pt x="1251723" y="1944842"/>
                    <a:pt x="1236250" y="1960315"/>
                  </a:cubicBezTo>
                  <a:cubicBezTo>
                    <a:pt x="1220777" y="1975787"/>
                    <a:pt x="1199792" y="1984480"/>
                    <a:pt x="1177910" y="1984480"/>
                  </a:cubicBezTo>
                  <a:lnTo>
                    <a:pt x="82505" y="1984480"/>
                  </a:lnTo>
                  <a:cubicBezTo>
                    <a:pt x="60623" y="1984480"/>
                    <a:pt x="39638" y="1975787"/>
                    <a:pt x="24165" y="1960315"/>
                  </a:cubicBezTo>
                  <a:cubicBezTo>
                    <a:pt x="8692" y="1944842"/>
                    <a:pt x="0" y="1923857"/>
                    <a:pt x="0" y="1901975"/>
                  </a:cubicBezTo>
                  <a:lnTo>
                    <a:pt x="0" y="82505"/>
                  </a:lnTo>
                  <a:cubicBezTo>
                    <a:pt x="0" y="60623"/>
                    <a:pt x="8692" y="39638"/>
                    <a:pt x="24165" y="24165"/>
                  </a:cubicBezTo>
                  <a:cubicBezTo>
                    <a:pt x="39638" y="8692"/>
                    <a:pt x="60623" y="0"/>
                    <a:pt x="82505" y="0"/>
                  </a:cubicBezTo>
                  <a:close/>
                </a:path>
              </a:pathLst>
            </a:custGeom>
            <a:solidFill>
              <a:srgbClr val="0053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60415" cy="2032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50947" y="3051251"/>
            <a:ext cx="4785638" cy="7534822"/>
            <a:chOff x="0" y="0"/>
            <a:chExt cx="1260415" cy="19844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0415" cy="1984480"/>
            </a:xfrm>
            <a:custGeom>
              <a:avLst/>
              <a:gdLst/>
              <a:ahLst/>
              <a:cxnLst/>
              <a:rect l="l" t="t" r="r" b="b"/>
              <a:pathLst>
                <a:path w="1260415" h="1984480">
                  <a:moveTo>
                    <a:pt x="82505" y="0"/>
                  </a:moveTo>
                  <a:lnTo>
                    <a:pt x="1177910" y="0"/>
                  </a:lnTo>
                  <a:cubicBezTo>
                    <a:pt x="1223476" y="0"/>
                    <a:pt x="1260415" y="36939"/>
                    <a:pt x="1260415" y="82505"/>
                  </a:cubicBezTo>
                  <a:lnTo>
                    <a:pt x="1260415" y="1901975"/>
                  </a:lnTo>
                  <a:cubicBezTo>
                    <a:pt x="1260415" y="1923857"/>
                    <a:pt x="1251723" y="1944842"/>
                    <a:pt x="1236250" y="1960315"/>
                  </a:cubicBezTo>
                  <a:cubicBezTo>
                    <a:pt x="1220777" y="1975787"/>
                    <a:pt x="1199792" y="1984480"/>
                    <a:pt x="1177910" y="1984480"/>
                  </a:cubicBezTo>
                  <a:lnTo>
                    <a:pt x="82505" y="1984480"/>
                  </a:lnTo>
                  <a:cubicBezTo>
                    <a:pt x="60623" y="1984480"/>
                    <a:pt x="39638" y="1975787"/>
                    <a:pt x="24165" y="1960315"/>
                  </a:cubicBezTo>
                  <a:cubicBezTo>
                    <a:pt x="8692" y="1944842"/>
                    <a:pt x="0" y="1923857"/>
                    <a:pt x="0" y="1901975"/>
                  </a:cubicBezTo>
                  <a:lnTo>
                    <a:pt x="0" y="82505"/>
                  </a:lnTo>
                  <a:cubicBezTo>
                    <a:pt x="0" y="60623"/>
                    <a:pt x="8692" y="39638"/>
                    <a:pt x="24165" y="24165"/>
                  </a:cubicBezTo>
                  <a:cubicBezTo>
                    <a:pt x="39638" y="8692"/>
                    <a:pt x="60623" y="0"/>
                    <a:pt x="82505" y="0"/>
                  </a:cubicBezTo>
                  <a:close/>
                </a:path>
              </a:pathLst>
            </a:custGeom>
            <a:solidFill>
              <a:srgbClr val="F8BC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60415" cy="2032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98794" y="3051251"/>
            <a:ext cx="4785638" cy="7534822"/>
            <a:chOff x="0" y="0"/>
            <a:chExt cx="1260415" cy="19844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60415" cy="1984480"/>
            </a:xfrm>
            <a:custGeom>
              <a:avLst/>
              <a:gdLst/>
              <a:ahLst/>
              <a:cxnLst/>
              <a:rect l="l" t="t" r="r" b="b"/>
              <a:pathLst>
                <a:path w="1260415" h="1984480">
                  <a:moveTo>
                    <a:pt x="82505" y="0"/>
                  </a:moveTo>
                  <a:lnTo>
                    <a:pt x="1177910" y="0"/>
                  </a:lnTo>
                  <a:cubicBezTo>
                    <a:pt x="1223476" y="0"/>
                    <a:pt x="1260415" y="36939"/>
                    <a:pt x="1260415" y="82505"/>
                  </a:cubicBezTo>
                  <a:lnTo>
                    <a:pt x="1260415" y="1901975"/>
                  </a:lnTo>
                  <a:cubicBezTo>
                    <a:pt x="1260415" y="1923857"/>
                    <a:pt x="1251723" y="1944842"/>
                    <a:pt x="1236250" y="1960315"/>
                  </a:cubicBezTo>
                  <a:cubicBezTo>
                    <a:pt x="1220777" y="1975787"/>
                    <a:pt x="1199792" y="1984480"/>
                    <a:pt x="1177910" y="1984480"/>
                  </a:cubicBezTo>
                  <a:lnTo>
                    <a:pt x="82505" y="1984480"/>
                  </a:lnTo>
                  <a:cubicBezTo>
                    <a:pt x="60623" y="1984480"/>
                    <a:pt x="39638" y="1975787"/>
                    <a:pt x="24165" y="1960315"/>
                  </a:cubicBezTo>
                  <a:cubicBezTo>
                    <a:pt x="8692" y="1944842"/>
                    <a:pt x="0" y="1923857"/>
                    <a:pt x="0" y="1901975"/>
                  </a:cubicBezTo>
                  <a:lnTo>
                    <a:pt x="0" y="82505"/>
                  </a:lnTo>
                  <a:cubicBezTo>
                    <a:pt x="0" y="60623"/>
                    <a:pt x="8692" y="39638"/>
                    <a:pt x="24165" y="24165"/>
                  </a:cubicBezTo>
                  <a:cubicBezTo>
                    <a:pt x="39638" y="8692"/>
                    <a:pt x="60623" y="0"/>
                    <a:pt x="82505" y="0"/>
                  </a:cubicBezTo>
                  <a:close/>
                </a:path>
              </a:pathLst>
            </a:custGeom>
            <a:solidFill>
              <a:srgbClr val="0053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60415" cy="2032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84342" y="3709503"/>
            <a:ext cx="2717384" cy="271738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932422" y="3709503"/>
            <a:ext cx="2717384" cy="271738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093304" y="3807050"/>
            <a:ext cx="2717384" cy="271738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3648806" y="6230206"/>
            <a:ext cx="588456" cy="588456"/>
          </a:xfrm>
          <a:custGeom>
            <a:avLst/>
            <a:gdLst/>
            <a:ahLst/>
            <a:cxnLst/>
            <a:rect l="l" t="t" r="r" b="b"/>
            <a:pathLst>
              <a:path w="588456" h="588456">
                <a:moveTo>
                  <a:pt x="0" y="0"/>
                </a:moveTo>
                <a:lnTo>
                  <a:pt x="588456" y="0"/>
                </a:lnTo>
                <a:lnTo>
                  <a:pt x="588456" y="588456"/>
                </a:lnTo>
                <a:lnTo>
                  <a:pt x="0" y="588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8996886" y="6230206"/>
            <a:ext cx="588456" cy="588456"/>
          </a:xfrm>
          <a:custGeom>
            <a:avLst/>
            <a:gdLst/>
            <a:ahLst/>
            <a:cxnLst/>
            <a:rect l="l" t="t" r="r" b="b"/>
            <a:pathLst>
              <a:path w="588456" h="588456">
                <a:moveTo>
                  <a:pt x="0" y="0"/>
                </a:moveTo>
                <a:lnTo>
                  <a:pt x="588456" y="0"/>
                </a:lnTo>
                <a:lnTo>
                  <a:pt x="588456" y="588456"/>
                </a:lnTo>
                <a:lnTo>
                  <a:pt x="0" y="588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4344499" y="6230206"/>
            <a:ext cx="588456" cy="588456"/>
          </a:xfrm>
          <a:custGeom>
            <a:avLst/>
            <a:gdLst/>
            <a:ahLst/>
            <a:cxnLst/>
            <a:rect l="l" t="t" r="r" b="b"/>
            <a:pathLst>
              <a:path w="588456" h="588456">
                <a:moveTo>
                  <a:pt x="0" y="0"/>
                </a:moveTo>
                <a:lnTo>
                  <a:pt x="588457" y="0"/>
                </a:lnTo>
                <a:lnTo>
                  <a:pt x="588457" y="588456"/>
                </a:lnTo>
                <a:lnTo>
                  <a:pt x="0" y="5884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687262" y="1441579"/>
            <a:ext cx="11752645" cy="105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95"/>
              </a:lnSpc>
            </a:pPr>
            <a:r>
              <a:rPr lang="en-US" sz="6795" spc="-373" dirty="0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Database Implementation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10879" y="7972312"/>
            <a:ext cx="3464311" cy="1029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Scalable cloud database for centralized storage of synchronized QoS/QoE measurements and user data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58959" y="7972312"/>
            <a:ext cx="3464311" cy="77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50"/>
              </a:lnSpc>
            </a:pPr>
            <a:r>
              <a:rPr lang="en-US" sz="1464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Lightweight local mobile storage enabling offline data collection and reliable on-device caching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093304" y="7972312"/>
            <a:ext cx="3090847" cy="1029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MongoDB object modeling with geospatial indexing for location-based network quality queries and normalized data integrity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10879" y="7356753"/>
            <a:ext cx="3464311" cy="372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93"/>
              </a:lnSpc>
              <a:spcBef>
                <a:spcPct val="0"/>
              </a:spcBef>
            </a:pPr>
            <a:r>
              <a:rPr lang="en-US" sz="2209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MongoDB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58959" y="7356753"/>
            <a:ext cx="3464311" cy="372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93"/>
              </a:lnSpc>
              <a:spcBef>
                <a:spcPct val="0"/>
              </a:spcBef>
            </a:pPr>
            <a:r>
              <a:rPr lang="en-US" sz="2209" b="1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SQLite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906572" y="7356753"/>
            <a:ext cx="3464311" cy="372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93"/>
              </a:lnSpc>
              <a:spcBef>
                <a:spcPct val="0"/>
              </a:spcBef>
            </a:pPr>
            <a:r>
              <a:rPr lang="en-US" sz="2209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Mongoose &amp; Geospatial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4D8997-5CF9-AEDA-CDC8-A9B36B7E0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342900"/>
            <a:ext cx="10058400" cy="71421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21">
            <a:extLst>
              <a:ext uri="{FF2B5EF4-FFF2-40B4-BE49-F238E27FC236}">
                <a16:creationId xmlns:a16="http://schemas.microsoft.com/office/drawing/2014/main" id="{80F5AAE1-0170-665B-E2E9-FD8C693F71F5}"/>
              </a:ext>
            </a:extLst>
          </p:cNvPr>
          <p:cNvSpPr txBox="1"/>
          <p:nvPr/>
        </p:nvSpPr>
        <p:spPr>
          <a:xfrm>
            <a:off x="990600" y="2171700"/>
            <a:ext cx="6085138" cy="2616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795"/>
              </a:lnSpc>
            </a:pPr>
            <a:r>
              <a:rPr lang="en-US" sz="6795" spc="-373" dirty="0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User and Network cell schema</a:t>
            </a:r>
          </a:p>
        </p:txBody>
      </p:sp>
    </p:spTree>
    <p:extLst>
      <p:ext uri="{BB962C8B-B14F-4D97-AF65-F5344CB8AC3E}">
        <p14:creationId xmlns:p14="http://schemas.microsoft.com/office/powerpoint/2010/main" val="1027246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56D2A2-FC99-4305-B41A-ABB667CCF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42900"/>
            <a:ext cx="7620000" cy="75538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21">
            <a:extLst>
              <a:ext uri="{FF2B5EF4-FFF2-40B4-BE49-F238E27FC236}">
                <a16:creationId xmlns:a16="http://schemas.microsoft.com/office/drawing/2014/main" id="{BB07671B-C555-FD8C-E736-BBB0E5DF725D}"/>
              </a:ext>
            </a:extLst>
          </p:cNvPr>
          <p:cNvSpPr txBox="1"/>
          <p:nvPr/>
        </p:nvSpPr>
        <p:spPr>
          <a:xfrm>
            <a:off x="990600" y="2171700"/>
            <a:ext cx="6085138" cy="174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795"/>
              </a:lnSpc>
            </a:pPr>
            <a:r>
              <a:rPr lang="en-US" sz="6795" spc="-373" dirty="0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Measurement Schema</a:t>
            </a:r>
          </a:p>
        </p:txBody>
      </p:sp>
    </p:spTree>
    <p:extLst>
      <p:ext uri="{BB962C8B-B14F-4D97-AF65-F5344CB8AC3E}">
        <p14:creationId xmlns:p14="http://schemas.microsoft.com/office/powerpoint/2010/main" val="2418190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49BDD052-E58D-F8EE-EE87-6B148CCD683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610600" y="2204720"/>
            <a:ext cx="8534400" cy="5715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21">
            <a:extLst>
              <a:ext uri="{FF2B5EF4-FFF2-40B4-BE49-F238E27FC236}">
                <a16:creationId xmlns:a16="http://schemas.microsoft.com/office/drawing/2014/main" id="{361FF5E2-7277-C311-4050-AC1BA571D160}"/>
              </a:ext>
            </a:extLst>
          </p:cNvPr>
          <p:cNvSpPr txBox="1"/>
          <p:nvPr/>
        </p:nvSpPr>
        <p:spPr>
          <a:xfrm>
            <a:off x="990600" y="3086100"/>
            <a:ext cx="7010400" cy="34881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6795"/>
              </a:lnSpc>
            </a:pPr>
            <a:r>
              <a:rPr lang="en-US" sz="6795" spc="-373" dirty="0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connecting the backend  Schema to MongoDB</a:t>
            </a:r>
          </a:p>
        </p:txBody>
      </p:sp>
    </p:spTree>
    <p:extLst>
      <p:ext uri="{BB962C8B-B14F-4D97-AF65-F5344CB8AC3E}">
        <p14:creationId xmlns:p14="http://schemas.microsoft.com/office/powerpoint/2010/main" val="1408379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3101" y="3051251"/>
            <a:ext cx="4785638" cy="7534822"/>
            <a:chOff x="0" y="0"/>
            <a:chExt cx="1260415" cy="1984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0415" cy="1984480"/>
            </a:xfrm>
            <a:custGeom>
              <a:avLst/>
              <a:gdLst/>
              <a:ahLst/>
              <a:cxnLst/>
              <a:rect l="l" t="t" r="r" b="b"/>
              <a:pathLst>
                <a:path w="1260415" h="1984480">
                  <a:moveTo>
                    <a:pt x="82505" y="0"/>
                  </a:moveTo>
                  <a:lnTo>
                    <a:pt x="1177910" y="0"/>
                  </a:lnTo>
                  <a:cubicBezTo>
                    <a:pt x="1223476" y="0"/>
                    <a:pt x="1260415" y="36939"/>
                    <a:pt x="1260415" y="82505"/>
                  </a:cubicBezTo>
                  <a:lnTo>
                    <a:pt x="1260415" y="1901975"/>
                  </a:lnTo>
                  <a:cubicBezTo>
                    <a:pt x="1260415" y="1923857"/>
                    <a:pt x="1251723" y="1944842"/>
                    <a:pt x="1236250" y="1960315"/>
                  </a:cubicBezTo>
                  <a:cubicBezTo>
                    <a:pt x="1220777" y="1975787"/>
                    <a:pt x="1199792" y="1984480"/>
                    <a:pt x="1177910" y="1984480"/>
                  </a:cubicBezTo>
                  <a:lnTo>
                    <a:pt x="82505" y="1984480"/>
                  </a:lnTo>
                  <a:cubicBezTo>
                    <a:pt x="60623" y="1984480"/>
                    <a:pt x="39638" y="1975787"/>
                    <a:pt x="24165" y="1960315"/>
                  </a:cubicBezTo>
                  <a:cubicBezTo>
                    <a:pt x="8692" y="1944842"/>
                    <a:pt x="0" y="1923857"/>
                    <a:pt x="0" y="1901975"/>
                  </a:cubicBezTo>
                  <a:lnTo>
                    <a:pt x="0" y="82505"/>
                  </a:lnTo>
                  <a:cubicBezTo>
                    <a:pt x="0" y="60623"/>
                    <a:pt x="8692" y="39638"/>
                    <a:pt x="24165" y="24165"/>
                  </a:cubicBezTo>
                  <a:cubicBezTo>
                    <a:pt x="39638" y="8692"/>
                    <a:pt x="60623" y="0"/>
                    <a:pt x="82505" y="0"/>
                  </a:cubicBezTo>
                  <a:close/>
                </a:path>
              </a:pathLst>
            </a:custGeom>
            <a:solidFill>
              <a:srgbClr val="0053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60415" cy="2032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50947" y="3051251"/>
            <a:ext cx="4785638" cy="7534822"/>
            <a:chOff x="0" y="0"/>
            <a:chExt cx="1260415" cy="19844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0415" cy="1984480"/>
            </a:xfrm>
            <a:custGeom>
              <a:avLst/>
              <a:gdLst/>
              <a:ahLst/>
              <a:cxnLst/>
              <a:rect l="l" t="t" r="r" b="b"/>
              <a:pathLst>
                <a:path w="1260415" h="1984480">
                  <a:moveTo>
                    <a:pt x="82505" y="0"/>
                  </a:moveTo>
                  <a:lnTo>
                    <a:pt x="1177910" y="0"/>
                  </a:lnTo>
                  <a:cubicBezTo>
                    <a:pt x="1223476" y="0"/>
                    <a:pt x="1260415" y="36939"/>
                    <a:pt x="1260415" y="82505"/>
                  </a:cubicBezTo>
                  <a:lnTo>
                    <a:pt x="1260415" y="1901975"/>
                  </a:lnTo>
                  <a:cubicBezTo>
                    <a:pt x="1260415" y="1923857"/>
                    <a:pt x="1251723" y="1944842"/>
                    <a:pt x="1236250" y="1960315"/>
                  </a:cubicBezTo>
                  <a:cubicBezTo>
                    <a:pt x="1220777" y="1975787"/>
                    <a:pt x="1199792" y="1984480"/>
                    <a:pt x="1177910" y="1984480"/>
                  </a:cubicBezTo>
                  <a:lnTo>
                    <a:pt x="82505" y="1984480"/>
                  </a:lnTo>
                  <a:cubicBezTo>
                    <a:pt x="60623" y="1984480"/>
                    <a:pt x="39638" y="1975787"/>
                    <a:pt x="24165" y="1960315"/>
                  </a:cubicBezTo>
                  <a:cubicBezTo>
                    <a:pt x="8692" y="1944842"/>
                    <a:pt x="0" y="1923857"/>
                    <a:pt x="0" y="1901975"/>
                  </a:cubicBezTo>
                  <a:lnTo>
                    <a:pt x="0" y="82505"/>
                  </a:lnTo>
                  <a:cubicBezTo>
                    <a:pt x="0" y="60623"/>
                    <a:pt x="8692" y="39638"/>
                    <a:pt x="24165" y="24165"/>
                  </a:cubicBezTo>
                  <a:cubicBezTo>
                    <a:pt x="39638" y="8692"/>
                    <a:pt x="60623" y="0"/>
                    <a:pt x="82505" y="0"/>
                  </a:cubicBezTo>
                  <a:close/>
                </a:path>
              </a:pathLst>
            </a:custGeom>
            <a:solidFill>
              <a:srgbClr val="F8BC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60415" cy="2032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98794" y="3051251"/>
            <a:ext cx="4785638" cy="7534822"/>
            <a:chOff x="0" y="0"/>
            <a:chExt cx="1260415" cy="19844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60415" cy="1984480"/>
            </a:xfrm>
            <a:custGeom>
              <a:avLst/>
              <a:gdLst/>
              <a:ahLst/>
              <a:cxnLst/>
              <a:rect l="l" t="t" r="r" b="b"/>
              <a:pathLst>
                <a:path w="1260415" h="1984480">
                  <a:moveTo>
                    <a:pt x="82505" y="0"/>
                  </a:moveTo>
                  <a:lnTo>
                    <a:pt x="1177910" y="0"/>
                  </a:lnTo>
                  <a:cubicBezTo>
                    <a:pt x="1223476" y="0"/>
                    <a:pt x="1260415" y="36939"/>
                    <a:pt x="1260415" y="82505"/>
                  </a:cubicBezTo>
                  <a:lnTo>
                    <a:pt x="1260415" y="1901975"/>
                  </a:lnTo>
                  <a:cubicBezTo>
                    <a:pt x="1260415" y="1923857"/>
                    <a:pt x="1251723" y="1944842"/>
                    <a:pt x="1236250" y="1960315"/>
                  </a:cubicBezTo>
                  <a:cubicBezTo>
                    <a:pt x="1220777" y="1975787"/>
                    <a:pt x="1199792" y="1984480"/>
                    <a:pt x="1177910" y="1984480"/>
                  </a:cubicBezTo>
                  <a:lnTo>
                    <a:pt x="82505" y="1984480"/>
                  </a:lnTo>
                  <a:cubicBezTo>
                    <a:pt x="60623" y="1984480"/>
                    <a:pt x="39638" y="1975787"/>
                    <a:pt x="24165" y="1960315"/>
                  </a:cubicBezTo>
                  <a:cubicBezTo>
                    <a:pt x="8692" y="1944842"/>
                    <a:pt x="0" y="1923857"/>
                    <a:pt x="0" y="1901975"/>
                  </a:cubicBezTo>
                  <a:lnTo>
                    <a:pt x="0" y="82505"/>
                  </a:lnTo>
                  <a:cubicBezTo>
                    <a:pt x="0" y="60623"/>
                    <a:pt x="8692" y="39638"/>
                    <a:pt x="24165" y="24165"/>
                  </a:cubicBezTo>
                  <a:cubicBezTo>
                    <a:pt x="39638" y="8692"/>
                    <a:pt x="60623" y="0"/>
                    <a:pt x="82505" y="0"/>
                  </a:cubicBezTo>
                  <a:close/>
                </a:path>
              </a:pathLst>
            </a:custGeom>
            <a:solidFill>
              <a:srgbClr val="0053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60415" cy="2032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84342" y="3709503"/>
            <a:ext cx="2717384" cy="271738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932422" y="3709503"/>
            <a:ext cx="2717384" cy="271738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093304" y="3807050"/>
            <a:ext cx="2717384" cy="271738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3648197" y="6230896"/>
            <a:ext cx="588456" cy="586799"/>
          </a:xfrm>
          <a:custGeom>
            <a:avLst/>
            <a:gdLst/>
            <a:ahLst/>
            <a:cxnLst/>
            <a:rect l="l" t="t" r="r" b="b"/>
            <a:pathLst>
              <a:path w="588456" h="586799">
                <a:moveTo>
                  <a:pt x="0" y="0"/>
                </a:moveTo>
                <a:lnTo>
                  <a:pt x="588456" y="0"/>
                </a:lnTo>
                <a:lnTo>
                  <a:pt x="588456" y="586799"/>
                </a:lnTo>
                <a:lnTo>
                  <a:pt x="0" y="586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8987983" y="6166272"/>
            <a:ext cx="620384" cy="675248"/>
          </a:xfrm>
          <a:custGeom>
            <a:avLst/>
            <a:gdLst/>
            <a:ahLst/>
            <a:cxnLst/>
            <a:rect l="l" t="t" r="r" b="b"/>
            <a:pathLst>
              <a:path w="620384" h="675248">
                <a:moveTo>
                  <a:pt x="0" y="0"/>
                </a:moveTo>
                <a:lnTo>
                  <a:pt x="620384" y="0"/>
                </a:lnTo>
                <a:lnTo>
                  <a:pt x="620384" y="675248"/>
                </a:lnTo>
                <a:lnTo>
                  <a:pt x="0" y="6752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4325131" y="6214454"/>
            <a:ext cx="603889" cy="597095"/>
          </a:xfrm>
          <a:custGeom>
            <a:avLst/>
            <a:gdLst/>
            <a:ahLst/>
            <a:cxnLst/>
            <a:rect l="l" t="t" r="r" b="b"/>
            <a:pathLst>
              <a:path w="603889" h="597095">
                <a:moveTo>
                  <a:pt x="0" y="0"/>
                </a:moveTo>
                <a:lnTo>
                  <a:pt x="603890" y="0"/>
                </a:lnTo>
                <a:lnTo>
                  <a:pt x="603890" y="597095"/>
                </a:lnTo>
                <a:lnTo>
                  <a:pt x="0" y="5970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 rot="5400000">
            <a:off x="0" y="5993"/>
            <a:ext cx="1464161" cy="1464161"/>
          </a:xfrm>
          <a:custGeom>
            <a:avLst/>
            <a:gdLst/>
            <a:ahLst/>
            <a:cxnLst/>
            <a:rect l="l" t="t" r="r" b="b"/>
            <a:pathLst>
              <a:path w="1464161" h="1464161">
                <a:moveTo>
                  <a:pt x="0" y="0"/>
                </a:moveTo>
                <a:lnTo>
                  <a:pt x="1464161" y="0"/>
                </a:lnTo>
                <a:lnTo>
                  <a:pt x="1464161" y="1464161"/>
                </a:lnTo>
                <a:lnTo>
                  <a:pt x="0" y="14641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687262" y="1441579"/>
            <a:ext cx="11752645" cy="105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95"/>
              </a:lnSpc>
            </a:pPr>
            <a:r>
              <a:rPr lang="en-US" sz="6795" spc="-373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Backend Implementation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10879" y="7972312"/>
            <a:ext cx="3464311" cy="77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Node.js runtime powers the server with Express.js web framework handling routing and middleware efficiently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58959" y="7972312"/>
            <a:ext cx="3464311" cy="77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50"/>
              </a:lnSpc>
            </a:pPr>
            <a:r>
              <a:rPr lang="en-US" sz="1464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JWT-based authentication secures all endpoints, protecting user data and ensuring authorized access control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093304" y="7972312"/>
            <a:ext cx="3090847" cy="77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50"/>
              </a:lnSpc>
            </a:pPr>
            <a:r>
              <a:rPr lang="en-US" sz="1464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RESTful API endpoints with robust data validation logic ensure quality inputs and reliable data exchange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10879" y="7347228"/>
            <a:ext cx="3464311" cy="40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7"/>
              </a:lnSpc>
              <a:spcBef>
                <a:spcPct val="0"/>
              </a:spcBef>
            </a:pPr>
            <a:r>
              <a:rPr lang="en-US" sz="2398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Node.js &amp; Express.js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58959" y="7347228"/>
            <a:ext cx="3464311" cy="40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7"/>
              </a:lnSpc>
              <a:spcBef>
                <a:spcPct val="0"/>
              </a:spcBef>
            </a:pPr>
            <a:r>
              <a:rPr lang="en-US" sz="2398" b="1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JWT Authentication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906572" y="7347228"/>
            <a:ext cx="3464311" cy="40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7"/>
              </a:lnSpc>
              <a:spcBef>
                <a:spcPct val="0"/>
              </a:spcBef>
            </a:pPr>
            <a:r>
              <a:rPr lang="en-US" sz="2398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REST API &amp; 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9336D-57D1-B57A-C86B-0A2EDAFCD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1">
            <a:extLst>
              <a:ext uri="{FF2B5EF4-FFF2-40B4-BE49-F238E27FC236}">
                <a16:creationId xmlns:a16="http://schemas.microsoft.com/office/drawing/2014/main" id="{924EFA7D-C08E-318D-442F-B726D597EBE4}"/>
              </a:ext>
            </a:extLst>
          </p:cNvPr>
          <p:cNvSpPr txBox="1"/>
          <p:nvPr/>
        </p:nvSpPr>
        <p:spPr>
          <a:xfrm>
            <a:off x="685800" y="3642564"/>
            <a:ext cx="6085138" cy="174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6795"/>
              </a:lnSpc>
            </a:pPr>
            <a:r>
              <a:rPr lang="en-US" sz="6795" spc="-373" dirty="0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Launching the backend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AB2D05-2C9A-FC8B-4AC5-EF1205671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595" y="3043733"/>
            <a:ext cx="9358805" cy="29417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03249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03132" y="6556767"/>
            <a:ext cx="7403580" cy="2222534"/>
            <a:chOff x="0" y="0"/>
            <a:chExt cx="1949914" cy="5853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9914" cy="585359"/>
            </a:xfrm>
            <a:custGeom>
              <a:avLst/>
              <a:gdLst/>
              <a:ahLst/>
              <a:cxnLst/>
              <a:rect l="l" t="t" r="r" b="b"/>
              <a:pathLst>
                <a:path w="1949914" h="585359">
                  <a:moveTo>
                    <a:pt x="53331" y="0"/>
                  </a:moveTo>
                  <a:lnTo>
                    <a:pt x="1896583" y="0"/>
                  </a:lnTo>
                  <a:cubicBezTo>
                    <a:pt x="1926037" y="0"/>
                    <a:pt x="1949914" y="23877"/>
                    <a:pt x="1949914" y="53331"/>
                  </a:cubicBezTo>
                  <a:lnTo>
                    <a:pt x="1949914" y="532028"/>
                  </a:lnTo>
                  <a:cubicBezTo>
                    <a:pt x="1949914" y="561482"/>
                    <a:pt x="1926037" y="585359"/>
                    <a:pt x="1896583" y="585359"/>
                  </a:cubicBezTo>
                  <a:lnTo>
                    <a:pt x="53331" y="585359"/>
                  </a:lnTo>
                  <a:cubicBezTo>
                    <a:pt x="23877" y="585359"/>
                    <a:pt x="0" y="561482"/>
                    <a:pt x="0" y="532028"/>
                  </a:cubicBezTo>
                  <a:lnTo>
                    <a:pt x="0" y="53331"/>
                  </a:lnTo>
                  <a:cubicBezTo>
                    <a:pt x="0" y="23877"/>
                    <a:pt x="23877" y="0"/>
                    <a:pt x="53331" y="0"/>
                  </a:cubicBezTo>
                  <a:close/>
                </a:path>
              </a:pathLst>
            </a:custGeom>
            <a:solidFill>
              <a:srgbClr val="F8BC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49914" cy="632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3132" y="4032233"/>
            <a:ext cx="7403580" cy="2222534"/>
            <a:chOff x="0" y="0"/>
            <a:chExt cx="1949914" cy="5853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49914" cy="585359"/>
            </a:xfrm>
            <a:custGeom>
              <a:avLst/>
              <a:gdLst/>
              <a:ahLst/>
              <a:cxnLst/>
              <a:rect l="l" t="t" r="r" b="b"/>
              <a:pathLst>
                <a:path w="1949914" h="585359">
                  <a:moveTo>
                    <a:pt x="53331" y="0"/>
                  </a:moveTo>
                  <a:lnTo>
                    <a:pt x="1896583" y="0"/>
                  </a:lnTo>
                  <a:cubicBezTo>
                    <a:pt x="1926037" y="0"/>
                    <a:pt x="1949914" y="23877"/>
                    <a:pt x="1949914" y="53331"/>
                  </a:cubicBezTo>
                  <a:lnTo>
                    <a:pt x="1949914" y="532028"/>
                  </a:lnTo>
                  <a:cubicBezTo>
                    <a:pt x="1949914" y="561482"/>
                    <a:pt x="1926037" y="585359"/>
                    <a:pt x="1896583" y="585359"/>
                  </a:cubicBezTo>
                  <a:lnTo>
                    <a:pt x="53331" y="585359"/>
                  </a:lnTo>
                  <a:cubicBezTo>
                    <a:pt x="23877" y="585359"/>
                    <a:pt x="0" y="561482"/>
                    <a:pt x="0" y="532028"/>
                  </a:cubicBezTo>
                  <a:lnTo>
                    <a:pt x="0" y="53331"/>
                  </a:lnTo>
                  <a:cubicBezTo>
                    <a:pt x="0" y="23877"/>
                    <a:pt x="23877" y="0"/>
                    <a:pt x="53331" y="0"/>
                  </a:cubicBezTo>
                  <a:close/>
                </a:path>
              </a:pathLst>
            </a:custGeom>
            <a:solidFill>
              <a:srgbClr val="0053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949914" cy="632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03132" y="1504899"/>
            <a:ext cx="7403580" cy="2222534"/>
            <a:chOff x="0" y="0"/>
            <a:chExt cx="1949914" cy="5853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49914" cy="585359"/>
            </a:xfrm>
            <a:custGeom>
              <a:avLst/>
              <a:gdLst/>
              <a:ahLst/>
              <a:cxnLst/>
              <a:rect l="l" t="t" r="r" b="b"/>
              <a:pathLst>
                <a:path w="1949914" h="585359">
                  <a:moveTo>
                    <a:pt x="53331" y="0"/>
                  </a:moveTo>
                  <a:lnTo>
                    <a:pt x="1896583" y="0"/>
                  </a:lnTo>
                  <a:cubicBezTo>
                    <a:pt x="1926037" y="0"/>
                    <a:pt x="1949914" y="23877"/>
                    <a:pt x="1949914" y="53331"/>
                  </a:cubicBezTo>
                  <a:lnTo>
                    <a:pt x="1949914" y="532028"/>
                  </a:lnTo>
                  <a:cubicBezTo>
                    <a:pt x="1949914" y="561482"/>
                    <a:pt x="1926037" y="585359"/>
                    <a:pt x="1896583" y="585359"/>
                  </a:cubicBezTo>
                  <a:lnTo>
                    <a:pt x="53331" y="585359"/>
                  </a:lnTo>
                  <a:cubicBezTo>
                    <a:pt x="23877" y="585359"/>
                    <a:pt x="0" y="561482"/>
                    <a:pt x="0" y="532028"/>
                  </a:cubicBezTo>
                  <a:lnTo>
                    <a:pt x="0" y="53331"/>
                  </a:lnTo>
                  <a:cubicBezTo>
                    <a:pt x="0" y="23877"/>
                    <a:pt x="23877" y="0"/>
                    <a:pt x="53331" y="0"/>
                  </a:cubicBezTo>
                  <a:close/>
                </a:path>
              </a:pathLst>
            </a:custGeom>
            <a:solidFill>
              <a:srgbClr val="F8BC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949914" cy="632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130325" y="2132405"/>
            <a:ext cx="967522" cy="967522"/>
          </a:xfrm>
          <a:custGeom>
            <a:avLst/>
            <a:gdLst/>
            <a:ahLst/>
            <a:cxnLst/>
            <a:rect l="l" t="t" r="r" b="b"/>
            <a:pathLst>
              <a:path w="967522" h="967522">
                <a:moveTo>
                  <a:pt x="0" y="0"/>
                </a:moveTo>
                <a:lnTo>
                  <a:pt x="967522" y="0"/>
                </a:lnTo>
                <a:lnTo>
                  <a:pt x="967522" y="967522"/>
                </a:lnTo>
                <a:lnTo>
                  <a:pt x="0" y="9675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977763" y="2867992"/>
            <a:ext cx="7521398" cy="3474447"/>
            <a:chOff x="0" y="0"/>
            <a:chExt cx="1165261" cy="5382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65261" cy="538283"/>
            </a:xfrm>
            <a:custGeom>
              <a:avLst/>
              <a:gdLst/>
              <a:ahLst/>
              <a:cxnLst/>
              <a:rect l="l" t="t" r="r" b="b"/>
              <a:pathLst>
                <a:path w="1165261" h="538283">
                  <a:moveTo>
                    <a:pt x="23674" y="0"/>
                  </a:moveTo>
                  <a:lnTo>
                    <a:pt x="1141587" y="0"/>
                  </a:lnTo>
                  <a:cubicBezTo>
                    <a:pt x="1154662" y="0"/>
                    <a:pt x="1165261" y="10599"/>
                    <a:pt x="1165261" y="23674"/>
                  </a:cubicBezTo>
                  <a:lnTo>
                    <a:pt x="1165261" y="514609"/>
                  </a:lnTo>
                  <a:cubicBezTo>
                    <a:pt x="1165261" y="520887"/>
                    <a:pt x="1162767" y="526909"/>
                    <a:pt x="1158327" y="531349"/>
                  </a:cubicBezTo>
                  <a:cubicBezTo>
                    <a:pt x="1153888" y="535789"/>
                    <a:pt x="1147866" y="538283"/>
                    <a:pt x="1141587" y="538283"/>
                  </a:cubicBezTo>
                  <a:lnTo>
                    <a:pt x="23674" y="538283"/>
                  </a:lnTo>
                  <a:cubicBezTo>
                    <a:pt x="10599" y="538283"/>
                    <a:pt x="0" y="527683"/>
                    <a:pt x="0" y="514609"/>
                  </a:cubicBezTo>
                  <a:lnTo>
                    <a:pt x="0" y="23674"/>
                  </a:lnTo>
                  <a:cubicBezTo>
                    <a:pt x="0" y="17396"/>
                    <a:pt x="2494" y="11374"/>
                    <a:pt x="6934" y="6934"/>
                  </a:cubicBezTo>
                  <a:cubicBezTo>
                    <a:pt x="11374" y="2494"/>
                    <a:pt x="17396" y="0"/>
                    <a:pt x="23674" y="0"/>
                  </a:cubicBezTo>
                  <a:close/>
                </a:path>
              </a:pathLst>
            </a:custGeom>
            <a:blipFill>
              <a:blip r:embed="rId3"/>
              <a:stretch>
                <a:fillRect t="-11696" b="-1169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511075" y="7405122"/>
            <a:ext cx="4528523" cy="515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5"/>
              </a:lnSpc>
            </a:pPr>
            <a:r>
              <a:rPr lang="en-US" sz="1454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MongoDB stores synced data and app receives confirmation, ensuring zero data loss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11075" y="4880588"/>
            <a:ext cx="4062450" cy="515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5"/>
              </a:lnSpc>
            </a:pPr>
            <a:r>
              <a:rPr lang="en-US" sz="1454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App checks for internet availability, then uploads data via REST API to Node.js backend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11075" y="2353253"/>
            <a:ext cx="4528523" cy="515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5"/>
              </a:lnSpc>
            </a:pPr>
            <a:r>
              <a:rPr lang="en-US" sz="1454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Data captured on device and stored locally in SQLite when offline or during poor connectivity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11075" y="6829222"/>
            <a:ext cx="4062450" cy="398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6"/>
              </a:lnSpc>
              <a:spcBef>
                <a:spcPct val="0"/>
              </a:spcBef>
            </a:pPr>
            <a:r>
              <a:rPr lang="en-US" sz="2297" b="1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Cloud Sync &amp; Confirmation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11075" y="4304688"/>
            <a:ext cx="4062450" cy="398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6"/>
              </a:lnSpc>
              <a:spcBef>
                <a:spcPct val="0"/>
              </a:spcBef>
            </a:pPr>
            <a:r>
              <a:rPr lang="en-US" sz="2297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Connectivity &amp; API Upload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11075" y="1777353"/>
            <a:ext cx="4062450" cy="398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6"/>
              </a:lnSpc>
              <a:spcBef>
                <a:spcPct val="0"/>
              </a:spcBef>
            </a:pPr>
            <a:r>
              <a:rPr lang="en-US" sz="2297" b="1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Measurement Collection</a:t>
            </a:r>
          </a:p>
        </p:txBody>
      </p:sp>
      <p:sp>
        <p:nvSpPr>
          <p:cNvPr id="24" name="Freeform 24"/>
          <p:cNvSpPr/>
          <p:nvPr/>
        </p:nvSpPr>
        <p:spPr>
          <a:xfrm>
            <a:off x="10130325" y="4605216"/>
            <a:ext cx="967522" cy="967522"/>
          </a:xfrm>
          <a:custGeom>
            <a:avLst/>
            <a:gdLst/>
            <a:ahLst/>
            <a:cxnLst/>
            <a:rect l="l" t="t" r="r" b="b"/>
            <a:pathLst>
              <a:path w="967522" h="967522">
                <a:moveTo>
                  <a:pt x="0" y="0"/>
                </a:moveTo>
                <a:lnTo>
                  <a:pt x="967522" y="0"/>
                </a:lnTo>
                <a:lnTo>
                  <a:pt x="967522" y="967521"/>
                </a:lnTo>
                <a:lnTo>
                  <a:pt x="0" y="967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0130325" y="7065442"/>
            <a:ext cx="967522" cy="967522"/>
          </a:xfrm>
          <a:custGeom>
            <a:avLst/>
            <a:gdLst/>
            <a:ahLst/>
            <a:cxnLst/>
            <a:rect l="l" t="t" r="r" b="b"/>
            <a:pathLst>
              <a:path w="967522" h="967522">
                <a:moveTo>
                  <a:pt x="0" y="0"/>
                </a:moveTo>
                <a:lnTo>
                  <a:pt x="967522" y="0"/>
                </a:lnTo>
                <a:lnTo>
                  <a:pt x="967522" y="967522"/>
                </a:lnTo>
                <a:lnTo>
                  <a:pt x="0" y="9675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1493467" y="5105400"/>
            <a:ext cx="5714450" cy="2458291"/>
            <a:chOff x="0" y="0"/>
            <a:chExt cx="1418433" cy="6101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18433" cy="610194"/>
            </a:xfrm>
            <a:custGeom>
              <a:avLst/>
              <a:gdLst/>
              <a:ahLst/>
              <a:cxnLst/>
              <a:rect l="l" t="t" r="r" b="b"/>
              <a:pathLst>
                <a:path w="1418433" h="610194">
                  <a:moveTo>
                    <a:pt x="40644" y="0"/>
                  </a:moveTo>
                  <a:lnTo>
                    <a:pt x="1377789" y="0"/>
                  </a:lnTo>
                  <a:cubicBezTo>
                    <a:pt x="1388569" y="0"/>
                    <a:pt x="1398906" y="4282"/>
                    <a:pt x="1406529" y="11904"/>
                  </a:cubicBezTo>
                  <a:cubicBezTo>
                    <a:pt x="1414151" y="19527"/>
                    <a:pt x="1418433" y="29864"/>
                    <a:pt x="1418433" y="40644"/>
                  </a:cubicBezTo>
                  <a:lnTo>
                    <a:pt x="1418433" y="569550"/>
                  </a:lnTo>
                  <a:cubicBezTo>
                    <a:pt x="1418433" y="580329"/>
                    <a:pt x="1414151" y="590667"/>
                    <a:pt x="1406529" y="598289"/>
                  </a:cubicBezTo>
                  <a:cubicBezTo>
                    <a:pt x="1398906" y="605912"/>
                    <a:pt x="1388569" y="610194"/>
                    <a:pt x="1377789" y="610194"/>
                  </a:cubicBezTo>
                  <a:lnTo>
                    <a:pt x="40644" y="610194"/>
                  </a:lnTo>
                  <a:cubicBezTo>
                    <a:pt x="29864" y="610194"/>
                    <a:pt x="19527" y="605912"/>
                    <a:pt x="11904" y="598289"/>
                  </a:cubicBezTo>
                  <a:cubicBezTo>
                    <a:pt x="4282" y="590667"/>
                    <a:pt x="0" y="580329"/>
                    <a:pt x="0" y="569550"/>
                  </a:cubicBezTo>
                  <a:lnTo>
                    <a:pt x="0" y="40644"/>
                  </a:lnTo>
                  <a:cubicBezTo>
                    <a:pt x="0" y="29864"/>
                    <a:pt x="4282" y="19527"/>
                    <a:pt x="11904" y="11904"/>
                  </a:cubicBezTo>
                  <a:cubicBezTo>
                    <a:pt x="19527" y="4282"/>
                    <a:pt x="29864" y="0"/>
                    <a:pt x="40644" y="0"/>
                  </a:cubicBezTo>
                  <a:close/>
                </a:path>
              </a:pathLst>
            </a:custGeom>
            <a:solidFill>
              <a:srgbClr val="00538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18433" cy="657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-1209171" y="-36158"/>
            <a:ext cx="8022901" cy="1064858"/>
          </a:xfrm>
          <a:custGeom>
            <a:avLst/>
            <a:gdLst/>
            <a:ahLst/>
            <a:cxnLst/>
            <a:rect l="l" t="t" r="r" b="b"/>
            <a:pathLst>
              <a:path w="8022901" h="1064858">
                <a:moveTo>
                  <a:pt x="8022900" y="0"/>
                </a:moveTo>
                <a:lnTo>
                  <a:pt x="0" y="0"/>
                </a:lnTo>
                <a:lnTo>
                  <a:pt x="0" y="1064858"/>
                </a:lnTo>
                <a:lnTo>
                  <a:pt x="8022900" y="1064858"/>
                </a:lnTo>
                <a:lnTo>
                  <a:pt x="80229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856743" y="2668949"/>
            <a:ext cx="6220457" cy="174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750"/>
              </a:lnSpc>
            </a:pPr>
            <a:r>
              <a:rPr lang="en-US" sz="6750" spc="-371" dirty="0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Administrator</a:t>
            </a:r>
          </a:p>
          <a:p>
            <a:pPr marL="0" lvl="0" indent="0" algn="l">
              <a:lnSpc>
                <a:spcPts val="6750"/>
              </a:lnSpc>
            </a:pPr>
            <a:r>
              <a:rPr lang="en-US" sz="6750" spc="-371" dirty="0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Dashboard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20407" y="5383306"/>
            <a:ext cx="5060570" cy="171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4"/>
              </a:lnSpc>
            </a:pPr>
            <a:r>
              <a:rPr lang="en-US" sz="1653" dirty="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Dashboard displays User Statistics (active users, registrations), Provider Statistics (network operator performance), Location Analysis (geospatial heatmaps), and QoS Trends over time — all with bright yellow accent highlights for key metrics.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56743" y="1804562"/>
            <a:ext cx="3709285" cy="40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</a:pPr>
            <a:r>
              <a:rPr lang="en-US" sz="2398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Analytics &amp; Monitoring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D98FD81-7747-6567-488E-11FDB38A4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0" y="3054940"/>
            <a:ext cx="7330493" cy="43016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3101" y="3051251"/>
            <a:ext cx="4785638" cy="7534822"/>
            <a:chOff x="0" y="0"/>
            <a:chExt cx="1260415" cy="1984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0415" cy="1984480"/>
            </a:xfrm>
            <a:custGeom>
              <a:avLst/>
              <a:gdLst/>
              <a:ahLst/>
              <a:cxnLst/>
              <a:rect l="l" t="t" r="r" b="b"/>
              <a:pathLst>
                <a:path w="1260415" h="1984480">
                  <a:moveTo>
                    <a:pt x="82505" y="0"/>
                  </a:moveTo>
                  <a:lnTo>
                    <a:pt x="1177910" y="0"/>
                  </a:lnTo>
                  <a:cubicBezTo>
                    <a:pt x="1223476" y="0"/>
                    <a:pt x="1260415" y="36939"/>
                    <a:pt x="1260415" y="82505"/>
                  </a:cubicBezTo>
                  <a:lnTo>
                    <a:pt x="1260415" y="1901975"/>
                  </a:lnTo>
                  <a:cubicBezTo>
                    <a:pt x="1260415" y="1923857"/>
                    <a:pt x="1251723" y="1944842"/>
                    <a:pt x="1236250" y="1960315"/>
                  </a:cubicBezTo>
                  <a:cubicBezTo>
                    <a:pt x="1220777" y="1975787"/>
                    <a:pt x="1199792" y="1984480"/>
                    <a:pt x="1177910" y="1984480"/>
                  </a:cubicBezTo>
                  <a:lnTo>
                    <a:pt x="82505" y="1984480"/>
                  </a:lnTo>
                  <a:cubicBezTo>
                    <a:pt x="60623" y="1984480"/>
                    <a:pt x="39638" y="1975787"/>
                    <a:pt x="24165" y="1960315"/>
                  </a:cubicBezTo>
                  <a:cubicBezTo>
                    <a:pt x="8692" y="1944842"/>
                    <a:pt x="0" y="1923857"/>
                    <a:pt x="0" y="1901975"/>
                  </a:cubicBezTo>
                  <a:lnTo>
                    <a:pt x="0" y="82505"/>
                  </a:lnTo>
                  <a:cubicBezTo>
                    <a:pt x="0" y="60623"/>
                    <a:pt x="8692" y="39638"/>
                    <a:pt x="24165" y="24165"/>
                  </a:cubicBezTo>
                  <a:cubicBezTo>
                    <a:pt x="39638" y="8692"/>
                    <a:pt x="60623" y="0"/>
                    <a:pt x="82505" y="0"/>
                  </a:cubicBezTo>
                  <a:close/>
                </a:path>
              </a:pathLst>
            </a:custGeom>
            <a:solidFill>
              <a:srgbClr val="0053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60415" cy="2032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50947" y="3051251"/>
            <a:ext cx="4785638" cy="7534822"/>
            <a:chOff x="0" y="0"/>
            <a:chExt cx="1260415" cy="19844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0415" cy="1984480"/>
            </a:xfrm>
            <a:custGeom>
              <a:avLst/>
              <a:gdLst/>
              <a:ahLst/>
              <a:cxnLst/>
              <a:rect l="l" t="t" r="r" b="b"/>
              <a:pathLst>
                <a:path w="1260415" h="1984480">
                  <a:moveTo>
                    <a:pt x="82505" y="0"/>
                  </a:moveTo>
                  <a:lnTo>
                    <a:pt x="1177910" y="0"/>
                  </a:lnTo>
                  <a:cubicBezTo>
                    <a:pt x="1223476" y="0"/>
                    <a:pt x="1260415" y="36939"/>
                    <a:pt x="1260415" y="82505"/>
                  </a:cubicBezTo>
                  <a:lnTo>
                    <a:pt x="1260415" y="1901975"/>
                  </a:lnTo>
                  <a:cubicBezTo>
                    <a:pt x="1260415" y="1923857"/>
                    <a:pt x="1251723" y="1944842"/>
                    <a:pt x="1236250" y="1960315"/>
                  </a:cubicBezTo>
                  <a:cubicBezTo>
                    <a:pt x="1220777" y="1975787"/>
                    <a:pt x="1199792" y="1984480"/>
                    <a:pt x="1177910" y="1984480"/>
                  </a:cubicBezTo>
                  <a:lnTo>
                    <a:pt x="82505" y="1984480"/>
                  </a:lnTo>
                  <a:cubicBezTo>
                    <a:pt x="60623" y="1984480"/>
                    <a:pt x="39638" y="1975787"/>
                    <a:pt x="24165" y="1960315"/>
                  </a:cubicBezTo>
                  <a:cubicBezTo>
                    <a:pt x="8692" y="1944842"/>
                    <a:pt x="0" y="1923857"/>
                    <a:pt x="0" y="1901975"/>
                  </a:cubicBezTo>
                  <a:lnTo>
                    <a:pt x="0" y="82505"/>
                  </a:lnTo>
                  <a:cubicBezTo>
                    <a:pt x="0" y="60623"/>
                    <a:pt x="8692" y="39638"/>
                    <a:pt x="24165" y="24165"/>
                  </a:cubicBezTo>
                  <a:cubicBezTo>
                    <a:pt x="39638" y="8692"/>
                    <a:pt x="60623" y="0"/>
                    <a:pt x="82505" y="0"/>
                  </a:cubicBezTo>
                  <a:close/>
                </a:path>
              </a:pathLst>
            </a:custGeom>
            <a:solidFill>
              <a:srgbClr val="F8BC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60415" cy="2032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98794" y="3051251"/>
            <a:ext cx="4785638" cy="7534822"/>
            <a:chOff x="0" y="0"/>
            <a:chExt cx="1260415" cy="19844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60415" cy="1984480"/>
            </a:xfrm>
            <a:custGeom>
              <a:avLst/>
              <a:gdLst/>
              <a:ahLst/>
              <a:cxnLst/>
              <a:rect l="l" t="t" r="r" b="b"/>
              <a:pathLst>
                <a:path w="1260415" h="1984480">
                  <a:moveTo>
                    <a:pt x="82505" y="0"/>
                  </a:moveTo>
                  <a:lnTo>
                    <a:pt x="1177910" y="0"/>
                  </a:lnTo>
                  <a:cubicBezTo>
                    <a:pt x="1223476" y="0"/>
                    <a:pt x="1260415" y="36939"/>
                    <a:pt x="1260415" y="82505"/>
                  </a:cubicBezTo>
                  <a:lnTo>
                    <a:pt x="1260415" y="1901975"/>
                  </a:lnTo>
                  <a:cubicBezTo>
                    <a:pt x="1260415" y="1923857"/>
                    <a:pt x="1251723" y="1944842"/>
                    <a:pt x="1236250" y="1960315"/>
                  </a:cubicBezTo>
                  <a:cubicBezTo>
                    <a:pt x="1220777" y="1975787"/>
                    <a:pt x="1199792" y="1984480"/>
                    <a:pt x="1177910" y="1984480"/>
                  </a:cubicBezTo>
                  <a:lnTo>
                    <a:pt x="82505" y="1984480"/>
                  </a:lnTo>
                  <a:cubicBezTo>
                    <a:pt x="60623" y="1984480"/>
                    <a:pt x="39638" y="1975787"/>
                    <a:pt x="24165" y="1960315"/>
                  </a:cubicBezTo>
                  <a:cubicBezTo>
                    <a:pt x="8692" y="1944842"/>
                    <a:pt x="0" y="1923857"/>
                    <a:pt x="0" y="1901975"/>
                  </a:cubicBezTo>
                  <a:lnTo>
                    <a:pt x="0" y="82505"/>
                  </a:lnTo>
                  <a:cubicBezTo>
                    <a:pt x="0" y="60623"/>
                    <a:pt x="8692" y="39638"/>
                    <a:pt x="24165" y="24165"/>
                  </a:cubicBezTo>
                  <a:cubicBezTo>
                    <a:pt x="39638" y="8692"/>
                    <a:pt x="60623" y="0"/>
                    <a:pt x="82505" y="0"/>
                  </a:cubicBezTo>
                  <a:close/>
                </a:path>
              </a:pathLst>
            </a:custGeom>
            <a:solidFill>
              <a:srgbClr val="00538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60415" cy="2032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84342" y="3709503"/>
            <a:ext cx="2717384" cy="271738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932422" y="3709503"/>
            <a:ext cx="2717384" cy="271738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093304" y="3807050"/>
            <a:ext cx="2717384" cy="271738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3648806" y="6230206"/>
            <a:ext cx="588456" cy="588456"/>
          </a:xfrm>
          <a:custGeom>
            <a:avLst/>
            <a:gdLst/>
            <a:ahLst/>
            <a:cxnLst/>
            <a:rect l="l" t="t" r="r" b="b"/>
            <a:pathLst>
              <a:path w="588456" h="588456">
                <a:moveTo>
                  <a:pt x="0" y="0"/>
                </a:moveTo>
                <a:lnTo>
                  <a:pt x="588456" y="0"/>
                </a:lnTo>
                <a:lnTo>
                  <a:pt x="588456" y="588456"/>
                </a:lnTo>
                <a:lnTo>
                  <a:pt x="0" y="588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8996886" y="6230206"/>
            <a:ext cx="588456" cy="588456"/>
          </a:xfrm>
          <a:custGeom>
            <a:avLst/>
            <a:gdLst/>
            <a:ahLst/>
            <a:cxnLst/>
            <a:rect l="l" t="t" r="r" b="b"/>
            <a:pathLst>
              <a:path w="588456" h="588456">
                <a:moveTo>
                  <a:pt x="0" y="0"/>
                </a:moveTo>
                <a:lnTo>
                  <a:pt x="588456" y="0"/>
                </a:lnTo>
                <a:lnTo>
                  <a:pt x="588456" y="588456"/>
                </a:lnTo>
                <a:lnTo>
                  <a:pt x="0" y="588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4344499" y="6230206"/>
            <a:ext cx="588456" cy="588456"/>
          </a:xfrm>
          <a:custGeom>
            <a:avLst/>
            <a:gdLst/>
            <a:ahLst/>
            <a:cxnLst/>
            <a:rect l="l" t="t" r="r" b="b"/>
            <a:pathLst>
              <a:path w="588456" h="588456">
                <a:moveTo>
                  <a:pt x="0" y="0"/>
                </a:moveTo>
                <a:lnTo>
                  <a:pt x="588457" y="0"/>
                </a:lnTo>
                <a:lnTo>
                  <a:pt x="588457" y="588456"/>
                </a:lnTo>
                <a:lnTo>
                  <a:pt x="0" y="5884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687262" y="1441579"/>
            <a:ext cx="11752645" cy="105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95"/>
              </a:lnSpc>
            </a:pPr>
            <a:r>
              <a:rPr lang="en-US" sz="6795" spc="-373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Key Features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10879" y="7981837"/>
            <a:ext cx="3464311" cy="84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70"/>
              </a:lnSpc>
            </a:pPr>
            <a:r>
              <a:rPr lang="en-US" sz="1621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Collect QoS &amp; QoE data without internet and sync automatically when connectivity is restored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58959" y="7981837"/>
            <a:ext cx="3464311" cy="84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70"/>
              </a:lnSpc>
            </a:pPr>
            <a:r>
              <a:rPr lang="en-US" sz="1621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Capture live network performance metrics instantly from subscriber mobile devices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093304" y="7981837"/>
            <a:ext cx="3090847" cy="84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70"/>
              </a:lnSpc>
            </a:pPr>
            <a:r>
              <a:rPr lang="en-US" sz="1621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JWT-based authentication protects user data and ensures authorized access only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10879" y="7356753"/>
            <a:ext cx="3464311" cy="347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2"/>
              </a:lnSpc>
              <a:spcBef>
                <a:spcPct val="0"/>
              </a:spcBef>
            </a:pPr>
            <a:r>
              <a:rPr lang="en-US" sz="2059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Offline Collection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58959" y="7356753"/>
            <a:ext cx="3464311" cy="347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2"/>
              </a:lnSpc>
              <a:spcBef>
                <a:spcPct val="0"/>
              </a:spcBef>
            </a:pPr>
            <a:r>
              <a:rPr lang="en-US" sz="2059" b="1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Real-Time Measurements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906572" y="7356753"/>
            <a:ext cx="3464311" cy="347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2"/>
              </a:lnSpc>
              <a:spcBef>
                <a:spcPct val="0"/>
              </a:spcBef>
            </a:pPr>
            <a:r>
              <a:rPr lang="en-US" sz="2059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Secure Authentication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1277600" y="4838700"/>
            <a:ext cx="5233904" cy="3421304"/>
            <a:chOff x="0" y="0"/>
            <a:chExt cx="1108506" cy="7246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08506" cy="724609"/>
            </a:xfrm>
            <a:custGeom>
              <a:avLst/>
              <a:gdLst/>
              <a:ahLst/>
              <a:cxnLst/>
              <a:rect l="l" t="t" r="r" b="b"/>
              <a:pathLst>
                <a:path w="1108506" h="724609">
                  <a:moveTo>
                    <a:pt x="0" y="0"/>
                  </a:moveTo>
                  <a:lnTo>
                    <a:pt x="1108506" y="0"/>
                  </a:lnTo>
                  <a:lnTo>
                    <a:pt x="1108506" y="724609"/>
                  </a:lnTo>
                  <a:lnTo>
                    <a:pt x="0" y="724609"/>
                  </a:lnTo>
                  <a:close/>
                </a:path>
              </a:pathLst>
            </a:custGeom>
            <a:blipFill>
              <a:blip r:embed="rId2"/>
              <a:stretch>
                <a:fillRect t="-1535" b="-153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84611" y="5804668"/>
            <a:ext cx="2202914" cy="2202914"/>
            <a:chOff x="-665025" y="1309453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-665025" y="1309453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03824" y="2315476"/>
            <a:ext cx="9103732" cy="174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795"/>
              </a:lnSpc>
            </a:pPr>
            <a:r>
              <a:rPr lang="en-US" sz="6795" spc="-373" dirty="0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Results &amp; Achievements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07118" y="5830281"/>
            <a:ext cx="4148572" cy="3229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22"/>
              </a:lnSpc>
            </a:pPr>
            <a:r>
              <a:rPr lang="en-US" sz="1872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✓ Successful development and deployment of mobile app prototype</a:t>
            </a:r>
          </a:p>
          <a:p>
            <a:pPr marL="0" lvl="0" indent="0" algn="l">
              <a:lnSpc>
                <a:spcPts val="2622"/>
              </a:lnSpc>
            </a:pPr>
            <a:r>
              <a:rPr lang="en-US" sz="1872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✓ Collected QoS/QoE data from test users with 98% sync success rate</a:t>
            </a:r>
          </a:p>
          <a:p>
            <a:pPr marL="0" lvl="0" indent="0" algn="l">
              <a:lnSpc>
                <a:spcPts val="2622"/>
              </a:lnSpc>
            </a:pPr>
            <a:r>
              <a:rPr lang="en-US" sz="1872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✓ Administrator dashboard delivering detailed network analytics</a:t>
            </a:r>
          </a:p>
          <a:p>
            <a:pPr marL="0" lvl="0" indent="0" algn="l">
              <a:lnSpc>
                <a:spcPts val="2622"/>
              </a:lnSpc>
            </a:pPr>
            <a:r>
              <a:rPr lang="en-US" sz="1872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✓ Positive pilot tester feedback on usability and measurement accuracy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79239" y="5095875"/>
            <a:ext cx="4615297" cy="40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</a:pPr>
            <a:r>
              <a:rPr lang="en-US" sz="2398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Project Outcomes Summary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5330495"/>
            <a:chOff x="0" y="0"/>
            <a:chExt cx="2833290" cy="8258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33290" cy="825833"/>
            </a:xfrm>
            <a:custGeom>
              <a:avLst/>
              <a:gdLst/>
              <a:ahLst/>
              <a:cxnLst/>
              <a:rect l="l" t="t" r="r" b="b"/>
              <a:pathLst>
                <a:path w="2833290" h="825833">
                  <a:moveTo>
                    <a:pt x="0" y="0"/>
                  </a:moveTo>
                  <a:lnTo>
                    <a:pt x="2833290" y="0"/>
                  </a:lnTo>
                  <a:lnTo>
                    <a:pt x="2833290" y="825833"/>
                  </a:lnTo>
                  <a:lnTo>
                    <a:pt x="0" y="825833"/>
                  </a:lnTo>
                  <a:close/>
                </a:path>
              </a:pathLst>
            </a:custGeom>
            <a:blipFill>
              <a:blip r:embed="rId2"/>
              <a:stretch>
                <a:fillRect t="-47778" b="-4777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-477762" y="9400034"/>
            <a:ext cx="6682617" cy="886966"/>
          </a:xfrm>
          <a:custGeom>
            <a:avLst/>
            <a:gdLst/>
            <a:ahLst/>
            <a:cxnLst/>
            <a:rect l="l" t="t" r="r" b="b"/>
            <a:pathLst>
              <a:path w="6682617" h="886966">
                <a:moveTo>
                  <a:pt x="6682617" y="0"/>
                </a:moveTo>
                <a:lnTo>
                  <a:pt x="0" y="0"/>
                </a:lnTo>
                <a:lnTo>
                  <a:pt x="0" y="886966"/>
                </a:lnTo>
                <a:lnTo>
                  <a:pt x="6682617" y="886966"/>
                </a:lnTo>
                <a:lnTo>
                  <a:pt x="66826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5400000">
            <a:off x="0" y="5368278"/>
            <a:ext cx="1464161" cy="1464161"/>
          </a:xfrm>
          <a:custGeom>
            <a:avLst/>
            <a:gdLst/>
            <a:ahLst/>
            <a:cxnLst/>
            <a:rect l="l" t="t" r="r" b="b"/>
            <a:pathLst>
              <a:path w="1464161" h="1464161">
                <a:moveTo>
                  <a:pt x="0" y="0"/>
                </a:moveTo>
                <a:lnTo>
                  <a:pt x="1464161" y="0"/>
                </a:lnTo>
                <a:lnTo>
                  <a:pt x="1464161" y="1464161"/>
                </a:lnTo>
                <a:lnTo>
                  <a:pt x="0" y="14641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9729844" y="6803864"/>
            <a:ext cx="6829010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95"/>
              </a:lnSpc>
            </a:pPr>
            <a:r>
              <a:rPr lang="en-US" sz="6795" spc="-373" dirty="0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Thank you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29844" y="6126492"/>
            <a:ext cx="6829010" cy="40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</a:pPr>
            <a:r>
              <a:rPr lang="en-US" sz="2398" b="1" dirty="0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Project Conclusion  Key Contributions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589</Words>
  <Application>Microsoft Office PowerPoint</Application>
  <PresentationFormat>Custom</PresentationFormat>
  <Paragraphs>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Bahnschrift SemiLight Condensed</vt:lpstr>
      <vt:lpstr>Poppins</vt:lpstr>
      <vt:lpstr>Arial</vt:lpstr>
      <vt:lpstr>Calibri</vt:lpstr>
      <vt:lpstr>TT Firs Neue</vt:lpstr>
      <vt:lpstr>Heading Now 71-78</vt:lpstr>
      <vt:lpstr>Poppins Bold</vt:lpstr>
      <vt:lpstr>TT Firs Neue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&amp; Implementation of QoE Data Mobile App</dc:title>
  <cp:lastModifiedBy>HP-USER PC</cp:lastModifiedBy>
  <cp:revision>10</cp:revision>
  <dcterms:created xsi:type="dcterms:W3CDTF">2006-08-16T00:00:00Z</dcterms:created>
  <dcterms:modified xsi:type="dcterms:W3CDTF">2026-06-16T17:31:24Z</dcterms:modified>
  <dc:identifier>DAHMpIDol7g</dc:identifier>
</cp:coreProperties>
</file>