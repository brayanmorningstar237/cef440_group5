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46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(Mugha Brayan): Welcome, introduce the team, state the task objective.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1: The system collects two types of data from subscribers: network quality stats and user experience scores. The key challenge is offline support.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 (Ako McPeace): Explain the two-layer architecture. SQLite handles local storage; MongoDB handles the cloud. REST APIs are the bridge.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2: Three main entities. User tracks subscribers, Network Cell avoids duplicating tower info, Measurement is the core telemetry document linking both.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 (Eyong): MongoDB scales in the cloud, SQLite runs offline on the device. We have 5 key database indexes including a geospatial one for mapping.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3: The backend is Node.js + Express. We have 6 endpoints — 2 public auth routes and 4 protected ones. Passwords are hashed, sessions use JWT.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 (Ngolien): Walk through the 6-step sync loop. Tests → save offline → detect connectivity → upload batch → validate on server → flag as synced.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4: Wrap up with the 4 key outcomes. Invite questions.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20254" y="-5080"/>
            <a:ext cx="36576" cy="5143500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17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 – Task 6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799" y="804672"/>
            <a:ext cx="830292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r>
              <a:rPr lang="en-US" sz="3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1748080" y="1993392"/>
            <a:ext cx="746961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Mobile App </a:t>
            </a:r>
            <a:r>
              <a:rPr lang="en-US" sz="1400" dirty="0" smtClean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User </a:t>
            </a: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Data </a:t>
            </a:r>
            <a:r>
              <a:rPr lang="en-US" sz="1400" dirty="0" smtClean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Mobile </a:t>
            </a: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Subscribers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1148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7536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25779" y="41148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30367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70405" y="41148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70405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17497" y="4100945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84060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985740" y="41148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565C0">
              <a:alpha val="45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64589" y="4114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9601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88720"/>
            <a:ext cx="457200" cy="4572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9728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Goal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21208" y="16459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manage &amp; analyze mobile network performance directly from subscriber devices.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754880" y="9601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88720"/>
            <a:ext cx="457200" cy="45720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532120" y="1161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Data Focus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4956048" y="16459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objective QoS metrics (latency, speed) and subjective QoE user ratings.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320040" y="27889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017520"/>
            <a:ext cx="457200" cy="4572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09728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48" name="Text 43"/>
          <p:cNvSpPr/>
          <p:nvPr/>
        </p:nvSpPr>
        <p:spPr>
          <a:xfrm>
            <a:off x="521208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continuous data collection even when users lose cellular connectivity.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4754880" y="278892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017520"/>
            <a:ext cx="457200" cy="457200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53212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2" name="Text 46"/>
          <p:cNvSpPr/>
          <p:nvPr/>
        </p:nvSpPr>
        <p:spPr>
          <a:xfrm>
            <a:off x="4956048" y="3474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hybrid architecture: SQLite on-device + MongoDB in the cloud.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 Architecture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2468880"/>
            <a:ext cx="8686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237744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43400" y="2468880"/>
            <a:ext cx="8686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ysDot"/>
          </a:ln>
        </p:spPr>
      </p:sp>
      <p:sp>
        <p:nvSpPr>
          <p:cNvPr id="40" name="Text 38"/>
          <p:cNvSpPr/>
          <p:nvPr/>
        </p:nvSpPr>
        <p:spPr>
          <a:xfrm>
            <a:off x="461772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2468880"/>
            <a:ext cx="8686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ysDot"/>
          </a:ln>
        </p:spPr>
      </p:sp>
      <p:sp>
        <p:nvSpPr>
          <p:cNvPr id="42" name="Text 40"/>
          <p:cNvSpPr/>
          <p:nvPr/>
        </p:nvSpPr>
        <p:spPr>
          <a:xfrm>
            <a:off x="685800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65760" y="1005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88720"/>
            <a:ext cx="640080" cy="6400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45720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5720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(Offline)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606040" y="1005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101E3F"/>
          </a:solidFill>
          <a:ln w="6350">
            <a:solidFill>
              <a:srgbClr val="00E5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188720"/>
            <a:ext cx="640080" cy="640080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269748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269748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Payloads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846320" y="1005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101E3F"/>
          </a:solidFill>
          <a:ln w="6350">
            <a:solidFill>
              <a:srgbClr val="00E5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188720"/>
            <a:ext cx="640080" cy="64008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493776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493776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7086600" y="10058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188720"/>
            <a:ext cx="640080" cy="64008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178040" y="19202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717804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000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977640"/>
            <a:ext cx="256032" cy="256032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713232" y="3959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SQLite buffers data locally when internet is unavailable</a:t>
            </a:r>
            <a:endParaRPr lang="en-US" sz="1100" dirty="0"/>
          </a:p>
        </p:txBody>
      </p:sp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325112"/>
            <a:ext cx="256032" cy="256032"/>
          </a:xfrm>
          <a:prstGeom prst="rect">
            <a:avLst/>
          </a:prstGeom>
        </p:spPr>
      </p:pic>
      <p:sp>
        <p:nvSpPr>
          <p:cNvPr id="62" name="Text 54"/>
          <p:cNvSpPr/>
          <p:nvPr/>
        </p:nvSpPr>
        <p:spPr>
          <a:xfrm>
            <a:off x="713232" y="43068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reconnect: bulk payloads are securely synced to MongoDB via REST</a:t>
            </a:r>
            <a:endParaRPr lang="en-US" sz="1100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672584"/>
            <a:ext cx="256032" cy="256032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713232" y="4654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validates, deduplicates, and indexes data for high-performance queries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86868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01E3F"/>
          </a:solidFill>
          <a:ln w="6350">
            <a:solidFill>
              <a:srgbClr val="00E5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05840"/>
            <a:ext cx="548640" cy="5486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1148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411480" y="2011680"/>
            <a:ext cx="2560320" cy="27432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148840"/>
            <a:ext cx="201168" cy="20116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58952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</a:t>
            </a:r>
            <a:endParaRPr lang="en-US" sz="100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606040"/>
            <a:ext cx="201168" cy="20116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58952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(bcrypt)</a:t>
            </a:r>
            <a:endParaRPr lang="en-US" sz="1000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063240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58952" y="3044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Admin | Subscriber</a:t>
            </a:r>
            <a:endParaRPr lang="en-US" sz="100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520440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58952" y="35021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createdAt, updatedAt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3246120" y="86868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05840"/>
            <a:ext cx="548640" cy="54864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333756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Cell</a:t>
            </a:r>
            <a:endParaRPr lang="en-US" sz="1500" dirty="0"/>
          </a:p>
        </p:txBody>
      </p:sp>
      <p:sp>
        <p:nvSpPr>
          <p:cNvPr id="52" name="Shape 44"/>
          <p:cNvSpPr/>
          <p:nvPr/>
        </p:nvSpPr>
        <p:spPr>
          <a:xfrm>
            <a:off x="3337560" y="2011680"/>
            <a:ext cx="2560320" cy="27432"/>
          </a:xfrm>
          <a:prstGeom prst="rect">
            <a:avLst/>
          </a:prstGeom>
          <a:solidFill>
            <a:srgbClr val="00E676">
              <a:alpha val="5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148840"/>
            <a:ext cx="201168" cy="20116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3685032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cellId (unique)</a:t>
            </a:r>
            <a:endParaRPr lang="en-US" sz="10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606040"/>
            <a:ext cx="201168" cy="201168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3685032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ispProvider (MTN, Orange…)</a:t>
            </a:r>
            <a:endParaRPr lang="en-US" sz="1000" dirty="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063240"/>
            <a:ext cx="201168" cy="201168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3685032" y="3044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region, city</a:t>
            </a:r>
            <a:endParaRPr lang="en-US" sz="1000" dirty="0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520440"/>
            <a:ext cx="201168" cy="20116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3685032" y="35021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 duplication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6172200" y="868680"/>
            <a:ext cx="2743200" cy="3931920"/>
          </a:xfrm>
          <a:prstGeom prst="roundRect">
            <a:avLst>
              <a:gd name="adj" fmla="val 4000"/>
            </a:avLst>
          </a:prstGeom>
          <a:solidFill>
            <a:srgbClr val="101E3F"/>
          </a:solidFill>
          <a:ln w="6350">
            <a:solidFill>
              <a:srgbClr val="00E5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005840"/>
            <a:ext cx="548640" cy="548640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26364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64" name="Shape 51"/>
          <p:cNvSpPr/>
          <p:nvPr/>
        </p:nvSpPr>
        <p:spPr>
          <a:xfrm>
            <a:off x="6263640" y="2011680"/>
            <a:ext cx="2560320" cy="27432"/>
          </a:xfrm>
          <a:prstGeom prst="rect">
            <a:avLst/>
          </a:prstGeom>
          <a:solidFill>
            <a:srgbClr val="00E5FF">
              <a:alpha val="50000"/>
            </a:srgbClr>
          </a:solidFill>
          <a:ln w="12700">
            <a:solidFill>
              <a:srgbClr val="00E5FF">
                <a:alpha val="50000"/>
              </a:srgbClr>
            </a:solidFill>
            <a:prstDash val="solid"/>
          </a:ln>
        </p:spPr>
      </p:sp>
      <p:pic>
        <p:nvPicPr>
          <p:cNvPr id="6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148840"/>
            <a:ext cx="201168" cy="201168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6611112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jitter, packetLoss</a:t>
            </a:r>
            <a:endParaRPr lang="en-US" sz="1000" dirty="0"/>
          </a:p>
        </p:txBody>
      </p:sp>
      <p:pic>
        <p:nvPicPr>
          <p:cNvPr id="6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606040"/>
            <a:ext cx="201168" cy="201168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6611112" y="25877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upload/download Mbps</a:t>
            </a:r>
            <a:endParaRPr lang="en-US" sz="1000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063240"/>
            <a:ext cx="201168" cy="201168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6611112" y="3044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QoE: stability, browsing, streaming</a:t>
            </a:r>
            <a:endParaRPr lang="en-US" sz="10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520440"/>
            <a:ext cx="201168" cy="201168"/>
          </a:xfrm>
          <a:prstGeom prst="rect">
            <a:avLst/>
          </a:prstGeom>
        </p:spPr>
      </p:pic>
      <p:sp>
        <p:nvSpPr>
          <p:cNvPr id="72" name="Text 55"/>
          <p:cNvSpPr/>
          <p:nvPr/>
        </p:nvSpPr>
        <p:spPr>
          <a:xfrm>
            <a:off x="6611112" y="35021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coordinates</a:t>
            </a:r>
            <a:endParaRPr lang="en-US" sz="1000" dirty="0"/>
          </a:p>
        </p:txBody>
      </p:sp>
      <p:sp>
        <p:nvSpPr>
          <p:cNvPr id="73" name="Shape 56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28571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Text 57"/>
          <p:cNvSpPr/>
          <p:nvPr/>
        </p:nvSpPr>
        <p:spPr>
          <a:xfrm>
            <a:off x="502920" y="4636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User  1:N  Measurement  ·  Network Cell  1:N  Measurement  (Central Pivot Table)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&amp; Indexing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896112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411480" cy="4114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51560" y="1051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(Backend)</a:t>
            </a:r>
            <a:endParaRPr lang="en-US" sz="13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72768"/>
            <a:ext cx="201168" cy="20116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49808" y="15544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for large datasets</a:t>
            </a:r>
            <a:endParaRPr lang="en-US" sz="10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011680"/>
            <a:ext cx="201168" cy="20116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749808" y="19933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JSON document storage</a:t>
            </a:r>
            <a:endParaRPr lang="en-US" sz="1050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50592"/>
            <a:ext cx="201168" cy="20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49808" y="24323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cell collection prevents duplication</a:t>
            </a:r>
            <a:endParaRPr lang="en-US" sz="105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889504"/>
            <a:ext cx="201168" cy="20116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49808" y="2871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2dsphere index for geospatial mapping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4572000" y="896112"/>
            <a:ext cx="4251960" cy="2834640"/>
          </a:xfrm>
          <a:prstGeom prst="roundRect">
            <a:avLst>
              <a:gd name="adj" fmla="val 3871"/>
            </a:avLst>
          </a:prstGeom>
          <a:solidFill>
            <a:srgbClr val="101E3F"/>
          </a:solidFill>
          <a:ln w="6350">
            <a:solidFill>
              <a:srgbClr val="00E5FF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051560"/>
            <a:ext cx="411480" cy="41148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285232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(Mobile Layer)</a:t>
            </a:r>
            <a:endParaRPr lang="en-US" sz="13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572768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992624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saveMeasurement() — write to local DB</a:t>
            </a:r>
            <a:endParaRPr lang="en-US" sz="105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011680"/>
            <a:ext cx="201168" cy="20116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4992624" y="1993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loadMeasurements() — read all unsynced</a:t>
            </a:r>
            <a:endParaRPr lang="en-US" sz="105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450592"/>
            <a:ext cx="201168" cy="20116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4992624" y="2432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markUploaded() — flag after sync</a:t>
            </a:r>
            <a:endParaRPr lang="en-US" sz="105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889504"/>
            <a:ext cx="201168" cy="20116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4992624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dependency required</a:t>
            </a:r>
            <a:endParaRPr lang="en-US" sz="1050" dirty="0"/>
          </a:p>
        </p:txBody>
      </p:sp>
      <p:sp>
        <p:nvSpPr>
          <p:cNvPr id="59" name="Text 47"/>
          <p:cNvSpPr/>
          <p:nvPr/>
        </p:nvSpPr>
        <p:spPr>
          <a:xfrm>
            <a:off x="320040" y="3858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 Index Matrix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070405"/>
              </p:ext>
            </p:extLst>
          </p:nvPr>
        </p:nvGraphicFramePr>
        <p:xfrm>
          <a:off x="157849" y="4187952"/>
          <a:ext cx="8503920" cy="1417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Field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 history queries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Tower/location diagnostics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 &amp; trend filtering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ispProvider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benchmarking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2dsphere geospatial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Implementation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73736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73736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15468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15468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8932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8932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06640" y="896112"/>
            <a:ext cx="128016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914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Reference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75688"/>
          <a:ext cx="8503920" cy="27523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0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/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Account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Token issuance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— Profile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/api/measurements/bulk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 — SQLite sync upload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/api/measurements/mine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 — Personal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/api/admin/measurements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— System-wide telemetry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09728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19456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329184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4389120"/>
            <a:ext cx="36576" cy="36576"/>
          </a:xfrm>
          <a:prstGeom prst="ellipse">
            <a:avLst/>
          </a:prstGeom>
          <a:solidFill>
            <a:srgbClr val="546A90">
              <a:alpha val="25000"/>
            </a:srgbClr>
          </a:solidFill>
          <a:ln w="12700">
            <a:solidFill>
              <a:srgbClr val="546A90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Offline-to-Cloud Synchronization Loop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11480" y="685800"/>
            <a:ext cx="100584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08760" y="685800"/>
            <a:ext cx="7223760" cy="41148"/>
          </a:xfrm>
          <a:prstGeom prst="rect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914400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" y="1298448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78992"/>
            <a:ext cx="411480" cy="4114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554480" y="10515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runs measurement tests → saves results to local SQLite database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914400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919472" y="1298448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19472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078992"/>
            <a:ext cx="411480" cy="41148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989320" y="105156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listener monitors network hardware interface for connectivity changes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20040" y="2304288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484632" y="2688336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4632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468880"/>
            <a:ext cx="411480" cy="41148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1554480" y="244144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 validated → app extracts unsynced records from SQLite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4754880" y="2304288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4919472" y="2688336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919472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468880"/>
            <a:ext cx="411480" cy="41148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5989320" y="244144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batch-processed &amp; dispatched securely to REST Bulk Upload endpoint (JWT auth)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320040" y="3694176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8" name="Shape 52"/>
          <p:cNvSpPr/>
          <p:nvPr/>
        </p:nvSpPr>
        <p:spPr>
          <a:xfrm>
            <a:off x="484632" y="4078224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484632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3858768"/>
            <a:ext cx="411480" cy="41148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1554480" y="3831336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validates, runs schema checks &amp; registers arrays into MongoDB collections</a:t>
            </a:r>
            <a:endParaRPr lang="en-US" sz="1000" dirty="0"/>
          </a:p>
        </p:txBody>
      </p:sp>
      <p:sp>
        <p:nvSpPr>
          <p:cNvPr id="62" name="Shape 55"/>
          <p:cNvSpPr/>
          <p:nvPr/>
        </p:nvSpPr>
        <p:spPr>
          <a:xfrm>
            <a:off x="4754880" y="3694176"/>
            <a:ext cx="4206240" cy="1261872"/>
          </a:xfrm>
          <a:prstGeom prst="roundRect">
            <a:avLst>
              <a:gd name="adj" fmla="val 8696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3" name="Shape 56"/>
          <p:cNvSpPr/>
          <p:nvPr/>
        </p:nvSpPr>
        <p:spPr>
          <a:xfrm>
            <a:off x="4919472" y="4078224"/>
            <a:ext cx="457200" cy="45720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4919472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858768"/>
            <a:ext cx="411480" cy="411480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5989320" y="3831336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response triggers local SQLite flag update → prevents duplicate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32688"/>
            <a:ext cx="9144000" cy="36576"/>
          </a:xfrm>
          <a:prstGeom prst="rect">
            <a:avLst/>
          </a:prstGeom>
          <a:solidFill>
            <a:srgbClr val="00E5FF">
              <a:alpha val="80000"/>
            </a:srgbClr>
          </a:solidFill>
          <a:ln w="127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733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44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6916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operational hybrid database architecture meeting all CEF440 task requirements.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01E3F"/>
          </a:solidFill>
          <a:ln w="6350">
            <a:solidFill>
              <a:srgbClr val="00E676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67335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344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77840" y="16916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MongoDB guarantees continuous data logging even in low-connectivity zones.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2807208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01E3F"/>
          </a:solidFill>
          <a:ln w="6350">
            <a:solidFill>
              <a:srgbClr val="1565C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33756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3000" y="33558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schemas and purposeful indexing ensure high query speeds as user volume grows.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807208"/>
            <a:ext cx="4206240" cy="1536192"/>
          </a:xfrm>
          <a:prstGeom prst="roundRect">
            <a:avLst>
              <a:gd name="adj" fmla="val 7143"/>
            </a:avLst>
          </a:prstGeom>
          <a:solidFill>
            <a:srgbClr val="101E3F"/>
          </a:solidFill>
          <a:ln w="6350">
            <a:solidFill>
              <a:srgbClr val="FFD740">
                <a:alpha val="4000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375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77840" y="33558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measurements, geospatial tracking, admin analytics — all fully implemented.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2286000" y="461772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00E5FF">
                <a:alpha val="6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286000" y="4617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755</Words>
  <Application>Microsoft Office PowerPoint</Application>
  <PresentationFormat>Affichage à l'écran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CEF440 Task 6 – Database Design &amp; Implementation</dc:title>
  <dc:subject>PptxGenJS Presentation</dc:subject>
  <dc:creator>PptxGenJS</dc:creator>
  <cp:lastModifiedBy>NgoLien Lucy</cp:lastModifiedBy>
  <cp:revision>4</cp:revision>
  <dcterms:created xsi:type="dcterms:W3CDTF">2026-06-15T08:59:36Z</dcterms:created>
  <dcterms:modified xsi:type="dcterms:W3CDTF">2026-06-15T09:39:26Z</dcterms:modified>
</cp:coreProperties>
</file>