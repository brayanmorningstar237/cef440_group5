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8288000" cy="10287000"/>
  <p:notesSz cx="6858000" cy="9144000"/>
  <p:embeddedFontLst>
    <p:embeddedFont>
      <p:font typeface="Montserrat Bold" charset="1" panose="00000800000000000000"/>
      <p:regular r:id="rId32"/>
    </p:embeddedFont>
    <p:embeddedFont>
      <p:font typeface="Aileron" charset="1" panose="00000500000000000000"/>
      <p:regular r:id="rId33"/>
    </p:embeddedFont>
    <p:embeddedFont>
      <p:font typeface="Aileron Bold" charset="1" panose="00000800000000000000"/>
      <p:regular r:id="rId34"/>
    </p:embeddedFont>
    <p:embeddedFont>
      <p:font typeface="Roboto Bold" charset="1" panose="02000000000000000000"/>
      <p:regular r:id="rId35"/>
    </p:embeddedFont>
    <p:embeddedFont>
      <p:font typeface="Roboto" charset="1" panose="02000000000000000000"/>
      <p:regular r:id="rId3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fonts/font32.fntdata" Type="http://schemas.openxmlformats.org/officeDocument/2006/relationships/font"/><Relationship Id="rId33" Target="fonts/font33.fntdata" Type="http://schemas.openxmlformats.org/officeDocument/2006/relationships/font"/><Relationship Id="rId34" Target="fonts/font34.fntdata" Type="http://schemas.openxmlformats.org/officeDocument/2006/relationships/font"/><Relationship Id="rId35" Target="fonts/font35.fntdata" Type="http://schemas.openxmlformats.org/officeDocument/2006/relationships/font"/><Relationship Id="rId36" Target="fonts/font36.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jpe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 Id="rId4" Target="../media/image20.png" Type="http://schemas.openxmlformats.org/officeDocument/2006/relationships/image"/><Relationship Id="rId5" Target="../media/image21.png" Type="http://schemas.openxmlformats.org/officeDocument/2006/relationships/image"/><Relationship Id="rId6" Target="../media/image22.png" Type="http://schemas.openxmlformats.org/officeDocument/2006/relationships/image"/><Relationship Id="rId7" Target="../media/image23.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4.png" Type="http://schemas.openxmlformats.org/officeDocument/2006/relationships/image"/><Relationship Id="rId3" Target="../media/image18.png" Type="http://schemas.openxmlformats.org/officeDocument/2006/relationships/image"/><Relationship Id="rId4" Target="../media/image19.sv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 Id="rId6" Target="../media/image27.png" Type="http://schemas.openxmlformats.org/officeDocument/2006/relationships/image"/><Relationship Id="rId7" Target="../media/image28.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 Id="rId4" Target="../media/image29.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 Id="rId4" Target="../media/image30.png" Type="http://schemas.openxmlformats.org/officeDocument/2006/relationships/image"/><Relationship Id="rId5" Target="../media/image31.png" Type="http://schemas.openxmlformats.org/officeDocument/2006/relationships/image"/><Relationship Id="rId6" Target="../media/image32.png" Type="http://schemas.openxmlformats.org/officeDocument/2006/relationships/image"/><Relationship Id="rId7" Target="../media/image33.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4.png" Type="http://schemas.openxmlformats.org/officeDocument/2006/relationships/image"/><Relationship Id="rId3" Target="../media/image35.pn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6.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7.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21111" r="0" b="-21111"/>
            </a:stretch>
          </a:blipFill>
        </p:spPr>
      </p:sp>
      <p:sp>
        <p:nvSpPr>
          <p:cNvPr name="Freeform 3" id="3"/>
          <p:cNvSpPr/>
          <p:nvPr/>
        </p:nvSpPr>
        <p:spPr>
          <a:xfrm flipH="false" flipV="false" rot="0">
            <a:off x="1221632" y="4329980"/>
            <a:ext cx="2069086" cy="1527362"/>
          </a:xfrm>
          <a:custGeom>
            <a:avLst/>
            <a:gdLst/>
            <a:ahLst/>
            <a:cxnLst/>
            <a:rect r="r" b="b" t="t" l="l"/>
            <a:pathLst>
              <a:path h="1527362" w="2069086">
                <a:moveTo>
                  <a:pt x="0" y="0"/>
                </a:moveTo>
                <a:lnTo>
                  <a:pt x="2069086" y="0"/>
                </a:lnTo>
                <a:lnTo>
                  <a:pt x="2069086" y="1527361"/>
                </a:lnTo>
                <a:lnTo>
                  <a:pt x="0" y="1527361"/>
                </a:lnTo>
                <a:lnTo>
                  <a:pt x="0" y="0"/>
                </a:lnTo>
                <a:close/>
              </a:path>
            </a:pathLst>
          </a:custGeom>
          <a:blipFill>
            <a:blip r:embed="rId3"/>
            <a:stretch>
              <a:fillRect l="0" t="0" r="0" b="0"/>
            </a:stretch>
          </a:blipFill>
        </p:spPr>
      </p:sp>
      <p:grpSp>
        <p:nvGrpSpPr>
          <p:cNvPr name="Group 4" id="4"/>
          <p:cNvGrpSpPr/>
          <p:nvPr/>
        </p:nvGrpSpPr>
        <p:grpSpPr>
          <a:xfrm rot="0">
            <a:off x="609391" y="2198900"/>
            <a:ext cx="16398324" cy="4707429"/>
            <a:chOff x="0" y="0"/>
            <a:chExt cx="4318900" cy="1239817"/>
          </a:xfrm>
        </p:grpSpPr>
        <p:sp>
          <p:nvSpPr>
            <p:cNvPr name="Freeform 5" id="5"/>
            <p:cNvSpPr/>
            <p:nvPr/>
          </p:nvSpPr>
          <p:spPr>
            <a:xfrm flipH="false" flipV="false" rot="0">
              <a:off x="0" y="0"/>
              <a:ext cx="4318900" cy="1239817"/>
            </a:xfrm>
            <a:custGeom>
              <a:avLst/>
              <a:gdLst/>
              <a:ahLst/>
              <a:cxnLst/>
              <a:rect r="r" b="b" t="t" l="l"/>
              <a:pathLst>
                <a:path h="1239817" w="4318900">
                  <a:moveTo>
                    <a:pt x="24078" y="0"/>
                  </a:moveTo>
                  <a:lnTo>
                    <a:pt x="4294822" y="0"/>
                  </a:lnTo>
                  <a:cubicBezTo>
                    <a:pt x="4301208" y="0"/>
                    <a:pt x="4307332" y="2537"/>
                    <a:pt x="4311848" y="7052"/>
                  </a:cubicBezTo>
                  <a:cubicBezTo>
                    <a:pt x="4316363" y="11568"/>
                    <a:pt x="4318900" y="17692"/>
                    <a:pt x="4318900" y="24078"/>
                  </a:cubicBezTo>
                  <a:lnTo>
                    <a:pt x="4318900" y="1215739"/>
                  </a:lnTo>
                  <a:cubicBezTo>
                    <a:pt x="4318900" y="1222125"/>
                    <a:pt x="4316363" y="1228249"/>
                    <a:pt x="4311848" y="1232764"/>
                  </a:cubicBezTo>
                  <a:cubicBezTo>
                    <a:pt x="4307332" y="1237280"/>
                    <a:pt x="4301208" y="1239817"/>
                    <a:pt x="4294822" y="1239817"/>
                  </a:cubicBezTo>
                  <a:lnTo>
                    <a:pt x="24078" y="1239817"/>
                  </a:lnTo>
                  <a:cubicBezTo>
                    <a:pt x="17692" y="1239817"/>
                    <a:pt x="11568" y="1237280"/>
                    <a:pt x="7052" y="1232764"/>
                  </a:cubicBezTo>
                  <a:cubicBezTo>
                    <a:pt x="2537" y="1228249"/>
                    <a:pt x="0" y="1222125"/>
                    <a:pt x="0" y="1215739"/>
                  </a:cubicBezTo>
                  <a:lnTo>
                    <a:pt x="0" y="24078"/>
                  </a:lnTo>
                  <a:cubicBezTo>
                    <a:pt x="0" y="17692"/>
                    <a:pt x="2537" y="11568"/>
                    <a:pt x="7052" y="7052"/>
                  </a:cubicBezTo>
                  <a:cubicBezTo>
                    <a:pt x="11568" y="2537"/>
                    <a:pt x="17692" y="0"/>
                    <a:pt x="24078" y="0"/>
                  </a:cubicBezTo>
                  <a:close/>
                </a:path>
              </a:pathLst>
            </a:custGeom>
            <a:solidFill>
              <a:srgbClr val="101010">
                <a:alpha val="46667"/>
              </a:srgbClr>
            </a:solidFill>
          </p:spPr>
        </p:sp>
        <p:sp>
          <p:nvSpPr>
            <p:cNvPr name="TextBox 6" id="6"/>
            <p:cNvSpPr txBox="true"/>
            <p:nvPr/>
          </p:nvSpPr>
          <p:spPr>
            <a:xfrm>
              <a:off x="0" y="-38100"/>
              <a:ext cx="4318900" cy="1277917"/>
            </a:xfrm>
            <a:prstGeom prst="rect">
              <a:avLst/>
            </a:prstGeom>
          </p:spPr>
          <p:txBody>
            <a:bodyPr anchor="ctr" rtlCol="false" tIns="50800" lIns="50800" bIns="50800" rIns="50800"/>
            <a:lstStyle/>
            <a:p>
              <a:pPr algn="ctr">
                <a:lnSpc>
                  <a:spcPts val="2520"/>
                </a:lnSpc>
              </a:pPr>
            </a:p>
          </p:txBody>
        </p:sp>
      </p:grpSp>
      <p:sp>
        <p:nvSpPr>
          <p:cNvPr name="TextBox 7" id="7"/>
          <p:cNvSpPr txBox="true"/>
          <p:nvPr/>
        </p:nvSpPr>
        <p:spPr>
          <a:xfrm rot="0">
            <a:off x="1803185" y="3030043"/>
            <a:ext cx="14664200" cy="2866572"/>
          </a:xfrm>
          <a:prstGeom prst="rect">
            <a:avLst/>
          </a:prstGeom>
        </p:spPr>
        <p:txBody>
          <a:bodyPr anchor="t" rtlCol="false" tIns="0" lIns="0" bIns="0" rIns="0">
            <a:spAutoFit/>
          </a:bodyPr>
          <a:lstStyle/>
          <a:p>
            <a:pPr algn="ctr">
              <a:lnSpc>
                <a:spcPts val="5542"/>
              </a:lnSpc>
            </a:pPr>
            <a:r>
              <a:rPr lang="en-US" b="true" sz="6928" spc="-291">
                <a:solidFill>
                  <a:srgbClr val="F4F4F4"/>
                </a:solidFill>
                <a:latin typeface="Montserrat Bold"/>
                <a:ea typeface="Montserrat Bold"/>
                <a:cs typeface="Montserrat Bold"/>
                <a:sym typeface="Montserrat Bold"/>
              </a:rPr>
              <a:t>Design and Implementation of a Mobile App for Collection of User Experience Data from Mobile Network Subscribers</a:t>
            </a:r>
          </a:p>
        </p:txBody>
      </p:sp>
      <p:sp>
        <p:nvSpPr>
          <p:cNvPr name="TextBox 8" id="8"/>
          <p:cNvSpPr txBox="true"/>
          <p:nvPr/>
        </p:nvSpPr>
        <p:spPr>
          <a:xfrm rot="0">
            <a:off x="5699941" y="6238407"/>
            <a:ext cx="5813725" cy="360429"/>
          </a:xfrm>
          <a:prstGeom prst="rect">
            <a:avLst/>
          </a:prstGeom>
        </p:spPr>
        <p:txBody>
          <a:bodyPr anchor="t" rtlCol="false" tIns="0" lIns="0" bIns="0" rIns="0">
            <a:spAutoFit/>
          </a:bodyPr>
          <a:lstStyle/>
          <a:p>
            <a:pPr algn="ctr">
              <a:lnSpc>
                <a:spcPts val="2500"/>
              </a:lnSpc>
            </a:pPr>
            <a:r>
              <a:rPr lang="en-US" b="true" sz="3125" spc="-131">
                <a:solidFill>
                  <a:srgbClr val="F4F4F4"/>
                </a:solidFill>
                <a:latin typeface="Montserrat Bold"/>
                <a:ea typeface="Montserrat Bold"/>
                <a:cs typeface="Montserrat Bold"/>
                <a:sym typeface="Montserrat Bold"/>
              </a:rPr>
              <a:t>System Modeling &amp; Design</a:t>
            </a:r>
          </a:p>
        </p:txBody>
      </p:sp>
      <p:sp>
        <p:nvSpPr>
          <p:cNvPr name="TextBox 9" id="9"/>
          <p:cNvSpPr txBox="true"/>
          <p:nvPr/>
        </p:nvSpPr>
        <p:spPr>
          <a:xfrm rot="0">
            <a:off x="5638850" y="8926830"/>
            <a:ext cx="1447056" cy="306705"/>
          </a:xfrm>
          <a:prstGeom prst="rect">
            <a:avLst/>
          </a:prstGeom>
        </p:spPr>
        <p:txBody>
          <a:bodyPr anchor="t" rtlCol="false" tIns="0" lIns="0" bIns="0" rIns="0">
            <a:spAutoFit/>
          </a:bodyPr>
          <a:lstStyle/>
          <a:p>
            <a:pPr algn="l">
              <a:lnSpc>
                <a:spcPts val="2520"/>
              </a:lnSpc>
            </a:pPr>
            <a:r>
              <a:rPr lang="en-US" sz="1800">
                <a:solidFill>
                  <a:srgbClr val="F4F4F4"/>
                </a:solidFill>
                <a:latin typeface="Aileron"/>
                <a:ea typeface="Aileron"/>
                <a:cs typeface="Aileron"/>
                <a:sym typeface="Aileron"/>
              </a:rPr>
              <a:t>Ako Mc Peace</a:t>
            </a:r>
          </a:p>
        </p:txBody>
      </p:sp>
      <p:sp>
        <p:nvSpPr>
          <p:cNvPr name="TextBox 10" id="10"/>
          <p:cNvSpPr txBox="true"/>
          <p:nvPr/>
        </p:nvSpPr>
        <p:spPr>
          <a:xfrm rot="0">
            <a:off x="11161464" y="8926830"/>
            <a:ext cx="704404" cy="306705"/>
          </a:xfrm>
          <a:prstGeom prst="rect">
            <a:avLst/>
          </a:prstGeom>
        </p:spPr>
        <p:txBody>
          <a:bodyPr anchor="t" rtlCol="false" tIns="0" lIns="0" bIns="0" rIns="0">
            <a:spAutoFit/>
          </a:bodyPr>
          <a:lstStyle/>
          <a:p>
            <a:pPr algn="l">
              <a:lnSpc>
                <a:spcPts val="2520"/>
              </a:lnSpc>
            </a:pPr>
            <a:r>
              <a:rPr lang="en-US" sz="1800">
                <a:solidFill>
                  <a:srgbClr val="F4F4F4"/>
                </a:solidFill>
                <a:latin typeface="Aileron"/>
                <a:ea typeface="Aileron"/>
                <a:cs typeface="Aileron"/>
                <a:sym typeface="Aileron"/>
              </a:rPr>
              <a:t>Anelka</a:t>
            </a:r>
          </a:p>
        </p:txBody>
      </p:sp>
      <p:sp>
        <p:nvSpPr>
          <p:cNvPr name="TextBox 11" id="11"/>
          <p:cNvSpPr txBox="true"/>
          <p:nvPr/>
        </p:nvSpPr>
        <p:spPr>
          <a:xfrm rot="0">
            <a:off x="15675471" y="8926830"/>
            <a:ext cx="505123" cy="306705"/>
          </a:xfrm>
          <a:prstGeom prst="rect">
            <a:avLst/>
          </a:prstGeom>
        </p:spPr>
        <p:txBody>
          <a:bodyPr anchor="t" rtlCol="false" tIns="0" lIns="0" bIns="0" rIns="0">
            <a:spAutoFit/>
          </a:bodyPr>
          <a:lstStyle/>
          <a:p>
            <a:pPr algn="l">
              <a:lnSpc>
                <a:spcPts val="2520"/>
              </a:lnSpc>
            </a:pPr>
            <a:r>
              <a:rPr lang="en-US" sz="1800">
                <a:solidFill>
                  <a:srgbClr val="F4F4F4"/>
                </a:solidFill>
                <a:latin typeface="Aileron"/>
                <a:ea typeface="Aileron"/>
                <a:cs typeface="Aileron"/>
                <a:sym typeface="Aileron"/>
              </a:rPr>
              <a:t>Lucy</a:t>
            </a:r>
          </a:p>
        </p:txBody>
      </p:sp>
      <p:sp>
        <p:nvSpPr>
          <p:cNvPr name="TextBox 12" id="12"/>
          <p:cNvSpPr txBox="true"/>
          <p:nvPr/>
        </p:nvSpPr>
        <p:spPr>
          <a:xfrm rot="0">
            <a:off x="1028700" y="990600"/>
            <a:ext cx="3383553" cy="356235"/>
          </a:xfrm>
          <a:prstGeom prst="rect">
            <a:avLst/>
          </a:prstGeom>
        </p:spPr>
        <p:txBody>
          <a:bodyPr anchor="t" rtlCol="false" tIns="0" lIns="0" bIns="0" rIns="0">
            <a:spAutoFit/>
          </a:bodyPr>
          <a:lstStyle/>
          <a:p>
            <a:pPr algn="l">
              <a:lnSpc>
                <a:spcPts val="2939"/>
              </a:lnSpc>
            </a:pPr>
            <a:r>
              <a:rPr lang="en-US" sz="2099" b="true">
                <a:solidFill>
                  <a:srgbClr val="F4F4F4"/>
                </a:solidFill>
                <a:latin typeface="Montserrat Bold"/>
                <a:ea typeface="Montserrat Bold"/>
                <a:cs typeface="Montserrat Bold"/>
                <a:sym typeface="Montserrat Bold"/>
              </a:rPr>
              <a:t>PGroup 5 Presentation</a:t>
            </a:r>
          </a:p>
        </p:txBody>
      </p:sp>
      <p:sp>
        <p:nvSpPr>
          <p:cNvPr name="TextBox 13" id="13"/>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F4F4F4"/>
                </a:solidFill>
                <a:latin typeface="Aileron"/>
                <a:ea typeface="Aileron"/>
                <a:cs typeface="Aileron"/>
                <a:sym typeface="Aileron"/>
              </a:rPr>
              <a:t>26 May, 2026</a:t>
            </a:r>
          </a:p>
        </p:txBody>
      </p:sp>
      <p:sp>
        <p:nvSpPr>
          <p:cNvPr name="TextBox 14" id="14"/>
          <p:cNvSpPr txBox="true"/>
          <p:nvPr/>
        </p:nvSpPr>
        <p:spPr>
          <a:xfrm rot="0">
            <a:off x="1028700" y="8892540"/>
            <a:ext cx="1835348" cy="365760"/>
          </a:xfrm>
          <a:prstGeom prst="rect">
            <a:avLst/>
          </a:prstGeom>
        </p:spPr>
        <p:txBody>
          <a:bodyPr anchor="t" rtlCol="false" tIns="0" lIns="0" bIns="0" rIns="0">
            <a:spAutoFit/>
          </a:bodyPr>
          <a:lstStyle/>
          <a:p>
            <a:pPr algn="l">
              <a:lnSpc>
                <a:spcPts val="2939"/>
              </a:lnSpc>
            </a:pPr>
            <a:r>
              <a:rPr lang="en-US" sz="2099" b="true">
                <a:solidFill>
                  <a:srgbClr val="F4F4F4"/>
                </a:solidFill>
                <a:latin typeface="Aileron Bold"/>
                <a:ea typeface="Aileron Bold"/>
                <a:cs typeface="Aileron Bold"/>
                <a:sym typeface="Aileron Bold"/>
              </a:rPr>
              <a:t>Mugha Brayan</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grpSp>
        <p:nvGrpSpPr>
          <p:cNvPr name="Group 2" id="2"/>
          <p:cNvGrpSpPr/>
          <p:nvPr/>
        </p:nvGrpSpPr>
        <p:grpSpPr>
          <a:xfrm rot="0">
            <a:off x="7914729" y="0"/>
            <a:ext cx="6940111" cy="2562225"/>
            <a:chOff x="0" y="0"/>
            <a:chExt cx="1827848" cy="674825"/>
          </a:xfrm>
        </p:grpSpPr>
        <p:sp>
          <p:nvSpPr>
            <p:cNvPr name="Freeform 3" id="3"/>
            <p:cNvSpPr/>
            <p:nvPr/>
          </p:nvSpPr>
          <p:spPr>
            <a:xfrm flipH="false" flipV="false" rot="0">
              <a:off x="0" y="0"/>
              <a:ext cx="1827848" cy="674825"/>
            </a:xfrm>
            <a:custGeom>
              <a:avLst/>
              <a:gdLst/>
              <a:ahLst/>
              <a:cxnLst/>
              <a:rect r="r" b="b" t="t" l="l"/>
              <a:pathLst>
                <a:path h="674825" w="1827848">
                  <a:moveTo>
                    <a:pt x="0" y="0"/>
                  </a:moveTo>
                  <a:lnTo>
                    <a:pt x="1827848" y="0"/>
                  </a:lnTo>
                  <a:lnTo>
                    <a:pt x="1827848" y="674825"/>
                  </a:lnTo>
                  <a:lnTo>
                    <a:pt x="0" y="674825"/>
                  </a:lnTo>
                  <a:close/>
                </a:path>
              </a:pathLst>
            </a:custGeom>
            <a:solidFill>
              <a:srgbClr val="101010"/>
            </a:solidFill>
          </p:spPr>
        </p:sp>
        <p:sp>
          <p:nvSpPr>
            <p:cNvPr name="TextBox 4" id="4"/>
            <p:cNvSpPr txBox="true"/>
            <p:nvPr/>
          </p:nvSpPr>
          <p:spPr>
            <a:xfrm>
              <a:off x="0" y="-38100"/>
              <a:ext cx="1827848" cy="712925"/>
            </a:xfrm>
            <a:prstGeom prst="rect">
              <a:avLst/>
            </a:prstGeom>
          </p:spPr>
          <p:txBody>
            <a:bodyPr anchor="ctr" rtlCol="false" tIns="50800" lIns="50800" bIns="50800" rIns="50800"/>
            <a:lstStyle/>
            <a:p>
              <a:pPr algn="ctr">
                <a:lnSpc>
                  <a:spcPts val="2520"/>
                </a:lnSpc>
              </a:pPr>
            </a:p>
          </p:txBody>
        </p:sp>
      </p:grpSp>
      <p:grpSp>
        <p:nvGrpSpPr>
          <p:cNvPr name="Group 5" id="5"/>
          <p:cNvGrpSpPr/>
          <p:nvPr/>
        </p:nvGrpSpPr>
        <p:grpSpPr>
          <a:xfrm rot="0">
            <a:off x="9144000" y="1928812"/>
            <a:ext cx="9144000" cy="6429375"/>
            <a:chOff x="0" y="0"/>
            <a:chExt cx="12192000" cy="8572500"/>
          </a:xfrm>
        </p:grpSpPr>
        <p:pic>
          <p:nvPicPr>
            <p:cNvPr name="Picture 6" id="6"/>
            <p:cNvPicPr>
              <a:picLocks noChangeAspect="true"/>
            </p:cNvPicPr>
            <p:nvPr/>
          </p:nvPicPr>
          <p:blipFill>
            <a:blip r:embed="rId2"/>
            <a:srcRect l="0" t="6054" r="0" b="6054"/>
            <a:stretch>
              <a:fillRect/>
            </a:stretch>
          </p:blipFill>
          <p:spPr>
            <a:xfrm flipH="false" flipV="false">
              <a:off x="0" y="0"/>
              <a:ext cx="12192000" cy="8572500"/>
            </a:xfrm>
            <a:prstGeom prst="rect">
              <a:avLst/>
            </a:prstGeom>
          </p:spPr>
        </p:pic>
      </p:grpSp>
      <p:sp>
        <p:nvSpPr>
          <p:cNvPr name="TextBox 7" id="7"/>
          <p:cNvSpPr txBox="true"/>
          <p:nvPr/>
        </p:nvSpPr>
        <p:spPr>
          <a:xfrm rot="0">
            <a:off x="1028700" y="990600"/>
            <a:ext cx="3383553" cy="356235"/>
          </a:xfrm>
          <a:prstGeom prst="rect">
            <a:avLst/>
          </a:prstGeom>
        </p:spPr>
        <p:txBody>
          <a:bodyPr anchor="t" rtlCol="false" tIns="0" lIns="0" bIns="0" rIns="0">
            <a:spAutoFit/>
          </a:bodyPr>
          <a:lstStyle/>
          <a:p>
            <a:pPr algn="l">
              <a:lnSpc>
                <a:spcPts val="2939"/>
              </a:lnSpc>
            </a:pPr>
            <a:r>
              <a:rPr lang="en-US" sz="2099" b="true">
                <a:solidFill>
                  <a:srgbClr val="101010"/>
                </a:solidFill>
                <a:latin typeface="Montserrat Bold"/>
                <a:ea typeface="Montserrat Bold"/>
                <a:cs typeface="Montserrat Bold"/>
                <a:sym typeface="Montserrat Bold"/>
              </a:rPr>
              <a:t>Personal Presentation</a:t>
            </a:r>
          </a:p>
        </p:txBody>
      </p:sp>
      <p:sp>
        <p:nvSpPr>
          <p:cNvPr name="TextBox 8" id="8"/>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101010"/>
                </a:solidFill>
                <a:latin typeface="Aileron"/>
                <a:ea typeface="Aileron"/>
                <a:cs typeface="Aileron"/>
                <a:sym typeface="Aileron"/>
              </a:rPr>
              <a:t>Overview</a:t>
            </a:r>
          </a:p>
        </p:txBody>
      </p:sp>
      <p:sp>
        <p:nvSpPr>
          <p:cNvPr name="TextBox 9" id="9"/>
          <p:cNvSpPr txBox="true"/>
          <p:nvPr/>
        </p:nvSpPr>
        <p:spPr>
          <a:xfrm rot="0">
            <a:off x="9144000" y="8867775"/>
            <a:ext cx="1630859" cy="365760"/>
          </a:xfrm>
          <a:prstGeom prst="rect">
            <a:avLst/>
          </a:prstGeom>
        </p:spPr>
        <p:txBody>
          <a:bodyPr anchor="t" rtlCol="false" tIns="0" lIns="0" bIns="0" rIns="0">
            <a:spAutoFit/>
          </a:bodyPr>
          <a:lstStyle/>
          <a:p>
            <a:pPr algn="l">
              <a:lnSpc>
                <a:spcPts val="2939"/>
              </a:lnSpc>
            </a:pPr>
            <a:r>
              <a:rPr lang="en-US" sz="2099" b="true">
                <a:solidFill>
                  <a:srgbClr val="101010"/>
                </a:solidFill>
                <a:latin typeface="Aileron Bold"/>
                <a:ea typeface="Aileron Bold"/>
                <a:cs typeface="Aileron Bold"/>
                <a:sym typeface="Aileron Bold"/>
              </a:rPr>
              <a:t>Mobile Users</a:t>
            </a:r>
          </a:p>
        </p:txBody>
      </p:sp>
      <p:sp>
        <p:nvSpPr>
          <p:cNvPr name="TextBox 10" id="10"/>
          <p:cNvSpPr txBox="true"/>
          <p:nvPr/>
        </p:nvSpPr>
        <p:spPr>
          <a:xfrm rot="0">
            <a:off x="569166" y="4703679"/>
            <a:ext cx="7119561" cy="1976137"/>
          </a:xfrm>
          <a:prstGeom prst="rect">
            <a:avLst/>
          </a:prstGeom>
        </p:spPr>
        <p:txBody>
          <a:bodyPr anchor="t" rtlCol="false" tIns="0" lIns="0" bIns="0" rIns="0">
            <a:spAutoFit/>
          </a:bodyPr>
          <a:lstStyle/>
          <a:p>
            <a:pPr algn="just">
              <a:lnSpc>
                <a:spcPts val="3142"/>
              </a:lnSpc>
            </a:pPr>
            <a:r>
              <a:rPr lang="en-US" sz="2244">
                <a:solidFill>
                  <a:srgbClr val="101010"/>
                </a:solidFill>
                <a:latin typeface="Aileron"/>
                <a:ea typeface="Aileron"/>
                <a:cs typeface="Aileron"/>
                <a:sym typeface="Aileron"/>
              </a:rPr>
              <a:t>Mobile network quality varies significantly across regions and times, creating inconsistent user experiences that often go unreported. Traditional monitoring methods fail to capture the real-world perspective of subscribers.</a:t>
            </a:r>
          </a:p>
        </p:txBody>
      </p:sp>
      <p:sp>
        <p:nvSpPr>
          <p:cNvPr name="TextBox 11" id="11"/>
          <p:cNvSpPr txBox="true"/>
          <p:nvPr/>
        </p:nvSpPr>
        <p:spPr>
          <a:xfrm rot="0">
            <a:off x="569166" y="6498841"/>
            <a:ext cx="8323249" cy="2966085"/>
          </a:xfrm>
          <a:prstGeom prst="rect">
            <a:avLst/>
          </a:prstGeom>
        </p:spPr>
        <p:txBody>
          <a:bodyPr anchor="t" rtlCol="false" tIns="0" lIns="0" bIns="0" rIns="0">
            <a:spAutoFit/>
          </a:bodyPr>
          <a:lstStyle/>
          <a:p>
            <a:pPr algn="just">
              <a:lnSpc>
                <a:spcPts val="2939"/>
              </a:lnSpc>
            </a:pPr>
          </a:p>
          <a:p>
            <a:pPr algn="just">
              <a:lnSpc>
                <a:spcPts val="2939"/>
              </a:lnSpc>
            </a:pPr>
            <a:r>
              <a:rPr lang="en-US" sz="2099">
                <a:solidFill>
                  <a:srgbClr val="101010"/>
                </a:solidFill>
                <a:latin typeface="Aileron"/>
                <a:ea typeface="Aileron"/>
                <a:cs typeface="Aileron"/>
                <a:sym typeface="Aileron"/>
              </a:rPr>
              <a:t>Getting user experience data offers a powerful solution, enabling telecom providers and researchers to gather authentic feedback directly from network users at scale.</a:t>
            </a:r>
          </a:p>
          <a:p>
            <a:pPr algn="just">
              <a:lnSpc>
                <a:spcPts val="2939"/>
              </a:lnSpc>
            </a:pPr>
            <a:r>
              <a:rPr lang="en-US" sz="2099">
                <a:solidFill>
                  <a:srgbClr val="101010"/>
                </a:solidFill>
                <a:latin typeface="Aileron"/>
                <a:ea typeface="Aileron"/>
                <a:cs typeface="Aileron"/>
                <a:sym typeface="Aileron"/>
              </a:rPr>
              <a:t>Our goal is to develop a comprehensive mobile app system that collects, synchronizes, and analyzes user experience data from mobile network subscribers.</a:t>
            </a:r>
          </a:p>
          <a:p>
            <a:pPr algn="just">
              <a:lnSpc>
                <a:spcPts val="2939"/>
              </a:lnSpc>
            </a:pPr>
          </a:p>
        </p:txBody>
      </p:sp>
      <p:sp>
        <p:nvSpPr>
          <p:cNvPr name="TextBox 12" id="12"/>
          <p:cNvSpPr txBox="true"/>
          <p:nvPr/>
        </p:nvSpPr>
        <p:spPr>
          <a:xfrm rot="0">
            <a:off x="12103522" y="8951595"/>
            <a:ext cx="2243286" cy="306705"/>
          </a:xfrm>
          <a:prstGeom prst="rect">
            <a:avLst/>
          </a:prstGeom>
        </p:spPr>
        <p:txBody>
          <a:bodyPr anchor="t" rtlCol="false" tIns="0" lIns="0" bIns="0" rIns="0">
            <a:spAutoFit/>
          </a:bodyPr>
          <a:lstStyle/>
          <a:p>
            <a:pPr algn="l">
              <a:lnSpc>
                <a:spcPts val="2520"/>
              </a:lnSpc>
            </a:pPr>
            <a:r>
              <a:rPr lang="en-US" sz="1800">
                <a:solidFill>
                  <a:srgbClr val="101010"/>
                </a:solidFill>
                <a:latin typeface="Aileron"/>
                <a:ea typeface="Aileron"/>
                <a:cs typeface="Aileron"/>
                <a:sym typeface="Aileron"/>
              </a:rPr>
              <a:t>Telecome Companies</a:t>
            </a:r>
          </a:p>
        </p:txBody>
      </p:sp>
      <p:sp>
        <p:nvSpPr>
          <p:cNvPr name="TextBox 13" id="13"/>
          <p:cNvSpPr txBox="true"/>
          <p:nvPr/>
        </p:nvSpPr>
        <p:spPr>
          <a:xfrm rot="0">
            <a:off x="15712380" y="8817293"/>
            <a:ext cx="1809155" cy="306705"/>
          </a:xfrm>
          <a:prstGeom prst="rect">
            <a:avLst/>
          </a:prstGeom>
        </p:spPr>
        <p:txBody>
          <a:bodyPr anchor="t" rtlCol="false" tIns="0" lIns="0" bIns="0" rIns="0">
            <a:spAutoFit/>
          </a:bodyPr>
          <a:lstStyle/>
          <a:p>
            <a:pPr algn="l">
              <a:lnSpc>
                <a:spcPts val="2520"/>
              </a:lnSpc>
            </a:pPr>
            <a:r>
              <a:rPr lang="en-US" sz="1800">
                <a:solidFill>
                  <a:srgbClr val="101010"/>
                </a:solidFill>
                <a:latin typeface="Aileron"/>
                <a:ea typeface="Aileron"/>
                <a:cs typeface="Aileron"/>
                <a:sym typeface="Aileron"/>
              </a:rPr>
              <a:t>Better Experience</a:t>
            </a:r>
          </a:p>
        </p:txBody>
      </p:sp>
      <p:sp>
        <p:nvSpPr>
          <p:cNvPr name="TextBox 14" id="14"/>
          <p:cNvSpPr txBox="true"/>
          <p:nvPr/>
        </p:nvSpPr>
        <p:spPr>
          <a:xfrm rot="0">
            <a:off x="569166" y="3298625"/>
            <a:ext cx="8982447" cy="108775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introduction</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grpSp>
        <p:nvGrpSpPr>
          <p:cNvPr name="Group 2" id="2"/>
          <p:cNvGrpSpPr/>
          <p:nvPr/>
        </p:nvGrpSpPr>
        <p:grpSpPr>
          <a:xfrm rot="0">
            <a:off x="6962229" y="0"/>
            <a:ext cx="1653736" cy="3086100"/>
            <a:chOff x="0" y="0"/>
            <a:chExt cx="435552" cy="812800"/>
          </a:xfrm>
        </p:grpSpPr>
        <p:sp>
          <p:nvSpPr>
            <p:cNvPr name="Freeform 3" id="3"/>
            <p:cNvSpPr/>
            <p:nvPr/>
          </p:nvSpPr>
          <p:spPr>
            <a:xfrm flipH="false" flipV="false" rot="0">
              <a:off x="0" y="0"/>
              <a:ext cx="435552" cy="812800"/>
            </a:xfrm>
            <a:custGeom>
              <a:avLst/>
              <a:gdLst/>
              <a:ahLst/>
              <a:cxnLst/>
              <a:rect r="r" b="b" t="t" l="l"/>
              <a:pathLst>
                <a:path h="812800" w="435552">
                  <a:moveTo>
                    <a:pt x="0" y="0"/>
                  </a:moveTo>
                  <a:lnTo>
                    <a:pt x="435552" y="0"/>
                  </a:lnTo>
                  <a:lnTo>
                    <a:pt x="435552" y="812800"/>
                  </a:lnTo>
                  <a:lnTo>
                    <a:pt x="0" y="812800"/>
                  </a:lnTo>
                  <a:close/>
                </a:path>
              </a:pathLst>
            </a:custGeom>
            <a:solidFill>
              <a:srgbClr val="101010"/>
            </a:solidFill>
          </p:spPr>
        </p:sp>
        <p:sp>
          <p:nvSpPr>
            <p:cNvPr name="TextBox 4" id="4"/>
            <p:cNvSpPr txBox="true"/>
            <p:nvPr/>
          </p:nvSpPr>
          <p:spPr>
            <a:xfrm>
              <a:off x="0" y="-38100"/>
              <a:ext cx="435552" cy="850900"/>
            </a:xfrm>
            <a:prstGeom prst="rect">
              <a:avLst/>
            </a:prstGeom>
          </p:spPr>
          <p:txBody>
            <a:bodyPr anchor="ctr" rtlCol="false" tIns="50800" lIns="50800" bIns="50800" rIns="50800"/>
            <a:lstStyle/>
            <a:p>
              <a:pPr algn="ctr">
                <a:lnSpc>
                  <a:spcPts val="2520"/>
                </a:lnSpc>
              </a:pPr>
            </a:p>
          </p:txBody>
        </p:sp>
      </p:grpSp>
      <p:grpSp>
        <p:nvGrpSpPr>
          <p:cNvPr name="Group 5" id="5"/>
          <p:cNvGrpSpPr/>
          <p:nvPr/>
        </p:nvGrpSpPr>
        <p:grpSpPr>
          <a:xfrm rot="0">
            <a:off x="0" y="1928812"/>
            <a:ext cx="8285609" cy="6429375"/>
            <a:chOff x="0" y="0"/>
            <a:chExt cx="11047479" cy="8572500"/>
          </a:xfrm>
        </p:grpSpPr>
        <p:pic>
          <p:nvPicPr>
            <p:cNvPr name="Picture 6" id="6"/>
            <p:cNvPicPr>
              <a:picLocks noChangeAspect="true"/>
            </p:cNvPicPr>
            <p:nvPr/>
          </p:nvPicPr>
          <p:blipFill>
            <a:blip r:embed="rId2"/>
            <a:srcRect l="7069" t="0" r="7069" b="0"/>
            <a:stretch>
              <a:fillRect/>
            </a:stretch>
          </p:blipFill>
          <p:spPr>
            <a:xfrm flipH="false" flipV="false">
              <a:off x="0" y="0"/>
              <a:ext cx="11047479" cy="8572500"/>
            </a:xfrm>
            <a:prstGeom prst="rect">
              <a:avLst/>
            </a:prstGeom>
          </p:spPr>
        </p:pic>
      </p:grpSp>
      <p:sp>
        <p:nvSpPr>
          <p:cNvPr name="TextBox 7" id="7"/>
          <p:cNvSpPr txBox="true"/>
          <p:nvPr/>
        </p:nvSpPr>
        <p:spPr>
          <a:xfrm rot="0">
            <a:off x="1028700" y="990600"/>
            <a:ext cx="3383553" cy="356235"/>
          </a:xfrm>
          <a:prstGeom prst="rect">
            <a:avLst/>
          </a:prstGeom>
        </p:spPr>
        <p:txBody>
          <a:bodyPr anchor="t" rtlCol="false" tIns="0" lIns="0" bIns="0" rIns="0">
            <a:spAutoFit/>
          </a:bodyPr>
          <a:lstStyle/>
          <a:p>
            <a:pPr algn="l">
              <a:lnSpc>
                <a:spcPts val="2939"/>
              </a:lnSpc>
            </a:pPr>
            <a:r>
              <a:rPr lang="en-US" sz="2099" b="true">
                <a:solidFill>
                  <a:srgbClr val="101010"/>
                </a:solidFill>
                <a:latin typeface="Montserrat Bold"/>
                <a:ea typeface="Montserrat Bold"/>
                <a:cs typeface="Montserrat Bold"/>
                <a:sym typeface="Montserrat Bold"/>
              </a:rPr>
              <a:t>Key focus areas</a:t>
            </a:r>
          </a:p>
        </p:txBody>
      </p:sp>
      <p:sp>
        <p:nvSpPr>
          <p:cNvPr name="TextBox 8" id="8"/>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101010"/>
                </a:solidFill>
                <a:latin typeface="Aileron"/>
                <a:ea typeface="Aileron"/>
                <a:cs typeface="Aileron"/>
                <a:sym typeface="Aileron"/>
              </a:rPr>
              <a:t>09 May, 2026</a:t>
            </a:r>
          </a:p>
        </p:txBody>
      </p:sp>
      <p:sp>
        <p:nvSpPr>
          <p:cNvPr name="TextBox 9" id="9"/>
          <p:cNvSpPr txBox="true"/>
          <p:nvPr/>
        </p:nvSpPr>
        <p:spPr>
          <a:xfrm rot="0">
            <a:off x="1028700" y="8892540"/>
            <a:ext cx="4503688" cy="737235"/>
          </a:xfrm>
          <a:prstGeom prst="rect">
            <a:avLst/>
          </a:prstGeom>
        </p:spPr>
        <p:txBody>
          <a:bodyPr anchor="t" rtlCol="false" tIns="0" lIns="0" bIns="0" rIns="0">
            <a:spAutoFit/>
          </a:bodyPr>
          <a:lstStyle/>
          <a:p>
            <a:pPr algn="l" marL="453388" indent="-226694" lvl="1">
              <a:lnSpc>
                <a:spcPts val="2939"/>
              </a:lnSpc>
              <a:buFont typeface="Arial"/>
              <a:buChar char="•"/>
            </a:pPr>
            <a:r>
              <a:rPr lang="en-US" b="true" sz="2099">
                <a:solidFill>
                  <a:srgbClr val="101010"/>
                </a:solidFill>
                <a:latin typeface="Aileron Bold"/>
                <a:ea typeface="Aileron Bold"/>
                <a:cs typeface="Aileron Bold"/>
                <a:sym typeface="Aileron Bold"/>
              </a:rPr>
              <a:t>Collect Passive Network Metrics</a:t>
            </a:r>
          </a:p>
          <a:p>
            <a:pPr algn="l">
              <a:lnSpc>
                <a:spcPts val="2939"/>
              </a:lnSpc>
            </a:pPr>
          </a:p>
        </p:txBody>
      </p:sp>
      <p:sp>
        <p:nvSpPr>
          <p:cNvPr name="TextBox 10" id="10"/>
          <p:cNvSpPr txBox="true"/>
          <p:nvPr/>
        </p:nvSpPr>
        <p:spPr>
          <a:xfrm rot="0">
            <a:off x="6903889" y="8955405"/>
            <a:ext cx="1381720" cy="621030"/>
          </a:xfrm>
          <a:prstGeom prst="rect">
            <a:avLst/>
          </a:prstGeom>
        </p:spPr>
        <p:txBody>
          <a:bodyPr anchor="t" rtlCol="false" tIns="0" lIns="0" bIns="0" rIns="0">
            <a:spAutoFit/>
          </a:bodyPr>
          <a:lstStyle/>
          <a:p>
            <a:pPr algn="l" marL="388620" indent="-194310" lvl="1">
              <a:lnSpc>
                <a:spcPts val="2520"/>
              </a:lnSpc>
              <a:buFont typeface="Arial"/>
              <a:buChar char="•"/>
            </a:pPr>
            <a:r>
              <a:rPr lang="en-US" sz="1800">
                <a:solidFill>
                  <a:srgbClr val="101010"/>
                </a:solidFill>
                <a:latin typeface="Aileron"/>
                <a:ea typeface="Aileron"/>
                <a:cs typeface="Aileron"/>
                <a:sym typeface="Aileron"/>
              </a:rPr>
              <a:t>Reliability</a:t>
            </a:r>
          </a:p>
          <a:p>
            <a:pPr algn="l">
              <a:lnSpc>
                <a:spcPts val="2520"/>
              </a:lnSpc>
            </a:pPr>
          </a:p>
        </p:txBody>
      </p:sp>
      <p:sp>
        <p:nvSpPr>
          <p:cNvPr name="TextBox 11" id="11"/>
          <p:cNvSpPr txBox="true"/>
          <p:nvPr/>
        </p:nvSpPr>
        <p:spPr>
          <a:xfrm rot="0">
            <a:off x="11161464" y="8926830"/>
            <a:ext cx="2134046" cy="306705"/>
          </a:xfrm>
          <a:prstGeom prst="rect">
            <a:avLst/>
          </a:prstGeom>
        </p:spPr>
        <p:txBody>
          <a:bodyPr anchor="t" rtlCol="false" tIns="0" lIns="0" bIns="0" rIns="0">
            <a:spAutoFit/>
          </a:bodyPr>
          <a:lstStyle/>
          <a:p>
            <a:pPr algn="l">
              <a:lnSpc>
                <a:spcPts val="2520"/>
              </a:lnSpc>
            </a:pPr>
            <a:r>
              <a:rPr lang="en-US" sz="1800">
                <a:solidFill>
                  <a:srgbClr val="101010"/>
                </a:solidFill>
                <a:latin typeface="Aileron"/>
                <a:ea typeface="Aileron"/>
                <a:cs typeface="Aileron"/>
                <a:sym typeface="Aileron"/>
              </a:rPr>
              <a:t>On |Offline Detection</a:t>
            </a:r>
          </a:p>
        </p:txBody>
      </p:sp>
      <p:sp>
        <p:nvSpPr>
          <p:cNvPr name="TextBox 12" id="12"/>
          <p:cNvSpPr txBox="true"/>
          <p:nvPr/>
        </p:nvSpPr>
        <p:spPr>
          <a:xfrm rot="0">
            <a:off x="15675471" y="8926830"/>
            <a:ext cx="1785193" cy="621030"/>
          </a:xfrm>
          <a:prstGeom prst="rect">
            <a:avLst/>
          </a:prstGeom>
        </p:spPr>
        <p:txBody>
          <a:bodyPr anchor="t" rtlCol="false" tIns="0" lIns="0" bIns="0" rIns="0">
            <a:spAutoFit/>
          </a:bodyPr>
          <a:lstStyle/>
          <a:p>
            <a:pPr algn="l" marL="388620" indent="-194310" lvl="1">
              <a:lnSpc>
                <a:spcPts val="2520"/>
              </a:lnSpc>
              <a:buFont typeface="Arial"/>
              <a:buChar char="•"/>
            </a:pPr>
            <a:r>
              <a:rPr lang="en-US" sz="1800">
                <a:solidFill>
                  <a:srgbClr val="101010"/>
                </a:solidFill>
                <a:latin typeface="Aileron"/>
                <a:ea typeface="Aileron"/>
                <a:cs typeface="Aileron"/>
                <a:sym typeface="Aileron"/>
              </a:rPr>
              <a:t>Visualizations</a:t>
            </a:r>
          </a:p>
          <a:p>
            <a:pPr algn="l">
              <a:lnSpc>
                <a:spcPts val="2520"/>
              </a:lnSpc>
            </a:pPr>
          </a:p>
        </p:txBody>
      </p:sp>
      <p:sp>
        <p:nvSpPr>
          <p:cNvPr name="TextBox 13" id="13"/>
          <p:cNvSpPr txBox="true"/>
          <p:nvPr/>
        </p:nvSpPr>
        <p:spPr>
          <a:xfrm rot="0">
            <a:off x="8615966" y="4928151"/>
            <a:ext cx="9144000" cy="3051175"/>
          </a:xfrm>
          <a:prstGeom prst="rect">
            <a:avLst/>
          </a:prstGeom>
        </p:spPr>
        <p:txBody>
          <a:bodyPr anchor="t" rtlCol="false" tIns="0" lIns="0" bIns="0" rIns="0">
            <a:spAutoFit/>
          </a:bodyPr>
          <a:lstStyle/>
          <a:p>
            <a:pPr algn="just">
              <a:lnSpc>
                <a:spcPts val="3499"/>
              </a:lnSpc>
            </a:pPr>
            <a:r>
              <a:rPr lang="en-US" sz="2499">
                <a:solidFill>
                  <a:srgbClr val="101010"/>
                </a:solidFill>
                <a:latin typeface="Aileron"/>
                <a:ea typeface="Aileron"/>
                <a:cs typeface="Aileron"/>
                <a:sym typeface="Aileron"/>
              </a:rPr>
              <a:t>The system is designed to address critical gaps in mobile network quality monitoring through a comprehensive data collection and analysis platform. By combining automated metrics gathering with user feedback mechanisms, the platform enables telecom providers and researchers to gain actionable insights into network performance across different regions and conditions.</a:t>
            </a:r>
          </a:p>
        </p:txBody>
      </p:sp>
      <p:sp>
        <p:nvSpPr>
          <p:cNvPr name="TextBox 14" id="14"/>
          <p:cNvSpPr txBox="true"/>
          <p:nvPr/>
        </p:nvSpPr>
        <p:spPr>
          <a:xfrm rot="0">
            <a:off x="9007099" y="2673362"/>
            <a:ext cx="8252201" cy="205930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Project Objectives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grpSp>
        <p:nvGrpSpPr>
          <p:cNvPr name="Group 2" id="2"/>
          <p:cNvGrpSpPr/>
          <p:nvPr/>
        </p:nvGrpSpPr>
        <p:grpSpPr>
          <a:xfrm rot="0">
            <a:off x="0" y="1702053"/>
            <a:ext cx="1653736" cy="4888274"/>
            <a:chOff x="0" y="0"/>
            <a:chExt cx="435552" cy="1287447"/>
          </a:xfrm>
        </p:grpSpPr>
        <p:sp>
          <p:nvSpPr>
            <p:cNvPr name="Freeform 3" id="3"/>
            <p:cNvSpPr/>
            <p:nvPr/>
          </p:nvSpPr>
          <p:spPr>
            <a:xfrm flipH="false" flipV="false" rot="0">
              <a:off x="0" y="0"/>
              <a:ext cx="435552" cy="1287447"/>
            </a:xfrm>
            <a:custGeom>
              <a:avLst/>
              <a:gdLst/>
              <a:ahLst/>
              <a:cxnLst/>
              <a:rect r="r" b="b" t="t" l="l"/>
              <a:pathLst>
                <a:path h="1287447" w="435552">
                  <a:moveTo>
                    <a:pt x="0" y="0"/>
                  </a:moveTo>
                  <a:lnTo>
                    <a:pt x="435552" y="0"/>
                  </a:lnTo>
                  <a:lnTo>
                    <a:pt x="435552" y="1287447"/>
                  </a:lnTo>
                  <a:lnTo>
                    <a:pt x="0" y="1287447"/>
                  </a:lnTo>
                  <a:close/>
                </a:path>
              </a:pathLst>
            </a:custGeom>
            <a:solidFill>
              <a:srgbClr val="101010"/>
            </a:solidFill>
          </p:spPr>
        </p:sp>
        <p:sp>
          <p:nvSpPr>
            <p:cNvPr name="TextBox 4" id="4"/>
            <p:cNvSpPr txBox="true"/>
            <p:nvPr/>
          </p:nvSpPr>
          <p:spPr>
            <a:xfrm>
              <a:off x="0" y="-38100"/>
              <a:ext cx="435552" cy="1325547"/>
            </a:xfrm>
            <a:prstGeom prst="rect">
              <a:avLst/>
            </a:prstGeom>
          </p:spPr>
          <p:txBody>
            <a:bodyPr anchor="ctr" rtlCol="false" tIns="50800" lIns="50800" bIns="50800" rIns="50800"/>
            <a:lstStyle/>
            <a:p>
              <a:pPr algn="ctr">
                <a:lnSpc>
                  <a:spcPts val="2520"/>
                </a:lnSpc>
              </a:pPr>
            </a:p>
          </p:txBody>
        </p:sp>
      </p:grpSp>
      <p:grpSp>
        <p:nvGrpSpPr>
          <p:cNvPr name="Group 5" id="5"/>
          <p:cNvGrpSpPr/>
          <p:nvPr/>
        </p:nvGrpSpPr>
        <p:grpSpPr>
          <a:xfrm rot="0">
            <a:off x="1028700" y="1928812"/>
            <a:ext cx="6429375" cy="6429375"/>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blipFill>
              <a:blip r:embed="rId2"/>
              <a:stretch>
                <a:fillRect l="-24906" t="0" r="-24906" b="0"/>
              </a:stretch>
            </a:blipFill>
          </p:spPr>
        </p:sp>
      </p:grpSp>
      <p:sp>
        <p:nvSpPr>
          <p:cNvPr name="TextBox 7" id="7"/>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101010"/>
                </a:solidFill>
                <a:latin typeface="Aileron"/>
                <a:ea typeface="Aileron"/>
                <a:cs typeface="Aileron"/>
                <a:sym typeface="Aileron"/>
              </a:rPr>
              <a:t>09 May, 2026</a:t>
            </a:r>
          </a:p>
        </p:txBody>
      </p:sp>
      <p:sp>
        <p:nvSpPr>
          <p:cNvPr name="TextBox 8" id="8"/>
          <p:cNvSpPr txBox="true"/>
          <p:nvPr/>
        </p:nvSpPr>
        <p:spPr>
          <a:xfrm rot="0">
            <a:off x="8285609" y="786772"/>
            <a:ext cx="8447878" cy="303085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System Architecture Overview</a:t>
            </a:r>
          </a:p>
        </p:txBody>
      </p:sp>
      <p:sp>
        <p:nvSpPr>
          <p:cNvPr name="TextBox 9" id="9"/>
          <p:cNvSpPr txBox="true"/>
          <p:nvPr/>
        </p:nvSpPr>
        <p:spPr>
          <a:xfrm rot="0">
            <a:off x="7644673" y="4098565"/>
            <a:ext cx="10309884" cy="1480185"/>
          </a:xfrm>
          <a:prstGeom prst="rect">
            <a:avLst/>
          </a:prstGeom>
        </p:spPr>
        <p:txBody>
          <a:bodyPr anchor="t" rtlCol="false" tIns="0" lIns="0" bIns="0" rIns="0">
            <a:spAutoFit/>
          </a:bodyPr>
          <a:lstStyle/>
          <a:p>
            <a:pPr algn="just">
              <a:lnSpc>
                <a:spcPts val="2939"/>
              </a:lnSpc>
            </a:pPr>
            <a:r>
              <a:rPr lang="en-US" sz="2099" b="true">
                <a:solidFill>
                  <a:srgbClr val="101010"/>
                </a:solidFill>
                <a:latin typeface="Aileron Bold"/>
                <a:ea typeface="Aileron Bold"/>
                <a:cs typeface="Aileron Bold"/>
                <a:sym typeface="Aileron Bold"/>
              </a:rPr>
              <a:t>The system follows a layered architecture designed for reliability and scalability. The hybrid App serves as the primary data collection interface, capturing network metrics and user feedback. Local SQLite storage enables offline-first functionality, caching data when connectivity is unavailable.</a:t>
            </a:r>
          </a:p>
        </p:txBody>
      </p:sp>
      <p:sp>
        <p:nvSpPr>
          <p:cNvPr name="TextBox 10" id="10"/>
          <p:cNvSpPr txBox="true"/>
          <p:nvPr/>
        </p:nvSpPr>
        <p:spPr>
          <a:xfrm rot="0">
            <a:off x="7644673" y="5854976"/>
            <a:ext cx="10643327" cy="1851660"/>
          </a:xfrm>
          <a:prstGeom prst="rect">
            <a:avLst/>
          </a:prstGeom>
        </p:spPr>
        <p:txBody>
          <a:bodyPr anchor="t" rtlCol="false" tIns="0" lIns="0" bIns="0" rIns="0">
            <a:spAutoFit/>
          </a:bodyPr>
          <a:lstStyle/>
          <a:p>
            <a:pPr algn="just">
              <a:lnSpc>
                <a:spcPts val="2939"/>
              </a:lnSpc>
            </a:pPr>
            <a:r>
              <a:rPr lang="en-US" sz="2099" b="true">
                <a:solidFill>
                  <a:srgbClr val="101010"/>
                </a:solidFill>
                <a:latin typeface="Aileron Bold"/>
                <a:ea typeface="Aileron Bold"/>
                <a:cs typeface="Aileron Bold"/>
                <a:sym typeface="Aileron Bold"/>
              </a:rPr>
              <a:t>The Sync Manager orchestrates data transmission between the mobile device and cloud infrastructure. It communicates with the Cloud API, which validates and processes incoming data before storing it in the database. The Analytics Dashboard provides visualization tools for users and telecom analysts to explore aggregated insights.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sp>
        <p:nvSpPr>
          <p:cNvPr name="TextBox 2" id="2"/>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101010"/>
                </a:solidFill>
                <a:latin typeface="Aileron"/>
                <a:ea typeface="Aileron"/>
                <a:cs typeface="Aileron"/>
                <a:sym typeface="Aileron"/>
              </a:rPr>
              <a:t>09 May, 2026</a:t>
            </a:r>
          </a:p>
        </p:txBody>
      </p:sp>
      <p:sp>
        <p:nvSpPr>
          <p:cNvPr name="TextBox 3" id="3"/>
          <p:cNvSpPr txBox="true"/>
          <p:nvPr/>
        </p:nvSpPr>
        <p:spPr>
          <a:xfrm rot="0">
            <a:off x="612260" y="7096602"/>
            <a:ext cx="9125900" cy="2453467"/>
          </a:xfrm>
          <a:prstGeom prst="rect">
            <a:avLst/>
          </a:prstGeom>
        </p:spPr>
        <p:txBody>
          <a:bodyPr anchor="t" rtlCol="false" tIns="0" lIns="0" bIns="0" rIns="0">
            <a:spAutoFit/>
          </a:bodyPr>
          <a:lstStyle/>
          <a:p>
            <a:pPr algn="just">
              <a:lnSpc>
                <a:spcPts val="3251"/>
              </a:lnSpc>
            </a:pPr>
            <a:r>
              <a:rPr lang="en-US" sz="2322">
                <a:solidFill>
                  <a:srgbClr val="101010"/>
                </a:solidFill>
                <a:latin typeface="Aileron"/>
                <a:ea typeface="Aileron"/>
                <a:cs typeface="Aileron"/>
                <a:sym typeface="Aileron"/>
              </a:rPr>
              <a:t>The context diagram illustrates the system boundary and external actors interacting with the User Experience Data Collection App. Key actors include Mobile Subscribers who provide feedback and generate network metrics, Mobile Network Towers that provide signal data, GPS Satellites for location services, Cloud Database for centralized storage, and Admin/Researchers who access analytics.</a:t>
            </a:r>
          </a:p>
        </p:txBody>
      </p:sp>
      <p:sp>
        <p:nvSpPr>
          <p:cNvPr name="TextBox 4" id="4"/>
          <p:cNvSpPr txBox="true"/>
          <p:nvPr/>
        </p:nvSpPr>
        <p:spPr>
          <a:xfrm rot="0">
            <a:off x="218790" y="5855018"/>
            <a:ext cx="12809494" cy="108775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Context Diagram</a:t>
            </a:r>
          </a:p>
        </p:txBody>
      </p:sp>
      <p:sp>
        <p:nvSpPr>
          <p:cNvPr name="TextBox 5" id="5"/>
          <p:cNvSpPr txBox="true"/>
          <p:nvPr/>
        </p:nvSpPr>
        <p:spPr>
          <a:xfrm rot="0">
            <a:off x="10709621" y="7820673"/>
            <a:ext cx="7899850" cy="1014849"/>
          </a:xfrm>
          <a:prstGeom prst="rect">
            <a:avLst/>
          </a:prstGeom>
        </p:spPr>
        <p:txBody>
          <a:bodyPr anchor="t" rtlCol="false" tIns="0" lIns="0" bIns="0" rIns="0">
            <a:spAutoFit/>
          </a:bodyPr>
          <a:lstStyle/>
          <a:p>
            <a:pPr algn="l">
              <a:lnSpc>
                <a:spcPts val="2743"/>
              </a:lnSpc>
            </a:pPr>
            <a:r>
              <a:rPr lang="en-US" sz="1959">
                <a:solidFill>
                  <a:srgbClr val="101010"/>
                </a:solidFill>
                <a:latin typeface="Aileron"/>
                <a:ea typeface="Aileron"/>
                <a:cs typeface="Aileron"/>
                <a:sym typeface="Aileron"/>
              </a:rPr>
              <a:t>Data flows bidirectionally between the app and external entities, enabling comprehensive network quality monitoring through crowdsourced user experience data collection.</a:t>
            </a:r>
          </a:p>
        </p:txBody>
      </p:sp>
      <p:sp>
        <p:nvSpPr>
          <p:cNvPr name="TextBox 6" id="6"/>
          <p:cNvSpPr txBox="true"/>
          <p:nvPr/>
        </p:nvSpPr>
        <p:spPr>
          <a:xfrm rot="0">
            <a:off x="10388150" y="5682212"/>
            <a:ext cx="7899850" cy="302559"/>
          </a:xfrm>
          <a:prstGeom prst="rect">
            <a:avLst/>
          </a:prstGeom>
        </p:spPr>
        <p:txBody>
          <a:bodyPr anchor="t" rtlCol="false" tIns="0" lIns="0" bIns="0" rIns="0">
            <a:spAutoFit/>
          </a:bodyPr>
          <a:lstStyle/>
          <a:p>
            <a:pPr algn="just">
              <a:lnSpc>
                <a:spcPts val="2443"/>
              </a:lnSpc>
            </a:pPr>
            <a:r>
              <a:rPr lang="en-US" sz="1745" b="true">
                <a:solidFill>
                  <a:srgbClr val="101010"/>
                </a:solidFill>
                <a:latin typeface="Aileron Bold"/>
                <a:ea typeface="Aileron Bold"/>
                <a:cs typeface="Aileron Bold"/>
                <a:sym typeface="Aileron Bold"/>
              </a:rPr>
              <a:t>System boundary showing all actor interactions and data exchanges</a:t>
            </a:r>
          </a:p>
        </p:txBody>
      </p:sp>
      <p:grpSp>
        <p:nvGrpSpPr>
          <p:cNvPr name="Group 7" id="7"/>
          <p:cNvGrpSpPr/>
          <p:nvPr/>
        </p:nvGrpSpPr>
        <p:grpSpPr>
          <a:xfrm rot="0">
            <a:off x="3760713" y="1665795"/>
            <a:ext cx="3756273" cy="1524216"/>
            <a:chOff x="0" y="0"/>
            <a:chExt cx="989306" cy="401440"/>
          </a:xfrm>
        </p:grpSpPr>
        <p:sp>
          <p:nvSpPr>
            <p:cNvPr name="Freeform 8" id="8"/>
            <p:cNvSpPr/>
            <p:nvPr/>
          </p:nvSpPr>
          <p:spPr>
            <a:xfrm flipH="false" flipV="false" rot="0">
              <a:off x="0" y="0"/>
              <a:ext cx="989306" cy="401440"/>
            </a:xfrm>
            <a:custGeom>
              <a:avLst/>
              <a:gdLst/>
              <a:ahLst/>
              <a:cxnLst/>
              <a:rect r="r" b="b" t="t" l="l"/>
              <a:pathLst>
                <a:path h="401440" w="989306">
                  <a:moveTo>
                    <a:pt x="0" y="0"/>
                  </a:moveTo>
                  <a:lnTo>
                    <a:pt x="989306" y="0"/>
                  </a:lnTo>
                  <a:lnTo>
                    <a:pt x="989306" y="401440"/>
                  </a:lnTo>
                  <a:lnTo>
                    <a:pt x="0" y="401440"/>
                  </a:lnTo>
                  <a:close/>
                </a:path>
              </a:pathLst>
            </a:custGeom>
            <a:solidFill>
              <a:srgbClr val="101010"/>
            </a:solidFill>
          </p:spPr>
        </p:sp>
        <p:sp>
          <p:nvSpPr>
            <p:cNvPr name="TextBox 9" id="9"/>
            <p:cNvSpPr txBox="true"/>
            <p:nvPr/>
          </p:nvSpPr>
          <p:spPr>
            <a:xfrm>
              <a:off x="0" y="-38100"/>
              <a:ext cx="989306" cy="439540"/>
            </a:xfrm>
            <a:prstGeom prst="rect">
              <a:avLst/>
            </a:prstGeom>
          </p:spPr>
          <p:txBody>
            <a:bodyPr anchor="ctr" rtlCol="false" tIns="50800" lIns="50800" bIns="50800" rIns="50800"/>
            <a:lstStyle/>
            <a:p>
              <a:pPr algn="ctr">
                <a:lnSpc>
                  <a:spcPts val="2520"/>
                </a:lnSpc>
              </a:pPr>
            </a:p>
          </p:txBody>
        </p:sp>
      </p:grpSp>
      <p:grpSp>
        <p:nvGrpSpPr>
          <p:cNvPr name="Group 10" id="10"/>
          <p:cNvGrpSpPr/>
          <p:nvPr/>
        </p:nvGrpSpPr>
        <p:grpSpPr>
          <a:xfrm rot="0">
            <a:off x="4035192" y="1928812"/>
            <a:ext cx="14252808" cy="3554730"/>
            <a:chOff x="0" y="0"/>
            <a:chExt cx="19003744" cy="4739640"/>
          </a:xfrm>
        </p:grpSpPr>
        <p:pic>
          <p:nvPicPr>
            <p:cNvPr name="Picture 11" id="11"/>
            <p:cNvPicPr>
              <a:picLocks noChangeAspect="true"/>
            </p:cNvPicPr>
            <p:nvPr/>
          </p:nvPicPr>
          <p:blipFill>
            <a:blip r:embed="rId2"/>
            <a:srcRect l="0" t="31282" r="0" b="31282"/>
            <a:stretch>
              <a:fillRect/>
            </a:stretch>
          </p:blipFill>
          <p:spPr>
            <a:xfrm flipH="false" flipV="false">
              <a:off x="0" y="0"/>
              <a:ext cx="19003744" cy="4739640"/>
            </a:xfrm>
            <a:prstGeom prst="rect">
              <a:avLst/>
            </a:prstGeom>
          </p:spPr>
        </p:pic>
      </p:grpSp>
    </p:spTree>
  </p:cSld>
  <p:clrMapOvr>
    <a:masterClrMapping/>
  </p:clrMapOvr>
</p:sld>
</file>

<file path=ppt/slides/slide6.xml><?xml version="1.0" encoding="utf-8"?>
<p:sld xmlns:p="http://schemas.openxmlformats.org/presentationml/2006/main" xmlns:a="http://schemas.openxmlformats.org/drawingml/2006/main">
  <p:cSld>
    <p:bg>
      <p:bgPr>
        <a:solidFill>
          <a:srgbClr val="F4F4F4"/>
        </a:solidFill>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sp>
        <p:nvSpPr>
          <p:cNvPr name="TextBox 2" id="2"/>
          <p:cNvSpPr txBox="true"/>
          <p:nvPr/>
        </p:nvSpPr>
        <p:spPr>
          <a:xfrm rot="0">
            <a:off x="1028700" y="990600"/>
            <a:ext cx="3383553" cy="356235"/>
          </a:xfrm>
          <a:prstGeom prst="rect">
            <a:avLst/>
          </a:prstGeom>
        </p:spPr>
        <p:txBody>
          <a:bodyPr anchor="t" rtlCol="false" tIns="0" lIns="0" bIns="0" rIns="0">
            <a:spAutoFit/>
          </a:bodyPr>
          <a:lstStyle/>
          <a:p>
            <a:pPr algn="l">
              <a:lnSpc>
                <a:spcPts val="2939"/>
              </a:lnSpc>
            </a:pPr>
            <a:r>
              <a:rPr lang="en-US" sz="2099" b="true">
                <a:solidFill>
                  <a:srgbClr val="101010"/>
                </a:solidFill>
                <a:latin typeface="Montserrat Bold"/>
                <a:ea typeface="Montserrat Bold"/>
                <a:cs typeface="Montserrat Bold"/>
                <a:sym typeface="Montserrat Bold"/>
              </a:rPr>
              <a:t>DFD Level 1</a:t>
            </a:r>
          </a:p>
        </p:txBody>
      </p:sp>
      <p:sp>
        <p:nvSpPr>
          <p:cNvPr name="TextBox 3" id="3"/>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101010"/>
                </a:solidFill>
                <a:latin typeface="Aileron"/>
                <a:ea typeface="Aileron"/>
                <a:cs typeface="Aileron"/>
                <a:sym typeface="Aileron"/>
              </a:rPr>
              <a:t>09 May, 2026</a:t>
            </a:r>
          </a:p>
        </p:txBody>
      </p:sp>
      <p:sp>
        <p:nvSpPr>
          <p:cNvPr name="TextBox 4" id="4"/>
          <p:cNvSpPr txBox="true"/>
          <p:nvPr/>
        </p:nvSpPr>
        <p:spPr>
          <a:xfrm rot="0">
            <a:off x="1028700" y="5514975"/>
            <a:ext cx="8603976" cy="205930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Data Flow Diagram </a:t>
            </a:r>
          </a:p>
        </p:txBody>
      </p:sp>
      <p:sp>
        <p:nvSpPr>
          <p:cNvPr name="TextBox 5" id="5"/>
          <p:cNvSpPr txBox="true"/>
          <p:nvPr/>
        </p:nvSpPr>
        <p:spPr>
          <a:xfrm rot="0">
            <a:off x="9632676" y="5105400"/>
            <a:ext cx="7464136" cy="2718361"/>
          </a:xfrm>
          <a:prstGeom prst="rect">
            <a:avLst/>
          </a:prstGeom>
        </p:spPr>
        <p:txBody>
          <a:bodyPr anchor="t" rtlCol="false" tIns="0" lIns="0" bIns="0" rIns="0">
            <a:spAutoFit/>
          </a:bodyPr>
          <a:lstStyle/>
          <a:p>
            <a:pPr algn="just">
              <a:lnSpc>
                <a:spcPts val="3093"/>
              </a:lnSpc>
            </a:pPr>
          </a:p>
          <a:p>
            <a:pPr algn="just">
              <a:lnSpc>
                <a:spcPts val="3093"/>
              </a:lnSpc>
            </a:pPr>
            <a:r>
              <a:rPr lang="en-US" b="true" sz="2209" spc="-44">
                <a:solidFill>
                  <a:srgbClr val="101010"/>
                </a:solidFill>
                <a:latin typeface="Aileron Bold"/>
                <a:ea typeface="Aileron Bold"/>
                <a:cs typeface="Aileron Bold"/>
                <a:sym typeface="Aileron Bold"/>
              </a:rPr>
              <a:t>Data flows through Loca</a:t>
            </a:r>
            <a:r>
              <a:rPr lang="en-US" b="true" sz="2209" spc="-44">
                <a:solidFill>
                  <a:srgbClr val="101010"/>
                </a:solidFill>
                <a:latin typeface="Aileron Bold"/>
                <a:ea typeface="Aileron Bold"/>
                <a:cs typeface="Aileron Bold"/>
                <a:sym typeface="Aileron Bold"/>
              </a:rPr>
              <a:t>l Storage for offline caching, then to the Sync Manager which coordinates uploads. The Cloud Uploader transmits anonymized data to the backend, while Map &amp; Reporting processes generate analytics outputs.</a:t>
            </a:r>
          </a:p>
          <a:p>
            <a:pPr algn="just">
              <a:lnSpc>
                <a:spcPts val="3093"/>
              </a:lnSpc>
            </a:pPr>
          </a:p>
        </p:txBody>
      </p:sp>
      <p:sp>
        <p:nvSpPr>
          <p:cNvPr name="TextBox 6" id="6"/>
          <p:cNvSpPr txBox="true"/>
          <p:nvPr/>
        </p:nvSpPr>
        <p:spPr>
          <a:xfrm rot="0">
            <a:off x="9515153" y="1976653"/>
            <a:ext cx="7835289" cy="2040459"/>
          </a:xfrm>
          <a:prstGeom prst="rect">
            <a:avLst/>
          </a:prstGeom>
        </p:spPr>
        <p:txBody>
          <a:bodyPr anchor="t" rtlCol="false" tIns="0" lIns="0" bIns="0" rIns="0">
            <a:spAutoFit/>
          </a:bodyPr>
          <a:lstStyle/>
          <a:p>
            <a:pPr algn="just">
              <a:lnSpc>
                <a:spcPts val="3247"/>
              </a:lnSpc>
            </a:pPr>
            <a:r>
              <a:rPr lang="en-US" b="true" sz="2319" spc="-46">
                <a:solidFill>
                  <a:srgbClr val="101010"/>
                </a:solidFill>
                <a:latin typeface="Aileron Bold"/>
                <a:ea typeface="Aileron Bold"/>
                <a:cs typeface="Aileron Bold"/>
                <a:sym typeface="Aileron Bold"/>
              </a:rPr>
              <a:t>The Level 1 DFD illustrates the primary processes and data movements within the mobile app system. Key processes include the Data Collection Service gathering network metrics, the Trigger &amp; Prompt Engine detecting quality issues, and User Feedback Capture recording ratings.</a:t>
            </a:r>
          </a:p>
        </p:txBody>
      </p:sp>
      <p:grpSp>
        <p:nvGrpSpPr>
          <p:cNvPr name="Group 7" id="7"/>
          <p:cNvGrpSpPr/>
          <p:nvPr/>
        </p:nvGrpSpPr>
        <p:grpSpPr>
          <a:xfrm rot="0">
            <a:off x="1028700" y="1928812"/>
            <a:ext cx="6429375" cy="2710577"/>
            <a:chOff x="0" y="0"/>
            <a:chExt cx="812800" cy="342670"/>
          </a:xfrm>
        </p:grpSpPr>
        <p:sp>
          <p:nvSpPr>
            <p:cNvPr name="Freeform 8" id="8"/>
            <p:cNvSpPr/>
            <p:nvPr/>
          </p:nvSpPr>
          <p:spPr>
            <a:xfrm flipH="false" flipV="false" rot="0">
              <a:off x="0" y="0"/>
              <a:ext cx="812800" cy="342670"/>
            </a:xfrm>
            <a:custGeom>
              <a:avLst/>
              <a:gdLst/>
              <a:ahLst/>
              <a:cxnLst/>
              <a:rect r="r" b="b" t="t" l="l"/>
              <a:pathLst>
                <a:path h="342670" w="812800">
                  <a:moveTo>
                    <a:pt x="0" y="0"/>
                  </a:moveTo>
                  <a:lnTo>
                    <a:pt x="812800" y="0"/>
                  </a:lnTo>
                  <a:lnTo>
                    <a:pt x="812800" y="342670"/>
                  </a:lnTo>
                  <a:lnTo>
                    <a:pt x="0" y="342670"/>
                  </a:lnTo>
                  <a:close/>
                </a:path>
              </a:pathLst>
            </a:custGeom>
            <a:blipFill>
              <a:blip r:embed="rId2"/>
              <a:stretch>
                <a:fillRect l="0" t="-29015" r="0" b="-29015"/>
              </a:stretch>
            </a:blipFill>
          </p:spPr>
        </p:sp>
      </p:grpSp>
    </p:spTree>
  </p:cSld>
  <p:clrMapOvr>
    <a:masterClrMapping/>
  </p:clrMapOvr>
</p:sld>
</file>

<file path=ppt/slides/slide8.xml><?xml version="1.0" encoding="utf-8"?>
<p:sld xmlns:p="http://schemas.openxmlformats.org/presentationml/2006/main" xmlns:a="http://schemas.openxmlformats.org/drawingml/2006/main">
  <p:cSld>
    <p:bg>
      <p:bgPr>
        <a:solidFill>
          <a:srgbClr val="F4F4F4"/>
        </a:solidFill>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sp>
        <p:nvSpPr>
          <p:cNvPr name="TextBox 2" id="2"/>
          <p:cNvSpPr txBox="true"/>
          <p:nvPr/>
        </p:nvSpPr>
        <p:spPr>
          <a:xfrm rot="0">
            <a:off x="4842012" y="3776879"/>
            <a:ext cx="8603976" cy="2059305"/>
          </a:xfrm>
          <a:prstGeom prst="rect">
            <a:avLst/>
          </a:prstGeom>
        </p:spPr>
        <p:txBody>
          <a:bodyPr anchor="t" rtlCol="false" tIns="0" lIns="0" bIns="0" rIns="0">
            <a:spAutoFit/>
          </a:bodyPr>
          <a:lstStyle/>
          <a:p>
            <a:pPr algn="ctr">
              <a:lnSpc>
                <a:spcPts val="7680"/>
              </a:lnSpc>
            </a:pPr>
            <a:r>
              <a:rPr lang="en-US" b="true" sz="9600" spc="-403">
                <a:solidFill>
                  <a:srgbClr val="101010"/>
                </a:solidFill>
                <a:latin typeface="Montserrat Bold"/>
                <a:ea typeface="Montserrat Bold"/>
                <a:cs typeface="Montserrat Bold"/>
                <a:sym typeface="Montserrat Bold"/>
              </a:rPr>
              <a:t>Use Case Diagram</a:t>
            </a:r>
          </a:p>
        </p:txBody>
      </p:sp>
      <p:grpSp>
        <p:nvGrpSpPr>
          <p:cNvPr name="Group 3" id="3"/>
          <p:cNvGrpSpPr/>
          <p:nvPr/>
        </p:nvGrpSpPr>
        <p:grpSpPr>
          <a:xfrm rot="0">
            <a:off x="0" y="1928812"/>
            <a:ext cx="6042099" cy="3214688"/>
            <a:chOff x="0" y="0"/>
            <a:chExt cx="763841" cy="406400"/>
          </a:xfrm>
        </p:grpSpPr>
        <p:sp>
          <p:nvSpPr>
            <p:cNvPr name="Freeform 4" id="4"/>
            <p:cNvSpPr/>
            <p:nvPr/>
          </p:nvSpPr>
          <p:spPr>
            <a:xfrm flipH="false" flipV="false" rot="0">
              <a:off x="0" y="0"/>
              <a:ext cx="763841" cy="406400"/>
            </a:xfrm>
            <a:custGeom>
              <a:avLst/>
              <a:gdLst/>
              <a:ahLst/>
              <a:cxnLst/>
              <a:rect r="r" b="b" t="t" l="l"/>
              <a:pathLst>
                <a:path h="406400" w="763841">
                  <a:moveTo>
                    <a:pt x="0" y="0"/>
                  </a:moveTo>
                  <a:lnTo>
                    <a:pt x="763841" y="0"/>
                  </a:lnTo>
                  <a:lnTo>
                    <a:pt x="763841" y="406400"/>
                  </a:lnTo>
                  <a:lnTo>
                    <a:pt x="0" y="406400"/>
                  </a:lnTo>
                  <a:close/>
                </a:path>
              </a:pathLst>
            </a:custGeom>
            <a:blipFill>
              <a:blip r:embed="rId2"/>
              <a:stretch>
                <a:fillRect l="0" t="-12611" r="0" b="-12611"/>
              </a:stretch>
            </a:blipFill>
          </p:spPr>
        </p:sp>
      </p:grpSp>
      <p:grpSp>
        <p:nvGrpSpPr>
          <p:cNvPr name="Group 5" id="5"/>
          <p:cNvGrpSpPr/>
          <p:nvPr/>
        </p:nvGrpSpPr>
        <p:grpSpPr>
          <a:xfrm rot="0">
            <a:off x="14549025" y="6065324"/>
            <a:ext cx="3738975" cy="2292863"/>
            <a:chOff x="0" y="0"/>
            <a:chExt cx="4985300" cy="3057151"/>
          </a:xfrm>
        </p:grpSpPr>
        <p:pic>
          <p:nvPicPr>
            <p:cNvPr name="Picture 6" id="6"/>
            <p:cNvPicPr>
              <a:picLocks noChangeAspect="true"/>
            </p:cNvPicPr>
            <p:nvPr/>
          </p:nvPicPr>
          <p:blipFill>
            <a:blip r:embed="rId3"/>
            <a:srcRect l="0" t="9117" r="0" b="9117"/>
            <a:stretch>
              <a:fillRect/>
            </a:stretch>
          </p:blipFill>
          <p:spPr>
            <a:xfrm flipH="false" flipV="false">
              <a:off x="0" y="0"/>
              <a:ext cx="4985300" cy="3057151"/>
            </a:xfrm>
            <a:prstGeom prst="rect">
              <a:avLst/>
            </a:prstGeom>
          </p:spPr>
        </p:pic>
      </p:grpSp>
      <p:sp>
        <p:nvSpPr>
          <p:cNvPr name="Freeform 7" id="7"/>
          <p:cNvSpPr/>
          <p:nvPr/>
        </p:nvSpPr>
        <p:spPr>
          <a:xfrm flipH="false" flipV="false" rot="0">
            <a:off x="8510030" y="6295828"/>
            <a:ext cx="3504256" cy="2803405"/>
          </a:xfrm>
          <a:custGeom>
            <a:avLst/>
            <a:gdLst/>
            <a:ahLst/>
            <a:cxnLst/>
            <a:rect r="r" b="b" t="t" l="l"/>
            <a:pathLst>
              <a:path h="2803405" w="3504256">
                <a:moveTo>
                  <a:pt x="0" y="0"/>
                </a:moveTo>
                <a:lnTo>
                  <a:pt x="3504256" y="0"/>
                </a:lnTo>
                <a:lnTo>
                  <a:pt x="3504256" y="2803404"/>
                </a:lnTo>
                <a:lnTo>
                  <a:pt x="0" y="2803404"/>
                </a:lnTo>
                <a:lnTo>
                  <a:pt x="0" y="0"/>
                </a:lnTo>
                <a:close/>
              </a:path>
            </a:pathLst>
          </a:custGeom>
          <a:blipFill>
            <a:blip r:embed="rId4"/>
            <a:stretch>
              <a:fillRect l="0" t="0" r="0" b="0"/>
            </a:stretch>
          </a:blipFill>
        </p:spPr>
      </p:sp>
      <p:sp>
        <p:nvSpPr>
          <p:cNvPr name="TextBox 8" id="8"/>
          <p:cNvSpPr txBox="true"/>
          <p:nvPr/>
        </p:nvSpPr>
        <p:spPr>
          <a:xfrm rot="0">
            <a:off x="1028700" y="990600"/>
            <a:ext cx="3383553" cy="356235"/>
          </a:xfrm>
          <a:prstGeom prst="rect">
            <a:avLst/>
          </a:prstGeom>
        </p:spPr>
        <p:txBody>
          <a:bodyPr anchor="t" rtlCol="false" tIns="0" lIns="0" bIns="0" rIns="0">
            <a:spAutoFit/>
          </a:bodyPr>
          <a:lstStyle/>
          <a:p>
            <a:pPr algn="l">
              <a:lnSpc>
                <a:spcPts val="2939"/>
              </a:lnSpc>
            </a:pPr>
            <a:r>
              <a:rPr lang="en-US" sz="2099" b="true">
                <a:solidFill>
                  <a:srgbClr val="101010"/>
                </a:solidFill>
                <a:latin typeface="Montserrat Bold"/>
                <a:ea typeface="Montserrat Bold"/>
                <a:cs typeface="Montserrat Bold"/>
                <a:sym typeface="Montserrat Bold"/>
              </a:rPr>
              <a:t>Users</a:t>
            </a:r>
          </a:p>
        </p:txBody>
      </p:sp>
      <p:sp>
        <p:nvSpPr>
          <p:cNvPr name="TextBox 9" id="9"/>
          <p:cNvSpPr txBox="true"/>
          <p:nvPr/>
        </p:nvSpPr>
        <p:spPr>
          <a:xfrm rot="0">
            <a:off x="15712380" y="8792527"/>
            <a:ext cx="2003078" cy="306705"/>
          </a:xfrm>
          <a:prstGeom prst="rect">
            <a:avLst/>
          </a:prstGeom>
        </p:spPr>
        <p:txBody>
          <a:bodyPr anchor="t" rtlCol="false" tIns="0" lIns="0" bIns="0" rIns="0">
            <a:spAutoFit/>
          </a:bodyPr>
          <a:lstStyle/>
          <a:p>
            <a:pPr algn="l">
              <a:lnSpc>
                <a:spcPts val="2520"/>
              </a:lnSpc>
            </a:pPr>
            <a:r>
              <a:rPr lang="en-US" sz="1800">
                <a:solidFill>
                  <a:srgbClr val="101010"/>
                </a:solidFill>
                <a:latin typeface="Aileron"/>
                <a:ea typeface="Aileron"/>
                <a:cs typeface="Aileron"/>
                <a:sym typeface="Aileron"/>
              </a:rPr>
              <a:t>System interactions</a:t>
            </a:r>
          </a:p>
        </p:txBody>
      </p:sp>
      <p:sp>
        <p:nvSpPr>
          <p:cNvPr name="TextBox 10" id="10"/>
          <p:cNvSpPr txBox="true"/>
          <p:nvPr/>
        </p:nvSpPr>
        <p:spPr>
          <a:xfrm rot="0">
            <a:off x="4842012" y="6128055"/>
            <a:ext cx="8428089" cy="382066"/>
          </a:xfrm>
          <a:prstGeom prst="rect">
            <a:avLst/>
          </a:prstGeom>
        </p:spPr>
        <p:txBody>
          <a:bodyPr anchor="t" rtlCol="false" tIns="0" lIns="0" bIns="0" rIns="0">
            <a:spAutoFit/>
          </a:bodyPr>
          <a:lstStyle/>
          <a:p>
            <a:pPr algn="ctr">
              <a:lnSpc>
                <a:spcPts val="3002"/>
              </a:lnSpc>
            </a:pPr>
            <a:r>
              <a:rPr lang="en-US" sz="2144">
                <a:solidFill>
                  <a:srgbClr val="101010"/>
                </a:solidFill>
                <a:latin typeface="Aileron"/>
                <a:ea typeface="Aileron"/>
                <a:cs typeface="Aileron"/>
                <a:sym typeface="Aileron"/>
              </a:rPr>
              <a:t>Actors and use cases mapped to system interactions</a:t>
            </a:r>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F4F4F4"/>
        </a:solidFill>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grpSp>
        <p:nvGrpSpPr>
          <p:cNvPr name="Group 2" id="2"/>
          <p:cNvGrpSpPr/>
          <p:nvPr/>
        </p:nvGrpSpPr>
        <p:grpSpPr>
          <a:xfrm rot="0">
            <a:off x="8285609" y="1928813"/>
            <a:ext cx="8973691" cy="6429375"/>
            <a:chOff x="0" y="0"/>
            <a:chExt cx="1134452" cy="812800"/>
          </a:xfrm>
        </p:grpSpPr>
        <p:sp>
          <p:nvSpPr>
            <p:cNvPr name="Freeform 3" id="3"/>
            <p:cNvSpPr/>
            <p:nvPr/>
          </p:nvSpPr>
          <p:spPr>
            <a:xfrm flipH="false" flipV="false" rot="0">
              <a:off x="0" y="0"/>
              <a:ext cx="1134452" cy="812800"/>
            </a:xfrm>
            <a:custGeom>
              <a:avLst/>
              <a:gdLst/>
              <a:ahLst/>
              <a:cxnLst/>
              <a:rect r="r" b="b" t="t" l="l"/>
              <a:pathLst>
                <a:path h="812800" w="1134452">
                  <a:moveTo>
                    <a:pt x="0" y="0"/>
                  </a:moveTo>
                  <a:lnTo>
                    <a:pt x="1134452" y="0"/>
                  </a:lnTo>
                  <a:lnTo>
                    <a:pt x="1134452" y="812800"/>
                  </a:lnTo>
                  <a:lnTo>
                    <a:pt x="0" y="812800"/>
                  </a:lnTo>
                  <a:close/>
                </a:path>
              </a:pathLst>
            </a:custGeom>
            <a:blipFill>
              <a:blip r:embed="rId2"/>
              <a:stretch>
                <a:fillRect l="-3768" t="0" r="-3768" b="0"/>
              </a:stretch>
            </a:blipFill>
          </p:spPr>
        </p:sp>
      </p:grpSp>
      <p:grpSp>
        <p:nvGrpSpPr>
          <p:cNvPr name="Group 4" id="4"/>
          <p:cNvGrpSpPr/>
          <p:nvPr/>
        </p:nvGrpSpPr>
        <p:grpSpPr>
          <a:xfrm rot="0">
            <a:off x="14044612" y="1928813"/>
            <a:ext cx="6429375" cy="6429375"/>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50093" t="0" r="0" b="0"/>
              </a:stretch>
            </a:blipFill>
          </p:spPr>
        </p:sp>
      </p:grpSp>
      <p:sp>
        <p:nvSpPr>
          <p:cNvPr name="TextBox 6" id="6"/>
          <p:cNvSpPr txBox="true"/>
          <p:nvPr/>
        </p:nvSpPr>
        <p:spPr>
          <a:xfrm rot="0">
            <a:off x="8201094" y="1415891"/>
            <a:ext cx="9058206" cy="356235"/>
          </a:xfrm>
          <a:prstGeom prst="rect">
            <a:avLst/>
          </a:prstGeom>
        </p:spPr>
        <p:txBody>
          <a:bodyPr anchor="t" rtlCol="false" tIns="0" lIns="0" bIns="0" rIns="0">
            <a:spAutoFit/>
          </a:bodyPr>
          <a:lstStyle/>
          <a:p>
            <a:pPr algn="l">
              <a:lnSpc>
                <a:spcPts val="2939"/>
              </a:lnSpc>
            </a:pPr>
            <a:r>
              <a:rPr lang="en-US" sz="2099" b="true">
                <a:solidFill>
                  <a:srgbClr val="101010"/>
                </a:solidFill>
                <a:latin typeface="Montserrat Bold"/>
                <a:ea typeface="Montserrat Bold"/>
                <a:cs typeface="Montserrat Bold"/>
                <a:sym typeface="Montserrat Bold"/>
              </a:rPr>
              <a:t>Scenario: Slow internet detected and user feedback collected</a:t>
            </a:r>
          </a:p>
        </p:txBody>
      </p:sp>
      <p:sp>
        <p:nvSpPr>
          <p:cNvPr name="TextBox 7" id="7"/>
          <p:cNvSpPr txBox="true"/>
          <p:nvPr/>
        </p:nvSpPr>
        <p:spPr>
          <a:xfrm rot="0">
            <a:off x="385759" y="4167461"/>
            <a:ext cx="6544191" cy="2183991"/>
          </a:xfrm>
          <a:prstGeom prst="rect">
            <a:avLst/>
          </a:prstGeom>
        </p:spPr>
        <p:txBody>
          <a:bodyPr anchor="t" rtlCol="false" tIns="0" lIns="0" bIns="0" rIns="0">
            <a:spAutoFit/>
          </a:bodyPr>
          <a:lstStyle/>
          <a:p>
            <a:pPr algn="l">
              <a:lnSpc>
                <a:spcPts val="3522"/>
              </a:lnSpc>
            </a:pPr>
            <a:r>
              <a:rPr lang="en-US" sz="2516">
                <a:solidFill>
                  <a:srgbClr val="101010"/>
                </a:solidFill>
                <a:latin typeface="Aileron"/>
                <a:ea typeface="Aileron"/>
                <a:cs typeface="Aileron"/>
                <a:sym typeface="Aileron"/>
              </a:rPr>
              <a:t>This sequence diagram illustrates the complete flow when slow internet is detected. The Background Service monitors network conditions and triggers the App UI to prompt the user for feedback.</a:t>
            </a:r>
          </a:p>
        </p:txBody>
      </p:sp>
      <p:sp>
        <p:nvSpPr>
          <p:cNvPr name="TextBox 8" id="8"/>
          <p:cNvSpPr txBox="true"/>
          <p:nvPr/>
        </p:nvSpPr>
        <p:spPr>
          <a:xfrm rot="0">
            <a:off x="385759" y="1825466"/>
            <a:ext cx="7560617" cy="205930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Sequence Diagram</a:t>
            </a:r>
          </a:p>
        </p:txBody>
      </p:sp>
      <p:sp>
        <p:nvSpPr>
          <p:cNvPr name="TextBox 9" id="9"/>
          <p:cNvSpPr txBox="true"/>
          <p:nvPr/>
        </p:nvSpPr>
        <p:spPr>
          <a:xfrm rot="0">
            <a:off x="385759" y="6674738"/>
            <a:ext cx="6544191" cy="2622141"/>
          </a:xfrm>
          <a:prstGeom prst="rect">
            <a:avLst/>
          </a:prstGeom>
        </p:spPr>
        <p:txBody>
          <a:bodyPr anchor="t" rtlCol="false" tIns="0" lIns="0" bIns="0" rIns="0">
            <a:spAutoFit/>
          </a:bodyPr>
          <a:lstStyle/>
          <a:p>
            <a:pPr algn="l">
              <a:lnSpc>
                <a:spcPts val="3522"/>
              </a:lnSpc>
            </a:pPr>
            <a:r>
              <a:rPr lang="en-US" sz="2516">
                <a:solidFill>
                  <a:srgbClr val="101010"/>
                </a:solidFill>
                <a:latin typeface="Aileron"/>
                <a:ea typeface="Aileron"/>
                <a:cs typeface="Aileron"/>
                <a:sym typeface="Aileron"/>
              </a:rPr>
              <a:t>The user rates their network experience, which is then stored in the Local DB. The Sync Manager coordinates with the Cloud API to upload the anonymized data when connectivity permits, ensuring no feedback is lost.</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grpSp>
        <p:nvGrpSpPr>
          <p:cNvPr name="Group 2" id="2"/>
          <p:cNvGrpSpPr/>
          <p:nvPr/>
        </p:nvGrpSpPr>
        <p:grpSpPr>
          <a:xfrm rot="0">
            <a:off x="0" y="1928813"/>
            <a:ext cx="10695769" cy="6429375"/>
            <a:chOff x="0" y="0"/>
            <a:chExt cx="1352156" cy="812800"/>
          </a:xfrm>
        </p:grpSpPr>
        <p:sp>
          <p:nvSpPr>
            <p:cNvPr name="Freeform 3" id="3"/>
            <p:cNvSpPr/>
            <p:nvPr/>
          </p:nvSpPr>
          <p:spPr>
            <a:xfrm flipH="false" flipV="false" rot="0">
              <a:off x="0" y="0"/>
              <a:ext cx="1352156" cy="812800"/>
            </a:xfrm>
            <a:custGeom>
              <a:avLst/>
              <a:gdLst/>
              <a:ahLst/>
              <a:cxnLst/>
              <a:rect r="r" b="b" t="t" l="l"/>
              <a:pathLst>
                <a:path h="812800" w="1352156">
                  <a:moveTo>
                    <a:pt x="0" y="0"/>
                  </a:moveTo>
                  <a:lnTo>
                    <a:pt x="1352156" y="0"/>
                  </a:lnTo>
                  <a:lnTo>
                    <a:pt x="1352156" y="812800"/>
                  </a:lnTo>
                  <a:lnTo>
                    <a:pt x="0" y="812800"/>
                  </a:lnTo>
                  <a:close/>
                </a:path>
              </a:pathLst>
            </a:custGeom>
            <a:blipFill>
              <a:blip r:embed="rId2"/>
              <a:stretch>
                <a:fillRect l="0" t="-7288" r="0" b="-7288"/>
              </a:stretch>
            </a:blipFill>
          </p:spPr>
        </p:sp>
      </p:grpSp>
      <p:sp>
        <p:nvSpPr>
          <p:cNvPr name="TextBox 4" id="4"/>
          <p:cNvSpPr txBox="true"/>
          <p:nvPr/>
        </p:nvSpPr>
        <p:spPr>
          <a:xfrm rot="0">
            <a:off x="1028700" y="990600"/>
            <a:ext cx="3383553" cy="356235"/>
          </a:xfrm>
          <a:prstGeom prst="rect">
            <a:avLst/>
          </a:prstGeom>
        </p:spPr>
        <p:txBody>
          <a:bodyPr anchor="t" rtlCol="false" tIns="0" lIns="0" bIns="0" rIns="0">
            <a:spAutoFit/>
          </a:bodyPr>
          <a:lstStyle/>
          <a:p>
            <a:pPr algn="l">
              <a:lnSpc>
                <a:spcPts val="2939"/>
              </a:lnSpc>
            </a:pPr>
            <a:r>
              <a:rPr lang="en-US" sz="2099" b="true">
                <a:solidFill>
                  <a:srgbClr val="101010"/>
                </a:solidFill>
                <a:latin typeface="Montserrat Bold"/>
                <a:ea typeface="Montserrat Bold"/>
                <a:cs typeface="Montserrat Bold"/>
                <a:sym typeface="Montserrat Bold"/>
              </a:rPr>
              <a:t>Class Diagram</a:t>
            </a:r>
          </a:p>
        </p:txBody>
      </p:sp>
      <p:sp>
        <p:nvSpPr>
          <p:cNvPr name="TextBox 5" id="5"/>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101010"/>
                </a:solidFill>
                <a:latin typeface="Aileron"/>
                <a:ea typeface="Aileron"/>
                <a:cs typeface="Aileron"/>
                <a:sym typeface="Aileron"/>
              </a:rPr>
              <a:t>09 May, 2026</a:t>
            </a:r>
          </a:p>
        </p:txBody>
      </p:sp>
      <p:sp>
        <p:nvSpPr>
          <p:cNvPr name="TextBox 6" id="6"/>
          <p:cNvSpPr txBox="true"/>
          <p:nvPr/>
        </p:nvSpPr>
        <p:spPr>
          <a:xfrm rot="0">
            <a:off x="11325771" y="6144360"/>
            <a:ext cx="5933529" cy="1108710"/>
          </a:xfrm>
          <a:prstGeom prst="rect">
            <a:avLst/>
          </a:prstGeom>
        </p:spPr>
        <p:txBody>
          <a:bodyPr anchor="t" rtlCol="false" tIns="0" lIns="0" bIns="0" rIns="0">
            <a:spAutoFit/>
          </a:bodyPr>
          <a:lstStyle/>
          <a:p>
            <a:pPr algn="l">
              <a:lnSpc>
                <a:spcPts val="2939"/>
              </a:lnSpc>
            </a:pPr>
            <a:r>
              <a:rPr lang="en-US" sz="2099">
                <a:solidFill>
                  <a:srgbClr val="101010"/>
                </a:solidFill>
                <a:latin typeface="Aileron"/>
                <a:ea typeface="Aileron"/>
                <a:cs typeface="Aileron"/>
                <a:sym typeface="Aileron"/>
              </a:rPr>
              <a:t>Key relationships include composition and aggregation patterns with defined multiplicities between users and use cases</a:t>
            </a:r>
          </a:p>
        </p:txBody>
      </p:sp>
      <p:sp>
        <p:nvSpPr>
          <p:cNvPr name="TextBox 7" id="7"/>
          <p:cNvSpPr txBox="true"/>
          <p:nvPr/>
        </p:nvSpPr>
        <p:spPr>
          <a:xfrm rot="0">
            <a:off x="11325771" y="3776879"/>
            <a:ext cx="6134966" cy="205930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Class Diagram</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grpSp>
        <p:nvGrpSpPr>
          <p:cNvPr name="Group 2" id="2"/>
          <p:cNvGrpSpPr/>
          <p:nvPr/>
        </p:nvGrpSpPr>
        <p:grpSpPr>
          <a:xfrm rot="0">
            <a:off x="169721" y="2115540"/>
            <a:ext cx="7953982" cy="4781249"/>
            <a:chOff x="0" y="0"/>
            <a:chExt cx="1352156" cy="812800"/>
          </a:xfrm>
        </p:grpSpPr>
        <p:sp>
          <p:nvSpPr>
            <p:cNvPr name="Freeform 3" id="3"/>
            <p:cNvSpPr/>
            <p:nvPr/>
          </p:nvSpPr>
          <p:spPr>
            <a:xfrm flipH="false" flipV="false" rot="0">
              <a:off x="0" y="0"/>
              <a:ext cx="1352156" cy="812800"/>
            </a:xfrm>
            <a:custGeom>
              <a:avLst/>
              <a:gdLst/>
              <a:ahLst/>
              <a:cxnLst/>
              <a:rect r="r" b="b" t="t" l="l"/>
              <a:pathLst>
                <a:path h="812800" w="1352156">
                  <a:moveTo>
                    <a:pt x="0" y="0"/>
                  </a:moveTo>
                  <a:lnTo>
                    <a:pt x="1352156" y="0"/>
                  </a:lnTo>
                  <a:lnTo>
                    <a:pt x="1352156" y="812800"/>
                  </a:lnTo>
                  <a:lnTo>
                    <a:pt x="0" y="812800"/>
                  </a:lnTo>
                  <a:close/>
                </a:path>
              </a:pathLst>
            </a:custGeom>
            <a:blipFill>
              <a:blip r:embed="rId2"/>
              <a:stretch>
                <a:fillRect l="-40054" t="0" r="-40054" b="0"/>
              </a:stretch>
            </a:blipFill>
          </p:spPr>
        </p:sp>
      </p:grpSp>
      <p:sp>
        <p:nvSpPr>
          <p:cNvPr name="TextBox 4" id="4"/>
          <p:cNvSpPr txBox="true"/>
          <p:nvPr/>
        </p:nvSpPr>
        <p:spPr>
          <a:xfrm rot="0">
            <a:off x="169721" y="900310"/>
            <a:ext cx="4242532" cy="446525"/>
          </a:xfrm>
          <a:prstGeom prst="rect">
            <a:avLst/>
          </a:prstGeom>
        </p:spPr>
        <p:txBody>
          <a:bodyPr anchor="t" rtlCol="false" tIns="0" lIns="0" bIns="0" rIns="0">
            <a:spAutoFit/>
          </a:bodyPr>
          <a:lstStyle/>
          <a:p>
            <a:pPr algn="l">
              <a:lnSpc>
                <a:spcPts val="3686"/>
              </a:lnSpc>
            </a:pPr>
            <a:r>
              <a:rPr lang="en-US" sz="2633" b="true">
                <a:solidFill>
                  <a:srgbClr val="101010"/>
                </a:solidFill>
                <a:latin typeface="Montserrat Bold"/>
                <a:ea typeface="Montserrat Bold"/>
                <a:cs typeface="Montserrat Bold"/>
                <a:sym typeface="Montserrat Bold"/>
              </a:rPr>
              <a:t>Class Diagram</a:t>
            </a:r>
          </a:p>
        </p:txBody>
      </p:sp>
      <p:sp>
        <p:nvSpPr>
          <p:cNvPr name="TextBox 5" id="5"/>
          <p:cNvSpPr txBox="true"/>
          <p:nvPr/>
        </p:nvSpPr>
        <p:spPr>
          <a:xfrm rot="0">
            <a:off x="8475858" y="1249680"/>
            <a:ext cx="8559811" cy="1989455"/>
          </a:xfrm>
          <a:prstGeom prst="rect">
            <a:avLst/>
          </a:prstGeom>
        </p:spPr>
        <p:txBody>
          <a:bodyPr anchor="t" rtlCol="false" tIns="0" lIns="0" bIns="0" rIns="0">
            <a:spAutoFit/>
          </a:bodyPr>
          <a:lstStyle/>
          <a:p>
            <a:pPr algn="l">
              <a:lnSpc>
                <a:spcPts val="3219"/>
              </a:lnSpc>
            </a:pPr>
            <a:r>
              <a:rPr lang="en-US" sz="2299">
                <a:solidFill>
                  <a:srgbClr val="101010"/>
                </a:solidFill>
                <a:latin typeface="Aileron"/>
                <a:ea typeface="Aileron"/>
                <a:cs typeface="Aileron"/>
                <a:sym typeface="Aileron"/>
              </a:rPr>
              <a:t>The UML class diagram illustrates the core system architecture with ten primary classes. UserSession manages authentication and session state, while NetworkFeedback and NetworkMetric capture user ratings and passive network measurements respectively.</a:t>
            </a:r>
          </a:p>
        </p:txBody>
      </p:sp>
      <p:sp>
        <p:nvSpPr>
          <p:cNvPr name="TextBox 6" id="6"/>
          <p:cNvSpPr txBox="true"/>
          <p:nvPr/>
        </p:nvSpPr>
        <p:spPr>
          <a:xfrm rot="0">
            <a:off x="8475858" y="3640440"/>
            <a:ext cx="9211240" cy="2174875"/>
          </a:xfrm>
          <a:prstGeom prst="rect">
            <a:avLst/>
          </a:prstGeom>
        </p:spPr>
        <p:txBody>
          <a:bodyPr anchor="t" rtlCol="false" tIns="0" lIns="0" bIns="0" rIns="0">
            <a:spAutoFit/>
          </a:bodyPr>
          <a:lstStyle/>
          <a:p>
            <a:pPr algn="l">
              <a:lnSpc>
                <a:spcPts val="3499"/>
              </a:lnSpc>
            </a:pPr>
            <a:r>
              <a:rPr lang="en-US" sz="2499">
                <a:solidFill>
                  <a:srgbClr val="101010"/>
                </a:solidFill>
                <a:latin typeface="Aileron"/>
                <a:ea typeface="Aileron"/>
                <a:cs typeface="Aileron"/>
                <a:sym typeface="Aileron"/>
              </a:rPr>
              <a:t>LocationData handles GPS coordinates with privacy controls. DataCollectionService orchestrates background metric gathering, and SyncManager handles cloud synchronization with retry logic. RatingTriggerEngine determines when to prompt users for feedback based on network events.</a:t>
            </a:r>
          </a:p>
        </p:txBody>
      </p:sp>
      <p:sp>
        <p:nvSpPr>
          <p:cNvPr name="TextBox 7" id="7"/>
          <p:cNvSpPr txBox="true"/>
          <p:nvPr/>
        </p:nvSpPr>
        <p:spPr>
          <a:xfrm rot="0">
            <a:off x="8475858" y="6224891"/>
            <a:ext cx="8783442" cy="1099185"/>
          </a:xfrm>
          <a:prstGeom prst="rect">
            <a:avLst/>
          </a:prstGeom>
        </p:spPr>
        <p:txBody>
          <a:bodyPr anchor="t" rtlCol="false" tIns="0" lIns="0" bIns="0" rIns="0">
            <a:spAutoFit/>
          </a:bodyPr>
          <a:lstStyle/>
          <a:p>
            <a:pPr algn="l">
              <a:lnSpc>
                <a:spcPts val="2939"/>
              </a:lnSpc>
              <a:spcBef>
                <a:spcPct val="0"/>
              </a:spcBef>
            </a:pPr>
            <a:r>
              <a:rPr lang="en-US" b="true" sz="2099">
                <a:solidFill>
                  <a:srgbClr val="101010"/>
                </a:solidFill>
                <a:latin typeface="Montserrat Bold"/>
                <a:ea typeface="Montserrat Bold"/>
                <a:cs typeface="Montserrat Bold"/>
                <a:sym typeface="Montserrat Bold"/>
              </a:rPr>
              <a:t>Aggregated Tile and HeatMapRenderer work together for visualization, while FeedbackActivity provides the user interface for rating submissio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sp>
        <p:nvSpPr>
          <p:cNvPr name="Freeform 2" id="2"/>
          <p:cNvSpPr/>
          <p:nvPr/>
        </p:nvSpPr>
        <p:spPr>
          <a:xfrm flipH="false" flipV="false" rot="0">
            <a:off x="307979" y="2077071"/>
            <a:ext cx="17672042" cy="5743414"/>
          </a:xfrm>
          <a:custGeom>
            <a:avLst/>
            <a:gdLst/>
            <a:ahLst/>
            <a:cxnLst/>
            <a:rect r="r" b="b" t="t" l="l"/>
            <a:pathLst>
              <a:path h="5743414" w="17672042">
                <a:moveTo>
                  <a:pt x="0" y="0"/>
                </a:moveTo>
                <a:lnTo>
                  <a:pt x="17672042" y="0"/>
                </a:lnTo>
                <a:lnTo>
                  <a:pt x="17672042" y="5743414"/>
                </a:lnTo>
                <a:lnTo>
                  <a:pt x="0" y="5743414"/>
                </a:lnTo>
                <a:lnTo>
                  <a:pt x="0" y="0"/>
                </a:lnTo>
                <a:close/>
              </a:path>
            </a:pathLst>
          </a:custGeom>
          <a:blipFill>
            <a:blip r:embed="rId2"/>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sp>
        <p:nvSpPr>
          <p:cNvPr name="Freeform 2" id="2"/>
          <p:cNvSpPr/>
          <p:nvPr/>
        </p:nvSpPr>
        <p:spPr>
          <a:xfrm flipH="false" flipV="false" rot="0">
            <a:off x="1546117" y="1814009"/>
            <a:ext cx="14794629" cy="5455520"/>
          </a:xfrm>
          <a:custGeom>
            <a:avLst/>
            <a:gdLst/>
            <a:ahLst/>
            <a:cxnLst/>
            <a:rect r="r" b="b" t="t" l="l"/>
            <a:pathLst>
              <a:path h="5455520" w="14794629">
                <a:moveTo>
                  <a:pt x="0" y="0"/>
                </a:moveTo>
                <a:lnTo>
                  <a:pt x="14794630" y="0"/>
                </a:lnTo>
                <a:lnTo>
                  <a:pt x="14794630" y="5455520"/>
                </a:lnTo>
                <a:lnTo>
                  <a:pt x="0" y="5455520"/>
                </a:lnTo>
                <a:lnTo>
                  <a:pt x="0" y="0"/>
                </a:lnTo>
                <a:close/>
              </a:path>
            </a:pathLst>
          </a:custGeom>
          <a:blipFill>
            <a:blip r:embed="rId2"/>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sp>
        <p:nvSpPr>
          <p:cNvPr name="Freeform 2" id="2"/>
          <p:cNvSpPr/>
          <p:nvPr/>
        </p:nvSpPr>
        <p:spPr>
          <a:xfrm flipH="false" flipV="false" rot="0">
            <a:off x="1065794" y="1772128"/>
            <a:ext cx="16193506" cy="5991597"/>
          </a:xfrm>
          <a:custGeom>
            <a:avLst/>
            <a:gdLst/>
            <a:ahLst/>
            <a:cxnLst/>
            <a:rect r="r" b="b" t="t" l="l"/>
            <a:pathLst>
              <a:path h="5991597" w="16193506">
                <a:moveTo>
                  <a:pt x="0" y="0"/>
                </a:moveTo>
                <a:lnTo>
                  <a:pt x="16193506" y="0"/>
                </a:lnTo>
                <a:lnTo>
                  <a:pt x="16193506" y="5991597"/>
                </a:lnTo>
                <a:lnTo>
                  <a:pt x="0" y="5991597"/>
                </a:lnTo>
                <a:lnTo>
                  <a:pt x="0" y="0"/>
                </a:lnTo>
                <a:close/>
              </a:path>
            </a:pathLst>
          </a:custGeom>
          <a:blipFill>
            <a:blip r:embed="rId2"/>
            <a:stretch>
              <a:fillRect l="0" t="0" r="0" b="0"/>
            </a:stretch>
          </a:blipFill>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sp>
        <p:nvSpPr>
          <p:cNvPr name="TextBox 2" id="2"/>
          <p:cNvSpPr txBox="true"/>
          <p:nvPr/>
        </p:nvSpPr>
        <p:spPr>
          <a:xfrm rot="0">
            <a:off x="1028700" y="7641926"/>
            <a:ext cx="5840397" cy="727710"/>
          </a:xfrm>
          <a:prstGeom prst="rect">
            <a:avLst/>
          </a:prstGeom>
        </p:spPr>
        <p:txBody>
          <a:bodyPr anchor="t" rtlCol="false" tIns="0" lIns="0" bIns="0" rIns="0">
            <a:spAutoFit/>
          </a:bodyPr>
          <a:lstStyle/>
          <a:p>
            <a:pPr algn="l">
              <a:lnSpc>
                <a:spcPts val="2939"/>
              </a:lnSpc>
            </a:pPr>
            <a:r>
              <a:rPr lang="en-US" sz="2099" b="true">
                <a:solidFill>
                  <a:srgbClr val="101010"/>
                </a:solidFill>
                <a:latin typeface="Montserrat Bold"/>
                <a:ea typeface="Montserrat Bold"/>
                <a:cs typeface="Montserrat Bold"/>
                <a:sym typeface="Montserrat Bold"/>
              </a:rPr>
              <a:t>Three-tier architecture ensuring scalability and reliability</a:t>
            </a:r>
          </a:p>
        </p:txBody>
      </p:sp>
      <p:sp>
        <p:nvSpPr>
          <p:cNvPr name="TextBox 3" id="3"/>
          <p:cNvSpPr txBox="true"/>
          <p:nvPr/>
        </p:nvSpPr>
        <p:spPr>
          <a:xfrm rot="0">
            <a:off x="1028700" y="5514975"/>
            <a:ext cx="8603976" cy="2059305"/>
          </a:xfrm>
          <a:prstGeom prst="rect">
            <a:avLst/>
          </a:prstGeom>
        </p:spPr>
        <p:txBody>
          <a:bodyPr anchor="t" rtlCol="false" tIns="0" lIns="0" bIns="0" rIns="0">
            <a:spAutoFit/>
          </a:bodyPr>
          <a:lstStyle/>
          <a:p>
            <a:pPr algn="l">
              <a:lnSpc>
                <a:spcPts val="7680"/>
              </a:lnSpc>
            </a:pPr>
            <a:r>
              <a:rPr lang="en-US" sz="9600" spc="-403" b="true">
                <a:solidFill>
                  <a:srgbClr val="101010"/>
                </a:solidFill>
                <a:latin typeface="Montserrat Bold"/>
                <a:ea typeface="Montserrat Bold"/>
                <a:cs typeface="Montserrat Bold"/>
                <a:sym typeface="Montserrat Bold"/>
              </a:rPr>
              <a:t>Deployment Diagram</a:t>
            </a:r>
          </a:p>
        </p:txBody>
      </p:sp>
      <p:sp>
        <p:nvSpPr>
          <p:cNvPr name="TextBox 4" id="4"/>
          <p:cNvSpPr txBox="true"/>
          <p:nvPr/>
        </p:nvSpPr>
        <p:spPr>
          <a:xfrm rot="0">
            <a:off x="9424011" y="5260362"/>
            <a:ext cx="7464136" cy="3109274"/>
          </a:xfrm>
          <a:prstGeom prst="rect">
            <a:avLst/>
          </a:prstGeom>
        </p:spPr>
        <p:txBody>
          <a:bodyPr anchor="t" rtlCol="false" tIns="0" lIns="0" bIns="0" rIns="0">
            <a:spAutoFit/>
          </a:bodyPr>
          <a:lstStyle/>
          <a:p>
            <a:pPr algn="just">
              <a:lnSpc>
                <a:spcPts val="3093"/>
              </a:lnSpc>
            </a:pPr>
          </a:p>
          <a:p>
            <a:pPr algn="just">
              <a:lnSpc>
                <a:spcPts val="3093"/>
              </a:lnSpc>
            </a:pPr>
          </a:p>
          <a:p>
            <a:pPr algn="just">
              <a:lnSpc>
                <a:spcPts val="3093"/>
              </a:lnSpc>
            </a:pPr>
            <a:r>
              <a:rPr lang="en-US" b="true" sz="2209" spc="-44">
                <a:solidFill>
                  <a:srgbClr val="101010"/>
                </a:solidFill>
                <a:latin typeface="Aileron Bold"/>
                <a:ea typeface="Aileron Bold"/>
                <a:cs typeface="Aileron Bold"/>
                <a:sym typeface="Aileron Bold"/>
              </a:rPr>
              <a:t>A</a:t>
            </a:r>
            <a:r>
              <a:rPr lang="en-US" b="true" sz="2209" spc="-44">
                <a:solidFill>
                  <a:srgbClr val="101010"/>
                </a:solidFill>
                <a:latin typeface="Aileron Bold"/>
                <a:ea typeface="Aileron Bold"/>
                <a:cs typeface="Aileron Bold"/>
                <a:sym typeface="Aileron Bold"/>
              </a:rPr>
              <a:t>DMIN</a:t>
            </a:r>
            <a:r>
              <a:rPr lang="en-US" b="true" sz="2209" spc="-44">
                <a:solidFill>
                  <a:srgbClr val="101010"/>
                </a:solidFill>
                <a:latin typeface="Aileron Bold"/>
                <a:ea typeface="Aileron Bold"/>
                <a:cs typeface="Aileron Bold"/>
                <a:sym typeface="Aileron Bold"/>
              </a:rPr>
              <a:t> SPACE provides a web-based analytics dashboard enabling telecom researchers and administrators to monitor collected data, view heatmaps, and generate reports. Communication links connect all deployment nodes through secure HTTPS protocols.</a:t>
            </a:r>
          </a:p>
          <a:p>
            <a:pPr algn="just">
              <a:lnSpc>
                <a:spcPts val="3093"/>
              </a:lnSpc>
            </a:pPr>
          </a:p>
        </p:txBody>
      </p:sp>
      <p:sp>
        <p:nvSpPr>
          <p:cNvPr name="TextBox 5" id="5"/>
          <p:cNvSpPr txBox="true"/>
          <p:nvPr/>
        </p:nvSpPr>
        <p:spPr>
          <a:xfrm rot="0">
            <a:off x="9424011" y="1616598"/>
            <a:ext cx="7835289" cy="3681864"/>
          </a:xfrm>
          <a:prstGeom prst="rect">
            <a:avLst/>
          </a:prstGeom>
        </p:spPr>
        <p:txBody>
          <a:bodyPr anchor="t" rtlCol="false" tIns="0" lIns="0" bIns="0" rIns="0">
            <a:spAutoFit/>
          </a:bodyPr>
          <a:lstStyle/>
          <a:p>
            <a:pPr algn="just">
              <a:lnSpc>
                <a:spcPts val="3247"/>
              </a:lnSpc>
            </a:pPr>
            <a:r>
              <a:rPr lang="en-US" b="true" sz="2319" spc="-46">
                <a:solidFill>
                  <a:srgbClr val="101010"/>
                </a:solidFill>
                <a:latin typeface="Aileron Bold"/>
                <a:ea typeface="Aileron Bold"/>
                <a:cs typeface="Aileron Bold"/>
                <a:sym typeface="Aileron Bold"/>
              </a:rPr>
              <a:t>The system deployment architecture spans three distinct spaces. USER SPACE contains the Android mobile device running the data collection app with local SQLite database for offline storage. CLOUD SPACE hosts the backend infrastructure including AWS/GCP servers, API Gateway for secure communication, PostgreSQL for centralized data storage, Redis cache for performance optimization, batch processor for data aggregation, and CloudFront CDN for content delivery.</a:t>
            </a:r>
          </a:p>
        </p:txBody>
      </p:sp>
      <p:grpSp>
        <p:nvGrpSpPr>
          <p:cNvPr name="Group 6" id="6"/>
          <p:cNvGrpSpPr/>
          <p:nvPr/>
        </p:nvGrpSpPr>
        <p:grpSpPr>
          <a:xfrm rot="0">
            <a:off x="1028700" y="1928812"/>
            <a:ext cx="6429375" cy="2710577"/>
            <a:chOff x="0" y="0"/>
            <a:chExt cx="812800" cy="342670"/>
          </a:xfrm>
        </p:grpSpPr>
        <p:sp>
          <p:nvSpPr>
            <p:cNvPr name="Freeform 7" id="7"/>
            <p:cNvSpPr/>
            <p:nvPr/>
          </p:nvSpPr>
          <p:spPr>
            <a:xfrm flipH="false" flipV="false" rot="0">
              <a:off x="0" y="0"/>
              <a:ext cx="812800" cy="342670"/>
            </a:xfrm>
            <a:custGeom>
              <a:avLst/>
              <a:gdLst/>
              <a:ahLst/>
              <a:cxnLst/>
              <a:rect r="r" b="b" t="t" l="l"/>
              <a:pathLst>
                <a:path h="342670" w="812800">
                  <a:moveTo>
                    <a:pt x="0" y="0"/>
                  </a:moveTo>
                  <a:lnTo>
                    <a:pt x="812800" y="0"/>
                  </a:lnTo>
                  <a:lnTo>
                    <a:pt x="812800" y="342670"/>
                  </a:lnTo>
                  <a:lnTo>
                    <a:pt x="0" y="342670"/>
                  </a:lnTo>
                  <a:close/>
                </a:path>
              </a:pathLst>
            </a:custGeom>
            <a:blipFill>
              <a:blip r:embed="rId2"/>
              <a:stretch>
                <a:fillRect l="0" t="-29015" r="0" b="-29015"/>
              </a:stretch>
            </a:blipFill>
          </p:spPr>
        </p:sp>
      </p:grpSp>
    </p:spTree>
  </p:cSld>
  <p:clrMapOvr>
    <a:masterClrMapping/>
  </p:clrMapOvr>
</p:sld>
</file>

<file path=ppt/slides/slide18.xml><?xml version="1.0" encoding="utf-8"?>
<p:sld xmlns:p="http://schemas.openxmlformats.org/presentationml/2006/main" xmlns:a="http://schemas.openxmlformats.org/drawingml/2006/main">
  <p:cSld>
    <p:bg>
      <p:bgPr>
        <a:solidFill>
          <a:srgbClr val="F4F4F4"/>
        </a:solidFill>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E5E5E5"/>
        </a:solidFill>
      </p:bgPr>
    </p:bg>
    <p:spTree>
      <p:nvGrpSpPr>
        <p:cNvPr id="1" name=""/>
        <p:cNvGrpSpPr/>
        <p:nvPr/>
      </p:nvGrpSpPr>
      <p:grpSpPr>
        <a:xfrm>
          <a:off x="0" y="0"/>
          <a:ext cx="0" cy="0"/>
          <a:chOff x="0" y="0"/>
          <a:chExt cx="0" cy="0"/>
        </a:xfrm>
      </p:grpSpPr>
      <p:sp>
        <p:nvSpPr>
          <p:cNvPr name="TextBox 2" id="2"/>
          <p:cNvSpPr txBox="true"/>
          <p:nvPr/>
        </p:nvSpPr>
        <p:spPr>
          <a:xfrm rot="0">
            <a:off x="783154" y="1317178"/>
            <a:ext cx="16721692" cy="1393080"/>
          </a:xfrm>
          <a:prstGeom prst="rect">
            <a:avLst/>
          </a:prstGeom>
        </p:spPr>
        <p:txBody>
          <a:bodyPr anchor="t" rtlCol="false" tIns="0" lIns="0" bIns="0" rIns="0">
            <a:spAutoFit/>
          </a:bodyPr>
          <a:lstStyle/>
          <a:p>
            <a:pPr algn="ctr" marL="0" indent="0" lvl="0">
              <a:lnSpc>
                <a:spcPts val="11346"/>
              </a:lnSpc>
              <a:spcBef>
                <a:spcPct val="0"/>
              </a:spcBef>
            </a:pPr>
            <a:r>
              <a:rPr lang="en-US" b="true" sz="8104">
                <a:solidFill>
                  <a:srgbClr val="1F5A4E"/>
                </a:solidFill>
                <a:latin typeface="Roboto Bold"/>
                <a:ea typeface="Roboto Bold"/>
                <a:cs typeface="Roboto Bold"/>
                <a:sym typeface="Roboto Bold"/>
              </a:rPr>
              <a:t>Technologies to be Used</a:t>
            </a:r>
          </a:p>
        </p:txBody>
      </p:sp>
      <p:sp>
        <p:nvSpPr>
          <p:cNvPr name="Freeform 3" id="3"/>
          <p:cNvSpPr/>
          <p:nvPr/>
        </p:nvSpPr>
        <p:spPr>
          <a:xfrm flipH="false" flipV="false" rot="-5400000">
            <a:off x="-2367246" y="700906"/>
            <a:ext cx="4389589" cy="2402303"/>
          </a:xfrm>
          <a:custGeom>
            <a:avLst/>
            <a:gdLst/>
            <a:ahLst/>
            <a:cxnLst/>
            <a:rect r="r" b="b" t="t" l="l"/>
            <a:pathLst>
              <a:path h="2402303" w="4389589">
                <a:moveTo>
                  <a:pt x="0" y="0"/>
                </a:moveTo>
                <a:lnTo>
                  <a:pt x="4389589" y="0"/>
                </a:lnTo>
                <a:lnTo>
                  <a:pt x="4389589" y="2402302"/>
                </a:lnTo>
                <a:lnTo>
                  <a:pt x="0" y="2402302"/>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845796" y="5527877"/>
            <a:ext cx="3086100" cy="3367240"/>
            <a:chOff x="0" y="0"/>
            <a:chExt cx="812800" cy="886845"/>
          </a:xfrm>
        </p:grpSpPr>
        <p:sp>
          <p:nvSpPr>
            <p:cNvPr name="Freeform 5" id="5"/>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6" id="6"/>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sp>
        <p:nvSpPr>
          <p:cNvPr name="Freeform 7" id="7"/>
          <p:cNvSpPr/>
          <p:nvPr/>
        </p:nvSpPr>
        <p:spPr>
          <a:xfrm flipH="false" flipV="false" rot="-10800000">
            <a:off x="13898411" y="9258300"/>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grpSp>
        <p:nvGrpSpPr>
          <p:cNvPr name="Group 8" id="8"/>
          <p:cNvGrpSpPr/>
          <p:nvPr/>
        </p:nvGrpSpPr>
        <p:grpSpPr>
          <a:xfrm rot="0">
            <a:off x="5681663" y="5527877"/>
            <a:ext cx="3086100" cy="3367240"/>
            <a:chOff x="0" y="0"/>
            <a:chExt cx="812800" cy="886845"/>
          </a:xfrm>
        </p:grpSpPr>
        <p:sp>
          <p:nvSpPr>
            <p:cNvPr name="Freeform 9" id="9"/>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0" id="10"/>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grpSp>
        <p:nvGrpSpPr>
          <p:cNvPr name="Group 11" id="11"/>
          <p:cNvGrpSpPr/>
          <p:nvPr/>
        </p:nvGrpSpPr>
        <p:grpSpPr>
          <a:xfrm rot="0">
            <a:off x="9517529" y="5527877"/>
            <a:ext cx="3086100" cy="3367240"/>
            <a:chOff x="0" y="0"/>
            <a:chExt cx="812800" cy="886845"/>
          </a:xfrm>
        </p:grpSpPr>
        <p:sp>
          <p:nvSpPr>
            <p:cNvPr name="Freeform 12" id="12"/>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3" id="13"/>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grpSp>
        <p:nvGrpSpPr>
          <p:cNvPr name="Group 14" id="14"/>
          <p:cNvGrpSpPr/>
          <p:nvPr/>
        </p:nvGrpSpPr>
        <p:grpSpPr>
          <a:xfrm rot="0">
            <a:off x="13356104" y="5527877"/>
            <a:ext cx="3086100" cy="3367240"/>
            <a:chOff x="0" y="0"/>
            <a:chExt cx="812800" cy="886845"/>
          </a:xfrm>
        </p:grpSpPr>
        <p:sp>
          <p:nvSpPr>
            <p:cNvPr name="Freeform 15" id="15"/>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6" id="16"/>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sp>
        <p:nvSpPr>
          <p:cNvPr name="Freeform 17" id="17"/>
          <p:cNvSpPr/>
          <p:nvPr/>
        </p:nvSpPr>
        <p:spPr>
          <a:xfrm flipH="false" flipV="false" rot="0">
            <a:off x="3082170" y="5766816"/>
            <a:ext cx="671393" cy="1195501"/>
          </a:xfrm>
          <a:custGeom>
            <a:avLst/>
            <a:gdLst/>
            <a:ahLst/>
            <a:cxnLst/>
            <a:rect r="r" b="b" t="t" l="l"/>
            <a:pathLst>
              <a:path h="1195501" w="671393">
                <a:moveTo>
                  <a:pt x="0" y="0"/>
                </a:moveTo>
                <a:lnTo>
                  <a:pt x="671393" y="0"/>
                </a:lnTo>
                <a:lnTo>
                  <a:pt x="671393" y="1195501"/>
                </a:lnTo>
                <a:lnTo>
                  <a:pt x="0" y="1195501"/>
                </a:lnTo>
                <a:lnTo>
                  <a:pt x="0" y="0"/>
                </a:lnTo>
                <a:close/>
              </a:path>
            </a:pathLst>
          </a:custGeom>
          <a:blipFill>
            <a:blip r:embed="rId4"/>
            <a:stretch>
              <a:fillRect l="0" t="0" r="0" b="0"/>
            </a:stretch>
          </a:blipFill>
        </p:spPr>
      </p:sp>
      <p:sp>
        <p:nvSpPr>
          <p:cNvPr name="Freeform 18" id="18"/>
          <p:cNvSpPr/>
          <p:nvPr/>
        </p:nvSpPr>
        <p:spPr>
          <a:xfrm flipH="false" flipV="false" rot="0">
            <a:off x="6850689" y="5951558"/>
            <a:ext cx="770130" cy="708134"/>
          </a:xfrm>
          <a:custGeom>
            <a:avLst/>
            <a:gdLst/>
            <a:ahLst/>
            <a:cxnLst/>
            <a:rect r="r" b="b" t="t" l="l"/>
            <a:pathLst>
              <a:path h="708134" w="770130">
                <a:moveTo>
                  <a:pt x="0" y="0"/>
                </a:moveTo>
                <a:lnTo>
                  <a:pt x="770131" y="0"/>
                </a:lnTo>
                <a:lnTo>
                  <a:pt x="770131" y="708134"/>
                </a:lnTo>
                <a:lnTo>
                  <a:pt x="0" y="708134"/>
                </a:lnTo>
                <a:lnTo>
                  <a:pt x="0" y="0"/>
                </a:lnTo>
                <a:close/>
              </a:path>
            </a:pathLst>
          </a:custGeom>
          <a:blipFill>
            <a:blip r:embed="rId5"/>
            <a:stretch>
              <a:fillRect l="0" t="0" r="0" b="0"/>
            </a:stretch>
          </a:blipFill>
        </p:spPr>
      </p:sp>
      <p:sp>
        <p:nvSpPr>
          <p:cNvPr name="Freeform 19" id="19"/>
          <p:cNvSpPr/>
          <p:nvPr/>
        </p:nvSpPr>
        <p:spPr>
          <a:xfrm flipH="false" flipV="false" rot="0">
            <a:off x="10757220" y="5919440"/>
            <a:ext cx="759579" cy="915346"/>
          </a:xfrm>
          <a:custGeom>
            <a:avLst/>
            <a:gdLst/>
            <a:ahLst/>
            <a:cxnLst/>
            <a:rect r="r" b="b" t="t" l="l"/>
            <a:pathLst>
              <a:path h="915346" w="759579">
                <a:moveTo>
                  <a:pt x="0" y="0"/>
                </a:moveTo>
                <a:lnTo>
                  <a:pt x="759579" y="0"/>
                </a:lnTo>
                <a:lnTo>
                  <a:pt x="759579" y="915346"/>
                </a:lnTo>
                <a:lnTo>
                  <a:pt x="0" y="915346"/>
                </a:lnTo>
                <a:lnTo>
                  <a:pt x="0" y="0"/>
                </a:lnTo>
                <a:close/>
              </a:path>
            </a:pathLst>
          </a:custGeom>
          <a:blipFill>
            <a:blip r:embed="rId6"/>
            <a:stretch>
              <a:fillRect l="0" t="0" r="0" b="0"/>
            </a:stretch>
          </a:blipFill>
        </p:spPr>
      </p:sp>
      <p:sp>
        <p:nvSpPr>
          <p:cNvPr name="Freeform 20" id="20"/>
          <p:cNvSpPr/>
          <p:nvPr/>
        </p:nvSpPr>
        <p:spPr>
          <a:xfrm flipH="false" flipV="false" rot="0">
            <a:off x="14247888" y="5852274"/>
            <a:ext cx="1283987" cy="898117"/>
          </a:xfrm>
          <a:custGeom>
            <a:avLst/>
            <a:gdLst/>
            <a:ahLst/>
            <a:cxnLst/>
            <a:rect r="r" b="b" t="t" l="l"/>
            <a:pathLst>
              <a:path h="898117" w="1283987">
                <a:moveTo>
                  <a:pt x="0" y="0"/>
                </a:moveTo>
                <a:lnTo>
                  <a:pt x="1283986" y="0"/>
                </a:lnTo>
                <a:lnTo>
                  <a:pt x="1283986" y="898116"/>
                </a:lnTo>
                <a:lnTo>
                  <a:pt x="0" y="898116"/>
                </a:lnTo>
                <a:lnTo>
                  <a:pt x="0" y="0"/>
                </a:lnTo>
                <a:close/>
              </a:path>
            </a:pathLst>
          </a:custGeom>
          <a:blipFill>
            <a:blip r:embed="rId7"/>
            <a:stretch>
              <a:fillRect l="0" t="0" r="0" b="0"/>
            </a:stretch>
          </a:blipFill>
        </p:spPr>
      </p:sp>
      <p:sp>
        <p:nvSpPr>
          <p:cNvPr name="TextBox 21" id="21"/>
          <p:cNvSpPr txBox="true"/>
          <p:nvPr/>
        </p:nvSpPr>
        <p:spPr>
          <a:xfrm rot="0">
            <a:off x="1472267" y="3205413"/>
            <a:ext cx="15343465" cy="1420113"/>
          </a:xfrm>
          <a:prstGeom prst="rect">
            <a:avLst/>
          </a:prstGeom>
        </p:spPr>
        <p:txBody>
          <a:bodyPr anchor="t" rtlCol="false" tIns="0" lIns="0" bIns="0" rIns="0">
            <a:spAutoFit/>
          </a:bodyPr>
          <a:lstStyle/>
          <a:p>
            <a:pPr algn="ctr" marL="0" indent="0" lvl="0">
              <a:lnSpc>
                <a:spcPts val="3892"/>
              </a:lnSpc>
            </a:pPr>
            <a:r>
              <a:rPr lang="en-US" sz="2162">
                <a:solidFill>
                  <a:srgbClr val="555555"/>
                </a:solidFill>
                <a:latin typeface="Roboto"/>
                <a:ea typeface="Roboto"/>
                <a:cs typeface="Roboto"/>
                <a:sym typeface="Roboto"/>
              </a:rPr>
              <a:t>Our mobile app leverages a modern, scalable technology stack designed for reliable data collection and seamless cloud synchronization. The architecture combines native Android development with robust backend services and enterprise-grade cloud infrastructure.</a:t>
            </a:r>
          </a:p>
        </p:txBody>
      </p:sp>
      <p:sp>
        <p:nvSpPr>
          <p:cNvPr name="TextBox 22" id="22"/>
          <p:cNvSpPr txBox="true"/>
          <p:nvPr/>
        </p:nvSpPr>
        <p:spPr>
          <a:xfrm rot="0">
            <a:off x="13721028" y="7091152"/>
            <a:ext cx="2384677" cy="740670"/>
          </a:xfrm>
          <a:prstGeom prst="rect">
            <a:avLst/>
          </a:prstGeom>
        </p:spPr>
        <p:txBody>
          <a:bodyPr anchor="t" rtlCol="false" tIns="0" lIns="0" bIns="0" rIns="0">
            <a:spAutoFit/>
          </a:bodyPr>
          <a:lstStyle/>
          <a:p>
            <a:pPr algn="ctr" marL="0" indent="0" lvl="0">
              <a:lnSpc>
                <a:spcPts val="3052"/>
              </a:lnSpc>
            </a:pPr>
            <a:r>
              <a:rPr lang="en-US" b="true" sz="1695">
                <a:solidFill>
                  <a:srgbClr val="E5E5E5"/>
                </a:solidFill>
                <a:latin typeface="Roboto Bold"/>
                <a:ea typeface="Roboto Bold"/>
                <a:cs typeface="Roboto Bold"/>
                <a:sym typeface="Roboto Bold"/>
              </a:rPr>
              <a:t>Railway Hosting</a:t>
            </a:r>
            <a:r>
              <a:rPr lang="en-US" b="true" sz="1695">
                <a:solidFill>
                  <a:srgbClr val="E5E5E5"/>
                </a:solidFill>
                <a:latin typeface="Roboto Bold"/>
                <a:ea typeface="Roboto Bold"/>
                <a:cs typeface="Roboto Bold"/>
                <a:sym typeface="Roboto Bold"/>
              </a:rPr>
              <a:t>, CloudFront CDN</a:t>
            </a:r>
          </a:p>
        </p:txBody>
      </p:sp>
      <p:sp>
        <p:nvSpPr>
          <p:cNvPr name="TextBox 23" id="23"/>
          <p:cNvSpPr txBox="true"/>
          <p:nvPr/>
        </p:nvSpPr>
        <p:spPr>
          <a:xfrm rot="0">
            <a:off x="9910762" y="7091152"/>
            <a:ext cx="2239196" cy="1123229"/>
          </a:xfrm>
          <a:prstGeom prst="rect">
            <a:avLst/>
          </a:prstGeom>
        </p:spPr>
        <p:txBody>
          <a:bodyPr anchor="t" rtlCol="false" tIns="0" lIns="0" bIns="0" rIns="0">
            <a:spAutoFit/>
          </a:bodyPr>
          <a:lstStyle/>
          <a:p>
            <a:pPr algn="ctr" marL="0" indent="0" lvl="0">
              <a:lnSpc>
                <a:spcPts val="3052"/>
              </a:lnSpc>
            </a:pPr>
            <a:r>
              <a:rPr lang="en-US" b="true" sz="1695">
                <a:solidFill>
                  <a:srgbClr val="E5E5E5"/>
                </a:solidFill>
                <a:latin typeface="Roboto Bold"/>
                <a:ea typeface="Roboto Bold"/>
                <a:cs typeface="Roboto Bold"/>
                <a:sym typeface="Roboto Bold"/>
              </a:rPr>
              <a:t>Cloudinary </a:t>
            </a:r>
            <a:r>
              <a:rPr lang="en-US" b="true" sz="1695">
                <a:solidFill>
                  <a:srgbClr val="E5E5E5"/>
                </a:solidFill>
                <a:latin typeface="Roboto Bold"/>
                <a:ea typeface="Roboto Bold"/>
                <a:cs typeface="Roboto Bold"/>
                <a:sym typeface="Roboto Bold"/>
              </a:rPr>
              <a:t>cloud storage, MongoDB and   local caching</a:t>
            </a:r>
          </a:p>
        </p:txBody>
      </p:sp>
      <p:sp>
        <p:nvSpPr>
          <p:cNvPr name="TextBox 24" id="24"/>
          <p:cNvSpPr txBox="true"/>
          <p:nvPr/>
        </p:nvSpPr>
        <p:spPr>
          <a:xfrm rot="0">
            <a:off x="6185154" y="7091152"/>
            <a:ext cx="2101372" cy="1123229"/>
          </a:xfrm>
          <a:prstGeom prst="rect">
            <a:avLst/>
          </a:prstGeom>
        </p:spPr>
        <p:txBody>
          <a:bodyPr anchor="t" rtlCol="false" tIns="0" lIns="0" bIns="0" rIns="0">
            <a:spAutoFit/>
          </a:bodyPr>
          <a:lstStyle/>
          <a:p>
            <a:pPr algn="ctr" marL="0" indent="0" lvl="0">
              <a:lnSpc>
                <a:spcPts val="3052"/>
              </a:lnSpc>
            </a:pPr>
            <a:r>
              <a:rPr lang="en-US" b="true" sz="1695">
                <a:solidFill>
                  <a:srgbClr val="E5E5E5"/>
                </a:solidFill>
                <a:latin typeface="Roboto Bold"/>
                <a:ea typeface="Roboto Bold"/>
                <a:cs typeface="Roboto Bold"/>
                <a:sym typeface="Roboto Bold"/>
              </a:rPr>
              <a:t>Node.js and Flask for RESTful API backend services</a:t>
            </a:r>
          </a:p>
        </p:txBody>
      </p:sp>
      <p:sp>
        <p:nvSpPr>
          <p:cNvPr name="TextBox 25" id="25"/>
          <p:cNvSpPr txBox="true"/>
          <p:nvPr/>
        </p:nvSpPr>
        <p:spPr>
          <a:xfrm rot="0">
            <a:off x="2116745" y="7106722"/>
            <a:ext cx="2602244" cy="1123229"/>
          </a:xfrm>
          <a:prstGeom prst="rect">
            <a:avLst/>
          </a:prstGeom>
        </p:spPr>
        <p:txBody>
          <a:bodyPr anchor="t" rtlCol="false" tIns="0" lIns="0" bIns="0" rIns="0">
            <a:spAutoFit/>
          </a:bodyPr>
          <a:lstStyle/>
          <a:p>
            <a:pPr algn="ctr" marL="0" indent="0" lvl="0">
              <a:lnSpc>
                <a:spcPts val="3052"/>
              </a:lnSpc>
            </a:pPr>
            <a:r>
              <a:rPr lang="en-US" b="true" sz="1695">
                <a:solidFill>
                  <a:srgbClr val="E5E5E5"/>
                </a:solidFill>
                <a:latin typeface="Roboto Bold"/>
                <a:ea typeface="Roboto Bold"/>
                <a:cs typeface="Roboto Bold"/>
                <a:sym typeface="Roboto Bold"/>
              </a:rPr>
              <a:t>react native with Expo</a:t>
            </a:r>
            <a:r>
              <a:rPr lang="en-US" b="true" sz="1695">
                <a:solidFill>
                  <a:srgbClr val="E5E5E5"/>
                </a:solidFill>
                <a:latin typeface="Roboto Bold"/>
                <a:ea typeface="Roboto Bold"/>
                <a:cs typeface="Roboto Bold"/>
                <a:sym typeface="Roboto Bold"/>
              </a:rPr>
              <a:t>, Kotlin, Java for native mobile development</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E5E5E5"/>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8000" cy="4271729"/>
            <a:chOff x="0" y="0"/>
            <a:chExt cx="2833290" cy="661803"/>
          </a:xfrm>
        </p:grpSpPr>
        <p:sp>
          <p:nvSpPr>
            <p:cNvPr name="Freeform 3" id="3"/>
            <p:cNvSpPr/>
            <p:nvPr/>
          </p:nvSpPr>
          <p:spPr>
            <a:xfrm flipH="false" flipV="false" rot="0">
              <a:off x="0" y="0"/>
              <a:ext cx="2833290" cy="661803"/>
            </a:xfrm>
            <a:custGeom>
              <a:avLst/>
              <a:gdLst/>
              <a:ahLst/>
              <a:cxnLst/>
              <a:rect r="r" b="b" t="t" l="l"/>
              <a:pathLst>
                <a:path h="661803" w="2833290">
                  <a:moveTo>
                    <a:pt x="0" y="0"/>
                  </a:moveTo>
                  <a:lnTo>
                    <a:pt x="2833290" y="0"/>
                  </a:lnTo>
                  <a:lnTo>
                    <a:pt x="2833290" y="661803"/>
                  </a:lnTo>
                  <a:lnTo>
                    <a:pt x="0" y="661803"/>
                  </a:lnTo>
                  <a:close/>
                </a:path>
              </a:pathLst>
            </a:custGeom>
            <a:blipFill>
              <a:blip r:embed="rId2"/>
              <a:stretch>
                <a:fillRect l="0" t="-72013" r="0" b="-72013"/>
              </a:stretch>
            </a:blipFill>
          </p:spPr>
        </p:sp>
      </p:grpSp>
      <p:sp>
        <p:nvSpPr>
          <p:cNvPr name="Freeform 4" id="4"/>
          <p:cNvSpPr/>
          <p:nvPr/>
        </p:nvSpPr>
        <p:spPr>
          <a:xfrm flipH="false" flipV="false" rot="0">
            <a:off x="-3360889" y="4281254"/>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3">
              <a:alphaModFix amt="64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10800000">
            <a:off x="17259300" y="7884697"/>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3">
              <a:alphaModFix amt="64000"/>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1571149" y="5482405"/>
            <a:ext cx="6995160" cy="3367240"/>
            <a:chOff x="0" y="0"/>
            <a:chExt cx="1842347" cy="886845"/>
          </a:xfrm>
        </p:grpSpPr>
        <p:sp>
          <p:nvSpPr>
            <p:cNvPr name="Freeform 7" id="7"/>
            <p:cNvSpPr/>
            <p:nvPr/>
          </p:nvSpPr>
          <p:spPr>
            <a:xfrm flipH="false" flipV="false" rot="0">
              <a:off x="0" y="0"/>
              <a:ext cx="1842347" cy="886845"/>
            </a:xfrm>
            <a:custGeom>
              <a:avLst/>
              <a:gdLst/>
              <a:ahLst/>
              <a:cxnLst/>
              <a:rect r="r" b="b" t="t" l="l"/>
              <a:pathLst>
                <a:path h="886845" w="1842347">
                  <a:moveTo>
                    <a:pt x="56444" y="0"/>
                  </a:moveTo>
                  <a:lnTo>
                    <a:pt x="1785902" y="0"/>
                  </a:lnTo>
                  <a:cubicBezTo>
                    <a:pt x="1800872" y="0"/>
                    <a:pt x="1815229" y="5947"/>
                    <a:pt x="1825815" y="16532"/>
                  </a:cubicBezTo>
                  <a:cubicBezTo>
                    <a:pt x="1836400" y="27118"/>
                    <a:pt x="1842347" y="41474"/>
                    <a:pt x="1842347" y="56444"/>
                  </a:cubicBezTo>
                  <a:lnTo>
                    <a:pt x="1842347" y="830401"/>
                  </a:lnTo>
                  <a:cubicBezTo>
                    <a:pt x="1842347" y="845371"/>
                    <a:pt x="1836400" y="859727"/>
                    <a:pt x="1825815" y="870313"/>
                  </a:cubicBezTo>
                  <a:cubicBezTo>
                    <a:pt x="1815229" y="880898"/>
                    <a:pt x="1800872" y="886845"/>
                    <a:pt x="1785902" y="886845"/>
                  </a:cubicBezTo>
                  <a:lnTo>
                    <a:pt x="56444" y="886845"/>
                  </a:lnTo>
                  <a:cubicBezTo>
                    <a:pt x="41474" y="886845"/>
                    <a:pt x="27118" y="880898"/>
                    <a:pt x="16532" y="870313"/>
                  </a:cubicBezTo>
                  <a:cubicBezTo>
                    <a:pt x="5947" y="859727"/>
                    <a:pt x="0" y="845371"/>
                    <a:pt x="0" y="830401"/>
                  </a:cubicBezTo>
                  <a:lnTo>
                    <a:pt x="0" y="56444"/>
                  </a:lnTo>
                  <a:cubicBezTo>
                    <a:pt x="0" y="41474"/>
                    <a:pt x="5947" y="27118"/>
                    <a:pt x="16532" y="16532"/>
                  </a:cubicBezTo>
                  <a:cubicBezTo>
                    <a:pt x="27118" y="5947"/>
                    <a:pt x="41474" y="0"/>
                    <a:pt x="56444" y="0"/>
                  </a:cubicBezTo>
                  <a:close/>
                </a:path>
              </a:pathLst>
            </a:custGeom>
            <a:solidFill>
              <a:srgbClr val="2E7D6B">
                <a:alpha val="75686"/>
              </a:srgbClr>
            </a:solidFill>
          </p:spPr>
        </p:sp>
        <p:sp>
          <p:nvSpPr>
            <p:cNvPr name="TextBox 8" id="8"/>
            <p:cNvSpPr txBox="true"/>
            <p:nvPr/>
          </p:nvSpPr>
          <p:spPr>
            <a:xfrm>
              <a:off x="0" y="-38100"/>
              <a:ext cx="1842347" cy="924945"/>
            </a:xfrm>
            <a:prstGeom prst="rect">
              <a:avLst/>
            </a:prstGeom>
          </p:spPr>
          <p:txBody>
            <a:bodyPr anchor="ctr" rtlCol="false" tIns="50800" lIns="50800" bIns="50800" rIns="50800"/>
            <a:lstStyle/>
            <a:p>
              <a:pPr algn="ctr" marL="0" indent="0" lvl="0">
                <a:lnSpc>
                  <a:spcPts val="2659"/>
                </a:lnSpc>
              </a:pPr>
            </a:p>
          </p:txBody>
        </p:sp>
      </p:grpSp>
      <p:grpSp>
        <p:nvGrpSpPr>
          <p:cNvPr name="Group 9" id="9"/>
          <p:cNvGrpSpPr/>
          <p:nvPr/>
        </p:nvGrpSpPr>
        <p:grpSpPr>
          <a:xfrm rot="0">
            <a:off x="7093816" y="4843358"/>
            <a:ext cx="1008070" cy="1008070"/>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A4E"/>
            </a:soli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pPr>
            </a:p>
          </p:txBody>
        </p:sp>
      </p:grpSp>
      <p:grpSp>
        <p:nvGrpSpPr>
          <p:cNvPr name="Group 12" id="12"/>
          <p:cNvGrpSpPr/>
          <p:nvPr/>
        </p:nvGrpSpPr>
        <p:grpSpPr>
          <a:xfrm rot="0">
            <a:off x="9721691" y="5482405"/>
            <a:ext cx="6995160" cy="3367240"/>
            <a:chOff x="0" y="0"/>
            <a:chExt cx="1842347" cy="886845"/>
          </a:xfrm>
        </p:grpSpPr>
        <p:sp>
          <p:nvSpPr>
            <p:cNvPr name="Freeform 13" id="13"/>
            <p:cNvSpPr/>
            <p:nvPr/>
          </p:nvSpPr>
          <p:spPr>
            <a:xfrm flipH="false" flipV="false" rot="0">
              <a:off x="0" y="0"/>
              <a:ext cx="1842347" cy="886845"/>
            </a:xfrm>
            <a:custGeom>
              <a:avLst/>
              <a:gdLst/>
              <a:ahLst/>
              <a:cxnLst/>
              <a:rect r="r" b="b" t="t" l="l"/>
              <a:pathLst>
                <a:path h="886845" w="1842347">
                  <a:moveTo>
                    <a:pt x="56444" y="0"/>
                  </a:moveTo>
                  <a:lnTo>
                    <a:pt x="1785902" y="0"/>
                  </a:lnTo>
                  <a:cubicBezTo>
                    <a:pt x="1800872" y="0"/>
                    <a:pt x="1815229" y="5947"/>
                    <a:pt x="1825815" y="16532"/>
                  </a:cubicBezTo>
                  <a:cubicBezTo>
                    <a:pt x="1836400" y="27118"/>
                    <a:pt x="1842347" y="41474"/>
                    <a:pt x="1842347" y="56444"/>
                  </a:cubicBezTo>
                  <a:lnTo>
                    <a:pt x="1842347" y="830401"/>
                  </a:lnTo>
                  <a:cubicBezTo>
                    <a:pt x="1842347" y="845371"/>
                    <a:pt x="1836400" y="859727"/>
                    <a:pt x="1825815" y="870313"/>
                  </a:cubicBezTo>
                  <a:cubicBezTo>
                    <a:pt x="1815229" y="880898"/>
                    <a:pt x="1800872" y="886845"/>
                    <a:pt x="1785902" y="886845"/>
                  </a:cubicBezTo>
                  <a:lnTo>
                    <a:pt x="56444" y="886845"/>
                  </a:lnTo>
                  <a:cubicBezTo>
                    <a:pt x="41474" y="886845"/>
                    <a:pt x="27118" y="880898"/>
                    <a:pt x="16532" y="870313"/>
                  </a:cubicBezTo>
                  <a:cubicBezTo>
                    <a:pt x="5947" y="859727"/>
                    <a:pt x="0" y="845371"/>
                    <a:pt x="0" y="830401"/>
                  </a:cubicBezTo>
                  <a:lnTo>
                    <a:pt x="0" y="56444"/>
                  </a:lnTo>
                  <a:cubicBezTo>
                    <a:pt x="0" y="41474"/>
                    <a:pt x="5947" y="27118"/>
                    <a:pt x="16532" y="16532"/>
                  </a:cubicBezTo>
                  <a:cubicBezTo>
                    <a:pt x="27118" y="5947"/>
                    <a:pt x="41474" y="0"/>
                    <a:pt x="56444" y="0"/>
                  </a:cubicBezTo>
                  <a:close/>
                </a:path>
              </a:pathLst>
            </a:custGeom>
            <a:solidFill>
              <a:srgbClr val="2E7D6B">
                <a:alpha val="75686"/>
              </a:srgbClr>
            </a:solidFill>
          </p:spPr>
        </p:sp>
        <p:sp>
          <p:nvSpPr>
            <p:cNvPr name="TextBox 14" id="14"/>
            <p:cNvSpPr txBox="true"/>
            <p:nvPr/>
          </p:nvSpPr>
          <p:spPr>
            <a:xfrm>
              <a:off x="0" y="-38100"/>
              <a:ext cx="1842347" cy="924945"/>
            </a:xfrm>
            <a:prstGeom prst="rect">
              <a:avLst/>
            </a:prstGeom>
          </p:spPr>
          <p:txBody>
            <a:bodyPr anchor="ctr" rtlCol="false" tIns="50800" lIns="50800" bIns="50800" rIns="50800"/>
            <a:lstStyle/>
            <a:p>
              <a:pPr algn="ctr" marL="0" indent="0" lvl="0">
                <a:lnSpc>
                  <a:spcPts val="2659"/>
                </a:lnSpc>
              </a:pPr>
            </a:p>
          </p:txBody>
        </p:sp>
      </p:grpSp>
      <p:grpSp>
        <p:nvGrpSpPr>
          <p:cNvPr name="Group 15" id="15"/>
          <p:cNvGrpSpPr/>
          <p:nvPr/>
        </p:nvGrpSpPr>
        <p:grpSpPr>
          <a:xfrm rot="0">
            <a:off x="15244358" y="4843358"/>
            <a:ext cx="1008070" cy="1008070"/>
            <a:chOff x="0" y="0"/>
            <a:chExt cx="812800" cy="812800"/>
          </a:xfrm>
        </p:grpSpPr>
        <p:sp>
          <p:nvSpPr>
            <p:cNvPr name="Freeform 16" id="1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A4E"/>
            </a:solidFill>
          </p:spPr>
        </p:sp>
        <p:sp>
          <p:nvSpPr>
            <p:cNvPr name="TextBox 17" id="17"/>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pPr>
            </a:p>
          </p:txBody>
        </p:sp>
      </p:grpSp>
      <p:sp>
        <p:nvSpPr>
          <p:cNvPr name="TextBox 18" id="18"/>
          <p:cNvSpPr txBox="true"/>
          <p:nvPr/>
        </p:nvSpPr>
        <p:spPr>
          <a:xfrm rot="0">
            <a:off x="4817504" y="1335232"/>
            <a:ext cx="8401767" cy="2398664"/>
          </a:xfrm>
          <a:prstGeom prst="rect">
            <a:avLst/>
          </a:prstGeom>
        </p:spPr>
        <p:txBody>
          <a:bodyPr anchor="t" rtlCol="false" tIns="0" lIns="0" bIns="0" rIns="0">
            <a:spAutoFit/>
          </a:bodyPr>
          <a:lstStyle/>
          <a:p>
            <a:pPr algn="ctr" marL="0" indent="0" lvl="0">
              <a:lnSpc>
                <a:spcPts val="9610"/>
              </a:lnSpc>
              <a:spcBef>
                <a:spcPct val="0"/>
              </a:spcBef>
            </a:pPr>
            <a:r>
              <a:rPr lang="en-US" b="true" sz="6864">
                <a:solidFill>
                  <a:srgbClr val="1F5A4E"/>
                </a:solidFill>
                <a:latin typeface="Roboto Bold"/>
                <a:ea typeface="Roboto Bold"/>
                <a:cs typeface="Roboto Bold"/>
                <a:sym typeface="Roboto Bold"/>
              </a:rPr>
              <a:t>DATABASE &amp; STORAGE DESIGN</a:t>
            </a:r>
          </a:p>
        </p:txBody>
      </p:sp>
      <p:sp>
        <p:nvSpPr>
          <p:cNvPr name="TextBox 19" id="19"/>
          <p:cNvSpPr txBox="true"/>
          <p:nvPr/>
        </p:nvSpPr>
        <p:spPr>
          <a:xfrm rot="0">
            <a:off x="2035572" y="5840866"/>
            <a:ext cx="6370836" cy="504700"/>
          </a:xfrm>
          <a:prstGeom prst="rect">
            <a:avLst/>
          </a:prstGeom>
        </p:spPr>
        <p:txBody>
          <a:bodyPr anchor="t" rtlCol="false" tIns="0" lIns="0" bIns="0" rIns="0">
            <a:spAutoFit/>
          </a:bodyPr>
          <a:lstStyle/>
          <a:p>
            <a:pPr algn="l" marL="0" indent="0" lvl="0">
              <a:lnSpc>
                <a:spcPts val="4205"/>
              </a:lnSpc>
            </a:pPr>
            <a:r>
              <a:rPr lang="en-US" b="true" sz="2336">
                <a:solidFill>
                  <a:srgbClr val="E5E5E5"/>
                </a:solidFill>
                <a:latin typeface="Roboto Bold"/>
                <a:ea typeface="Roboto Bold"/>
                <a:cs typeface="Roboto Bold"/>
                <a:sym typeface="Roboto Bold"/>
              </a:rPr>
              <a:t>Local Offline Queue</a:t>
            </a:r>
          </a:p>
        </p:txBody>
      </p:sp>
      <p:sp>
        <p:nvSpPr>
          <p:cNvPr name="TextBox 20" id="20"/>
          <p:cNvSpPr txBox="true"/>
          <p:nvPr/>
        </p:nvSpPr>
        <p:spPr>
          <a:xfrm rot="0">
            <a:off x="2035572" y="6411077"/>
            <a:ext cx="6066314" cy="1770757"/>
          </a:xfrm>
          <a:prstGeom prst="rect">
            <a:avLst/>
          </a:prstGeom>
        </p:spPr>
        <p:txBody>
          <a:bodyPr anchor="t" rtlCol="false" tIns="0" lIns="0" bIns="0" rIns="0">
            <a:spAutoFit/>
          </a:bodyPr>
          <a:lstStyle/>
          <a:p>
            <a:pPr algn="just" marL="0" indent="0" lvl="0">
              <a:lnSpc>
                <a:spcPts val="2363"/>
              </a:lnSpc>
            </a:pPr>
            <a:r>
              <a:rPr lang="en-US" sz="1313">
                <a:solidFill>
                  <a:srgbClr val="FFFFFF"/>
                </a:solidFill>
                <a:latin typeface="Roboto"/>
                <a:ea typeface="Roboto"/>
                <a:cs typeface="Roboto"/>
                <a:sym typeface="Roboto"/>
              </a:rPr>
              <a:t>Local </a:t>
            </a:r>
            <a:r>
              <a:rPr lang="en-US" sz="1313">
                <a:solidFill>
                  <a:srgbClr val="FFFFFF"/>
                </a:solidFill>
                <a:latin typeface="Roboto"/>
                <a:ea typeface="Roboto"/>
                <a:cs typeface="Roboto"/>
                <a:sym typeface="Roboto"/>
              </a:rPr>
              <a:t>database caches all collected metrics and user feedback locally on the device. Enables continuous data collection even without network connectivity. Implements queue-based architecture for pending uploads with automatic retry logic.</a:t>
            </a:r>
          </a:p>
          <a:p>
            <a:pPr algn="just" marL="0" indent="0" lvl="0">
              <a:lnSpc>
                <a:spcPts val="2363"/>
              </a:lnSpc>
            </a:pPr>
            <a:r>
              <a:rPr lang="en-US" sz="1313">
                <a:solidFill>
                  <a:srgbClr val="FFFFFF"/>
                </a:solidFill>
                <a:latin typeface="Roboto"/>
                <a:ea typeface="Roboto"/>
                <a:cs typeface="Roboto"/>
                <a:sym typeface="Roboto"/>
              </a:rPr>
              <a:t>Data persists securely until successful cloud synchronization is confirmed. Lightweight footprint optimized for mobile device storage constraints.</a:t>
            </a:r>
          </a:p>
        </p:txBody>
      </p:sp>
      <p:sp>
        <p:nvSpPr>
          <p:cNvPr name="TextBox 21" id="21"/>
          <p:cNvSpPr txBox="true"/>
          <p:nvPr/>
        </p:nvSpPr>
        <p:spPr>
          <a:xfrm rot="0">
            <a:off x="7468122" y="4859120"/>
            <a:ext cx="361057" cy="757661"/>
          </a:xfrm>
          <a:prstGeom prst="rect">
            <a:avLst/>
          </a:prstGeom>
        </p:spPr>
        <p:txBody>
          <a:bodyPr anchor="t" rtlCol="false" tIns="0" lIns="0" bIns="0" rIns="0">
            <a:spAutoFit/>
          </a:bodyPr>
          <a:lstStyle/>
          <a:p>
            <a:pPr algn="ctr" marL="0" indent="0" lvl="0">
              <a:lnSpc>
                <a:spcPts val="6402"/>
              </a:lnSpc>
            </a:pPr>
            <a:r>
              <a:rPr lang="en-US" b="true" sz="3556">
                <a:solidFill>
                  <a:srgbClr val="E5E5E5"/>
                </a:solidFill>
                <a:latin typeface="Roboto Bold"/>
                <a:ea typeface="Roboto Bold"/>
                <a:cs typeface="Roboto Bold"/>
                <a:sym typeface="Roboto Bold"/>
              </a:rPr>
              <a:t>1</a:t>
            </a:r>
          </a:p>
        </p:txBody>
      </p:sp>
      <p:sp>
        <p:nvSpPr>
          <p:cNvPr name="TextBox 22" id="22"/>
          <p:cNvSpPr txBox="true"/>
          <p:nvPr/>
        </p:nvSpPr>
        <p:spPr>
          <a:xfrm rot="0">
            <a:off x="10186114" y="6411077"/>
            <a:ext cx="6066314" cy="2069862"/>
          </a:xfrm>
          <a:prstGeom prst="rect">
            <a:avLst/>
          </a:prstGeom>
        </p:spPr>
        <p:txBody>
          <a:bodyPr anchor="t" rtlCol="false" tIns="0" lIns="0" bIns="0" rIns="0">
            <a:spAutoFit/>
          </a:bodyPr>
          <a:lstStyle/>
          <a:p>
            <a:pPr algn="just" marL="0" indent="0" lvl="0">
              <a:lnSpc>
                <a:spcPts val="2363"/>
              </a:lnSpc>
            </a:pPr>
            <a:r>
              <a:rPr lang="en-US" sz="1313">
                <a:solidFill>
                  <a:srgbClr val="FFFFFF"/>
                </a:solidFill>
                <a:latin typeface="Roboto"/>
                <a:ea typeface="Roboto"/>
                <a:cs typeface="Roboto"/>
                <a:sym typeface="Roboto"/>
              </a:rPr>
              <a:t>MOngoDB </a:t>
            </a:r>
            <a:r>
              <a:rPr lang="en-US" sz="1313">
                <a:solidFill>
                  <a:srgbClr val="FFFFFF"/>
                </a:solidFill>
                <a:latin typeface="Roboto"/>
                <a:ea typeface="Roboto"/>
                <a:cs typeface="Roboto"/>
                <a:sym typeface="Roboto"/>
              </a:rPr>
              <a:t>serves as the centralized cloud database for all synchronized user experience data. Handles high-volume concurrent writes from thousands of mobile subscribers. Supports complex analytical queries for heatmap generation and reporting.</a:t>
            </a:r>
          </a:p>
          <a:p>
            <a:pPr algn="just" marL="0" indent="0" lvl="0">
              <a:lnSpc>
                <a:spcPts val="2363"/>
              </a:lnSpc>
            </a:pPr>
            <a:r>
              <a:rPr lang="en-US" sz="1313">
                <a:solidFill>
                  <a:srgbClr val="FFFFFF"/>
                </a:solidFill>
                <a:latin typeface="Roboto"/>
                <a:ea typeface="Roboto"/>
                <a:cs typeface="Roboto"/>
                <a:sym typeface="Roboto"/>
              </a:rPr>
              <a:t>Sync strategy employs exponential backoff for intermittent connectivity. Data anonymization applied before upload using hashed user identifiers and location generalization techniques.</a:t>
            </a:r>
          </a:p>
        </p:txBody>
      </p:sp>
      <p:sp>
        <p:nvSpPr>
          <p:cNvPr name="TextBox 23" id="23"/>
          <p:cNvSpPr txBox="true"/>
          <p:nvPr/>
        </p:nvSpPr>
        <p:spPr>
          <a:xfrm rot="0">
            <a:off x="15618664" y="4859120"/>
            <a:ext cx="361057" cy="757661"/>
          </a:xfrm>
          <a:prstGeom prst="rect">
            <a:avLst/>
          </a:prstGeom>
        </p:spPr>
        <p:txBody>
          <a:bodyPr anchor="t" rtlCol="false" tIns="0" lIns="0" bIns="0" rIns="0">
            <a:spAutoFit/>
          </a:bodyPr>
          <a:lstStyle/>
          <a:p>
            <a:pPr algn="ctr" marL="0" indent="0" lvl="0">
              <a:lnSpc>
                <a:spcPts val="6402"/>
              </a:lnSpc>
            </a:pPr>
            <a:r>
              <a:rPr lang="en-US" b="true" sz="3556">
                <a:solidFill>
                  <a:srgbClr val="E5E5E5"/>
                </a:solidFill>
                <a:latin typeface="Roboto Bold"/>
                <a:ea typeface="Roboto Bold"/>
                <a:cs typeface="Roboto Bold"/>
                <a:sym typeface="Roboto Bold"/>
              </a:rPr>
              <a:t>2</a:t>
            </a:r>
          </a:p>
        </p:txBody>
      </p:sp>
      <p:sp>
        <p:nvSpPr>
          <p:cNvPr name="TextBox 24" id="24"/>
          <p:cNvSpPr txBox="true"/>
          <p:nvPr/>
        </p:nvSpPr>
        <p:spPr>
          <a:xfrm rot="0">
            <a:off x="10186114" y="5840866"/>
            <a:ext cx="5692007" cy="504700"/>
          </a:xfrm>
          <a:prstGeom prst="rect">
            <a:avLst/>
          </a:prstGeom>
        </p:spPr>
        <p:txBody>
          <a:bodyPr anchor="t" rtlCol="false" tIns="0" lIns="0" bIns="0" rIns="0">
            <a:spAutoFit/>
          </a:bodyPr>
          <a:lstStyle/>
          <a:p>
            <a:pPr algn="l" marL="0" indent="0" lvl="0">
              <a:lnSpc>
                <a:spcPts val="4205"/>
              </a:lnSpc>
            </a:pPr>
            <a:r>
              <a:rPr lang="en-US" b="true" sz="2336">
                <a:solidFill>
                  <a:srgbClr val="E5E5E5"/>
                </a:solidFill>
                <a:latin typeface="Roboto Bold"/>
                <a:ea typeface="Roboto Bold"/>
                <a:cs typeface="Roboto Bold"/>
                <a:sym typeface="Roboto Bold"/>
              </a:rPr>
              <a:t>Cloud &amp; Sync Strategy</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E5E5E5"/>
        </a:solidFill>
      </p:bgPr>
    </p:bg>
    <p:spTree>
      <p:nvGrpSpPr>
        <p:cNvPr id="1" name=""/>
        <p:cNvGrpSpPr/>
        <p:nvPr/>
      </p:nvGrpSpPr>
      <p:grpSpPr>
        <a:xfrm>
          <a:off x="0" y="0"/>
          <a:ext cx="0" cy="0"/>
          <a:chOff x="0" y="0"/>
          <a:chExt cx="0" cy="0"/>
        </a:xfrm>
      </p:grpSpPr>
      <p:sp>
        <p:nvSpPr>
          <p:cNvPr name="TextBox 2" id="2"/>
          <p:cNvSpPr txBox="true"/>
          <p:nvPr/>
        </p:nvSpPr>
        <p:spPr>
          <a:xfrm rot="0">
            <a:off x="783154" y="1317178"/>
            <a:ext cx="16721692" cy="1393080"/>
          </a:xfrm>
          <a:prstGeom prst="rect">
            <a:avLst/>
          </a:prstGeom>
        </p:spPr>
        <p:txBody>
          <a:bodyPr anchor="t" rtlCol="false" tIns="0" lIns="0" bIns="0" rIns="0">
            <a:spAutoFit/>
          </a:bodyPr>
          <a:lstStyle/>
          <a:p>
            <a:pPr algn="ctr" marL="0" indent="0" lvl="0">
              <a:lnSpc>
                <a:spcPts val="11346"/>
              </a:lnSpc>
              <a:spcBef>
                <a:spcPct val="0"/>
              </a:spcBef>
            </a:pPr>
            <a:r>
              <a:rPr lang="en-US" b="true" sz="8104">
                <a:solidFill>
                  <a:srgbClr val="1F5A4E"/>
                </a:solidFill>
                <a:latin typeface="Roboto Bold"/>
                <a:ea typeface="Roboto Bold"/>
                <a:cs typeface="Roboto Bold"/>
                <a:sym typeface="Roboto Bold"/>
              </a:rPr>
              <a:t>Privacy &amp; Security</a:t>
            </a:r>
          </a:p>
        </p:txBody>
      </p:sp>
      <p:sp>
        <p:nvSpPr>
          <p:cNvPr name="Freeform 3" id="3"/>
          <p:cNvSpPr/>
          <p:nvPr/>
        </p:nvSpPr>
        <p:spPr>
          <a:xfrm flipH="false" flipV="false" rot="-5400000">
            <a:off x="-2367246" y="700906"/>
            <a:ext cx="4389589" cy="2402303"/>
          </a:xfrm>
          <a:custGeom>
            <a:avLst/>
            <a:gdLst/>
            <a:ahLst/>
            <a:cxnLst/>
            <a:rect r="r" b="b" t="t" l="l"/>
            <a:pathLst>
              <a:path h="2402303" w="4389589">
                <a:moveTo>
                  <a:pt x="0" y="0"/>
                </a:moveTo>
                <a:lnTo>
                  <a:pt x="4389589" y="0"/>
                </a:lnTo>
                <a:lnTo>
                  <a:pt x="4389589" y="2402302"/>
                </a:lnTo>
                <a:lnTo>
                  <a:pt x="0" y="2402302"/>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845796" y="5527877"/>
            <a:ext cx="3086100" cy="3367240"/>
            <a:chOff x="0" y="0"/>
            <a:chExt cx="812800" cy="886845"/>
          </a:xfrm>
        </p:grpSpPr>
        <p:sp>
          <p:nvSpPr>
            <p:cNvPr name="Freeform 5" id="5"/>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6" id="6"/>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sp>
        <p:nvSpPr>
          <p:cNvPr name="Freeform 7" id="7"/>
          <p:cNvSpPr/>
          <p:nvPr/>
        </p:nvSpPr>
        <p:spPr>
          <a:xfrm flipH="false" flipV="false" rot="-10800000">
            <a:off x="13898411" y="9258300"/>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grpSp>
        <p:nvGrpSpPr>
          <p:cNvPr name="Group 8" id="8"/>
          <p:cNvGrpSpPr/>
          <p:nvPr/>
        </p:nvGrpSpPr>
        <p:grpSpPr>
          <a:xfrm rot="0">
            <a:off x="5681663" y="5527877"/>
            <a:ext cx="3086100" cy="3367240"/>
            <a:chOff x="0" y="0"/>
            <a:chExt cx="812800" cy="886845"/>
          </a:xfrm>
        </p:grpSpPr>
        <p:sp>
          <p:nvSpPr>
            <p:cNvPr name="Freeform 9" id="9"/>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0" id="10"/>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grpSp>
        <p:nvGrpSpPr>
          <p:cNvPr name="Group 11" id="11"/>
          <p:cNvGrpSpPr/>
          <p:nvPr/>
        </p:nvGrpSpPr>
        <p:grpSpPr>
          <a:xfrm rot="0">
            <a:off x="9517529" y="5527877"/>
            <a:ext cx="3086100" cy="3367240"/>
            <a:chOff x="0" y="0"/>
            <a:chExt cx="812800" cy="886845"/>
          </a:xfrm>
        </p:grpSpPr>
        <p:sp>
          <p:nvSpPr>
            <p:cNvPr name="Freeform 12" id="12"/>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3" id="13"/>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grpSp>
        <p:nvGrpSpPr>
          <p:cNvPr name="Group 14" id="14"/>
          <p:cNvGrpSpPr/>
          <p:nvPr/>
        </p:nvGrpSpPr>
        <p:grpSpPr>
          <a:xfrm rot="0">
            <a:off x="13356104" y="5527877"/>
            <a:ext cx="3086100" cy="3367240"/>
            <a:chOff x="0" y="0"/>
            <a:chExt cx="812800" cy="886845"/>
          </a:xfrm>
        </p:grpSpPr>
        <p:sp>
          <p:nvSpPr>
            <p:cNvPr name="Freeform 15" id="15"/>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6" id="16"/>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sp>
        <p:nvSpPr>
          <p:cNvPr name="Freeform 17" id="17"/>
          <p:cNvSpPr/>
          <p:nvPr/>
        </p:nvSpPr>
        <p:spPr>
          <a:xfrm flipH="false" flipV="false" rot="0">
            <a:off x="2967495" y="5846402"/>
            <a:ext cx="902901" cy="906300"/>
          </a:xfrm>
          <a:custGeom>
            <a:avLst/>
            <a:gdLst/>
            <a:ahLst/>
            <a:cxnLst/>
            <a:rect r="r" b="b" t="t" l="l"/>
            <a:pathLst>
              <a:path h="906300" w="902901">
                <a:moveTo>
                  <a:pt x="0" y="0"/>
                </a:moveTo>
                <a:lnTo>
                  <a:pt x="902901" y="0"/>
                </a:lnTo>
                <a:lnTo>
                  <a:pt x="902901" y="906300"/>
                </a:lnTo>
                <a:lnTo>
                  <a:pt x="0" y="906300"/>
                </a:lnTo>
                <a:lnTo>
                  <a:pt x="0" y="0"/>
                </a:lnTo>
                <a:close/>
              </a:path>
            </a:pathLst>
          </a:custGeom>
          <a:blipFill>
            <a:blip r:embed="rId4"/>
            <a:stretch>
              <a:fillRect l="0" t="0" r="0" b="0"/>
            </a:stretch>
          </a:blipFill>
        </p:spPr>
      </p:sp>
      <p:sp>
        <p:nvSpPr>
          <p:cNvPr name="Freeform 18" id="18"/>
          <p:cNvSpPr/>
          <p:nvPr/>
        </p:nvSpPr>
        <p:spPr>
          <a:xfrm flipH="false" flipV="false" rot="0">
            <a:off x="6853117" y="5864722"/>
            <a:ext cx="764698" cy="1099254"/>
          </a:xfrm>
          <a:custGeom>
            <a:avLst/>
            <a:gdLst/>
            <a:ahLst/>
            <a:cxnLst/>
            <a:rect r="r" b="b" t="t" l="l"/>
            <a:pathLst>
              <a:path h="1099254" w="764698">
                <a:moveTo>
                  <a:pt x="0" y="0"/>
                </a:moveTo>
                <a:lnTo>
                  <a:pt x="764698" y="0"/>
                </a:lnTo>
                <a:lnTo>
                  <a:pt x="764698" y="1099254"/>
                </a:lnTo>
                <a:lnTo>
                  <a:pt x="0" y="1099254"/>
                </a:lnTo>
                <a:lnTo>
                  <a:pt x="0" y="0"/>
                </a:lnTo>
                <a:close/>
              </a:path>
            </a:pathLst>
          </a:custGeom>
          <a:blipFill>
            <a:blip r:embed="rId5"/>
            <a:stretch>
              <a:fillRect l="0" t="0" r="0" b="0"/>
            </a:stretch>
          </a:blipFill>
        </p:spPr>
      </p:sp>
      <p:sp>
        <p:nvSpPr>
          <p:cNvPr name="Freeform 19" id="19"/>
          <p:cNvSpPr/>
          <p:nvPr/>
        </p:nvSpPr>
        <p:spPr>
          <a:xfrm flipH="false" flipV="false" rot="0">
            <a:off x="10753558" y="5814573"/>
            <a:ext cx="766780" cy="1026306"/>
          </a:xfrm>
          <a:custGeom>
            <a:avLst/>
            <a:gdLst/>
            <a:ahLst/>
            <a:cxnLst/>
            <a:rect r="r" b="b" t="t" l="l"/>
            <a:pathLst>
              <a:path h="1026306" w="766780">
                <a:moveTo>
                  <a:pt x="0" y="0"/>
                </a:moveTo>
                <a:lnTo>
                  <a:pt x="766780" y="0"/>
                </a:lnTo>
                <a:lnTo>
                  <a:pt x="766780" y="1026306"/>
                </a:lnTo>
                <a:lnTo>
                  <a:pt x="0" y="1026306"/>
                </a:lnTo>
                <a:lnTo>
                  <a:pt x="0" y="0"/>
                </a:lnTo>
                <a:close/>
              </a:path>
            </a:pathLst>
          </a:custGeom>
          <a:blipFill>
            <a:blip r:embed="rId6"/>
            <a:stretch>
              <a:fillRect l="0" t="0" r="0" b="0"/>
            </a:stretch>
          </a:blipFill>
        </p:spPr>
      </p:sp>
      <p:sp>
        <p:nvSpPr>
          <p:cNvPr name="Freeform 20" id="20"/>
          <p:cNvSpPr/>
          <p:nvPr/>
        </p:nvSpPr>
        <p:spPr>
          <a:xfrm flipH="false" flipV="false" rot="0">
            <a:off x="14455357" y="5849714"/>
            <a:ext cx="862185" cy="935470"/>
          </a:xfrm>
          <a:custGeom>
            <a:avLst/>
            <a:gdLst/>
            <a:ahLst/>
            <a:cxnLst/>
            <a:rect r="r" b="b" t="t" l="l"/>
            <a:pathLst>
              <a:path h="935470" w="862185">
                <a:moveTo>
                  <a:pt x="0" y="0"/>
                </a:moveTo>
                <a:lnTo>
                  <a:pt x="862185" y="0"/>
                </a:lnTo>
                <a:lnTo>
                  <a:pt x="862185" y="935470"/>
                </a:lnTo>
                <a:lnTo>
                  <a:pt x="0" y="935470"/>
                </a:lnTo>
                <a:lnTo>
                  <a:pt x="0" y="0"/>
                </a:lnTo>
                <a:close/>
              </a:path>
            </a:pathLst>
          </a:custGeom>
          <a:blipFill>
            <a:blip r:embed="rId7"/>
            <a:stretch>
              <a:fillRect l="0" t="0" r="0" b="0"/>
            </a:stretch>
          </a:blipFill>
        </p:spPr>
      </p:sp>
      <p:sp>
        <p:nvSpPr>
          <p:cNvPr name="TextBox 21" id="21"/>
          <p:cNvSpPr txBox="true"/>
          <p:nvPr/>
        </p:nvSpPr>
        <p:spPr>
          <a:xfrm rot="0">
            <a:off x="1472267" y="3176838"/>
            <a:ext cx="15343465" cy="1032319"/>
          </a:xfrm>
          <a:prstGeom prst="rect">
            <a:avLst/>
          </a:prstGeom>
        </p:spPr>
        <p:txBody>
          <a:bodyPr anchor="t" rtlCol="false" tIns="0" lIns="0" bIns="0" rIns="0">
            <a:spAutoFit/>
          </a:bodyPr>
          <a:lstStyle/>
          <a:p>
            <a:pPr algn="ctr" marL="0" indent="0" lvl="0">
              <a:lnSpc>
                <a:spcPts val="4224"/>
              </a:lnSpc>
            </a:pPr>
            <a:r>
              <a:rPr lang="en-US" sz="2346">
                <a:solidFill>
                  <a:srgbClr val="555555"/>
                </a:solidFill>
                <a:latin typeface="Roboto"/>
                <a:ea typeface="Roboto"/>
                <a:cs typeface="Roboto"/>
                <a:sym typeface="Roboto"/>
              </a:rPr>
              <a:t>Protecting user data is fundamental to our system design. We implement multiple layers of security to ensure data confidentiality, integrity, and user privacy throughout the collection, transmission, and storage processes.</a:t>
            </a:r>
          </a:p>
        </p:txBody>
      </p:sp>
      <p:sp>
        <p:nvSpPr>
          <p:cNvPr name="TextBox 22" id="22"/>
          <p:cNvSpPr txBox="true"/>
          <p:nvPr/>
        </p:nvSpPr>
        <p:spPr>
          <a:xfrm rot="0">
            <a:off x="13721028" y="7081627"/>
            <a:ext cx="2384677" cy="1221533"/>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Secure API communication with HTTPS and tokens</a:t>
            </a:r>
          </a:p>
        </p:txBody>
      </p:sp>
      <p:sp>
        <p:nvSpPr>
          <p:cNvPr name="TextBox 23" id="23"/>
          <p:cNvSpPr txBox="true"/>
          <p:nvPr/>
        </p:nvSpPr>
        <p:spPr>
          <a:xfrm rot="0">
            <a:off x="9910762" y="7081627"/>
            <a:ext cx="2239196" cy="805708"/>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Data encryption in transit and at rest</a:t>
            </a:r>
          </a:p>
        </p:txBody>
      </p:sp>
      <p:sp>
        <p:nvSpPr>
          <p:cNvPr name="TextBox 24" id="24"/>
          <p:cNvSpPr txBox="true"/>
          <p:nvPr/>
        </p:nvSpPr>
        <p:spPr>
          <a:xfrm rot="0">
            <a:off x="6185154" y="7081627"/>
            <a:ext cx="2101372" cy="1221533"/>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Permission-based GPS location access</a:t>
            </a:r>
          </a:p>
        </p:txBody>
      </p:sp>
      <p:sp>
        <p:nvSpPr>
          <p:cNvPr name="TextBox 25" id="25"/>
          <p:cNvSpPr txBox="true"/>
          <p:nvPr/>
        </p:nvSpPr>
        <p:spPr>
          <a:xfrm rot="0">
            <a:off x="2326943" y="7097197"/>
            <a:ext cx="2101372" cy="805708"/>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Anonymous user IDs protect identity</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E5E5E5"/>
        </a:solidFill>
      </p:bgPr>
    </p:bg>
    <p:spTree>
      <p:nvGrpSpPr>
        <p:cNvPr id="1" name=""/>
        <p:cNvGrpSpPr/>
        <p:nvPr/>
      </p:nvGrpSpPr>
      <p:grpSpPr>
        <a:xfrm>
          <a:off x="0" y="0"/>
          <a:ext cx="0" cy="0"/>
          <a:chOff x="0" y="0"/>
          <a:chExt cx="0" cy="0"/>
        </a:xfrm>
      </p:grpSpPr>
      <p:grpSp>
        <p:nvGrpSpPr>
          <p:cNvPr name="Group 2" id="2"/>
          <p:cNvGrpSpPr/>
          <p:nvPr/>
        </p:nvGrpSpPr>
        <p:grpSpPr>
          <a:xfrm rot="-1621114">
            <a:off x="-6849822" y="-1512783"/>
            <a:ext cx="12676189" cy="3497067"/>
            <a:chOff x="0" y="0"/>
            <a:chExt cx="3338585" cy="921038"/>
          </a:xfrm>
        </p:grpSpPr>
        <p:sp>
          <p:nvSpPr>
            <p:cNvPr name="Freeform 3" id="3"/>
            <p:cNvSpPr/>
            <p:nvPr/>
          </p:nvSpPr>
          <p:spPr>
            <a:xfrm flipH="false" flipV="false" rot="0">
              <a:off x="0" y="0"/>
              <a:ext cx="3338585" cy="921038"/>
            </a:xfrm>
            <a:custGeom>
              <a:avLst/>
              <a:gdLst/>
              <a:ahLst/>
              <a:cxnLst/>
              <a:rect r="r" b="b" t="t" l="l"/>
              <a:pathLst>
                <a:path h="921038" w="3338585">
                  <a:moveTo>
                    <a:pt x="0" y="0"/>
                  </a:moveTo>
                  <a:lnTo>
                    <a:pt x="3338585" y="0"/>
                  </a:lnTo>
                  <a:lnTo>
                    <a:pt x="3338585" y="921038"/>
                  </a:lnTo>
                  <a:lnTo>
                    <a:pt x="0" y="921038"/>
                  </a:lnTo>
                  <a:close/>
                </a:path>
              </a:pathLst>
            </a:custGeom>
            <a:solidFill>
              <a:srgbClr val="2E7D6B">
                <a:alpha val="87843"/>
              </a:srgbClr>
            </a:solidFill>
          </p:spPr>
        </p:sp>
        <p:sp>
          <p:nvSpPr>
            <p:cNvPr name="TextBox 4" id="4"/>
            <p:cNvSpPr txBox="true"/>
            <p:nvPr/>
          </p:nvSpPr>
          <p:spPr>
            <a:xfrm>
              <a:off x="0" y="-38100"/>
              <a:ext cx="3338585" cy="95913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5" id="5"/>
          <p:cNvGrpSpPr/>
          <p:nvPr/>
        </p:nvGrpSpPr>
        <p:grpSpPr>
          <a:xfrm rot="5400000">
            <a:off x="7752904" y="1682561"/>
            <a:ext cx="10897491" cy="7532369"/>
            <a:chOff x="0" y="0"/>
            <a:chExt cx="2870121" cy="1983834"/>
          </a:xfrm>
        </p:grpSpPr>
        <p:sp>
          <p:nvSpPr>
            <p:cNvPr name="Freeform 6" id="6"/>
            <p:cNvSpPr/>
            <p:nvPr/>
          </p:nvSpPr>
          <p:spPr>
            <a:xfrm flipH="false" flipV="false" rot="0">
              <a:off x="0" y="0"/>
              <a:ext cx="2870121" cy="1983834"/>
            </a:xfrm>
            <a:custGeom>
              <a:avLst/>
              <a:gdLst/>
              <a:ahLst/>
              <a:cxnLst/>
              <a:rect r="r" b="b" t="t" l="l"/>
              <a:pathLst>
                <a:path h="1983834" w="2870121">
                  <a:moveTo>
                    <a:pt x="0" y="0"/>
                  </a:moveTo>
                  <a:lnTo>
                    <a:pt x="2870121" y="0"/>
                  </a:lnTo>
                  <a:lnTo>
                    <a:pt x="2870121" y="1983834"/>
                  </a:lnTo>
                  <a:lnTo>
                    <a:pt x="0" y="1983834"/>
                  </a:lnTo>
                  <a:close/>
                </a:path>
              </a:pathLst>
            </a:custGeom>
            <a:solidFill>
              <a:srgbClr val="2E7D6B">
                <a:alpha val="62745"/>
              </a:srgbClr>
            </a:solidFill>
          </p:spPr>
        </p:sp>
        <p:sp>
          <p:nvSpPr>
            <p:cNvPr name="TextBox 7" id="7"/>
            <p:cNvSpPr txBox="true"/>
            <p:nvPr/>
          </p:nvSpPr>
          <p:spPr>
            <a:xfrm>
              <a:off x="0" y="-38100"/>
              <a:ext cx="2870121" cy="2021934"/>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8" id="8"/>
          <p:cNvSpPr/>
          <p:nvPr/>
        </p:nvSpPr>
        <p:spPr>
          <a:xfrm flipH="false" flipV="false" rot="0">
            <a:off x="17259300" y="0"/>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519098" y="9258300"/>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grpSp>
        <p:nvGrpSpPr>
          <p:cNvPr name="Group 10" id="10"/>
          <p:cNvGrpSpPr/>
          <p:nvPr/>
        </p:nvGrpSpPr>
        <p:grpSpPr>
          <a:xfrm rot="0">
            <a:off x="9853054" y="-245701"/>
            <a:ext cx="6697193" cy="7573365"/>
            <a:chOff x="0" y="0"/>
            <a:chExt cx="1037570" cy="1173312"/>
          </a:xfrm>
        </p:grpSpPr>
        <p:sp>
          <p:nvSpPr>
            <p:cNvPr name="Freeform 11" id="11"/>
            <p:cNvSpPr/>
            <p:nvPr/>
          </p:nvSpPr>
          <p:spPr>
            <a:xfrm flipH="false" flipV="false" rot="0">
              <a:off x="0" y="0"/>
              <a:ext cx="1037570" cy="1173312"/>
            </a:xfrm>
            <a:custGeom>
              <a:avLst/>
              <a:gdLst/>
              <a:ahLst/>
              <a:cxnLst/>
              <a:rect r="r" b="b" t="t" l="l"/>
              <a:pathLst>
                <a:path h="1173312" w="1037570">
                  <a:moveTo>
                    <a:pt x="0" y="0"/>
                  </a:moveTo>
                  <a:lnTo>
                    <a:pt x="1037570" y="0"/>
                  </a:lnTo>
                  <a:lnTo>
                    <a:pt x="1037570" y="1173312"/>
                  </a:lnTo>
                  <a:lnTo>
                    <a:pt x="0" y="1173312"/>
                  </a:lnTo>
                  <a:close/>
                </a:path>
              </a:pathLst>
            </a:custGeom>
            <a:blipFill>
              <a:blip r:embed="rId4"/>
              <a:stretch>
                <a:fillRect l="0" t="-4671" r="0" b="-4671"/>
              </a:stretch>
            </a:blipFill>
          </p:spPr>
        </p:sp>
      </p:grpSp>
      <p:sp>
        <p:nvSpPr>
          <p:cNvPr name="TextBox 12" id="12"/>
          <p:cNvSpPr txBox="true"/>
          <p:nvPr/>
        </p:nvSpPr>
        <p:spPr>
          <a:xfrm rot="0">
            <a:off x="1320165" y="1787253"/>
            <a:ext cx="8115300" cy="1172291"/>
          </a:xfrm>
          <a:prstGeom prst="rect">
            <a:avLst/>
          </a:prstGeom>
        </p:spPr>
        <p:txBody>
          <a:bodyPr anchor="t" rtlCol="false" tIns="0" lIns="0" bIns="0" rIns="0">
            <a:spAutoFit/>
          </a:bodyPr>
          <a:lstStyle/>
          <a:p>
            <a:pPr algn="l" marL="0" indent="0" lvl="0">
              <a:lnSpc>
                <a:spcPts val="9519"/>
              </a:lnSpc>
              <a:spcBef>
                <a:spcPct val="0"/>
              </a:spcBef>
            </a:pPr>
            <a:r>
              <a:rPr lang="en-US" b="true" sz="6799">
                <a:solidFill>
                  <a:srgbClr val="1F5A4E"/>
                </a:solidFill>
                <a:latin typeface="Roboto Bold"/>
                <a:ea typeface="Roboto Bold"/>
                <a:cs typeface="Roboto Bold"/>
                <a:sym typeface="Roboto Bold"/>
              </a:rPr>
              <a:t>Heatmap &amp; Analytics</a:t>
            </a:r>
          </a:p>
        </p:txBody>
      </p:sp>
      <p:sp>
        <p:nvSpPr>
          <p:cNvPr name="TextBox 13" id="13"/>
          <p:cNvSpPr txBox="true"/>
          <p:nvPr/>
        </p:nvSpPr>
        <p:spPr>
          <a:xfrm rot="0">
            <a:off x="1320165" y="3770337"/>
            <a:ext cx="7571941" cy="4764302"/>
          </a:xfrm>
          <a:prstGeom prst="rect">
            <a:avLst/>
          </a:prstGeom>
        </p:spPr>
        <p:txBody>
          <a:bodyPr anchor="t" rtlCol="false" tIns="0" lIns="0" bIns="0" rIns="0">
            <a:spAutoFit/>
          </a:bodyPr>
          <a:lstStyle/>
          <a:p>
            <a:pPr algn="just" marL="0" indent="0" lvl="0">
              <a:lnSpc>
                <a:spcPts val="3800"/>
              </a:lnSpc>
            </a:pPr>
            <a:r>
              <a:rPr lang="en-US" sz="2111">
                <a:solidFill>
                  <a:srgbClr val="555555"/>
                </a:solidFill>
                <a:latin typeface="Roboto"/>
                <a:ea typeface="Roboto"/>
                <a:cs typeface="Roboto"/>
                <a:sym typeface="Roboto"/>
              </a:rPr>
              <a:t>The system aggregates network quality metrics into regional tiles for comprehensive visualization. Dynamic heatmaps display signal quality and user feedback across geographic areas, enabling identification of coverage patterns and problem zones.</a:t>
            </a:r>
          </a:p>
          <a:p>
            <a:pPr algn="just" marL="0" indent="0" lvl="0">
              <a:lnSpc>
                <a:spcPts val="3800"/>
              </a:lnSpc>
            </a:pPr>
            <a:r>
              <a:rPr lang="en-US" sz="2111">
                <a:solidFill>
                  <a:srgbClr val="555555"/>
                </a:solidFill>
                <a:latin typeface="Roboto"/>
                <a:ea typeface="Roboto"/>
                <a:cs typeface="Roboto"/>
                <a:sym typeface="Roboto"/>
              </a:rPr>
              <a:t>Advanced filtering capabilities allow analysis by mobile operator and time period, supporting trend identification and comparative studies. The analytics dashboard presents color-coded maps and statistical summaries for actionable telecom insights.</a:t>
            </a:r>
          </a:p>
        </p:txBody>
      </p:sp>
      <p:sp>
        <p:nvSpPr>
          <p:cNvPr name="TextBox 14" id="14"/>
          <p:cNvSpPr txBox="true"/>
          <p:nvPr/>
        </p:nvSpPr>
        <p:spPr>
          <a:xfrm rot="0">
            <a:off x="10203040" y="7554145"/>
            <a:ext cx="5997221" cy="2155667"/>
          </a:xfrm>
          <a:prstGeom prst="rect">
            <a:avLst/>
          </a:prstGeom>
        </p:spPr>
        <p:txBody>
          <a:bodyPr anchor="t" rtlCol="false" tIns="0" lIns="0" bIns="0" rIns="0">
            <a:spAutoFit/>
          </a:bodyPr>
          <a:lstStyle/>
          <a:p>
            <a:pPr algn="ctr" marL="0" indent="0" lvl="0">
              <a:lnSpc>
                <a:spcPts val="5778"/>
              </a:lnSpc>
            </a:pPr>
            <a:r>
              <a:rPr lang="en-US" b="true" sz="3210">
                <a:solidFill>
                  <a:srgbClr val="E5E5E5"/>
                </a:solidFill>
                <a:latin typeface="Roboto Bold"/>
                <a:ea typeface="Roboto Bold"/>
                <a:cs typeface="Roboto Bold"/>
                <a:sym typeface="Roboto Bold"/>
              </a:rPr>
              <a:t>Dynamic heatmaps visualize network quality through color-coded regional tiles</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E5E5E5"/>
        </a:solidFill>
      </p:bgPr>
    </p:bg>
    <p:spTree>
      <p:nvGrpSpPr>
        <p:cNvPr id="1" name=""/>
        <p:cNvGrpSpPr/>
        <p:nvPr/>
      </p:nvGrpSpPr>
      <p:grpSpPr>
        <a:xfrm>
          <a:off x="0" y="0"/>
          <a:ext cx="0" cy="0"/>
          <a:chOff x="0" y="0"/>
          <a:chExt cx="0" cy="0"/>
        </a:xfrm>
      </p:grpSpPr>
      <p:sp>
        <p:nvSpPr>
          <p:cNvPr name="TextBox 2" id="2"/>
          <p:cNvSpPr txBox="true"/>
          <p:nvPr/>
        </p:nvSpPr>
        <p:spPr>
          <a:xfrm rot="0">
            <a:off x="783154" y="1317178"/>
            <a:ext cx="16721692" cy="1393080"/>
          </a:xfrm>
          <a:prstGeom prst="rect">
            <a:avLst/>
          </a:prstGeom>
        </p:spPr>
        <p:txBody>
          <a:bodyPr anchor="t" rtlCol="false" tIns="0" lIns="0" bIns="0" rIns="0">
            <a:spAutoFit/>
          </a:bodyPr>
          <a:lstStyle/>
          <a:p>
            <a:pPr algn="ctr" marL="0" indent="0" lvl="0">
              <a:lnSpc>
                <a:spcPts val="11346"/>
              </a:lnSpc>
              <a:spcBef>
                <a:spcPct val="0"/>
              </a:spcBef>
            </a:pPr>
            <a:r>
              <a:rPr lang="en-US" b="true" sz="8104">
                <a:solidFill>
                  <a:srgbClr val="1F5A4E"/>
                </a:solidFill>
                <a:latin typeface="Roboto Bold"/>
                <a:ea typeface="Roboto Bold"/>
                <a:cs typeface="Roboto Bold"/>
                <a:sym typeface="Roboto Bold"/>
              </a:rPr>
              <a:t>Benefits of the System</a:t>
            </a:r>
          </a:p>
        </p:txBody>
      </p:sp>
      <p:sp>
        <p:nvSpPr>
          <p:cNvPr name="Freeform 3" id="3"/>
          <p:cNvSpPr/>
          <p:nvPr/>
        </p:nvSpPr>
        <p:spPr>
          <a:xfrm flipH="false" flipV="false" rot="-5400000">
            <a:off x="-2367246" y="700906"/>
            <a:ext cx="4389589" cy="2402303"/>
          </a:xfrm>
          <a:custGeom>
            <a:avLst/>
            <a:gdLst/>
            <a:ahLst/>
            <a:cxnLst/>
            <a:rect r="r" b="b" t="t" l="l"/>
            <a:pathLst>
              <a:path h="2402303" w="4389589">
                <a:moveTo>
                  <a:pt x="0" y="0"/>
                </a:moveTo>
                <a:lnTo>
                  <a:pt x="4389589" y="0"/>
                </a:lnTo>
                <a:lnTo>
                  <a:pt x="4389589" y="2402302"/>
                </a:lnTo>
                <a:lnTo>
                  <a:pt x="0" y="2402302"/>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845796" y="5527877"/>
            <a:ext cx="3086100" cy="3367240"/>
            <a:chOff x="0" y="0"/>
            <a:chExt cx="812800" cy="886845"/>
          </a:xfrm>
        </p:grpSpPr>
        <p:sp>
          <p:nvSpPr>
            <p:cNvPr name="Freeform 5" id="5"/>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6" id="6"/>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sp>
        <p:nvSpPr>
          <p:cNvPr name="Freeform 7" id="7"/>
          <p:cNvSpPr/>
          <p:nvPr/>
        </p:nvSpPr>
        <p:spPr>
          <a:xfrm flipH="false" flipV="false" rot="-10800000">
            <a:off x="13898411" y="9258300"/>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2">
              <a:alphaModFix amt="64000"/>
              <a:extLst>
                <a:ext uri="{96DAC541-7B7A-43D3-8B79-37D633B846F1}">
                  <asvg:svgBlip xmlns:asvg="http://schemas.microsoft.com/office/drawing/2016/SVG/main" r:embed="rId3"/>
                </a:ext>
              </a:extLst>
            </a:blip>
            <a:stretch>
              <a:fillRect l="0" t="0" r="0" b="0"/>
            </a:stretch>
          </a:blipFill>
        </p:spPr>
      </p:sp>
      <p:grpSp>
        <p:nvGrpSpPr>
          <p:cNvPr name="Group 8" id="8"/>
          <p:cNvGrpSpPr/>
          <p:nvPr/>
        </p:nvGrpSpPr>
        <p:grpSpPr>
          <a:xfrm rot="0">
            <a:off x="5681663" y="5527877"/>
            <a:ext cx="3086100" cy="3367240"/>
            <a:chOff x="0" y="0"/>
            <a:chExt cx="812800" cy="886845"/>
          </a:xfrm>
        </p:grpSpPr>
        <p:sp>
          <p:nvSpPr>
            <p:cNvPr name="Freeform 9" id="9"/>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0" id="10"/>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grpSp>
        <p:nvGrpSpPr>
          <p:cNvPr name="Group 11" id="11"/>
          <p:cNvGrpSpPr/>
          <p:nvPr/>
        </p:nvGrpSpPr>
        <p:grpSpPr>
          <a:xfrm rot="0">
            <a:off x="9517529" y="5527877"/>
            <a:ext cx="3086100" cy="3367240"/>
            <a:chOff x="0" y="0"/>
            <a:chExt cx="812800" cy="886845"/>
          </a:xfrm>
        </p:grpSpPr>
        <p:sp>
          <p:nvSpPr>
            <p:cNvPr name="Freeform 12" id="12"/>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3" id="13"/>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grpSp>
        <p:nvGrpSpPr>
          <p:cNvPr name="Group 14" id="14"/>
          <p:cNvGrpSpPr/>
          <p:nvPr/>
        </p:nvGrpSpPr>
        <p:grpSpPr>
          <a:xfrm rot="0">
            <a:off x="13356104" y="5527877"/>
            <a:ext cx="3086100" cy="3367240"/>
            <a:chOff x="0" y="0"/>
            <a:chExt cx="812800" cy="886845"/>
          </a:xfrm>
        </p:grpSpPr>
        <p:sp>
          <p:nvSpPr>
            <p:cNvPr name="Freeform 15" id="15"/>
            <p:cNvSpPr/>
            <p:nvPr/>
          </p:nvSpPr>
          <p:spPr>
            <a:xfrm flipH="false" flipV="false" rot="0">
              <a:off x="0" y="0"/>
              <a:ext cx="812800" cy="886845"/>
            </a:xfrm>
            <a:custGeom>
              <a:avLst/>
              <a:gdLst/>
              <a:ahLst/>
              <a:cxnLst/>
              <a:rect r="r" b="b" t="t" l="l"/>
              <a:pathLst>
                <a:path h="886845" w="812800">
                  <a:moveTo>
                    <a:pt x="127941" y="0"/>
                  </a:moveTo>
                  <a:lnTo>
                    <a:pt x="684859" y="0"/>
                  </a:lnTo>
                  <a:cubicBezTo>
                    <a:pt x="718791" y="0"/>
                    <a:pt x="751333" y="13479"/>
                    <a:pt x="775327" y="37473"/>
                  </a:cubicBezTo>
                  <a:cubicBezTo>
                    <a:pt x="799321" y="61467"/>
                    <a:pt x="812800" y="94009"/>
                    <a:pt x="812800" y="127941"/>
                  </a:cubicBezTo>
                  <a:lnTo>
                    <a:pt x="812800" y="758904"/>
                  </a:lnTo>
                  <a:cubicBezTo>
                    <a:pt x="812800" y="792836"/>
                    <a:pt x="799321" y="825379"/>
                    <a:pt x="775327" y="849372"/>
                  </a:cubicBezTo>
                  <a:cubicBezTo>
                    <a:pt x="751333" y="873366"/>
                    <a:pt x="718791" y="886845"/>
                    <a:pt x="684859" y="886845"/>
                  </a:cubicBezTo>
                  <a:lnTo>
                    <a:pt x="127941" y="886845"/>
                  </a:lnTo>
                  <a:cubicBezTo>
                    <a:pt x="94009" y="886845"/>
                    <a:pt x="61467" y="873366"/>
                    <a:pt x="37473" y="849372"/>
                  </a:cubicBezTo>
                  <a:cubicBezTo>
                    <a:pt x="13479" y="825379"/>
                    <a:pt x="0" y="792836"/>
                    <a:pt x="0" y="758904"/>
                  </a:cubicBezTo>
                  <a:lnTo>
                    <a:pt x="0" y="127941"/>
                  </a:lnTo>
                  <a:cubicBezTo>
                    <a:pt x="0" y="94009"/>
                    <a:pt x="13479" y="61467"/>
                    <a:pt x="37473" y="37473"/>
                  </a:cubicBezTo>
                  <a:cubicBezTo>
                    <a:pt x="61467" y="13479"/>
                    <a:pt x="94009" y="0"/>
                    <a:pt x="127941" y="0"/>
                  </a:cubicBezTo>
                  <a:close/>
                </a:path>
              </a:pathLst>
            </a:custGeom>
            <a:solidFill>
              <a:srgbClr val="2E7D6B">
                <a:alpha val="75686"/>
              </a:srgbClr>
            </a:solidFill>
          </p:spPr>
        </p:sp>
        <p:sp>
          <p:nvSpPr>
            <p:cNvPr name="TextBox 16" id="16"/>
            <p:cNvSpPr txBox="true"/>
            <p:nvPr/>
          </p:nvSpPr>
          <p:spPr>
            <a:xfrm>
              <a:off x="0" y="-38100"/>
              <a:ext cx="812800" cy="924945"/>
            </a:xfrm>
            <a:prstGeom prst="rect">
              <a:avLst/>
            </a:prstGeom>
          </p:spPr>
          <p:txBody>
            <a:bodyPr anchor="ctr" rtlCol="false" tIns="50800" lIns="50800" bIns="50800" rIns="50800"/>
            <a:lstStyle/>
            <a:p>
              <a:pPr algn="ctr" marL="0" indent="0" lvl="0">
                <a:lnSpc>
                  <a:spcPts val="2659"/>
                </a:lnSpc>
              </a:pPr>
            </a:p>
          </p:txBody>
        </p:sp>
      </p:grpSp>
      <p:sp>
        <p:nvSpPr>
          <p:cNvPr name="Freeform 17" id="17"/>
          <p:cNvSpPr/>
          <p:nvPr/>
        </p:nvSpPr>
        <p:spPr>
          <a:xfrm flipH="false" flipV="false" rot="0">
            <a:off x="2918190" y="5996068"/>
            <a:ext cx="1057425" cy="811654"/>
          </a:xfrm>
          <a:custGeom>
            <a:avLst/>
            <a:gdLst/>
            <a:ahLst/>
            <a:cxnLst/>
            <a:rect r="r" b="b" t="t" l="l"/>
            <a:pathLst>
              <a:path h="811654" w="1057425">
                <a:moveTo>
                  <a:pt x="0" y="0"/>
                </a:moveTo>
                <a:lnTo>
                  <a:pt x="1057425" y="0"/>
                </a:lnTo>
                <a:lnTo>
                  <a:pt x="1057425" y="811653"/>
                </a:lnTo>
                <a:lnTo>
                  <a:pt x="0" y="811653"/>
                </a:lnTo>
                <a:lnTo>
                  <a:pt x="0" y="0"/>
                </a:lnTo>
                <a:close/>
              </a:path>
            </a:pathLst>
          </a:custGeom>
          <a:blipFill>
            <a:blip r:embed="rId4"/>
            <a:stretch>
              <a:fillRect l="0" t="0" r="0" b="0"/>
            </a:stretch>
          </a:blipFill>
        </p:spPr>
      </p:sp>
      <p:sp>
        <p:nvSpPr>
          <p:cNvPr name="Freeform 18" id="18"/>
          <p:cNvSpPr/>
          <p:nvPr/>
        </p:nvSpPr>
        <p:spPr>
          <a:xfrm flipH="false" flipV="false" rot="0">
            <a:off x="6830579" y="6043150"/>
            <a:ext cx="830147" cy="713567"/>
          </a:xfrm>
          <a:custGeom>
            <a:avLst/>
            <a:gdLst/>
            <a:ahLst/>
            <a:cxnLst/>
            <a:rect r="r" b="b" t="t" l="l"/>
            <a:pathLst>
              <a:path h="713567" w="830147">
                <a:moveTo>
                  <a:pt x="0" y="0"/>
                </a:moveTo>
                <a:lnTo>
                  <a:pt x="830147" y="0"/>
                </a:lnTo>
                <a:lnTo>
                  <a:pt x="830147" y="713567"/>
                </a:lnTo>
                <a:lnTo>
                  <a:pt x="0" y="713567"/>
                </a:lnTo>
                <a:lnTo>
                  <a:pt x="0" y="0"/>
                </a:lnTo>
                <a:close/>
              </a:path>
            </a:pathLst>
          </a:custGeom>
          <a:blipFill>
            <a:blip r:embed="rId5"/>
            <a:stretch>
              <a:fillRect l="0" t="0" r="0" b="0"/>
            </a:stretch>
          </a:blipFill>
        </p:spPr>
      </p:sp>
      <p:sp>
        <p:nvSpPr>
          <p:cNvPr name="Freeform 19" id="19"/>
          <p:cNvSpPr/>
          <p:nvPr/>
        </p:nvSpPr>
        <p:spPr>
          <a:xfrm flipH="false" flipV="false" rot="0">
            <a:off x="10684895" y="5933831"/>
            <a:ext cx="914216" cy="921124"/>
          </a:xfrm>
          <a:custGeom>
            <a:avLst/>
            <a:gdLst/>
            <a:ahLst/>
            <a:cxnLst/>
            <a:rect r="r" b="b" t="t" l="l"/>
            <a:pathLst>
              <a:path h="921124" w="914216">
                <a:moveTo>
                  <a:pt x="0" y="0"/>
                </a:moveTo>
                <a:lnTo>
                  <a:pt x="914216" y="0"/>
                </a:lnTo>
                <a:lnTo>
                  <a:pt x="914216" y="921125"/>
                </a:lnTo>
                <a:lnTo>
                  <a:pt x="0" y="921125"/>
                </a:lnTo>
                <a:lnTo>
                  <a:pt x="0" y="0"/>
                </a:lnTo>
                <a:close/>
              </a:path>
            </a:pathLst>
          </a:custGeom>
          <a:blipFill>
            <a:blip r:embed="rId6"/>
            <a:stretch>
              <a:fillRect l="0" t="0" r="0" b="0"/>
            </a:stretch>
          </a:blipFill>
        </p:spPr>
      </p:sp>
      <p:sp>
        <p:nvSpPr>
          <p:cNvPr name="Freeform 20" id="20"/>
          <p:cNvSpPr/>
          <p:nvPr/>
        </p:nvSpPr>
        <p:spPr>
          <a:xfrm flipH="false" flipV="false" rot="0">
            <a:off x="14474539" y="5874591"/>
            <a:ext cx="906962" cy="906962"/>
          </a:xfrm>
          <a:custGeom>
            <a:avLst/>
            <a:gdLst/>
            <a:ahLst/>
            <a:cxnLst/>
            <a:rect r="r" b="b" t="t" l="l"/>
            <a:pathLst>
              <a:path h="906962" w="906962">
                <a:moveTo>
                  <a:pt x="0" y="0"/>
                </a:moveTo>
                <a:lnTo>
                  <a:pt x="906963" y="0"/>
                </a:lnTo>
                <a:lnTo>
                  <a:pt x="906963" y="906963"/>
                </a:lnTo>
                <a:lnTo>
                  <a:pt x="0" y="906963"/>
                </a:lnTo>
                <a:lnTo>
                  <a:pt x="0" y="0"/>
                </a:lnTo>
                <a:close/>
              </a:path>
            </a:pathLst>
          </a:custGeom>
          <a:blipFill>
            <a:blip r:embed="rId7"/>
            <a:stretch>
              <a:fillRect l="0" t="0" r="0" b="0"/>
            </a:stretch>
          </a:blipFill>
        </p:spPr>
      </p:sp>
      <p:sp>
        <p:nvSpPr>
          <p:cNvPr name="TextBox 21" id="21"/>
          <p:cNvSpPr txBox="true"/>
          <p:nvPr/>
        </p:nvSpPr>
        <p:spPr>
          <a:xfrm rot="0">
            <a:off x="1472267" y="3176838"/>
            <a:ext cx="15343465" cy="1561687"/>
          </a:xfrm>
          <a:prstGeom prst="rect">
            <a:avLst/>
          </a:prstGeom>
        </p:spPr>
        <p:txBody>
          <a:bodyPr anchor="t" rtlCol="false" tIns="0" lIns="0" bIns="0" rIns="0">
            <a:spAutoFit/>
          </a:bodyPr>
          <a:lstStyle/>
          <a:p>
            <a:pPr algn="ctr" marL="0" indent="0" lvl="0">
              <a:lnSpc>
                <a:spcPts val="4224"/>
              </a:lnSpc>
            </a:pPr>
            <a:r>
              <a:rPr lang="en-US" sz="2346">
                <a:solidFill>
                  <a:srgbClr val="555555"/>
                </a:solidFill>
                <a:latin typeface="Roboto"/>
                <a:ea typeface="Roboto"/>
                <a:cs typeface="Roboto"/>
                <a:sym typeface="Roboto"/>
              </a:rPr>
              <a:t>The mobile app system delivers significant advantages for telecom operators, researchers, and network planners. By leveraging real user data and crowdsourced feedback, the platform enables data-driven decision making while maintaining robust data collection even in challenging connectivity conditions.</a:t>
            </a:r>
          </a:p>
        </p:txBody>
      </p:sp>
      <p:sp>
        <p:nvSpPr>
          <p:cNvPr name="TextBox 22" id="22"/>
          <p:cNvSpPr txBox="true"/>
          <p:nvPr/>
        </p:nvSpPr>
        <p:spPr>
          <a:xfrm rot="0">
            <a:off x="13721028" y="7081627"/>
            <a:ext cx="2384677" cy="1221533"/>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Offline-first design ensures reliable data collection</a:t>
            </a:r>
          </a:p>
        </p:txBody>
      </p:sp>
      <p:sp>
        <p:nvSpPr>
          <p:cNvPr name="TextBox 23" id="23"/>
          <p:cNvSpPr txBox="true"/>
          <p:nvPr/>
        </p:nvSpPr>
        <p:spPr>
          <a:xfrm rot="0">
            <a:off x="9910762" y="7081627"/>
            <a:ext cx="2239196" cy="805708"/>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Supports better network Statistics</a:t>
            </a:r>
          </a:p>
        </p:txBody>
      </p:sp>
      <p:sp>
        <p:nvSpPr>
          <p:cNvPr name="TextBox 24" id="24"/>
          <p:cNvSpPr txBox="true"/>
          <p:nvPr/>
        </p:nvSpPr>
        <p:spPr>
          <a:xfrm rot="0">
            <a:off x="6185154" y="7081627"/>
            <a:ext cx="2101372" cy="1221533"/>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Real-time Subscriber network feedback</a:t>
            </a:r>
          </a:p>
        </p:txBody>
      </p:sp>
      <p:sp>
        <p:nvSpPr>
          <p:cNvPr name="TextBox 25" id="25"/>
          <p:cNvSpPr txBox="true"/>
          <p:nvPr/>
        </p:nvSpPr>
        <p:spPr>
          <a:xfrm rot="0">
            <a:off x="2326943" y="7097197"/>
            <a:ext cx="2101372" cy="1221533"/>
          </a:xfrm>
          <a:prstGeom prst="rect">
            <a:avLst/>
          </a:prstGeom>
        </p:spPr>
        <p:txBody>
          <a:bodyPr anchor="t" rtlCol="false" tIns="0" lIns="0" bIns="0" rIns="0">
            <a:spAutoFit/>
          </a:bodyPr>
          <a:lstStyle/>
          <a:p>
            <a:pPr algn="ctr" marL="0" indent="0" lvl="0">
              <a:lnSpc>
                <a:spcPts val="3312"/>
              </a:lnSpc>
            </a:pPr>
            <a:r>
              <a:rPr lang="en-US" b="true" sz="1840">
                <a:solidFill>
                  <a:srgbClr val="E5E5E5"/>
                </a:solidFill>
                <a:latin typeface="Roboto Bold"/>
                <a:ea typeface="Roboto Bold"/>
                <a:cs typeface="Roboto Bold"/>
                <a:sym typeface="Roboto Bold"/>
              </a:rPr>
              <a:t>Improved telecom insights from real user data</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E5E5E5"/>
        </a:solidFill>
      </p:bgPr>
    </p:bg>
    <p:spTree>
      <p:nvGrpSpPr>
        <p:cNvPr id="1" name=""/>
        <p:cNvGrpSpPr/>
        <p:nvPr/>
      </p:nvGrpSpPr>
      <p:grpSpPr>
        <a:xfrm>
          <a:off x="0" y="0"/>
          <a:ext cx="0" cy="0"/>
          <a:chOff x="0" y="0"/>
          <a:chExt cx="0" cy="0"/>
        </a:xfrm>
      </p:grpSpPr>
      <p:grpSp>
        <p:nvGrpSpPr>
          <p:cNvPr name="Group 2" id="2"/>
          <p:cNvGrpSpPr/>
          <p:nvPr/>
        </p:nvGrpSpPr>
        <p:grpSpPr>
          <a:xfrm rot="5400000">
            <a:off x="-4061429" y="3756184"/>
            <a:ext cx="10897491" cy="2774632"/>
            <a:chOff x="0" y="0"/>
            <a:chExt cx="2870121" cy="730767"/>
          </a:xfrm>
        </p:grpSpPr>
        <p:sp>
          <p:nvSpPr>
            <p:cNvPr name="Freeform 3" id="3"/>
            <p:cNvSpPr/>
            <p:nvPr/>
          </p:nvSpPr>
          <p:spPr>
            <a:xfrm flipH="false" flipV="false" rot="0">
              <a:off x="0" y="0"/>
              <a:ext cx="2870121" cy="730767"/>
            </a:xfrm>
            <a:custGeom>
              <a:avLst/>
              <a:gdLst/>
              <a:ahLst/>
              <a:cxnLst/>
              <a:rect r="r" b="b" t="t" l="l"/>
              <a:pathLst>
                <a:path h="730767" w="2870121">
                  <a:moveTo>
                    <a:pt x="0" y="0"/>
                  </a:moveTo>
                  <a:lnTo>
                    <a:pt x="2870121" y="0"/>
                  </a:lnTo>
                  <a:lnTo>
                    <a:pt x="2870121" y="730767"/>
                  </a:lnTo>
                  <a:lnTo>
                    <a:pt x="0" y="730767"/>
                  </a:lnTo>
                  <a:close/>
                </a:path>
              </a:pathLst>
            </a:custGeom>
            <a:solidFill>
              <a:srgbClr val="2E7D6B">
                <a:alpha val="62745"/>
              </a:srgbClr>
            </a:solidFill>
          </p:spPr>
        </p:sp>
        <p:sp>
          <p:nvSpPr>
            <p:cNvPr name="TextBox 4" id="4"/>
            <p:cNvSpPr txBox="true"/>
            <p:nvPr/>
          </p:nvSpPr>
          <p:spPr>
            <a:xfrm>
              <a:off x="0" y="-38100"/>
              <a:ext cx="2870121" cy="768867"/>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5" id="5"/>
          <p:cNvGrpSpPr/>
          <p:nvPr/>
        </p:nvGrpSpPr>
        <p:grpSpPr>
          <a:xfrm rot="0">
            <a:off x="3849840" y="3617837"/>
            <a:ext cx="5294160" cy="3051326"/>
            <a:chOff x="0" y="0"/>
            <a:chExt cx="912506" cy="525929"/>
          </a:xfrm>
        </p:grpSpPr>
        <p:sp>
          <p:nvSpPr>
            <p:cNvPr name="Freeform 6" id="6"/>
            <p:cNvSpPr/>
            <p:nvPr/>
          </p:nvSpPr>
          <p:spPr>
            <a:xfrm flipH="false" flipV="false" rot="0">
              <a:off x="0" y="0"/>
              <a:ext cx="912506" cy="525929"/>
            </a:xfrm>
            <a:custGeom>
              <a:avLst/>
              <a:gdLst/>
              <a:ahLst/>
              <a:cxnLst/>
              <a:rect r="r" b="b" t="t" l="l"/>
              <a:pathLst>
                <a:path h="525929" w="912506">
                  <a:moveTo>
                    <a:pt x="0" y="0"/>
                  </a:moveTo>
                  <a:lnTo>
                    <a:pt x="912506" y="0"/>
                  </a:lnTo>
                  <a:lnTo>
                    <a:pt x="912506" y="525929"/>
                  </a:lnTo>
                  <a:lnTo>
                    <a:pt x="0" y="525929"/>
                  </a:lnTo>
                  <a:close/>
                </a:path>
              </a:pathLst>
            </a:custGeom>
            <a:blipFill>
              <a:blip r:embed="rId2"/>
              <a:stretch>
                <a:fillRect l="-557" t="0" r="-557" b="0"/>
              </a:stretch>
            </a:blipFill>
            <a:ln w="38100" cap="sq">
              <a:solidFill>
                <a:srgbClr val="1F5A4E"/>
              </a:solidFill>
              <a:prstDash val="solid"/>
              <a:miter/>
            </a:ln>
          </p:spPr>
        </p:sp>
      </p:grpSp>
      <p:grpSp>
        <p:nvGrpSpPr>
          <p:cNvPr name="Group 7" id="7"/>
          <p:cNvGrpSpPr/>
          <p:nvPr/>
        </p:nvGrpSpPr>
        <p:grpSpPr>
          <a:xfrm rot="0">
            <a:off x="11048835" y="3617837"/>
            <a:ext cx="5422747" cy="3051326"/>
            <a:chOff x="0" y="0"/>
            <a:chExt cx="934670" cy="525929"/>
          </a:xfrm>
        </p:grpSpPr>
        <p:sp>
          <p:nvSpPr>
            <p:cNvPr name="Freeform 8" id="8"/>
            <p:cNvSpPr/>
            <p:nvPr/>
          </p:nvSpPr>
          <p:spPr>
            <a:xfrm flipH="false" flipV="false" rot="0">
              <a:off x="0" y="0"/>
              <a:ext cx="934670" cy="525929"/>
            </a:xfrm>
            <a:custGeom>
              <a:avLst/>
              <a:gdLst/>
              <a:ahLst/>
              <a:cxnLst/>
              <a:rect r="r" b="b" t="t" l="l"/>
              <a:pathLst>
                <a:path h="525929" w="934670">
                  <a:moveTo>
                    <a:pt x="0" y="0"/>
                  </a:moveTo>
                  <a:lnTo>
                    <a:pt x="934670" y="0"/>
                  </a:lnTo>
                  <a:lnTo>
                    <a:pt x="934670" y="525929"/>
                  </a:lnTo>
                  <a:lnTo>
                    <a:pt x="0" y="525929"/>
                  </a:lnTo>
                  <a:close/>
                </a:path>
              </a:pathLst>
            </a:custGeom>
            <a:blipFill>
              <a:blip r:embed="rId3"/>
              <a:stretch>
                <a:fillRect l="0" t="-649" r="0" b="-649"/>
              </a:stretch>
            </a:blipFill>
            <a:ln w="38100" cap="sq">
              <a:solidFill>
                <a:srgbClr val="1F5A4E"/>
              </a:solidFill>
              <a:prstDash val="solid"/>
              <a:miter/>
            </a:ln>
          </p:spPr>
        </p:sp>
      </p:grpSp>
      <p:grpSp>
        <p:nvGrpSpPr>
          <p:cNvPr name="Group 9" id="9"/>
          <p:cNvGrpSpPr/>
          <p:nvPr/>
        </p:nvGrpSpPr>
        <p:grpSpPr>
          <a:xfrm rot="0">
            <a:off x="3345805" y="3113802"/>
            <a:ext cx="1008070" cy="1008070"/>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A4E"/>
            </a:soli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pPr>
            </a:p>
          </p:txBody>
        </p:sp>
      </p:grpSp>
      <p:grpSp>
        <p:nvGrpSpPr>
          <p:cNvPr name="Group 12" id="12"/>
          <p:cNvGrpSpPr/>
          <p:nvPr/>
        </p:nvGrpSpPr>
        <p:grpSpPr>
          <a:xfrm rot="0">
            <a:off x="10544800" y="3113802"/>
            <a:ext cx="1008070" cy="1008070"/>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A4E"/>
            </a:solidFill>
          </p:spPr>
        </p:sp>
        <p:sp>
          <p:nvSpPr>
            <p:cNvPr name="TextBox 14" id="14"/>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pPr>
            </a:p>
          </p:txBody>
        </p:sp>
      </p:grpSp>
      <p:sp>
        <p:nvSpPr>
          <p:cNvPr name="TextBox 15" id="15"/>
          <p:cNvSpPr txBox="true"/>
          <p:nvPr/>
        </p:nvSpPr>
        <p:spPr>
          <a:xfrm rot="0">
            <a:off x="3720112" y="1311069"/>
            <a:ext cx="13088005" cy="1208187"/>
          </a:xfrm>
          <a:prstGeom prst="rect">
            <a:avLst/>
          </a:prstGeom>
        </p:spPr>
        <p:txBody>
          <a:bodyPr anchor="t" rtlCol="false" tIns="0" lIns="0" bIns="0" rIns="0">
            <a:spAutoFit/>
          </a:bodyPr>
          <a:lstStyle/>
          <a:p>
            <a:pPr algn="ctr" marL="0" indent="0" lvl="0">
              <a:lnSpc>
                <a:spcPts val="9706"/>
              </a:lnSpc>
              <a:spcBef>
                <a:spcPct val="0"/>
              </a:spcBef>
            </a:pPr>
            <a:r>
              <a:rPr lang="en-US" b="true" sz="6933">
                <a:solidFill>
                  <a:srgbClr val="1F5A4E"/>
                </a:solidFill>
                <a:latin typeface="Roboto Bold"/>
                <a:ea typeface="Roboto Bold"/>
                <a:cs typeface="Roboto Bold"/>
                <a:sym typeface="Roboto Bold"/>
              </a:rPr>
              <a:t>Challenges &amp; Limitations</a:t>
            </a:r>
          </a:p>
        </p:txBody>
      </p:sp>
      <p:sp>
        <p:nvSpPr>
          <p:cNvPr name="TextBox 16" id="16"/>
          <p:cNvSpPr txBox="true"/>
          <p:nvPr/>
        </p:nvSpPr>
        <p:spPr>
          <a:xfrm rot="0">
            <a:off x="3720112" y="3129564"/>
            <a:ext cx="327190" cy="757661"/>
          </a:xfrm>
          <a:prstGeom prst="rect">
            <a:avLst/>
          </a:prstGeom>
        </p:spPr>
        <p:txBody>
          <a:bodyPr anchor="t" rtlCol="false" tIns="0" lIns="0" bIns="0" rIns="0">
            <a:spAutoFit/>
          </a:bodyPr>
          <a:lstStyle/>
          <a:p>
            <a:pPr algn="ctr" marL="0" indent="0" lvl="0">
              <a:lnSpc>
                <a:spcPts val="6402"/>
              </a:lnSpc>
            </a:pPr>
            <a:r>
              <a:rPr lang="en-US" b="true" sz="3556">
                <a:solidFill>
                  <a:srgbClr val="E5E5E5"/>
                </a:solidFill>
                <a:latin typeface="Roboto Bold"/>
                <a:ea typeface="Roboto Bold"/>
                <a:cs typeface="Roboto Bold"/>
                <a:sym typeface="Roboto Bold"/>
              </a:rPr>
              <a:t>1</a:t>
            </a:r>
          </a:p>
        </p:txBody>
      </p:sp>
      <p:sp>
        <p:nvSpPr>
          <p:cNvPr name="TextBox 17" id="17"/>
          <p:cNvSpPr txBox="true"/>
          <p:nvPr/>
        </p:nvSpPr>
        <p:spPr>
          <a:xfrm rot="0">
            <a:off x="10885240" y="3129527"/>
            <a:ext cx="327190" cy="757661"/>
          </a:xfrm>
          <a:prstGeom prst="rect">
            <a:avLst/>
          </a:prstGeom>
        </p:spPr>
        <p:txBody>
          <a:bodyPr anchor="t" rtlCol="false" tIns="0" lIns="0" bIns="0" rIns="0">
            <a:spAutoFit/>
          </a:bodyPr>
          <a:lstStyle/>
          <a:p>
            <a:pPr algn="ctr" marL="0" indent="0" lvl="0">
              <a:lnSpc>
                <a:spcPts val="6402"/>
              </a:lnSpc>
            </a:pPr>
            <a:r>
              <a:rPr lang="en-US" b="true" sz="3556">
                <a:solidFill>
                  <a:srgbClr val="E5E5E5"/>
                </a:solidFill>
                <a:latin typeface="Roboto Bold"/>
                <a:ea typeface="Roboto Bold"/>
                <a:cs typeface="Roboto Bold"/>
                <a:sym typeface="Roboto Bold"/>
              </a:rPr>
              <a:t>2</a:t>
            </a:r>
          </a:p>
        </p:txBody>
      </p:sp>
      <p:sp>
        <p:nvSpPr>
          <p:cNvPr name="TextBox 18" id="18"/>
          <p:cNvSpPr txBox="true"/>
          <p:nvPr/>
        </p:nvSpPr>
        <p:spPr>
          <a:xfrm rot="0">
            <a:off x="3849840" y="6768265"/>
            <a:ext cx="5294160" cy="2355029"/>
          </a:xfrm>
          <a:prstGeom prst="rect">
            <a:avLst/>
          </a:prstGeom>
        </p:spPr>
        <p:txBody>
          <a:bodyPr anchor="t" rtlCol="false" tIns="0" lIns="0" bIns="0" rIns="0">
            <a:spAutoFit/>
          </a:bodyPr>
          <a:lstStyle/>
          <a:p>
            <a:pPr algn="just" marL="0" indent="0" lvl="0">
              <a:lnSpc>
                <a:spcPts val="3139"/>
              </a:lnSpc>
            </a:pPr>
            <a:r>
              <a:rPr lang="en-US" sz="1743">
                <a:solidFill>
                  <a:srgbClr val="000000"/>
                </a:solidFill>
                <a:latin typeface="Roboto"/>
                <a:ea typeface="Roboto"/>
                <a:cs typeface="Roboto"/>
                <a:sym typeface="Roboto"/>
              </a:rPr>
              <a:t>GPS Permissions &amp; Battery Consumption</a:t>
            </a:r>
          </a:p>
          <a:p>
            <a:pPr algn="just" marL="0" indent="0" lvl="0">
              <a:lnSpc>
                <a:spcPts val="3139"/>
              </a:lnSpc>
            </a:pPr>
            <a:r>
              <a:rPr lang="en-US" sz="1743">
                <a:solidFill>
                  <a:srgbClr val="000000"/>
                </a:solidFill>
                <a:latin typeface="Roboto"/>
                <a:ea typeface="Roboto"/>
                <a:cs typeface="Roboto"/>
                <a:sym typeface="Roboto"/>
              </a:rPr>
              <a:t>The app requires GPS permissions for location-based data collection, which some users may decline. Continuous background monitoring also increases battery consumption, requiring careful optimization to balance data quality with device performance.</a:t>
            </a:r>
          </a:p>
        </p:txBody>
      </p:sp>
      <p:sp>
        <p:nvSpPr>
          <p:cNvPr name="TextBox 19" id="19"/>
          <p:cNvSpPr txBox="true"/>
          <p:nvPr/>
        </p:nvSpPr>
        <p:spPr>
          <a:xfrm rot="0">
            <a:off x="11048835" y="6768265"/>
            <a:ext cx="5422747" cy="2355029"/>
          </a:xfrm>
          <a:prstGeom prst="rect">
            <a:avLst/>
          </a:prstGeom>
        </p:spPr>
        <p:txBody>
          <a:bodyPr anchor="t" rtlCol="false" tIns="0" lIns="0" bIns="0" rIns="0">
            <a:spAutoFit/>
          </a:bodyPr>
          <a:lstStyle/>
          <a:p>
            <a:pPr algn="just" marL="0" indent="0" lvl="0">
              <a:lnSpc>
                <a:spcPts val="3139"/>
              </a:lnSpc>
            </a:pPr>
            <a:r>
              <a:rPr lang="en-US" sz="1743">
                <a:solidFill>
                  <a:srgbClr val="000000"/>
                </a:solidFill>
                <a:latin typeface="Roboto"/>
                <a:ea typeface="Roboto"/>
                <a:cs typeface="Roboto"/>
                <a:sym typeface="Roboto"/>
              </a:rPr>
              <a:t>Sync Delays &amp; User Participation</a:t>
            </a:r>
          </a:p>
          <a:p>
            <a:pPr algn="just" marL="0" indent="0" lvl="0">
              <a:lnSpc>
                <a:spcPts val="3139"/>
              </a:lnSpc>
            </a:pPr>
            <a:r>
              <a:rPr lang="en-US" sz="1743">
                <a:solidFill>
                  <a:srgbClr val="000000"/>
                </a:solidFill>
                <a:latin typeface="Roboto"/>
                <a:ea typeface="Roboto"/>
                <a:cs typeface="Roboto"/>
                <a:sym typeface="Roboto"/>
              </a:rPr>
              <a:t>Offline data synchronization introduces delays when connectivity is intermittent, potentially affecting real-time analytics. Additionally, variability in user participation and engagement impacts the volume and consistency of crowdsourced feedback data.</a:t>
            </a:r>
          </a:p>
        </p:txBody>
      </p:sp>
      <p:sp>
        <p:nvSpPr>
          <p:cNvPr name="Freeform 20" id="20"/>
          <p:cNvSpPr/>
          <p:nvPr/>
        </p:nvSpPr>
        <p:spPr>
          <a:xfrm flipH="false" flipV="false" rot="0">
            <a:off x="2774632" y="-1373603"/>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4">
              <a:alphaModFix amt="64000"/>
              <a:extLst>
                <a:ext uri="{96DAC541-7B7A-43D3-8B79-37D633B846F1}">
                  <asvg:svgBlip xmlns:asvg="http://schemas.microsoft.com/office/drawing/2016/SVG/main" r:embed="rId5"/>
                </a:ext>
              </a:extLst>
            </a:blip>
            <a:stretch>
              <a:fillRect l="0" t="0" r="0" b="0"/>
            </a:stretch>
          </a:blipFill>
        </p:spPr>
      </p:sp>
      <p:sp>
        <p:nvSpPr>
          <p:cNvPr name="Freeform 21" id="21"/>
          <p:cNvSpPr/>
          <p:nvPr/>
        </p:nvSpPr>
        <p:spPr>
          <a:xfrm flipH="false" flipV="false" rot="-10800000">
            <a:off x="17259300" y="7884697"/>
            <a:ext cx="4389589" cy="2402303"/>
          </a:xfrm>
          <a:custGeom>
            <a:avLst/>
            <a:gdLst/>
            <a:ahLst/>
            <a:cxnLst/>
            <a:rect r="r" b="b" t="t" l="l"/>
            <a:pathLst>
              <a:path h="2402303" w="4389589">
                <a:moveTo>
                  <a:pt x="0" y="0"/>
                </a:moveTo>
                <a:lnTo>
                  <a:pt x="4389589" y="0"/>
                </a:lnTo>
                <a:lnTo>
                  <a:pt x="4389589" y="2402303"/>
                </a:lnTo>
                <a:lnTo>
                  <a:pt x="0" y="2402303"/>
                </a:lnTo>
                <a:lnTo>
                  <a:pt x="0" y="0"/>
                </a:lnTo>
                <a:close/>
              </a:path>
            </a:pathLst>
          </a:custGeom>
          <a:blipFill>
            <a:blip r:embed="rId4">
              <a:alphaModFix amt="64000"/>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F4F4F4"/>
        </a:solidFill>
      </p:bgPr>
    </p:bg>
    <p:spTree>
      <p:nvGrpSpPr>
        <p:cNvPr id="1" name=""/>
        <p:cNvGrpSpPr/>
        <p:nvPr/>
      </p:nvGrpSpPr>
      <p:grpSpPr>
        <a:xfrm>
          <a:off x="0" y="0"/>
          <a:ext cx="0" cy="0"/>
          <a:chOff x="0" y="0"/>
          <a:chExt cx="0" cy="0"/>
        </a:xfrm>
      </p:grpSpPr>
      <p:grpSp>
        <p:nvGrpSpPr>
          <p:cNvPr name="Group 2" id="2"/>
          <p:cNvGrpSpPr/>
          <p:nvPr/>
        </p:nvGrpSpPr>
        <p:grpSpPr>
          <a:xfrm rot="0">
            <a:off x="1304036" y="583927"/>
            <a:ext cx="7417283" cy="8229600"/>
            <a:chOff x="0" y="0"/>
            <a:chExt cx="1149131" cy="1274980"/>
          </a:xfrm>
        </p:grpSpPr>
        <p:sp>
          <p:nvSpPr>
            <p:cNvPr name="Freeform 3" id="3"/>
            <p:cNvSpPr/>
            <p:nvPr/>
          </p:nvSpPr>
          <p:spPr>
            <a:xfrm flipH="false" flipV="false" rot="0">
              <a:off x="0" y="0"/>
              <a:ext cx="1149131" cy="1274980"/>
            </a:xfrm>
            <a:custGeom>
              <a:avLst/>
              <a:gdLst/>
              <a:ahLst/>
              <a:cxnLst/>
              <a:rect r="r" b="b" t="t" l="l"/>
              <a:pathLst>
                <a:path h="1274980" w="1149131">
                  <a:moveTo>
                    <a:pt x="0" y="0"/>
                  </a:moveTo>
                  <a:lnTo>
                    <a:pt x="1149131" y="0"/>
                  </a:lnTo>
                  <a:lnTo>
                    <a:pt x="1149131" y="1274980"/>
                  </a:lnTo>
                  <a:lnTo>
                    <a:pt x="0" y="1274980"/>
                  </a:lnTo>
                  <a:close/>
                </a:path>
              </a:pathLst>
            </a:custGeom>
            <a:blipFill>
              <a:blip r:embed="rId2"/>
              <a:stretch>
                <a:fillRect l="-5475" t="0" r="-5475" b="0"/>
              </a:stretch>
            </a:blipFill>
          </p:spPr>
        </p:sp>
      </p:grpSp>
      <p:sp>
        <p:nvSpPr>
          <p:cNvPr name="TextBox 4" id="4"/>
          <p:cNvSpPr txBox="true"/>
          <p:nvPr/>
        </p:nvSpPr>
        <p:spPr>
          <a:xfrm rot="0">
            <a:off x="9757183" y="4347359"/>
            <a:ext cx="5716637" cy="630226"/>
          </a:xfrm>
          <a:prstGeom prst="rect">
            <a:avLst/>
          </a:prstGeom>
        </p:spPr>
        <p:txBody>
          <a:bodyPr anchor="t" rtlCol="false" tIns="0" lIns="0" bIns="0" rIns="0">
            <a:spAutoFit/>
          </a:bodyPr>
          <a:lstStyle/>
          <a:p>
            <a:pPr algn="ctr">
              <a:lnSpc>
                <a:spcPts val="5163"/>
              </a:lnSpc>
              <a:spcBef>
                <a:spcPct val="0"/>
              </a:spcBef>
            </a:pPr>
            <a:r>
              <a:rPr lang="en-US" sz="3687">
                <a:solidFill>
                  <a:srgbClr val="3A625D"/>
                </a:solidFill>
                <a:latin typeface="Aileron"/>
                <a:ea typeface="Aileron"/>
                <a:cs typeface="Aileron"/>
                <a:sym typeface="Aileron"/>
              </a:rPr>
              <a:t>Thanks for your Atttendtion</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sp>
        <p:nvSpPr>
          <p:cNvPr name="TextBox 3" id="3"/>
          <p:cNvSpPr txBox="true"/>
          <p:nvPr/>
        </p:nvSpPr>
        <p:spPr>
          <a:xfrm rot="0">
            <a:off x="1028700" y="990600"/>
            <a:ext cx="3383553" cy="356235"/>
          </a:xfrm>
          <a:prstGeom prst="rect">
            <a:avLst/>
          </a:prstGeom>
        </p:spPr>
        <p:txBody>
          <a:bodyPr anchor="t" rtlCol="false" tIns="0" lIns="0" bIns="0" rIns="0">
            <a:spAutoFit/>
          </a:bodyPr>
          <a:lstStyle/>
          <a:p>
            <a:pPr algn="l">
              <a:lnSpc>
                <a:spcPts val="2939"/>
              </a:lnSpc>
            </a:pPr>
            <a:r>
              <a:rPr lang="en-US" sz="2099" b="true">
                <a:solidFill>
                  <a:srgbClr val="F4F4F4"/>
                </a:solidFill>
                <a:latin typeface="Montserrat Bold"/>
                <a:ea typeface="Montserrat Bold"/>
                <a:cs typeface="Montserrat Bold"/>
                <a:sym typeface="Montserrat Bold"/>
              </a:rPr>
              <a:t>Group 5 Presentation</a:t>
            </a:r>
          </a:p>
        </p:txBody>
      </p:sp>
      <p:sp>
        <p:nvSpPr>
          <p:cNvPr name="TextBox 4" id="4"/>
          <p:cNvSpPr txBox="true"/>
          <p:nvPr/>
        </p:nvSpPr>
        <p:spPr>
          <a:xfrm rot="0">
            <a:off x="15712380" y="990600"/>
            <a:ext cx="1546920" cy="306705"/>
          </a:xfrm>
          <a:prstGeom prst="rect">
            <a:avLst/>
          </a:prstGeom>
        </p:spPr>
        <p:txBody>
          <a:bodyPr anchor="t" rtlCol="false" tIns="0" lIns="0" bIns="0" rIns="0">
            <a:spAutoFit/>
          </a:bodyPr>
          <a:lstStyle/>
          <a:p>
            <a:pPr algn="r">
              <a:lnSpc>
                <a:spcPts val="2520"/>
              </a:lnSpc>
            </a:pPr>
            <a:r>
              <a:rPr lang="en-US" sz="1800">
                <a:solidFill>
                  <a:srgbClr val="F4F4F4"/>
                </a:solidFill>
                <a:latin typeface="Aileron"/>
                <a:ea typeface="Aileron"/>
                <a:cs typeface="Aileron"/>
                <a:sym typeface="Aileron"/>
              </a:rPr>
              <a:t>25  May, 2026</a:t>
            </a:r>
          </a:p>
        </p:txBody>
      </p:sp>
      <p:sp>
        <p:nvSpPr>
          <p:cNvPr name="TextBox 5" id="5"/>
          <p:cNvSpPr txBox="true"/>
          <p:nvPr/>
        </p:nvSpPr>
        <p:spPr>
          <a:xfrm rot="0">
            <a:off x="1028700" y="8892540"/>
            <a:ext cx="1828949" cy="365760"/>
          </a:xfrm>
          <a:prstGeom prst="rect">
            <a:avLst/>
          </a:prstGeom>
        </p:spPr>
        <p:txBody>
          <a:bodyPr anchor="t" rtlCol="false" tIns="0" lIns="0" bIns="0" rIns="0">
            <a:spAutoFit/>
          </a:bodyPr>
          <a:lstStyle/>
          <a:p>
            <a:pPr algn="l">
              <a:lnSpc>
                <a:spcPts val="2939"/>
              </a:lnSpc>
            </a:pPr>
            <a:r>
              <a:rPr lang="en-US" sz="2099" b="true">
                <a:solidFill>
                  <a:srgbClr val="F4F4F4"/>
                </a:solidFill>
                <a:latin typeface="Aileron Bold"/>
                <a:ea typeface="Aileron Bold"/>
                <a:cs typeface="Aileron Bold"/>
                <a:sym typeface="Aileron Bold"/>
              </a:rPr>
              <a:t>Ndefru Brayan</a:t>
            </a:r>
          </a:p>
        </p:txBody>
      </p:sp>
      <p:sp>
        <p:nvSpPr>
          <p:cNvPr name="TextBox 6" id="6"/>
          <p:cNvSpPr txBox="true"/>
          <p:nvPr/>
        </p:nvSpPr>
        <p:spPr>
          <a:xfrm rot="0">
            <a:off x="5638850" y="8926830"/>
            <a:ext cx="1533227" cy="306705"/>
          </a:xfrm>
          <a:prstGeom prst="rect">
            <a:avLst/>
          </a:prstGeom>
        </p:spPr>
        <p:txBody>
          <a:bodyPr anchor="t" rtlCol="false" tIns="0" lIns="0" bIns="0" rIns="0">
            <a:spAutoFit/>
          </a:bodyPr>
          <a:lstStyle/>
          <a:p>
            <a:pPr algn="l">
              <a:lnSpc>
                <a:spcPts val="2520"/>
              </a:lnSpc>
            </a:pPr>
            <a:r>
              <a:rPr lang="en-US" sz="1800">
                <a:solidFill>
                  <a:srgbClr val="F4F4F4"/>
                </a:solidFill>
                <a:latin typeface="Aileron"/>
                <a:ea typeface="Aileron"/>
                <a:cs typeface="Aileron"/>
                <a:sym typeface="Aileron"/>
              </a:rPr>
              <a:t>Akoh McPeace</a:t>
            </a:r>
          </a:p>
        </p:txBody>
      </p:sp>
      <p:sp>
        <p:nvSpPr>
          <p:cNvPr name="TextBox 7" id="7"/>
          <p:cNvSpPr txBox="true"/>
          <p:nvPr/>
        </p:nvSpPr>
        <p:spPr>
          <a:xfrm rot="0">
            <a:off x="11161464" y="8926830"/>
            <a:ext cx="1365052" cy="306705"/>
          </a:xfrm>
          <a:prstGeom prst="rect">
            <a:avLst/>
          </a:prstGeom>
        </p:spPr>
        <p:txBody>
          <a:bodyPr anchor="t" rtlCol="false" tIns="0" lIns="0" bIns="0" rIns="0">
            <a:spAutoFit/>
          </a:bodyPr>
          <a:lstStyle/>
          <a:p>
            <a:pPr algn="l">
              <a:lnSpc>
                <a:spcPts val="2520"/>
              </a:lnSpc>
            </a:pPr>
            <a:r>
              <a:rPr lang="en-US" sz="1800">
                <a:solidFill>
                  <a:srgbClr val="F4F4F4"/>
                </a:solidFill>
                <a:latin typeface="Aileron"/>
                <a:ea typeface="Aileron"/>
                <a:cs typeface="Aileron"/>
                <a:sym typeface="Aileron"/>
              </a:rPr>
              <a:t>Ngolien Lucy</a:t>
            </a:r>
          </a:p>
        </p:txBody>
      </p:sp>
      <p:sp>
        <p:nvSpPr>
          <p:cNvPr name="TextBox 8" id="8"/>
          <p:cNvSpPr txBox="true"/>
          <p:nvPr/>
        </p:nvSpPr>
        <p:spPr>
          <a:xfrm rot="0">
            <a:off x="15675471" y="8926830"/>
            <a:ext cx="704404" cy="306705"/>
          </a:xfrm>
          <a:prstGeom prst="rect">
            <a:avLst/>
          </a:prstGeom>
        </p:spPr>
        <p:txBody>
          <a:bodyPr anchor="t" rtlCol="false" tIns="0" lIns="0" bIns="0" rIns="0">
            <a:spAutoFit/>
          </a:bodyPr>
          <a:lstStyle/>
          <a:p>
            <a:pPr algn="l">
              <a:lnSpc>
                <a:spcPts val="2520"/>
              </a:lnSpc>
            </a:pPr>
            <a:r>
              <a:rPr lang="en-US" sz="1800">
                <a:solidFill>
                  <a:srgbClr val="F4F4F4"/>
                </a:solidFill>
                <a:latin typeface="Aileron"/>
                <a:ea typeface="Aileron"/>
                <a:cs typeface="Aileron"/>
                <a:sym typeface="Aileron"/>
              </a:rPr>
              <a:t>Anelka</a:t>
            </a:r>
          </a:p>
        </p:txBody>
      </p:sp>
      <p:sp>
        <p:nvSpPr>
          <p:cNvPr name="TextBox 9" id="9"/>
          <p:cNvSpPr txBox="true"/>
          <p:nvPr/>
        </p:nvSpPr>
        <p:spPr>
          <a:xfrm rot="0">
            <a:off x="5253142" y="4299585"/>
            <a:ext cx="7781716" cy="1087755"/>
          </a:xfrm>
          <a:prstGeom prst="rect">
            <a:avLst/>
          </a:prstGeom>
        </p:spPr>
        <p:txBody>
          <a:bodyPr anchor="t" rtlCol="false" tIns="0" lIns="0" bIns="0" rIns="0">
            <a:spAutoFit/>
          </a:bodyPr>
          <a:lstStyle/>
          <a:p>
            <a:pPr algn="l">
              <a:lnSpc>
                <a:spcPts val="7680"/>
              </a:lnSpc>
            </a:pPr>
            <a:r>
              <a:rPr lang="en-US" sz="9600" spc="-403" b="true">
                <a:solidFill>
                  <a:srgbClr val="F4F4F4"/>
                </a:solidFill>
                <a:latin typeface="Montserrat Bold"/>
                <a:ea typeface="Montserrat Bold"/>
                <a:cs typeface="Montserrat Bold"/>
                <a:sym typeface="Montserrat Bold"/>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DAHKonuK7_Y</dc:identifier>
  <dcterms:modified xsi:type="dcterms:W3CDTF">2011-08-01T06:04:30Z</dcterms:modified>
  <cp:revision>1</cp:revision>
  <dc:title>Black and White Minimalist Creative Portfolio Presentation</dc:title>
</cp:coreProperties>
</file>