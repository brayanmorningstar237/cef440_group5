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4" r:id="rId8"/>
    <p:sldId id="265" r:id="rId9"/>
    <p:sldId id="266" r:id="rId10"/>
    <p:sldId id="273" r:id="rId11"/>
    <p:sldId id="284" r:id="rId12"/>
    <p:sldId id="285" r:id="rId13"/>
    <p:sldId id="262" r:id="rId14"/>
    <p:sldId id="263" r:id="rId15"/>
    <p:sldId id="267" r:id="rId16"/>
    <p:sldId id="268" r:id="rId17"/>
    <p:sldId id="282" r:id="rId18"/>
    <p:sldId id="272" r:id="rId19"/>
    <p:sldId id="286" r:id="rId20"/>
    <p:sldId id="274" r:id="rId21"/>
    <p:sldId id="275" r:id="rId22"/>
    <p:sldId id="276" r:id="rId23"/>
    <p:sldId id="277" r:id="rId24"/>
    <p:sldId id="278" r:id="rId25"/>
    <p:sldId id="279" r:id="rId26"/>
    <p:sldId id="280" r:id="rId27"/>
    <p:sldId id="281" r:id="rId28"/>
  </p:sldIdLst>
  <p:sldSz cx="18288000" cy="10287000"/>
  <p:notesSz cx="6858000" cy="9144000"/>
  <p:embeddedFontLst>
    <p:embeddedFont>
      <p:font typeface="Aileron" panose="020B0604020202020204" charset="0"/>
      <p:regular r:id="rId29"/>
    </p:embeddedFont>
    <p:embeddedFont>
      <p:font typeface="Aileron Bold" panose="020B0604020202020204" charset="0"/>
      <p:regular r:id="rId30"/>
    </p:embeddedFont>
    <p:embeddedFont>
      <p:font typeface="Montserrat Bold" panose="020B0604020202020204" charset="0"/>
      <p:regular r:id="rId31"/>
    </p:embeddedFont>
    <p:embeddedFont>
      <p:font typeface="Roboto" panose="02000000000000000000" pitchFamily="2" charset="0"/>
      <p:regular r:id="rId32"/>
    </p:embeddedFont>
    <p:embeddedFont>
      <p:font typeface="Roboto Bold" panose="020B0604020202020204" charset="0"/>
      <p:regular r:id="rId3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p:scale>
          <a:sx n="35" d="100"/>
          <a:sy n="35" d="100"/>
        </p:scale>
        <p:origin x="1416" y="24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5.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1.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4.fntdata"/><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font" Target="fonts/font2.fntdata"/><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6/2/2026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6/2/2026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6/2/2026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6/2/2026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6/2/2026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6/2/2026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6/2/2026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jpeg"/><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svg"/><Relationship Id="rId1" Type="http://schemas.openxmlformats.org/officeDocument/2006/relationships/slideLayout" Target="../slideLayouts/slideLayout7.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21.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3.svg"/><Relationship Id="rId1" Type="http://schemas.openxmlformats.org/officeDocument/2006/relationships/slideLayout" Target="../slideLayouts/slideLayout7.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s>
</file>

<file path=ppt/slides/_rels/slide23.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23.sv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23.svg"/><Relationship Id="rId1" Type="http://schemas.openxmlformats.org/officeDocument/2006/relationships/slideLayout" Target="../slideLayouts/slideLayout7.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35.png"/></Relationships>
</file>

<file path=ppt/slides/_rels/slide25.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7.xml"/><Relationship Id="rId4" Type="http://schemas.openxmlformats.org/officeDocument/2006/relationships/image" Target="../media/image23.svg"/></Relationships>
</file>

<file path=ppt/slides/_rels/slide26.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41.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21111" b="-21111"/>
            </a:stretch>
          </a:blipFill>
        </p:spPr>
        <p:txBody>
          <a:bodyPr/>
          <a:lstStyle/>
          <a:p>
            <a:endParaRPr lang="en-US"/>
          </a:p>
        </p:txBody>
      </p:sp>
      <p:sp>
        <p:nvSpPr>
          <p:cNvPr id="3" name="Freeform 3"/>
          <p:cNvSpPr/>
          <p:nvPr/>
        </p:nvSpPr>
        <p:spPr>
          <a:xfrm>
            <a:off x="1221632" y="4329980"/>
            <a:ext cx="2069086" cy="1527362"/>
          </a:xfrm>
          <a:custGeom>
            <a:avLst/>
            <a:gdLst/>
            <a:ahLst/>
            <a:cxnLst/>
            <a:rect l="l" t="t" r="r" b="b"/>
            <a:pathLst>
              <a:path w="2069086" h="1527362">
                <a:moveTo>
                  <a:pt x="0" y="0"/>
                </a:moveTo>
                <a:lnTo>
                  <a:pt x="2069086" y="0"/>
                </a:lnTo>
                <a:lnTo>
                  <a:pt x="2069086" y="1527361"/>
                </a:lnTo>
                <a:lnTo>
                  <a:pt x="0" y="1527361"/>
                </a:lnTo>
                <a:lnTo>
                  <a:pt x="0" y="0"/>
                </a:lnTo>
                <a:close/>
              </a:path>
            </a:pathLst>
          </a:custGeom>
          <a:blipFill>
            <a:blip r:embed="rId3"/>
            <a:stretch>
              <a:fillRect/>
            </a:stretch>
          </a:blipFill>
        </p:spPr>
        <p:txBody>
          <a:bodyPr/>
          <a:lstStyle/>
          <a:p>
            <a:endParaRPr lang="en-US"/>
          </a:p>
        </p:txBody>
      </p:sp>
      <p:grpSp>
        <p:nvGrpSpPr>
          <p:cNvPr id="4" name="Group 4"/>
          <p:cNvGrpSpPr/>
          <p:nvPr/>
        </p:nvGrpSpPr>
        <p:grpSpPr>
          <a:xfrm>
            <a:off x="609391" y="2198900"/>
            <a:ext cx="16398324" cy="4707429"/>
            <a:chOff x="0" y="0"/>
            <a:chExt cx="4318900" cy="1239817"/>
          </a:xfrm>
        </p:grpSpPr>
        <p:sp>
          <p:nvSpPr>
            <p:cNvPr id="5" name="Freeform 5"/>
            <p:cNvSpPr/>
            <p:nvPr/>
          </p:nvSpPr>
          <p:spPr>
            <a:xfrm>
              <a:off x="0" y="0"/>
              <a:ext cx="4318900" cy="1239817"/>
            </a:xfrm>
            <a:custGeom>
              <a:avLst/>
              <a:gdLst/>
              <a:ahLst/>
              <a:cxnLst/>
              <a:rect l="l" t="t" r="r" b="b"/>
              <a:pathLst>
                <a:path w="4318900" h="1239817">
                  <a:moveTo>
                    <a:pt x="24078" y="0"/>
                  </a:moveTo>
                  <a:lnTo>
                    <a:pt x="4294822" y="0"/>
                  </a:lnTo>
                  <a:cubicBezTo>
                    <a:pt x="4301208" y="0"/>
                    <a:pt x="4307332" y="2537"/>
                    <a:pt x="4311848" y="7052"/>
                  </a:cubicBezTo>
                  <a:cubicBezTo>
                    <a:pt x="4316363" y="11568"/>
                    <a:pt x="4318900" y="17692"/>
                    <a:pt x="4318900" y="24078"/>
                  </a:cubicBezTo>
                  <a:lnTo>
                    <a:pt x="4318900" y="1215739"/>
                  </a:lnTo>
                  <a:cubicBezTo>
                    <a:pt x="4318900" y="1222125"/>
                    <a:pt x="4316363" y="1228249"/>
                    <a:pt x="4311848" y="1232764"/>
                  </a:cubicBezTo>
                  <a:cubicBezTo>
                    <a:pt x="4307332" y="1237280"/>
                    <a:pt x="4301208" y="1239817"/>
                    <a:pt x="4294822" y="1239817"/>
                  </a:cubicBezTo>
                  <a:lnTo>
                    <a:pt x="24078" y="1239817"/>
                  </a:lnTo>
                  <a:cubicBezTo>
                    <a:pt x="17692" y="1239817"/>
                    <a:pt x="11568" y="1237280"/>
                    <a:pt x="7052" y="1232764"/>
                  </a:cubicBezTo>
                  <a:cubicBezTo>
                    <a:pt x="2537" y="1228249"/>
                    <a:pt x="0" y="1222125"/>
                    <a:pt x="0" y="1215739"/>
                  </a:cubicBezTo>
                  <a:lnTo>
                    <a:pt x="0" y="24078"/>
                  </a:lnTo>
                  <a:cubicBezTo>
                    <a:pt x="0" y="17692"/>
                    <a:pt x="2537" y="11568"/>
                    <a:pt x="7052" y="7052"/>
                  </a:cubicBezTo>
                  <a:cubicBezTo>
                    <a:pt x="11568" y="2537"/>
                    <a:pt x="17692" y="0"/>
                    <a:pt x="24078" y="0"/>
                  </a:cubicBezTo>
                  <a:close/>
                </a:path>
              </a:pathLst>
            </a:custGeom>
            <a:solidFill>
              <a:srgbClr val="101010">
                <a:alpha val="46667"/>
              </a:srgbClr>
            </a:solidFill>
          </p:spPr>
          <p:txBody>
            <a:bodyPr/>
            <a:lstStyle/>
            <a:p>
              <a:endParaRPr lang="en-US"/>
            </a:p>
          </p:txBody>
        </p:sp>
        <p:sp>
          <p:nvSpPr>
            <p:cNvPr id="6" name="TextBox 6"/>
            <p:cNvSpPr txBox="1"/>
            <p:nvPr/>
          </p:nvSpPr>
          <p:spPr>
            <a:xfrm>
              <a:off x="0" y="-38100"/>
              <a:ext cx="4318900" cy="1277917"/>
            </a:xfrm>
            <a:prstGeom prst="rect">
              <a:avLst/>
            </a:prstGeom>
          </p:spPr>
          <p:txBody>
            <a:bodyPr lIns="50800" tIns="50800" rIns="50800" bIns="50800" rtlCol="0" anchor="ctr"/>
            <a:lstStyle/>
            <a:p>
              <a:pPr algn="ctr">
                <a:lnSpc>
                  <a:spcPts val="2520"/>
                </a:lnSpc>
              </a:pPr>
              <a:endParaRPr/>
            </a:p>
          </p:txBody>
        </p:sp>
      </p:grpSp>
      <p:sp>
        <p:nvSpPr>
          <p:cNvPr id="7" name="TextBox 7"/>
          <p:cNvSpPr txBox="1"/>
          <p:nvPr/>
        </p:nvSpPr>
        <p:spPr>
          <a:xfrm>
            <a:off x="1803185" y="3030043"/>
            <a:ext cx="14664200" cy="2866572"/>
          </a:xfrm>
          <a:prstGeom prst="rect">
            <a:avLst/>
          </a:prstGeom>
        </p:spPr>
        <p:txBody>
          <a:bodyPr lIns="0" tIns="0" rIns="0" bIns="0" rtlCol="0" anchor="t">
            <a:spAutoFit/>
          </a:bodyPr>
          <a:lstStyle/>
          <a:p>
            <a:pPr algn="ctr">
              <a:lnSpc>
                <a:spcPts val="5542"/>
              </a:lnSpc>
            </a:pPr>
            <a:r>
              <a:rPr lang="en-US" sz="6928" b="1" spc="-291">
                <a:solidFill>
                  <a:srgbClr val="F4F4F4"/>
                </a:solidFill>
                <a:latin typeface="Montserrat Bold"/>
                <a:ea typeface="Montserrat Bold"/>
                <a:cs typeface="Montserrat Bold"/>
                <a:sym typeface="Montserrat Bold"/>
              </a:rPr>
              <a:t>Design and Implementation of a Mobile App for Collection of User Experience Data from Mobile Network Subscribers</a:t>
            </a:r>
          </a:p>
        </p:txBody>
      </p:sp>
      <p:sp>
        <p:nvSpPr>
          <p:cNvPr id="8" name="TextBox 8"/>
          <p:cNvSpPr txBox="1"/>
          <p:nvPr/>
        </p:nvSpPr>
        <p:spPr>
          <a:xfrm>
            <a:off x="5699941" y="6238407"/>
            <a:ext cx="5813725" cy="360429"/>
          </a:xfrm>
          <a:prstGeom prst="rect">
            <a:avLst/>
          </a:prstGeom>
        </p:spPr>
        <p:txBody>
          <a:bodyPr lIns="0" tIns="0" rIns="0" bIns="0" rtlCol="0" anchor="t">
            <a:spAutoFit/>
          </a:bodyPr>
          <a:lstStyle/>
          <a:p>
            <a:pPr algn="ctr">
              <a:lnSpc>
                <a:spcPts val="2500"/>
              </a:lnSpc>
            </a:pPr>
            <a:r>
              <a:rPr lang="en-US" sz="3125" b="1" spc="-131">
                <a:solidFill>
                  <a:srgbClr val="F4F4F4"/>
                </a:solidFill>
                <a:latin typeface="Montserrat Bold"/>
                <a:ea typeface="Montserrat Bold"/>
                <a:cs typeface="Montserrat Bold"/>
                <a:sym typeface="Montserrat Bold"/>
              </a:rPr>
              <a:t>System Modeling &amp; Design</a:t>
            </a:r>
          </a:p>
        </p:txBody>
      </p:sp>
      <p:sp>
        <p:nvSpPr>
          <p:cNvPr id="9" name="TextBox 9"/>
          <p:cNvSpPr txBox="1"/>
          <p:nvPr/>
        </p:nvSpPr>
        <p:spPr>
          <a:xfrm>
            <a:off x="5638849" y="8960568"/>
            <a:ext cx="1835347" cy="293542"/>
          </a:xfrm>
          <a:prstGeom prst="rect">
            <a:avLst/>
          </a:prstGeom>
        </p:spPr>
        <p:txBody>
          <a:bodyPr wrap="square" lIns="0" tIns="0" rIns="0" bIns="0" rtlCol="0" anchor="t">
            <a:spAutoFit/>
          </a:bodyPr>
          <a:lstStyle/>
          <a:p>
            <a:pPr algn="l">
              <a:lnSpc>
                <a:spcPts val="2520"/>
              </a:lnSpc>
            </a:pPr>
            <a:r>
              <a:rPr lang="en-US" sz="1800" b="1" dirty="0">
                <a:solidFill>
                  <a:srgbClr val="F4F4F4"/>
                </a:solidFill>
                <a:latin typeface="Aileron"/>
                <a:ea typeface="Aileron"/>
                <a:cs typeface="Aileron"/>
                <a:sym typeface="Aileron"/>
              </a:rPr>
              <a:t>Ako Mc Peace</a:t>
            </a:r>
          </a:p>
        </p:txBody>
      </p:sp>
      <p:sp>
        <p:nvSpPr>
          <p:cNvPr id="10" name="TextBox 10"/>
          <p:cNvSpPr txBox="1"/>
          <p:nvPr/>
        </p:nvSpPr>
        <p:spPr>
          <a:xfrm>
            <a:off x="11161464" y="8926830"/>
            <a:ext cx="1563936" cy="293542"/>
          </a:xfrm>
          <a:prstGeom prst="rect">
            <a:avLst/>
          </a:prstGeom>
        </p:spPr>
        <p:txBody>
          <a:bodyPr wrap="square" lIns="0" tIns="0" rIns="0" bIns="0" rtlCol="0" anchor="t">
            <a:spAutoFit/>
          </a:bodyPr>
          <a:lstStyle/>
          <a:p>
            <a:pPr algn="l">
              <a:lnSpc>
                <a:spcPts val="2520"/>
              </a:lnSpc>
            </a:pPr>
            <a:r>
              <a:rPr lang="en-US" sz="1800" b="1" dirty="0">
                <a:solidFill>
                  <a:srgbClr val="F4F4F4"/>
                </a:solidFill>
                <a:latin typeface="Aileron"/>
                <a:ea typeface="Aileron"/>
                <a:cs typeface="Aileron"/>
                <a:sym typeface="Aileron"/>
              </a:rPr>
              <a:t>Anelka</a:t>
            </a:r>
          </a:p>
        </p:txBody>
      </p:sp>
      <p:sp>
        <p:nvSpPr>
          <p:cNvPr id="11" name="TextBox 11"/>
          <p:cNvSpPr txBox="1"/>
          <p:nvPr/>
        </p:nvSpPr>
        <p:spPr>
          <a:xfrm>
            <a:off x="15675471" y="8960568"/>
            <a:ext cx="1583829" cy="293542"/>
          </a:xfrm>
          <a:prstGeom prst="rect">
            <a:avLst/>
          </a:prstGeom>
        </p:spPr>
        <p:txBody>
          <a:bodyPr wrap="square" lIns="0" tIns="0" rIns="0" bIns="0" rtlCol="0" anchor="t">
            <a:spAutoFit/>
          </a:bodyPr>
          <a:lstStyle/>
          <a:p>
            <a:pPr algn="l">
              <a:lnSpc>
                <a:spcPts val="2520"/>
              </a:lnSpc>
            </a:pPr>
            <a:r>
              <a:rPr lang="en-US" sz="1800" b="1" dirty="0">
                <a:solidFill>
                  <a:srgbClr val="F4F4F4"/>
                </a:solidFill>
                <a:latin typeface="Aileron"/>
                <a:ea typeface="Aileron"/>
                <a:cs typeface="Aileron"/>
                <a:sym typeface="Aileron"/>
              </a:rPr>
              <a:t>Lucy</a:t>
            </a:r>
          </a:p>
        </p:txBody>
      </p:sp>
      <p:sp>
        <p:nvSpPr>
          <p:cNvPr id="12" name="TextBox 12"/>
          <p:cNvSpPr txBox="1"/>
          <p:nvPr/>
        </p:nvSpPr>
        <p:spPr>
          <a:xfrm>
            <a:off x="1028700" y="990600"/>
            <a:ext cx="3383553" cy="356235"/>
          </a:xfrm>
          <a:prstGeom prst="rect">
            <a:avLst/>
          </a:prstGeom>
        </p:spPr>
        <p:txBody>
          <a:bodyPr lIns="0" tIns="0" rIns="0" bIns="0" rtlCol="0" anchor="t">
            <a:spAutoFit/>
          </a:bodyPr>
          <a:lstStyle/>
          <a:p>
            <a:pPr algn="l">
              <a:lnSpc>
                <a:spcPts val="2939"/>
              </a:lnSpc>
            </a:pPr>
            <a:r>
              <a:rPr lang="en-US" sz="2099" b="1" dirty="0">
                <a:solidFill>
                  <a:srgbClr val="F4F4F4"/>
                </a:solidFill>
                <a:latin typeface="Montserrat Bold"/>
                <a:ea typeface="Montserrat Bold"/>
                <a:cs typeface="Montserrat Bold"/>
                <a:sym typeface="Montserrat Bold"/>
              </a:rPr>
              <a:t>Group 5 Presentation</a:t>
            </a:r>
          </a:p>
        </p:txBody>
      </p:sp>
      <p:sp>
        <p:nvSpPr>
          <p:cNvPr id="13" name="TextBox 13"/>
          <p:cNvSpPr txBox="1"/>
          <p:nvPr/>
        </p:nvSpPr>
        <p:spPr>
          <a:xfrm>
            <a:off x="15712380" y="990600"/>
            <a:ext cx="1546920" cy="306705"/>
          </a:xfrm>
          <a:prstGeom prst="rect">
            <a:avLst/>
          </a:prstGeom>
        </p:spPr>
        <p:txBody>
          <a:bodyPr lIns="0" tIns="0" rIns="0" bIns="0" rtlCol="0" anchor="t">
            <a:spAutoFit/>
          </a:bodyPr>
          <a:lstStyle/>
          <a:p>
            <a:pPr algn="r">
              <a:lnSpc>
                <a:spcPts val="2520"/>
              </a:lnSpc>
            </a:pPr>
            <a:r>
              <a:rPr lang="en-US" sz="1800" dirty="0">
                <a:solidFill>
                  <a:srgbClr val="F4F4F4"/>
                </a:solidFill>
                <a:latin typeface="Aileron"/>
                <a:ea typeface="Aileron"/>
                <a:cs typeface="Aileron"/>
                <a:sym typeface="Aileron"/>
              </a:rPr>
              <a:t>26 May, 2026</a:t>
            </a:r>
          </a:p>
        </p:txBody>
      </p:sp>
      <p:sp>
        <p:nvSpPr>
          <p:cNvPr id="14" name="TextBox 14"/>
          <p:cNvSpPr txBox="1"/>
          <p:nvPr/>
        </p:nvSpPr>
        <p:spPr>
          <a:xfrm>
            <a:off x="1028700" y="8892540"/>
            <a:ext cx="1835348" cy="365760"/>
          </a:xfrm>
          <a:prstGeom prst="rect">
            <a:avLst/>
          </a:prstGeom>
        </p:spPr>
        <p:txBody>
          <a:bodyPr lIns="0" tIns="0" rIns="0" bIns="0" rtlCol="0" anchor="t">
            <a:spAutoFit/>
          </a:bodyPr>
          <a:lstStyle/>
          <a:p>
            <a:pPr algn="l">
              <a:lnSpc>
                <a:spcPts val="2939"/>
              </a:lnSpc>
            </a:pPr>
            <a:r>
              <a:rPr lang="en-US" sz="2099" b="1">
                <a:solidFill>
                  <a:srgbClr val="F4F4F4"/>
                </a:solidFill>
                <a:latin typeface="Aileron Bold"/>
                <a:ea typeface="Aileron Bold"/>
                <a:cs typeface="Aileron Bold"/>
                <a:sym typeface="Aileron Bold"/>
              </a:rPr>
              <a:t>Mugha Brayan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4F4F4"/>
        </a:solidFill>
        <a:effectLst/>
      </p:bgPr>
    </p:bg>
    <p:spTree>
      <p:nvGrpSpPr>
        <p:cNvPr id="1" name=""/>
        <p:cNvGrpSpPr/>
        <p:nvPr/>
      </p:nvGrpSpPr>
      <p:grpSpPr>
        <a:xfrm>
          <a:off x="0" y="0"/>
          <a:ext cx="0" cy="0"/>
          <a:chOff x="0" y="0"/>
          <a:chExt cx="0" cy="0"/>
        </a:xfrm>
      </p:grpSpPr>
      <p:grpSp>
        <p:nvGrpSpPr>
          <p:cNvPr id="2" name="Group 2"/>
          <p:cNvGrpSpPr/>
          <p:nvPr/>
        </p:nvGrpSpPr>
        <p:grpSpPr>
          <a:xfrm>
            <a:off x="7914729" y="0"/>
            <a:ext cx="6940111" cy="2562225"/>
            <a:chOff x="0" y="0"/>
            <a:chExt cx="1827848" cy="674825"/>
          </a:xfrm>
        </p:grpSpPr>
        <p:sp>
          <p:nvSpPr>
            <p:cNvPr id="3" name="Freeform 3"/>
            <p:cNvSpPr/>
            <p:nvPr/>
          </p:nvSpPr>
          <p:spPr>
            <a:xfrm>
              <a:off x="0" y="0"/>
              <a:ext cx="1827848" cy="674825"/>
            </a:xfrm>
            <a:custGeom>
              <a:avLst/>
              <a:gdLst/>
              <a:ahLst/>
              <a:cxnLst/>
              <a:rect l="l" t="t" r="r" b="b"/>
              <a:pathLst>
                <a:path w="1827848" h="674825">
                  <a:moveTo>
                    <a:pt x="0" y="0"/>
                  </a:moveTo>
                  <a:lnTo>
                    <a:pt x="1827848" y="0"/>
                  </a:lnTo>
                  <a:lnTo>
                    <a:pt x="1827848" y="674825"/>
                  </a:lnTo>
                  <a:lnTo>
                    <a:pt x="0" y="674825"/>
                  </a:lnTo>
                  <a:close/>
                </a:path>
              </a:pathLst>
            </a:custGeom>
            <a:solidFill>
              <a:srgbClr val="101010"/>
            </a:solidFill>
          </p:spPr>
          <p:txBody>
            <a:bodyPr/>
            <a:lstStyle/>
            <a:p>
              <a:endParaRPr lang="en-US"/>
            </a:p>
          </p:txBody>
        </p:sp>
        <p:sp>
          <p:nvSpPr>
            <p:cNvPr id="4" name="TextBox 4"/>
            <p:cNvSpPr txBox="1"/>
            <p:nvPr/>
          </p:nvSpPr>
          <p:spPr>
            <a:xfrm>
              <a:off x="0" y="-38100"/>
              <a:ext cx="1827848" cy="712925"/>
            </a:xfrm>
            <a:prstGeom prst="rect">
              <a:avLst/>
            </a:prstGeom>
          </p:spPr>
          <p:txBody>
            <a:bodyPr lIns="50800" tIns="50800" rIns="50800" bIns="50800" rtlCol="0" anchor="ctr"/>
            <a:lstStyle/>
            <a:p>
              <a:pPr algn="ctr">
                <a:lnSpc>
                  <a:spcPts val="2520"/>
                </a:lnSpc>
              </a:pPr>
              <a:endParaRPr/>
            </a:p>
          </p:txBody>
        </p:sp>
      </p:grpSp>
      <p:grpSp>
        <p:nvGrpSpPr>
          <p:cNvPr id="5" name="Group 5"/>
          <p:cNvGrpSpPr/>
          <p:nvPr/>
        </p:nvGrpSpPr>
        <p:grpSpPr>
          <a:xfrm>
            <a:off x="9144000" y="1928812"/>
            <a:ext cx="9144000" cy="6429375"/>
            <a:chOff x="0" y="0"/>
            <a:chExt cx="12192000" cy="8572500"/>
          </a:xfrm>
        </p:grpSpPr>
        <p:pic>
          <p:nvPicPr>
            <p:cNvPr id="6" name="Picture 6"/>
            <p:cNvPicPr>
              <a:picLocks noChangeAspect="1"/>
            </p:cNvPicPr>
            <p:nvPr/>
          </p:nvPicPr>
          <p:blipFill>
            <a:blip r:embed="rId2"/>
            <a:srcRect t="6054" b="6054"/>
            <a:stretch>
              <a:fillRect/>
            </a:stretch>
          </p:blipFill>
          <p:spPr>
            <a:xfrm>
              <a:off x="0" y="0"/>
              <a:ext cx="12192000" cy="8572500"/>
            </a:xfrm>
            <a:prstGeom prst="rect">
              <a:avLst/>
            </a:prstGeom>
          </p:spPr>
        </p:pic>
      </p:grpSp>
      <p:sp>
        <p:nvSpPr>
          <p:cNvPr id="7" name="TextBox 7"/>
          <p:cNvSpPr txBox="1"/>
          <p:nvPr/>
        </p:nvSpPr>
        <p:spPr>
          <a:xfrm>
            <a:off x="1028700" y="990600"/>
            <a:ext cx="3383553" cy="356235"/>
          </a:xfrm>
          <a:prstGeom prst="rect">
            <a:avLst/>
          </a:prstGeom>
        </p:spPr>
        <p:txBody>
          <a:bodyPr lIns="0" tIns="0" rIns="0" bIns="0" rtlCol="0" anchor="t">
            <a:spAutoFit/>
          </a:bodyPr>
          <a:lstStyle/>
          <a:p>
            <a:pPr algn="l">
              <a:lnSpc>
                <a:spcPts val="2939"/>
              </a:lnSpc>
            </a:pPr>
            <a:r>
              <a:rPr lang="en-US" sz="2099" b="1">
                <a:solidFill>
                  <a:srgbClr val="101010"/>
                </a:solidFill>
                <a:latin typeface="Montserrat Bold"/>
                <a:ea typeface="Montserrat Bold"/>
                <a:cs typeface="Montserrat Bold"/>
                <a:sym typeface="Montserrat Bold"/>
              </a:rPr>
              <a:t>Personal Presentation</a:t>
            </a:r>
          </a:p>
        </p:txBody>
      </p:sp>
      <p:sp>
        <p:nvSpPr>
          <p:cNvPr id="8" name="TextBox 8"/>
          <p:cNvSpPr txBox="1"/>
          <p:nvPr/>
        </p:nvSpPr>
        <p:spPr>
          <a:xfrm>
            <a:off x="15712380" y="990600"/>
            <a:ext cx="1546920" cy="306705"/>
          </a:xfrm>
          <a:prstGeom prst="rect">
            <a:avLst/>
          </a:prstGeom>
        </p:spPr>
        <p:txBody>
          <a:bodyPr lIns="0" tIns="0" rIns="0" bIns="0" rtlCol="0" anchor="t">
            <a:spAutoFit/>
          </a:bodyPr>
          <a:lstStyle/>
          <a:p>
            <a:pPr algn="r">
              <a:lnSpc>
                <a:spcPts val="2520"/>
              </a:lnSpc>
            </a:pPr>
            <a:r>
              <a:rPr lang="en-US" sz="1800">
                <a:solidFill>
                  <a:srgbClr val="101010"/>
                </a:solidFill>
                <a:latin typeface="Aileron"/>
                <a:ea typeface="Aileron"/>
                <a:cs typeface="Aileron"/>
                <a:sym typeface="Aileron"/>
              </a:rPr>
              <a:t>Overview</a:t>
            </a:r>
          </a:p>
        </p:txBody>
      </p:sp>
      <p:sp>
        <p:nvSpPr>
          <p:cNvPr id="9" name="TextBox 9"/>
          <p:cNvSpPr txBox="1"/>
          <p:nvPr/>
        </p:nvSpPr>
        <p:spPr>
          <a:xfrm>
            <a:off x="9144000" y="8926829"/>
            <a:ext cx="2243286" cy="340863"/>
          </a:xfrm>
          <a:prstGeom prst="rect">
            <a:avLst/>
          </a:prstGeom>
        </p:spPr>
        <p:txBody>
          <a:bodyPr wrap="square" lIns="0" tIns="0" rIns="0" bIns="0" rtlCol="0" anchor="t">
            <a:spAutoFit/>
          </a:bodyPr>
          <a:lstStyle/>
          <a:p>
            <a:pPr algn="l">
              <a:lnSpc>
                <a:spcPts val="2939"/>
              </a:lnSpc>
            </a:pPr>
            <a:r>
              <a:rPr lang="en-US" sz="2099" b="1">
                <a:solidFill>
                  <a:srgbClr val="101010"/>
                </a:solidFill>
                <a:latin typeface="Aileron Bold"/>
                <a:ea typeface="Aileron Bold"/>
                <a:cs typeface="Aileron Bold"/>
                <a:sym typeface="Aileron Bold"/>
              </a:rPr>
              <a:t>Mobile Users</a:t>
            </a:r>
          </a:p>
        </p:txBody>
      </p:sp>
      <p:sp>
        <p:nvSpPr>
          <p:cNvPr id="10" name="TextBox 10"/>
          <p:cNvSpPr txBox="1"/>
          <p:nvPr/>
        </p:nvSpPr>
        <p:spPr>
          <a:xfrm>
            <a:off x="569166" y="4703679"/>
            <a:ext cx="7119561" cy="1976137"/>
          </a:xfrm>
          <a:prstGeom prst="rect">
            <a:avLst/>
          </a:prstGeom>
        </p:spPr>
        <p:txBody>
          <a:bodyPr lIns="0" tIns="0" rIns="0" bIns="0" rtlCol="0" anchor="t">
            <a:spAutoFit/>
          </a:bodyPr>
          <a:lstStyle/>
          <a:p>
            <a:pPr algn="just">
              <a:lnSpc>
                <a:spcPts val="3142"/>
              </a:lnSpc>
            </a:pPr>
            <a:r>
              <a:rPr lang="en-US" sz="2244" dirty="0">
                <a:solidFill>
                  <a:srgbClr val="101010"/>
                </a:solidFill>
                <a:latin typeface="Aileron"/>
                <a:ea typeface="Aileron"/>
                <a:cs typeface="Aileron"/>
                <a:sym typeface="Aileron"/>
              </a:rPr>
              <a:t>Mobile network quality varies significantly across regions and times, creating inconsistent user experiences that often go unreported. Traditional monitoring methods fail to capture the real-world perspective of subscribers.</a:t>
            </a:r>
          </a:p>
        </p:txBody>
      </p:sp>
      <p:sp>
        <p:nvSpPr>
          <p:cNvPr id="11" name="TextBox 11"/>
          <p:cNvSpPr txBox="1"/>
          <p:nvPr/>
        </p:nvSpPr>
        <p:spPr>
          <a:xfrm>
            <a:off x="569166" y="6498841"/>
            <a:ext cx="8323249" cy="2966085"/>
          </a:xfrm>
          <a:prstGeom prst="rect">
            <a:avLst/>
          </a:prstGeom>
        </p:spPr>
        <p:txBody>
          <a:bodyPr lIns="0" tIns="0" rIns="0" bIns="0" rtlCol="0" anchor="t">
            <a:spAutoFit/>
          </a:bodyPr>
          <a:lstStyle/>
          <a:p>
            <a:pPr algn="just">
              <a:lnSpc>
                <a:spcPts val="2939"/>
              </a:lnSpc>
            </a:pPr>
            <a:endParaRPr dirty="0"/>
          </a:p>
          <a:p>
            <a:pPr algn="just">
              <a:lnSpc>
                <a:spcPts val="2939"/>
              </a:lnSpc>
            </a:pPr>
            <a:r>
              <a:rPr lang="en-US" sz="2099" dirty="0">
                <a:solidFill>
                  <a:srgbClr val="101010"/>
                </a:solidFill>
                <a:latin typeface="Aileron"/>
                <a:ea typeface="Aileron"/>
                <a:cs typeface="Aileron"/>
                <a:sym typeface="Aileron"/>
              </a:rPr>
              <a:t>Getting user experience data offers a powerful solution, enabling telecom providers and researchers to gather authentic feedback directly from network users at scale.</a:t>
            </a:r>
          </a:p>
          <a:p>
            <a:pPr algn="just">
              <a:lnSpc>
                <a:spcPts val="2939"/>
              </a:lnSpc>
            </a:pPr>
            <a:r>
              <a:rPr lang="en-US" sz="2099" dirty="0">
                <a:solidFill>
                  <a:srgbClr val="101010"/>
                </a:solidFill>
                <a:latin typeface="Aileron"/>
                <a:ea typeface="Aileron"/>
                <a:cs typeface="Aileron"/>
                <a:sym typeface="Aileron"/>
              </a:rPr>
              <a:t>Our goal is to develop a comprehensive mobile app system that collects, synchronizes, and analyzes user experience data from mobile network subscribers.</a:t>
            </a:r>
          </a:p>
          <a:p>
            <a:pPr algn="just">
              <a:lnSpc>
                <a:spcPts val="2939"/>
              </a:lnSpc>
            </a:pPr>
            <a:endParaRPr lang="en-US" sz="2099" dirty="0">
              <a:solidFill>
                <a:srgbClr val="101010"/>
              </a:solidFill>
              <a:latin typeface="Aileron"/>
              <a:ea typeface="Aileron"/>
              <a:cs typeface="Aileron"/>
              <a:sym typeface="Aileron"/>
            </a:endParaRPr>
          </a:p>
        </p:txBody>
      </p:sp>
      <p:sp>
        <p:nvSpPr>
          <p:cNvPr id="12" name="TextBox 12"/>
          <p:cNvSpPr txBox="1"/>
          <p:nvPr/>
        </p:nvSpPr>
        <p:spPr>
          <a:xfrm>
            <a:off x="12103522" y="8951595"/>
            <a:ext cx="2243286" cy="306705"/>
          </a:xfrm>
          <a:prstGeom prst="rect">
            <a:avLst/>
          </a:prstGeom>
        </p:spPr>
        <p:txBody>
          <a:bodyPr lIns="0" tIns="0" rIns="0" bIns="0" rtlCol="0" anchor="t">
            <a:spAutoFit/>
          </a:bodyPr>
          <a:lstStyle/>
          <a:p>
            <a:pPr algn="l">
              <a:lnSpc>
                <a:spcPts val="2520"/>
              </a:lnSpc>
            </a:pPr>
            <a:r>
              <a:rPr lang="en-US" sz="1800">
                <a:solidFill>
                  <a:srgbClr val="101010"/>
                </a:solidFill>
                <a:latin typeface="Aileron"/>
                <a:ea typeface="Aileron"/>
                <a:cs typeface="Aileron"/>
                <a:sym typeface="Aileron"/>
              </a:rPr>
              <a:t>Telecome Companies</a:t>
            </a:r>
          </a:p>
        </p:txBody>
      </p:sp>
      <p:sp>
        <p:nvSpPr>
          <p:cNvPr id="13" name="TextBox 13"/>
          <p:cNvSpPr txBox="1"/>
          <p:nvPr/>
        </p:nvSpPr>
        <p:spPr>
          <a:xfrm>
            <a:off x="15712380" y="8817293"/>
            <a:ext cx="1809155" cy="306705"/>
          </a:xfrm>
          <a:prstGeom prst="rect">
            <a:avLst/>
          </a:prstGeom>
        </p:spPr>
        <p:txBody>
          <a:bodyPr lIns="0" tIns="0" rIns="0" bIns="0" rtlCol="0" anchor="t">
            <a:spAutoFit/>
          </a:bodyPr>
          <a:lstStyle/>
          <a:p>
            <a:pPr algn="l">
              <a:lnSpc>
                <a:spcPts val="2520"/>
              </a:lnSpc>
            </a:pPr>
            <a:r>
              <a:rPr lang="en-US" sz="1800">
                <a:solidFill>
                  <a:srgbClr val="101010"/>
                </a:solidFill>
                <a:latin typeface="Aileron"/>
                <a:ea typeface="Aileron"/>
                <a:cs typeface="Aileron"/>
                <a:sym typeface="Aileron"/>
              </a:rPr>
              <a:t>Better Experience</a:t>
            </a:r>
          </a:p>
        </p:txBody>
      </p:sp>
      <p:sp>
        <p:nvSpPr>
          <p:cNvPr id="14" name="TextBox 14"/>
          <p:cNvSpPr txBox="1"/>
          <p:nvPr/>
        </p:nvSpPr>
        <p:spPr>
          <a:xfrm>
            <a:off x="569166" y="3298625"/>
            <a:ext cx="8982447" cy="1087755"/>
          </a:xfrm>
          <a:prstGeom prst="rect">
            <a:avLst/>
          </a:prstGeom>
        </p:spPr>
        <p:txBody>
          <a:bodyPr lIns="0" tIns="0" rIns="0" bIns="0" rtlCol="0" anchor="t">
            <a:spAutoFit/>
          </a:bodyPr>
          <a:lstStyle/>
          <a:p>
            <a:pPr algn="l">
              <a:lnSpc>
                <a:spcPts val="7680"/>
              </a:lnSpc>
            </a:pPr>
            <a:r>
              <a:rPr lang="en-US" sz="9600" b="1" spc="-403">
                <a:solidFill>
                  <a:srgbClr val="101010"/>
                </a:solidFill>
                <a:latin typeface="Montserrat Bold"/>
                <a:ea typeface="Montserrat Bold"/>
                <a:cs typeface="Montserrat Bold"/>
                <a:sym typeface="Montserrat Bold"/>
              </a:rPr>
              <a:t>introduction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4F4F4"/>
        </a:solidFill>
        <a:effectLst/>
      </p:bgPr>
    </p:bg>
    <p:spTree>
      <p:nvGrpSpPr>
        <p:cNvPr id="1" name=""/>
        <p:cNvGrpSpPr/>
        <p:nvPr/>
      </p:nvGrpSpPr>
      <p:grpSpPr>
        <a:xfrm>
          <a:off x="0" y="0"/>
          <a:ext cx="0" cy="0"/>
          <a:chOff x="0" y="0"/>
          <a:chExt cx="0" cy="0"/>
        </a:xfrm>
      </p:grpSpPr>
      <p:grpSp>
        <p:nvGrpSpPr>
          <p:cNvPr id="2" name="Group 2"/>
          <p:cNvGrpSpPr/>
          <p:nvPr/>
        </p:nvGrpSpPr>
        <p:grpSpPr>
          <a:xfrm>
            <a:off x="6962229" y="0"/>
            <a:ext cx="1653736" cy="3086100"/>
            <a:chOff x="0" y="0"/>
            <a:chExt cx="435552" cy="812800"/>
          </a:xfrm>
        </p:grpSpPr>
        <p:sp>
          <p:nvSpPr>
            <p:cNvPr id="3" name="Freeform 3"/>
            <p:cNvSpPr/>
            <p:nvPr/>
          </p:nvSpPr>
          <p:spPr>
            <a:xfrm>
              <a:off x="0" y="0"/>
              <a:ext cx="435552" cy="812800"/>
            </a:xfrm>
            <a:custGeom>
              <a:avLst/>
              <a:gdLst/>
              <a:ahLst/>
              <a:cxnLst/>
              <a:rect l="l" t="t" r="r" b="b"/>
              <a:pathLst>
                <a:path w="435552" h="812800">
                  <a:moveTo>
                    <a:pt x="0" y="0"/>
                  </a:moveTo>
                  <a:lnTo>
                    <a:pt x="435552" y="0"/>
                  </a:lnTo>
                  <a:lnTo>
                    <a:pt x="435552" y="812800"/>
                  </a:lnTo>
                  <a:lnTo>
                    <a:pt x="0" y="812800"/>
                  </a:lnTo>
                  <a:close/>
                </a:path>
              </a:pathLst>
            </a:custGeom>
            <a:solidFill>
              <a:srgbClr val="101010"/>
            </a:solidFill>
          </p:spPr>
          <p:txBody>
            <a:bodyPr/>
            <a:lstStyle/>
            <a:p>
              <a:endParaRPr lang="en-US"/>
            </a:p>
          </p:txBody>
        </p:sp>
        <p:sp>
          <p:nvSpPr>
            <p:cNvPr id="4" name="TextBox 4"/>
            <p:cNvSpPr txBox="1"/>
            <p:nvPr/>
          </p:nvSpPr>
          <p:spPr>
            <a:xfrm>
              <a:off x="0" y="-38100"/>
              <a:ext cx="435552" cy="850900"/>
            </a:xfrm>
            <a:prstGeom prst="rect">
              <a:avLst/>
            </a:prstGeom>
          </p:spPr>
          <p:txBody>
            <a:bodyPr lIns="50800" tIns="50800" rIns="50800" bIns="50800" rtlCol="0" anchor="ctr"/>
            <a:lstStyle/>
            <a:p>
              <a:pPr algn="ctr">
                <a:lnSpc>
                  <a:spcPts val="2520"/>
                </a:lnSpc>
              </a:pPr>
              <a:endParaRPr/>
            </a:p>
          </p:txBody>
        </p:sp>
      </p:grpSp>
      <p:grpSp>
        <p:nvGrpSpPr>
          <p:cNvPr id="5" name="Group 5"/>
          <p:cNvGrpSpPr/>
          <p:nvPr/>
        </p:nvGrpSpPr>
        <p:grpSpPr>
          <a:xfrm>
            <a:off x="0" y="1928812"/>
            <a:ext cx="8285609" cy="6429375"/>
            <a:chOff x="0" y="0"/>
            <a:chExt cx="11047479" cy="8572500"/>
          </a:xfrm>
        </p:grpSpPr>
        <p:pic>
          <p:nvPicPr>
            <p:cNvPr id="6" name="Picture 6"/>
            <p:cNvPicPr>
              <a:picLocks noChangeAspect="1"/>
            </p:cNvPicPr>
            <p:nvPr/>
          </p:nvPicPr>
          <p:blipFill>
            <a:blip r:embed="rId2"/>
            <a:srcRect l="7069" r="7069"/>
            <a:stretch>
              <a:fillRect/>
            </a:stretch>
          </p:blipFill>
          <p:spPr>
            <a:xfrm>
              <a:off x="0" y="0"/>
              <a:ext cx="11047479" cy="8572500"/>
            </a:xfrm>
            <a:prstGeom prst="rect">
              <a:avLst/>
            </a:prstGeom>
          </p:spPr>
        </p:pic>
      </p:grpSp>
      <p:sp>
        <p:nvSpPr>
          <p:cNvPr id="7" name="TextBox 7"/>
          <p:cNvSpPr txBox="1"/>
          <p:nvPr/>
        </p:nvSpPr>
        <p:spPr>
          <a:xfrm>
            <a:off x="1028700" y="990600"/>
            <a:ext cx="3383553" cy="356235"/>
          </a:xfrm>
          <a:prstGeom prst="rect">
            <a:avLst/>
          </a:prstGeom>
        </p:spPr>
        <p:txBody>
          <a:bodyPr lIns="0" tIns="0" rIns="0" bIns="0" rtlCol="0" anchor="t">
            <a:spAutoFit/>
          </a:bodyPr>
          <a:lstStyle/>
          <a:p>
            <a:pPr algn="l">
              <a:lnSpc>
                <a:spcPts val="2939"/>
              </a:lnSpc>
            </a:pPr>
            <a:r>
              <a:rPr lang="en-US" sz="2099" b="1">
                <a:solidFill>
                  <a:srgbClr val="101010"/>
                </a:solidFill>
                <a:latin typeface="Montserrat Bold"/>
                <a:ea typeface="Montserrat Bold"/>
                <a:cs typeface="Montserrat Bold"/>
                <a:sym typeface="Montserrat Bold"/>
              </a:rPr>
              <a:t>Key focus areas</a:t>
            </a:r>
          </a:p>
        </p:txBody>
      </p:sp>
      <p:sp>
        <p:nvSpPr>
          <p:cNvPr id="8" name="TextBox 8"/>
          <p:cNvSpPr txBox="1"/>
          <p:nvPr/>
        </p:nvSpPr>
        <p:spPr>
          <a:xfrm>
            <a:off x="15712380" y="990600"/>
            <a:ext cx="1546920" cy="306705"/>
          </a:xfrm>
          <a:prstGeom prst="rect">
            <a:avLst/>
          </a:prstGeom>
        </p:spPr>
        <p:txBody>
          <a:bodyPr lIns="0" tIns="0" rIns="0" bIns="0" rtlCol="0" anchor="t">
            <a:spAutoFit/>
          </a:bodyPr>
          <a:lstStyle/>
          <a:p>
            <a:pPr algn="r">
              <a:lnSpc>
                <a:spcPts val="2520"/>
              </a:lnSpc>
            </a:pPr>
            <a:r>
              <a:rPr lang="en-US" sz="1800">
                <a:solidFill>
                  <a:srgbClr val="101010"/>
                </a:solidFill>
                <a:latin typeface="Aileron"/>
                <a:ea typeface="Aileron"/>
                <a:cs typeface="Aileron"/>
                <a:sym typeface="Aileron"/>
              </a:rPr>
              <a:t>09 May, 2026</a:t>
            </a:r>
          </a:p>
        </p:txBody>
      </p:sp>
      <p:sp>
        <p:nvSpPr>
          <p:cNvPr id="9" name="TextBox 9"/>
          <p:cNvSpPr txBox="1"/>
          <p:nvPr/>
        </p:nvSpPr>
        <p:spPr>
          <a:xfrm>
            <a:off x="1028700" y="8892540"/>
            <a:ext cx="4503688" cy="737235"/>
          </a:xfrm>
          <a:prstGeom prst="rect">
            <a:avLst/>
          </a:prstGeom>
        </p:spPr>
        <p:txBody>
          <a:bodyPr lIns="0" tIns="0" rIns="0" bIns="0" rtlCol="0" anchor="t">
            <a:spAutoFit/>
          </a:bodyPr>
          <a:lstStyle/>
          <a:p>
            <a:pPr marL="453388" lvl="1" indent="-226694" algn="l">
              <a:lnSpc>
                <a:spcPts val="2939"/>
              </a:lnSpc>
              <a:buFont typeface="Arial"/>
              <a:buChar char="•"/>
            </a:pPr>
            <a:r>
              <a:rPr lang="en-US" sz="2099" b="1">
                <a:solidFill>
                  <a:srgbClr val="101010"/>
                </a:solidFill>
                <a:latin typeface="Aileron Bold"/>
                <a:ea typeface="Aileron Bold"/>
                <a:cs typeface="Aileron Bold"/>
                <a:sym typeface="Aileron Bold"/>
              </a:rPr>
              <a:t>Collect Passive Network Metrics</a:t>
            </a:r>
          </a:p>
          <a:p>
            <a:pPr algn="l">
              <a:lnSpc>
                <a:spcPts val="2939"/>
              </a:lnSpc>
            </a:pPr>
            <a:endParaRPr lang="en-US" sz="2099" b="1">
              <a:solidFill>
                <a:srgbClr val="101010"/>
              </a:solidFill>
              <a:latin typeface="Aileron Bold"/>
              <a:ea typeface="Aileron Bold"/>
              <a:cs typeface="Aileron Bold"/>
              <a:sym typeface="Aileron Bold"/>
            </a:endParaRPr>
          </a:p>
        </p:txBody>
      </p:sp>
      <p:sp>
        <p:nvSpPr>
          <p:cNvPr id="10" name="TextBox 10"/>
          <p:cNvSpPr txBox="1"/>
          <p:nvPr/>
        </p:nvSpPr>
        <p:spPr>
          <a:xfrm>
            <a:off x="6903889" y="8955405"/>
            <a:ext cx="1381720" cy="621030"/>
          </a:xfrm>
          <a:prstGeom prst="rect">
            <a:avLst/>
          </a:prstGeom>
        </p:spPr>
        <p:txBody>
          <a:bodyPr lIns="0" tIns="0" rIns="0" bIns="0" rtlCol="0" anchor="t">
            <a:spAutoFit/>
          </a:bodyPr>
          <a:lstStyle/>
          <a:p>
            <a:pPr marL="388620" lvl="1" indent="-194310" algn="l">
              <a:lnSpc>
                <a:spcPts val="2520"/>
              </a:lnSpc>
              <a:buFont typeface="Arial"/>
              <a:buChar char="•"/>
            </a:pPr>
            <a:r>
              <a:rPr lang="en-US" sz="1800">
                <a:solidFill>
                  <a:srgbClr val="101010"/>
                </a:solidFill>
                <a:latin typeface="Aileron"/>
                <a:ea typeface="Aileron"/>
                <a:cs typeface="Aileron"/>
                <a:sym typeface="Aileron"/>
              </a:rPr>
              <a:t>Reliability</a:t>
            </a:r>
          </a:p>
          <a:p>
            <a:pPr algn="l">
              <a:lnSpc>
                <a:spcPts val="2520"/>
              </a:lnSpc>
            </a:pPr>
            <a:endParaRPr lang="en-US" sz="1800">
              <a:solidFill>
                <a:srgbClr val="101010"/>
              </a:solidFill>
              <a:latin typeface="Aileron"/>
              <a:ea typeface="Aileron"/>
              <a:cs typeface="Aileron"/>
              <a:sym typeface="Aileron"/>
            </a:endParaRPr>
          </a:p>
        </p:txBody>
      </p:sp>
      <p:sp>
        <p:nvSpPr>
          <p:cNvPr id="11" name="TextBox 11"/>
          <p:cNvSpPr txBox="1"/>
          <p:nvPr/>
        </p:nvSpPr>
        <p:spPr>
          <a:xfrm>
            <a:off x="11161464" y="8926830"/>
            <a:ext cx="2134046" cy="306705"/>
          </a:xfrm>
          <a:prstGeom prst="rect">
            <a:avLst/>
          </a:prstGeom>
        </p:spPr>
        <p:txBody>
          <a:bodyPr lIns="0" tIns="0" rIns="0" bIns="0" rtlCol="0" anchor="t">
            <a:spAutoFit/>
          </a:bodyPr>
          <a:lstStyle/>
          <a:p>
            <a:pPr algn="l">
              <a:lnSpc>
                <a:spcPts val="2520"/>
              </a:lnSpc>
            </a:pPr>
            <a:r>
              <a:rPr lang="en-US" sz="1800">
                <a:solidFill>
                  <a:srgbClr val="101010"/>
                </a:solidFill>
                <a:latin typeface="Aileron"/>
                <a:ea typeface="Aileron"/>
                <a:cs typeface="Aileron"/>
                <a:sym typeface="Aileron"/>
              </a:rPr>
              <a:t>On |Offline Detection</a:t>
            </a:r>
          </a:p>
        </p:txBody>
      </p:sp>
      <p:sp>
        <p:nvSpPr>
          <p:cNvPr id="12" name="TextBox 12"/>
          <p:cNvSpPr txBox="1"/>
          <p:nvPr/>
        </p:nvSpPr>
        <p:spPr>
          <a:xfrm>
            <a:off x="15675471" y="8926830"/>
            <a:ext cx="1785193" cy="621030"/>
          </a:xfrm>
          <a:prstGeom prst="rect">
            <a:avLst/>
          </a:prstGeom>
        </p:spPr>
        <p:txBody>
          <a:bodyPr lIns="0" tIns="0" rIns="0" bIns="0" rtlCol="0" anchor="t">
            <a:spAutoFit/>
          </a:bodyPr>
          <a:lstStyle/>
          <a:p>
            <a:pPr marL="388620" lvl="1" indent="-194310" algn="l">
              <a:lnSpc>
                <a:spcPts val="2520"/>
              </a:lnSpc>
              <a:buFont typeface="Arial"/>
              <a:buChar char="•"/>
            </a:pPr>
            <a:r>
              <a:rPr lang="en-US" sz="1800">
                <a:solidFill>
                  <a:srgbClr val="101010"/>
                </a:solidFill>
                <a:latin typeface="Aileron"/>
                <a:ea typeface="Aileron"/>
                <a:cs typeface="Aileron"/>
                <a:sym typeface="Aileron"/>
              </a:rPr>
              <a:t>Visualizations</a:t>
            </a:r>
          </a:p>
          <a:p>
            <a:pPr algn="l">
              <a:lnSpc>
                <a:spcPts val="2520"/>
              </a:lnSpc>
            </a:pPr>
            <a:endParaRPr lang="en-US" sz="1800">
              <a:solidFill>
                <a:srgbClr val="101010"/>
              </a:solidFill>
              <a:latin typeface="Aileron"/>
              <a:ea typeface="Aileron"/>
              <a:cs typeface="Aileron"/>
              <a:sym typeface="Aileron"/>
            </a:endParaRPr>
          </a:p>
        </p:txBody>
      </p:sp>
      <p:sp>
        <p:nvSpPr>
          <p:cNvPr id="13" name="TextBox 13"/>
          <p:cNvSpPr txBox="1"/>
          <p:nvPr/>
        </p:nvSpPr>
        <p:spPr>
          <a:xfrm>
            <a:off x="8615966" y="4928151"/>
            <a:ext cx="9144000" cy="3051175"/>
          </a:xfrm>
          <a:prstGeom prst="rect">
            <a:avLst/>
          </a:prstGeom>
        </p:spPr>
        <p:txBody>
          <a:bodyPr lIns="0" tIns="0" rIns="0" bIns="0" rtlCol="0" anchor="t">
            <a:spAutoFit/>
          </a:bodyPr>
          <a:lstStyle/>
          <a:p>
            <a:pPr algn="just">
              <a:lnSpc>
                <a:spcPts val="3499"/>
              </a:lnSpc>
            </a:pPr>
            <a:r>
              <a:rPr lang="en-US" sz="2499" dirty="0">
                <a:solidFill>
                  <a:srgbClr val="101010"/>
                </a:solidFill>
                <a:latin typeface="Aileron"/>
                <a:ea typeface="Aileron"/>
                <a:cs typeface="Aileron"/>
                <a:sym typeface="Aileron"/>
              </a:rPr>
              <a:t>The system is designed to address critical gaps in mobile network quality monitoring through a comprehensive data collection and analysis platform. By combining automated metrics gathering with user feedback mechanisms, the platform enables telecom providers and researchers to gain actionable insights into network performance across different regions and conditions.</a:t>
            </a:r>
          </a:p>
        </p:txBody>
      </p:sp>
      <p:sp>
        <p:nvSpPr>
          <p:cNvPr id="14" name="TextBox 14"/>
          <p:cNvSpPr txBox="1"/>
          <p:nvPr/>
        </p:nvSpPr>
        <p:spPr>
          <a:xfrm>
            <a:off x="9018822" y="2848331"/>
            <a:ext cx="6668372" cy="2059305"/>
          </a:xfrm>
          <a:prstGeom prst="rect">
            <a:avLst/>
          </a:prstGeom>
        </p:spPr>
        <p:txBody>
          <a:bodyPr wrap="square" lIns="0" tIns="0" rIns="0" bIns="0" rtlCol="0" anchor="t">
            <a:spAutoFit/>
          </a:bodyPr>
          <a:lstStyle/>
          <a:p>
            <a:pPr algn="l">
              <a:lnSpc>
                <a:spcPts val="7680"/>
              </a:lnSpc>
            </a:pPr>
            <a:r>
              <a:rPr lang="en-US" sz="9600" b="1" spc="-403" dirty="0">
                <a:solidFill>
                  <a:srgbClr val="101010"/>
                </a:solidFill>
                <a:latin typeface="Montserrat Bold"/>
                <a:ea typeface="Montserrat Bold"/>
                <a:cs typeface="Montserrat Bold"/>
                <a:sym typeface="Montserrat Bold"/>
              </a:rPr>
              <a:t>Project Objectives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4F4F4"/>
        </a:solidFill>
        <a:effectLst/>
      </p:bgPr>
    </p:bg>
    <p:spTree>
      <p:nvGrpSpPr>
        <p:cNvPr id="1" name=""/>
        <p:cNvGrpSpPr/>
        <p:nvPr/>
      </p:nvGrpSpPr>
      <p:grpSpPr>
        <a:xfrm>
          <a:off x="0" y="0"/>
          <a:ext cx="0" cy="0"/>
          <a:chOff x="0" y="0"/>
          <a:chExt cx="0" cy="0"/>
        </a:xfrm>
      </p:grpSpPr>
      <p:grpSp>
        <p:nvGrpSpPr>
          <p:cNvPr id="2" name="Group 2"/>
          <p:cNvGrpSpPr/>
          <p:nvPr/>
        </p:nvGrpSpPr>
        <p:grpSpPr>
          <a:xfrm>
            <a:off x="0" y="1702053"/>
            <a:ext cx="1653736" cy="4888274"/>
            <a:chOff x="0" y="0"/>
            <a:chExt cx="435552" cy="1287447"/>
          </a:xfrm>
        </p:grpSpPr>
        <p:sp>
          <p:nvSpPr>
            <p:cNvPr id="3" name="Freeform 3"/>
            <p:cNvSpPr/>
            <p:nvPr/>
          </p:nvSpPr>
          <p:spPr>
            <a:xfrm>
              <a:off x="0" y="0"/>
              <a:ext cx="435552" cy="1287447"/>
            </a:xfrm>
            <a:custGeom>
              <a:avLst/>
              <a:gdLst/>
              <a:ahLst/>
              <a:cxnLst/>
              <a:rect l="l" t="t" r="r" b="b"/>
              <a:pathLst>
                <a:path w="435552" h="1287447">
                  <a:moveTo>
                    <a:pt x="0" y="0"/>
                  </a:moveTo>
                  <a:lnTo>
                    <a:pt x="435552" y="0"/>
                  </a:lnTo>
                  <a:lnTo>
                    <a:pt x="435552" y="1287447"/>
                  </a:lnTo>
                  <a:lnTo>
                    <a:pt x="0" y="1287447"/>
                  </a:lnTo>
                  <a:close/>
                </a:path>
              </a:pathLst>
            </a:custGeom>
            <a:solidFill>
              <a:srgbClr val="101010"/>
            </a:solidFill>
          </p:spPr>
          <p:txBody>
            <a:bodyPr/>
            <a:lstStyle/>
            <a:p>
              <a:endParaRPr lang="en-US"/>
            </a:p>
          </p:txBody>
        </p:sp>
        <p:sp>
          <p:nvSpPr>
            <p:cNvPr id="4" name="TextBox 4"/>
            <p:cNvSpPr txBox="1"/>
            <p:nvPr/>
          </p:nvSpPr>
          <p:spPr>
            <a:xfrm>
              <a:off x="0" y="-38100"/>
              <a:ext cx="435552" cy="1325547"/>
            </a:xfrm>
            <a:prstGeom prst="rect">
              <a:avLst/>
            </a:prstGeom>
          </p:spPr>
          <p:txBody>
            <a:bodyPr lIns="50800" tIns="50800" rIns="50800" bIns="50800" rtlCol="0" anchor="ctr"/>
            <a:lstStyle/>
            <a:p>
              <a:pPr algn="ctr">
                <a:lnSpc>
                  <a:spcPts val="2520"/>
                </a:lnSpc>
              </a:pPr>
              <a:endParaRPr/>
            </a:p>
          </p:txBody>
        </p:sp>
      </p:grpSp>
      <p:grpSp>
        <p:nvGrpSpPr>
          <p:cNvPr id="5" name="Group 5"/>
          <p:cNvGrpSpPr/>
          <p:nvPr/>
        </p:nvGrpSpPr>
        <p:grpSpPr>
          <a:xfrm>
            <a:off x="1028700" y="1928812"/>
            <a:ext cx="6429375" cy="6429375"/>
            <a:chOff x="0" y="0"/>
            <a:chExt cx="812800" cy="812800"/>
          </a:xfrm>
        </p:grpSpPr>
        <p:sp>
          <p:nvSpPr>
            <p:cNvPr id="6" name="Freeform 6"/>
            <p:cNvSpPr/>
            <p:nvPr/>
          </p:nvSpPr>
          <p:spPr>
            <a:xfrm>
              <a:off x="0" y="0"/>
              <a:ext cx="812800" cy="812800"/>
            </a:xfrm>
            <a:custGeom>
              <a:avLst/>
              <a:gdLst/>
              <a:ahLst/>
              <a:cxnLst/>
              <a:rect l="l" t="t" r="r" b="b"/>
              <a:pathLst>
                <a:path w="812800" h="812800">
                  <a:moveTo>
                    <a:pt x="0" y="0"/>
                  </a:moveTo>
                  <a:lnTo>
                    <a:pt x="812800" y="0"/>
                  </a:lnTo>
                  <a:lnTo>
                    <a:pt x="812800" y="812800"/>
                  </a:lnTo>
                  <a:lnTo>
                    <a:pt x="0" y="812800"/>
                  </a:lnTo>
                  <a:close/>
                </a:path>
              </a:pathLst>
            </a:custGeom>
            <a:blipFill>
              <a:blip r:embed="rId2"/>
              <a:stretch>
                <a:fillRect l="-24906" r="-24906"/>
              </a:stretch>
            </a:blipFill>
          </p:spPr>
          <p:txBody>
            <a:bodyPr/>
            <a:lstStyle/>
            <a:p>
              <a:endParaRPr lang="en-US"/>
            </a:p>
          </p:txBody>
        </p:sp>
      </p:grpSp>
      <p:sp>
        <p:nvSpPr>
          <p:cNvPr id="7" name="TextBox 7"/>
          <p:cNvSpPr txBox="1"/>
          <p:nvPr/>
        </p:nvSpPr>
        <p:spPr>
          <a:xfrm>
            <a:off x="15712380" y="990600"/>
            <a:ext cx="1546920" cy="306705"/>
          </a:xfrm>
          <a:prstGeom prst="rect">
            <a:avLst/>
          </a:prstGeom>
        </p:spPr>
        <p:txBody>
          <a:bodyPr lIns="0" tIns="0" rIns="0" bIns="0" rtlCol="0" anchor="t">
            <a:spAutoFit/>
          </a:bodyPr>
          <a:lstStyle/>
          <a:p>
            <a:pPr algn="r">
              <a:lnSpc>
                <a:spcPts val="2520"/>
              </a:lnSpc>
            </a:pPr>
            <a:r>
              <a:rPr lang="en-US" sz="1800">
                <a:solidFill>
                  <a:srgbClr val="101010"/>
                </a:solidFill>
                <a:latin typeface="Aileron"/>
                <a:ea typeface="Aileron"/>
                <a:cs typeface="Aileron"/>
                <a:sym typeface="Aileron"/>
              </a:rPr>
              <a:t>09 May, 2026</a:t>
            </a:r>
          </a:p>
        </p:txBody>
      </p:sp>
      <p:sp>
        <p:nvSpPr>
          <p:cNvPr id="8" name="TextBox 8"/>
          <p:cNvSpPr txBox="1"/>
          <p:nvPr/>
        </p:nvSpPr>
        <p:spPr>
          <a:xfrm>
            <a:off x="7627088" y="1182508"/>
            <a:ext cx="8447878" cy="3030855"/>
          </a:xfrm>
          <a:prstGeom prst="rect">
            <a:avLst/>
          </a:prstGeom>
        </p:spPr>
        <p:txBody>
          <a:bodyPr lIns="0" tIns="0" rIns="0" bIns="0" rtlCol="0" anchor="t">
            <a:spAutoFit/>
          </a:bodyPr>
          <a:lstStyle/>
          <a:p>
            <a:pPr algn="l">
              <a:lnSpc>
                <a:spcPts val="7680"/>
              </a:lnSpc>
            </a:pPr>
            <a:r>
              <a:rPr lang="en-US" sz="9600" b="1" spc="-403" dirty="0">
                <a:solidFill>
                  <a:srgbClr val="101010"/>
                </a:solidFill>
                <a:latin typeface="Montserrat Bold"/>
                <a:ea typeface="Montserrat Bold"/>
                <a:cs typeface="Montserrat Bold"/>
                <a:sym typeface="Montserrat Bold"/>
              </a:rPr>
              <a:t>System Architecture Overview</a:t>
            </a:r>
          </a:p>
        </p:txBody>
      </p:sp>
      <p:sp>
        <p:nvSpPr>
          <p:cNvPr id="9" name="TextBox 9"/>
          <p:cNvSpPr txBox="1"/>
          <p:nvPr/>
        </p:nvSpPr>
        <p:spPr>
          <a:xfrm>
            <a:off x="7644673" y="4098565"/>
            <a:ext cx="10309884" cy="1480185"/>
          </a:xfrm>
          <a:prstGeom prst="rect">
            <a:avLst/>
          </a:prstGeom>
        </p:spPr>
        <p:txBody>
          <a:bodyPr lIns="0" tIns="0" rIns="0" bIns="0" rtlCol="0" anchor="t">
            <a:spAutoFit/>
          </a:bodyPr>
          <a:lstStyle/>
          <a:p>
            <a:pPr algn="just">
              <a:lnSpc>
                <a:spcPts val="2939"/>
              </a:lnSpc>
            </a:pPr>
            <a:r>
              <a:rPr lang="en-US" sz="2099" b="1" dirty="0">
                <a:solidFill>
                  <a:srgbClr val="101010"/>
                </a:solidFill>
                <a:latin typeface="Aileron Bold"/>
                <a:ea typeface="Aileron Bold"/>
                <a:cs typeface="Aileron Bold"/>
                <a:sym typeface="Aileron Bold"/>
              </a:rPr>
              <a:t>The system follows a layered architecture designed for reliability and scalability. The hybrid App serves as the primary data collection interface, capturing network metrics and user feedback. Local SQLite storage enables offline-first functionality, caching data when connectivity is unavailable.</a:t>
            </a:r>
          </a:p>
        </p:txBody>
      </p:sp>
      <p:sp>
        <p:nvSpPr>
          <p:cNvPr id="10" name="TextBox 10"/>
          <p:cNvSpPr txBox="1"/>
          <p:nvPr/>
        </p:nvSpPr>
        <p:spPr>
          <a:xfrm>
            <a:off x="7644673" y="6203590"/>
            <a:ext cx="10309884" cy="1851660"/>
          </a:xfrm>
          <a:prstGeom prst="rect">
            <a:avLst/>
          </a:prstGeom>
        </p:spPr>
        <p:txBody>
          <a:bodyPr wrap="square" lIns="0" tIns="0" rIns="0" bIns="0" rtlCol="0" anchor="t">
            <a:spAutoFit/>
          </a:bodyPr>
          <a:lstStyle/>
          <a:p>
            <a:pPr algn="just">
              <a:lnSpc>
                <a:spcPts val="2939"/>
              </a:lnSpc>
            </a:pPr>
            <a:r>
              <a:rPr lang="en-US" sz="2099" b="1" dirty="0">
                <a:solidFill>
                  <a:srgbClr val="101010"/>
                </a:solidFill>
                <a:latin typeface="Aileron Bold"/>
                <a:ea typeface="Aileron Bold"/>
                <a:cs typeface="Aileron Bold"/>
                <a:sym typeface="Aileron Bold"/>
              </a:rPr>
              <a:t>The Sync Manager orchestrates data transmission between the mobile device and cloud infrastructure. It communicates with the Cloud API, which validates and processes incoming data before storing it in the database. The Analytics Dashboard provides visualization tools for users and telecom analysts to explore aggregated insights.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4F4F4"/>
        </a:solidFill>
        <a:effectLst/>
      </p:bgPr>
    </p:bg>
    <p:spTree>
      <p:nvGrpSpPr>
        <p:cNvPr id="1" name=""/>
        <p:cNvGrpSpPr/>
        <p:nvPr/>
      </p:nvGrpSpPr>
      <p:grpSpPr>
        <a:xfrm>
          <a:off x="0" y="0"/>
          <a:ext cx="0" cy="0"/>
          <a:chOff x="0" y="0"/>
          <a:chExt cx="0" cy="0"/>
        </a:xfrm>
      </p:grpSpPr>
      <p:sp>
        <p:nvSpPr>
          <p:cNvPr id="2" name="TextBox 2"/>
          <p:cNvSpPr txBox="1"/>
          <p:nvPr/>
        </p:nvSpPr>
        <p:spPr>
          <a:xfrm>
            <a:off x="15712380" y="990600"/>
            <a:ext cx="1546920" cy="306705"/>
          </a:xfrm>
          <a:prstGeom prst="rect">
            <a:avLst/>
          </a:prstGeom>
        </p:spPr>
        <p:txBody>
          <a:bodyPr lIns="0" tIns="0" rIns="0" bIns="0" rtlCol="0" anchor="t">
            <a:spAutoFit/>
          </a:bodyPr>
          <a:lstStyle/>
          <a:p>
            <a:pPr algn="r">
              <a:lnSpc>
                <a:spcPts val="2520"/>
              </a:lnSpc>
            </a:pPr>
            <a:r>
              <a:rPr lang="en-US" sz="1800">
                <a:solidFill>
                  <a:srgbClr val="101010"/>
                </a:solidFill>
                <a:latin typeface="Aileron"/>
                <a:ea typeface="Aileron"/>
                <a:cs typeface="Aileron"/>
                <a:sym typeface="Aileron"/>
              </a:rPr>
              <a:t>09 May, 2026</a:t>
            </a:r>
          </a:p>
        </p:txBody>
      </p:sp>
      <p:sp>
        <p:nvSpPr>
          <p:cNvPr id="3" name="TextBox 3"/>
          <p:cNvSpPr txBox="1"/>
          <p:nvPr/>
        </p:nvSpPr>
        <p:spPr>
          <a:xfrm>
            <a:off x="612260" y="7096602"/>
            <a:ext cx="9125900" cy="2501839"/>
          </a:xfrm>
          <a:prstGeom prst="rect">
            <a:avLst/>
          </a:prstGeom>
        </p:spPr>
        <p:txBody>
          <a:bodyPr lIns="0" tIns="0" rIns="0" bIns="0" rtlCol="0" anchor="t">
            <a:spAutoFit/>
          </a:bodyPr>
          <a:lstStyle/>
          <a:p>
            <a:pPr algn="just">
              <a:lnSpc>
                <a:spcPts val="3251"/>
              </a:lnSpc>
            </a:pPr>
            <a:r>
              <a:rPr lang="en-US" sz="2322" dirty="0">
                <a:solidFill>
                  <a:srgbClr val="101010"/>
                </a:solidFill>
                <a:latin typeface="Aileron"/>
                <a:ea typeface="Aileron"/>
                <a:cs typeface="Aileron"/>
                <a:sym typeface="Aileron"/>
              </a:rPr>
              <a:t>The context diagram illustrates the system boundary and external actors interacting with the User Experience Data Collection App. Key actors include Mobile Subscribers who provide feedback and generate network metrics, Mobile Network Apis that provide signal data, GPS Satellites APIs for location services, Cloud Database for centralized storage, and Admin/Researchers who access analytics.</a:t>
            </a:r>
          </a:p>
        </p:txBody>
      </p:sp>
      <p:sp>
        <p:nvSpPr>
          <p:cNvPr id="4" name="TextBox 4"/>
          <p:cNvSpPr txBox="1"/>
          <p:nvPr/>
        </p:nvSpPr>
        <p:spPr>
          <a:xfrm>
            <a:off x="218790" y="5855018"/>
            <a:ext cx="12809494" cy="1087755"/>
          </a:xfrm>
          <a:prstGeom prst="rect">
            <a:avLst/>
          </a:prstGeom>
        </p:spPr>
        <p:txBody>
          <a:bodyPr lIns="0" tIns="0" rIns="0" bIns="0" rtlCol="0" anchor="t">
            <a:spAutoFit/>
          </a:bodyPr>
          <a:lstStyle/>
          <a:p>
            <a:pPr algn="l">
              <a:lnSpc>
                <a:spcPts val="7680"/>
              </a:lnSpc>
            </a:pPr>
            <a:r>
              <a:rPr lang="en-US" sz="9600" b="1" spc="-403" dirty="0">
                <a:solidFill>
                  <a:srgbClr val="101010"/>
                </a:solidFill>
                <a:latin typeface="Montserrat Bold"/>
                <a:ea typeface="Montserrat Bold"/>
                <a:cs typeface="Montserrat Bold"/>
                <a:sym typeface="Montserrat Bold"/>
              </a:rPr>
              <a:t>Context Diagram</a:t>
            </a:r>
          </a:p>
        </p:txBody>
      </p:sp>
      <p:sp>
        <p:nvSpPr>
          <p:cNvPr id="5" name="TextBox 5"/>
          <p:cNvSpPr txBox="1"/>
          <p:nvPr/>
        </p:nvSpPr>
        <p:spPr>
          <a:xfrm>
            <a:off x="10709621" y="7820673"/>
            <a:ext cx="7899850" cy="1014849"/>
          </a:xfrm>
          <a:prstGeom prst="rect">
            <a:avLst/>
          </a:prstGeom>
        </p:spPr>
        <p:txBody>
          <a:bodyPr lIns="0" tIns="0" rIns="0" bIns="0" rtlCol="0" anchor="t">
            <a:spAutoFit/>
          </a:bodyPr>
          <a:lstStyle/>
          <a:p>
            <a:pPr algn="l">
              <a:lnSpc>
                <a:spcPts val="2743"/>
              </a:lnSpc>
            </a:pPr>
            <a:r>
              <a:rPr lang="en-US" sz="1959">
                <a:solidFill>
                  <a:srgbClr val="101010"/>
                </a:solidFill>
                <a:latin typeface="Aileron"/>
                <a:ea typeface="Aileron"/>
                <a:cs typeface="Aileron"/>
                <a:sym typeface="Aileron"/>
              </a:rPr>
              <a:t>Data flows bidirectionally between the app and external entities, enabling comprehensive network quality monitoring through crowdsourced user experience data collection.</a:t>
            </a:r>
          </a:p>
        </p:txBody>
      </p:sp>
      <p:sp>
        <p:nvSpPr>
          <p:cNvPr id="6" name="TextBox 6"/>
          <p:cNvSpPr txBox="1"/>
          <p:nvPr/>
        </p:nvSpPr>
        <p:spPr>
          <a:xfrm>
            <a:off x="10388150" y="5682212"/>
            <a:ext cx="7899850" cy="302559"/>
          </a:xfrm>
          <a:prstGeom prst="rect">
            <a:avLst/>
          </a:prstGeom>
        </p:spPr>
        <p:txBody>
          <a:bodyPr lIns="0" tIns="0" rIns="0" bIns="0" rtlCol="0" anchor="t">
            <a:spAutoFit/>
          </a:bodyPr>
          <a:lstStyle/>
          <a:p>
            <a:pPr algn="just">
              <a:lnSpc>
                <a:spcPts val="2443"/>
              </a:lnSpc>
            </a:pPr>
            <a:r>
              <a:rPr lang="en-US" sz="1745" b="1">
                <a:solidFill>
                  <a:srgbClr val="101010"/>
                </a:solidFill>
                <a:latin typeface="Aileron Bold"/>
                <a:ea typeface="Aileron Bold"/>
                <a:cs typeface="Aileron Bold"/>
                <a:sym typeface="Aileron Bold"/>
              </a:rPr>
              <a:t>System boundary showing all actor interactions and data exchanges</a:t>
            </a:r>
          </a:p>
        </p:txBody>
      </p:sp>
      <p:grpSp>
        <p:nvGrpSpPr>
          <p:cNvPr id="7" name="Group 7"/>
          <p:cNvGrpSpPr/>
          <p:nvPr/>
        </p:nvGrpSpPr>
        <p:grpSpPr>
          <a:xfrm>
            <a:off x="3760713" y="1665795"/>
            <a:ext cx="3756273" cy="1524216"/>
            <a:chOff x="0" y="0"/>
            <a:chExt cx="989306" cy="401440"/>
          </a:xfrm>
        </p:grpSpPr>
        <p:sp>
          <p:nvSpPr>
            <p:cNvPr id="8" name="Freeform 8"/>
            <p:cNvSpPr/>
            <p:nvPr/>
          </p:nvSpPr>
          <p:spPr>
            <a:xfrm>
              <a:off x="0" y="0"/>
              <a:ext cx="989306" cy="401440"/>
            </a:xfrm>
            <a:custGeom>
              <a:avLst/>
              <a:gdLst/>
              <a:ahLst/>
              <a:cxnLst/>
              <a:rect l="l" t="t" r="r" b="b"/>
              <a:pathLst>
                <a:path w="989306" h="401440">
                  <a:moveTo>
                    <a:pt x="0" y="0"/>
                  </a:moveTo>
                  <a:lnTo>
                    <a:pt x="989306" y="0"/>
                  </a:lnTo>
                  <a:lnTo>
                    <a:pt x="989306" y="401440"/>
                  </a:lnTo>
                  <a:lnTo>
                    <a:pt x="0" y="401440"/>
                  </a:lnTo>
                  <a:close/>
                </a:path>
              </a:pathLst>
            </a:custGeom>
            <a:solidFill>
              <a:srgbClr val="101010"/>
            </a:solidFill>
          </p:spPr>
          <p:txBody>
            <a:bodyPr/>
            <a:lstStyle/>
            <a:p>
              <a:endParaRPr lang="en-US"/>
            </a:p>
          </p:txBody>
        </p:sp>
        <p:sp>
          <p:nvSpPr>
            <p:cNvPr id="9" name="TextBox 9"/>
            <p:cNvSpPr txBox="1"/>
            <p:nvPr/>
          </p:nvSpPr>
          <p:spPr>
            <a:xfrm>
              <a:off x="0" y="-38100"/>
              <a:ext cx="989306" cy="439540"/>
            </a:xfrm>
            <a:prstGeom prst="rect">
              <a:avLst/>
            </a:prstGeom>
          </p:spPr>
          <p:txBody>
            <a:bodyPr lIns="50800" tIns="50800" rIns="50800" bIns="50800" rtlCol="0" anchor="ctr"/>
            <a:lstStyle/>
            <a:p>
              <a:pPr algn="ctr">
                <a:lnSpc>
                  <a:spcPts val="2520"/>
                </a:lnSpc>
              </a:pPr>
              <a:endParaRPr/>
            </a:p>
          </p:txBody>
        </p:sp>
      </p:grpSp>
      <p:grpSp>
        <p:nvGrpSpPr>
          <p:cNvPr id="10" name="Group 10"/>
          <p:cNvGrpSpPr/>
          <p:nvPr/>
        </p:nvGrpSpPr>
        <p:grpSpPr>
          <a:xfrm>
            <a:off x="4035192" y="1928812"/>
            <a:ext cx="14252808" cy="3554730"/>
            <a:chOff x="0" y="0"/>
            <a:chExt cx="19003744" cy="4739640"/>
          </a:xfrm>
        </p:grpSpPr>
        <p:pic>
          <p:nvPicPr>
            <p:cNvPr id="11" name="Picture 11"/>
            <p:cNvPicPr>
              <a:picLocks noChangeAspect="1"/>
            </p:cNvPicPr>
            <p:nvPr/>
          </p:nvPicPr>
          <p:blipFill>
            <a:blip r:embed="rId2"/>
            <a:srcRect t="31282" b="31282"/>
            <a:stretch>
              <a:fillRect/>
            </a:stretch>
          </p:blipFill>
          <p:spPr>
            <a:xfrm>
              <a:off x="0" y="0"/>
              <a:ext cx="19003744" cy="4739640"/>
            </a:xfrm>
            <a:prstGeom prst="rect">
              <a:avLst/>
            </a:prstGeom>
          </p:spPr>
        </p:pic>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4F4F4"/>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48E635AE-744E-5EDC-02A6-F025543ED2D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18394" y="1104900"/>
            <a:ext cx="15651212" cy="754382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4F4F4"/>
        </a:solidFill>
        <a:effectLst/>
      </p:bgPr>
    </p:bg>
    <p:spTree>
      <p:nvGrpSpPr>
        <p:cNvPr id="1" name=""/>
        <p:cNvGrpSpPr/>
        <p:nvPr/>
      </p:nvGrpSpPr>
      <p:grpSpPr>
        <a:xfrm>
          <a:off x="0" y="0"/>
          <a:ext cx="0" cy="0"/>
          <a:chOff x="0" y="0"/>
          <a:chExt cx="0" cy="0"/>
        </a:xfrm>
      </p:grpSpPr>
      <p:sp>
        <p:nvSpPr>
          <p:cNvPr id="2" name="TextBox 2"/>
          <p:cNvSpPr txBox="1"/>
          <p:nvPr/>
        </p:nvSpPr>
        <p:spPr>
          <a:xfrm>
            <a:off x="4842012" y="3776879"/>
            <a:ext cx="8603976" cy="2059305"/>
          </a:xfrm>
          <a:prstGeom prst="rect">
            <a:avLst/>
          </a:prstGeom>
        </p:spPr>
        <p:txBody>
          <a:bodyPr lIns="0" tIns="0" rIns="0" bIns="0" rtlCol="0" anchor="t">
            <a:spAutoFit/>
          </a:bodyPr>
          <a:lstStyle/>
          <a:p>
            <a:pPr algn="ctr">
              <a:lnSpc>
                <a:spcPts val="7680"/>
              </a:lnSpc>
            </a:pPr>
            <a:r>
              <a:rPr lang="en-US" sz="9600" b="1" spc="-403">
                <a:solidFill>
                  <a:srgbClr val="101010"/>
                </a:solidFill>
                <a:latin typeface="Montserrat Bold"/>
                <a:ea typeface="Montserrat Bold"/>
                <a:cs typeface="Montserrat Bold"/>
                <a:sym typeface="Montserrat Bold"/>
              </a:rPr>
              <a:t>Use Case Diagram</a:t>
            </a:r>
          </a:p>
        </p:txBody>
      </p:sp>
      <p:grpSp>
        <p:nvGrpSpPr>
          <p:cNvPr id="3" name="Group 3"/>
          <p:cNvGrpSpPr/>
          <p:nvPr/>
        </p:nvGrpSpPr>
        <p:grpSpPr>
          <a:xfrm>
            <a:off x="0" y="1928812"/>
            <a:ext cx="6042099" cy="3214688"/>
            <a:chOff x="0" y="0"/>
            <a:chExt cx="763841" cy="406400"/>
          </a:xfrm>
        </p:grpSpPr>
        <p:sp>
          <p:nvSpPr>
            <p:cNvPr id="4" name="Freeform 4"/>
            <p:cNvSpPr/>
            <p:nvPr/>
          </p:nvSpPr>
          <p:spPr>
            <a:xfrm>
              <a:off x="0" y="0"/>
              <a:ext cx="763841" cy="406400"/>
            </a:xfrm>
            <a:custGeom>
              <a:avLst/>
              <a:gdLst/>
              <a:ahLst/>
              <a:cxnLst/>
              <a:rect l="l" t="t" r="r" b="b"/>
              <a:pathLst>
                <a:path w="763841" h="406400">
                  <a:moveTo>
                    <a:pt x="0" y="0"/>
                  </a:moveTo>
                  <a:lnTo>
                    <a:pt x="763841" y="0"/>
                  </a:lnTo>
                  <a:lnTo>
                    <a:pt x="763841" y="406400"/>
                  </a:lnTo>
                  <a:lnTo>
                    <a:pt x="0" y="406400"/>
                  </a:lnTo>
                  <a:close/>
                </a:path>
              </a:pathLst>
            </a:custGeom>
            <a:blipFill>
              <a:blip r:embed="rId2"/>
              <a:stretch>
                <a:fillRect t="-12611" b="-12611"/>
              </a:stretch>
            </a:blipFill>
          </p:spPr>
          <p:txBody>
            <a:bodyPr/>
            <a:lstStyle/>
            <a:p>
              <a:endParaRPr lang="en-US"/>
            </a:p>
          </p:txBody>
        </p:sp>
      </p:grpSp>
      <p:grpSp>
        <p:nvGrpSpPr>
          <p:cNvPr id="5" name="Group 5"/>
          <p:cNvGrpSpPr/>
          <p:nvPr/>
        </p:nvGrpSpPr>
        <p:grpSpPr>
          <a:xfrm>
            <a:off x="14549025" y="6065324"/>
            <a:ext cx="3738975" cy="2292863"/>
            <a:chOff x="0" y="0"/>
            <a:chExt cx="4985300" cy="3057151"/>
          </a:xfrm>
        </p:grpSpPr>
        <p:pic>
          <p:nvPicPr>
            <p:cNvPr id="6" name="Picture 6"/>
            <p:cNvPicPr>
              <a:picLocks noChangeAspect="1"/>
            </p:cNvPicPr>
            <p:nvPr/>
          </p:nvPicPr>
          <p:blipFill>
            <a:blip r:embed="rId3"/>
            <a:srcRect t="9117" b="9117"/>
            <a:stretch>
              <a:fillRect/>
            </a:stretch>
          </p:blipFill>
          <p:spPr>
            <a:xfrm>
              <a:off x="0" y="0"/>
              <a:ext cx="4985300" cy="3057151"/>
            </a:xfrm>
            <a:prstGeom prst="rect">
              <a:avLst/>
            </a:prstGeom>
          </p:spPr>
        </p:pic>
      </p:grpSp>
      <p:sp>
        <p:nvSpPr>
          <p:cNvPr id="7" name="Freeform 7"/>
          <p:cNvSpPr/>
          <p:nvPr/>
        </p:nvSpPr>
        <p:spPr>
          <a:xfrm>
            <a:off x="8510030" y="6295828"/>
            <a:ext cx="3504256" cy="2803405"/>
          </a:xfrm>
          <a:custGeom>
            <a:avLst/>
            <a:gdLst/>
            <a:ahLst/>
            <a:cxnLst/>
            <a:rect l="l" t="t" r="r" b="b"/>
            <a:pathLst>
              <a:path w="3504256" h="2803405">
                <a:moveTo>
                  <a:pt x="0" y="0"/>
                </a:moveTo>
                <a:lnTo>
                  <a:pt x="3504256" y="0"/>
                </a:lnTo>
                <a:lnTo>
                  <a:pt x="3504256" y="2803404"/>
                </a:lnTo>
                <a:lnTo>
                  <a:pt x="0" y="2803404"/>
                </a:lnTo>
                <a:lnTo>
                  <a:pt x="0" y="0"/>
                </a:lnTo>
                <a:close/>
              </a:path>
            </a:pathLst>
          </a:custGeom>
          <a:blipFill>
            <a:blip r:embed="rId4"/>
            <a:stretch>
              <a:fillRect/>
            </a:stretch>
          </a:blipFill>
        </p:spPr>
        <p:txBody>
          <a:bodyPr/>
          <a:lstStyle/>
          <a:p>
            <a:endParaRPr lang="en-US"/>
          </a:p>
        </p:txBody>
      </p:sp>
      <p:sp>
        <p:nvSpPr>
          <p:cNvPr id="8" name="TextBox 8"/>
          <p:cNvSpPr txBox="1"/>
          <p:nvPr/>
        </p:nvSpPr>
        <p:spPr>
          <a:xfrm>
            <a:off x="1028700" y="990600"/>
            <a:ext cx="3383553" cy="356235"/>
          </a:xfrm>
          <a:prstGeom prst="rect">
            <a:avLst/>
          </a:prstGeom>
        </p:spPr>
        <p:txBody>
          <a:bodyPr lIns="0" tIns="0" rIns="0" bIns="0" rtlCol="0" anchor="t">
            <a:spAutoFit/>
          </a:bodyPr>
          <a:lstStyle/>
          <a:p>
            <a:pPr algn="l">
              <a:lnSpc>
                <a:spcPts val="2939"/>
              </a:lnSpc>
            </a:pPr>
            <a:r>
              <a:rPr lang="en-US" sz="2099" b="1">
                <a:solidFill>
                  <a:srgbClr val="101010"/>
                </a:solidFill>
                <a:latin typeface="Montserrat Bold"/>
                <a:ea typeface="Montserrat Bold"/>
                <a:cs typeface="Montserrat Bold"/>
                <a:sym typeface="Montserrat Bold"/>
              </a:rPr>
              <a:t>Users</a:t>
            </a:r>
          </a:p>
        </p:txBody>
      </p:sp>
      <p:sp>
        <p:nvSpPr>
          <p:cNvPr id="9" name="TextBox 9"/>
          <p:cNvSpPr txBox="1"/>
          <p:nvPr/>
        </p:nvSpPr>
        <p:spPr>
          <a:xfrm>
            <a:off x="15712380" y="8792527"/>
            <a:ext cx="2003078" cy="306705"/>
          </a:xfrm>
          <a:prstGeom prst="rect">
            <a:avLst/>
          </a:prstGeom>
        </p:spPr>
        <p:txBody>
          <a:bodyPr lIns="0" tIns="0" rIns="0" bIns="0" rtlCol="0" anchor="t">
            <a:spAutoFit/>
          </a:bodyPr>
          <a:lstStyle/>
          <a:p>
            <a:pPr algn="l">
              <a:lnSpc>
                <a:spcPts val="2520"/>
              </a:lnSpc>
            </a:pPr>
            <a:r>
              <a:rPr lang="en-US" sz="1800">
                <a:solidFill>
                  <a:srgbClr val="101010"/>
                </a:solidFill>
                <a:latin typeface="Aileron"/>
                <a:ea typeface="Aileron"/>
                <a:cs typeface="Aileron"/>
                <a:sym typeface="Aileron"/>
              </a:rPr>
              <a:t>System interactions</a:t>
            </a:r>
          </a:p>
        </p:txBody>
      </p:sp>
      <p:sp>
        <p:nvSpPr>
          <p:cNvPr id="10" name="TextBox 10"/>
          <p:cNvSpPr txBox="1"/>
          <p:nvPr/>
        </p:nvSpPr>
        <p:spPr>
          <a:xfrm>
            <a:off x="4842012" y="6128055"/>
            <a:ext cx="8428089" cy="382066"/>
          </a:xfrm>
          <a:prstGeom prst="rect">
            <a:avLst/>
          </a:prstGeom>
        </p:spPr>
        <p:txBody>
          <a:bodyPr lIns="0" tIns="0" rIns="0" bIns="0" rtlCol="0" anchor="t">
            <a:spAutoFit/>
          </a:bodyPr>
          <a:lstStyle/>
          <a:p>
            <a:pPr algn="ctr">
              <a:lnSpc>
                <a:spcPts val="3002"/>
              </a:lnSpc>
            </a:pPr>
            <a:r>
              <a:rPr lang="en-US" sz="2144">
                <a:solidFill>
                  <a:srgbClr val="101010"/>
                </a:solidFill>
                <a:latin typeface="Aileron"/>
                <a:ea typeface="Aileron"/>
                <a:cs typeface="Aileron"/>
                <a:sym typeface="Aileron"/>
              </a:rPr>
              <a:t>Actors and use cases mapped to system interactions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4F4F4"/>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BF2BDB0E-23AF-9D3B-B6ED-28ED384CE5E5}"/>
              </a:ext>
            </a:extLst>
          </p:cNvPr>
          <p:cNvSpPr/>
          <p:nvPr/>
        </p:nvSpPr>
        <p:spPr>
          <a:xfrm>
            <a:off x="0" y="0"/>
            <a:ext cx="18288000" cy="10287000"/>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pic>
        <p:nvPicPr>
          <p:cNvPr id="2" name="Picture 1">
            <a:extLst>
              <a:ext uri="{FF2B5EF4-FFF2-40B4-BE49-F238E27FC236}">
                <a16:creationId xmlns:a16="http://schemas.microsoft.com/office/drawing/2014/main" id="{F7717940-5FC5-FA79-7163-F5EC22D04A8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00600" y="-20050"/>
            <a:ext cx="9029700" cy="1030705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4F4F4"/>
        </a:solidFill>
        <a:effectLst/>
      </p:bgPr>
    </p:bg>
    <p:spTree>
      <p:nvGrpSpPr>
        <p:cNvPr id="1" name=""/>
        <p:cNvGrpSpPr/>
        <p:nvPr/>
      </p:nvGrpSpPr>
      <p:grpSpPr>
        <a:xfrm>
          <a:off x="0" y="0"/>
          <a:ext cx="0" cy="0"/>
          <a:chOff x="0" y="0"/>
          <a:chExt cx="0" cy="0"/>
        </a:xfrm>
      </p:grpSpPr>
      <p:grpSp>
        <p:nvGrpSpPr>
          <p:cNvPr id="2" name="Group 2"/>
          <p:cNvGrpSpPr/>
          <p:nvPr/>
        </p:nvGrpSpPr>
        <p:grpSpPr>
          <a:xfrm>
            <a:off x="8285609" y="1928813"/>
            <a:ext cx="8973691" cy="6429375"/>
            <a:chOff x="0" y="0"/>
            <a:chExt cx="1134452" cy="812800"/>
          </a:xfrm>
        </p:grpSpPr>
        <p:sp>
          <p:nvSpPr>
            <p:cNvPr id="3" name="Freeform 3"/>
            <p:cNvSpPr/>
            <p:nvPr/>
          </p:nvSpPr>
          <p:spPr>
            <a:xfrm>
              <a:off x="0" y="0"/>
              <a:ext cx="1134452" cy="812800"/>
            </a:xfrm>
            <a:custGeom>
              <a:avLst/>
              <a:gdLst/>
              <a:ahLst/>
              <a:cxnLst/>
              <a:rect l="l" t="t" r="r" b="b"/>
              <a:pathLst>
                <a:path w="1134452" h="812800">
                  <a:moveTo>
                    <a:pt x="0" y="0"/>
                  </a:moveTo>
                  <a:lnTo>
                    <a:pt x="1134452" y="0"/>
                  </a:lnTo>
                  <a:lnTo>
                    <a:pt x="1134452" y="812800"/>
                  </a:lnTo>
                  <a:lnTo>
                    <a:pt x="0" y="812800"/>
                  </a:lnTo>
                  <a:close/>
                </a:path>
              </a:pathLst>
            </a:custGeom>
            <a:blipFill>
              <a:blip r:embed="rId2"/>
              <a:stretch>
                <a:fillRect l="-3768" r="-3768"/>
              </a:stretch>
            </a:blipFill>
          </p:spPr>
          <p:txBody>
            <a:bodyPr/>
            <a:lstStyle/>
            <a:p>
              <a:endParaRPr lang="en-US"/>
            </a:p>
          </p:txBody>
        </p:sp>
      </p:grpSp>
      <p:grpSp>
        <p:nvGrpSpPr>
          <p:cNvPr id="4" name="Group 4"/>
          <p:cNvGrpSpPr/>
          <p:nvPr/>
        </p:nvGrpSpPr>
        <p:grpSpPr>
          <a:xfrm>
            <a:off x="14044612" y="1928813"/>
            <a:ext cx="6429375" cy="6429375"/>
            <a:chOff x="0" y="0"/>
            <a:chExt cx="812800" cy="812800"/>
          </a:xfrm>
        </p:grpSpPr>
        <p:sp>
          <p:nvSpPr>
            <p:cNvPr id="5" name="Freeform 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3"/>
              <a:stretch>
                <a:fillRect l="-50093"/>
              </a:stretch>
            </a:blipFill>
          </p:spPr>
          <p:txBody>
            <a:bodyPr/>
            <a:lstStyle/>
            <a:p>
              <a:endParaRPr lang="en-US"/>
            </a:p>
          </p:txBody>
        </p:sp>
      </p:grpSp>
      <p:sp>
        <p:nvSpPr>
          <p:cNvPr id="6" name="TextBox 6"/>
          <p:cNvSpPr txBox="1"/>
          <p:nvPr/>
        </p:nvSpPr>
        <p:spPr>
          <a:xfrm>
            <a:off x="8201094" y="1415891"/>
            <a:ext cx="9058206" cy="356235"/>
          </a:xfrm>
          <a:prstGeom prst="rect">
            <a:avLst/>
          </a:prstGeom>
        </p:spPr>
        <p:txBody>
          <a:bodyPr lIns="0" tIns="0" rIns="0" bIns="0" rtlCol="0" anchor="t">
            <a:spAutoFit/>
          </a:bodyPr>
          <a:lstStyle/>
          <a:p>
            <a:pPr algn="l">
              <a:lnSpc>
                <a:spcPts val="2939"/>
              </a:lnSpc>
            </a:pPr>
            <a:r>
              <a:rPr lang="en-US" sz="2099" b="1">
                <a:solidFill>
                  <a:srgbClr val="101010"/>
                </a:solidFill>
                <a:latin typeface="Montserrat Bold"/>
                <a:ea typeface="Montserrat Bold"/>
                <a:cs typeface="Montserrat Bold"/>
                <a:sym typeface="Montserrat Bold"/>
              </a:rPr>
              <a:t>Scenario: Slow internet detected and user feedback collected</a:t>
            </a:r>
          </a:p>
        </p:txBody>
      </p:sp>
      <p:sp>
        <p:nvSpPr>
          <p:cNvPr id="7" name="TextBox 7"/>
          <p:cNvSpPr txBox="1"/>
          <p:nvPr/>
        </p:nvSpPr>
        <p:spPr>
          <a:xfrm>
            <a:off x="385759" y="4167461"/>
            <a:ext cx="6544191" cy="2183991"/>
          </a:xfrm>
          <a:prstGeom prst="rect">
            <a:avLst/>
          </a:prstGeom>
        </p:spPr>
        <p:txBody>
          <a:bodyPr lIns="0" tIns="0" rIns="0" bIns="0" rtlCol="0" anchor="t">
            <a:spAutoFit/>
          </a:bodyPr>
          <a:lstStyle/>
          <a:p>
            <a:pPr algn="l">
              <a:lnSpc>
                <a:spcPts val="3522"/>
              </a:lnSpc>
            </a:pPr>
            <a:r>
              <a:rPr lang="en-US" sz="2516">
                <a:solidFill>
                  <a:srgbClr val="101010"/>
                </a:solidFill>
                <a:latin typeface="Aileron"/>
                <a:ea typeface="Aileron"/>
                <a:cs typeface="Aileron"/>
                <a:sym typeface="Aileron"/>
              </a:rPr>
              <a:t>This sequence diagram illustrates the complete flow when slow internet is detected. The Background Service monitors network conditions and triggers the App UI to prompt the user for feedback.</a:t>
            </a:r>
          </a:p>
        </p:txBody>
      </p:sp>
      <p:sp>
        <p:nvSpPr>
          <p:cNvPr id="8" name="TextBox 8"/>
          <p:cNvSpPr txBox="1"/>
          <p:nvPr/>
        </p:nvSpPr>
        <p:spPr>
          <a:xfrm>
            <a:off x="385759" y="1825466"/>
            <a:ext cx="7560617" cy="2059305"/>
          </a:xfrm>
          <a:prstGeom prst="rect">
            <a:avLst/>
          </a:prstGeom>
        </p:spPr>
        <p:txBody>
          <a:bodyPr lIns="0" tIns="0" rIns="0" bIns="0" rtlCol="0" anchor="t">
            <a:spAutoFit/>
          </a:bodyPr>
          <a:lstStyle/>
          <a:p>
            <a:pPr algn="l">
              <a:lnSpc>
                <a:spcPts val="7680"/>
              </a:lnSpc>
            </a:pPr>
            <a:r>
              <a:rPr lang="en-US" sz="9600" b="1" spc="-403">
                <a:solidFill>
                  <a:srgbClr val="101010"/>
                </a:solidFill>
                <a:latin typeface="Montserrat Bold"/>
                <a:ea typeface="Montserrat Bold"/>
                <a:cs typeface="Montserrat Bold"/>
                <a:sym typeface="Montserrat Bold"/>
              </a:rPr>
              <a:t>Sequence Diagram</a:t>
            </a:r>
          </a:p>
        </p:txBody>
      </p:sp>
      <p:sp>
        <p:nvSpPr>
          <p:cNvPr id="9" name="TextBox 9"/>
          <p:cNvSpPr txBox="1"/>
          <p:nvPr/>
        </p:nvSpPr>
        <p:spPr>
          <a:xfrm>
            <a:off x="385759" y="6674738"/>
            <a:ext cx="6544191" cy="2622141"/>
          </a:xfrm>
          <a:prstGeom prst="rect">
            <a:avLst/>
          </a:prstGeom>
        </p:spPr>
        <p:txBody>
          <a:bodyPr lIns="0" tIns="0" rIns="0" bIns="0" rtlCol="0" anchor="t">
            <a:spAutoFit/>
          </a:bodyPr>
          <a:lstStyle/>
          <a:p>
            <a:pPr algn="l">
              <a:lnSpc>
                <a:spcPts val="3522"/>
              </a:lnSpc>
            </a:pPr>
            <a:r>
              <a:rPr lang="en-US" sz="2516">
                <a:solidFill>
                  <a:srgbClr val="101010"/>
                </a:solidFill>
                <a:latin typeface="Aileron"/>
                <a:ea typeface="Aileron"/>
                <a:cs typeface="Aileron"/>
                <a:sym typeface="Aileron"/>
              </a:rPr>
              <a:t>The user rates their network experience, which is then stored in the Local DB. The Sync Manager coordinates with the Cloud API to upload the anonymized data when connectivity permits, ensuring no feedback is lost.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4F4F4"/>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D4D2C05-0FF4-69D5-6DF2-E38754AE8855}"/>
              </a:ext>
            </a:extLst>
          </p:cNvPr>
          <p:cNvSpPr/>
          <p:nvPr/>
        </p:nvSpPr>
        <p:spPr>
          <a:xfrm>
            <a:off x="0" y="0"/>
            <a:ext cx="18288000" cy="10287000"/>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pic>
        <p:nvPicPr>
          <p:cNvPr id="2" name="Picture 1">
            <a:extLst>
              <a:ext uri="{FF2B5EF4-FFF2-40B4-BE49-F238E27FC236}">
                <a16:creationId xmlns:a16="http://schemas.microsoft.com/office/drawing/2014/main" id="{520AA5F0-0C9A-1D5A-6F2B-AB6D1C2A0C2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451725" y="661822"/>
            <a:ext cx="9096375" cy="9410613"/>
          </a:xfrm>
          <a:prstGeom prst="rect">
            <a:avLst/>
          </a:prstGeom>
        </p:spPr>
      </p:pic>
      <p:sp>
        <p:nvSpPr>
          <p:cNvPr id="5" name="TextBox 4">
            <a:extLst>
              <a:ext uri="{FF2B5EF4-FFF2-40B4-BE49-F238E27FC236}">
                <a16:creationId xmlns:a16="http://schemas.microsoft.com/office/drawing/2014/main" id="{7A510769-7BB6-AEA5-CBBD-A180DC105B78}"/>
              </a:ext>
            </a:extLst>
          </p:cNvPr>
          <p:cNvSpPr txBox="1"/>
          <p:nvPr/>
        </p:nvSpPr>
        <p:spPr>
          <a:xfrm>
            <a:off x="990600" y="3695700"/>
            <a:ext cx="6165850" cy="2123658"/>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400" b="1" i="0" u="none" strike="noStrike" kern="0" cap="none" spc="0" normalizeH="0" baseline="0" noProof="0" dirty="0">
                <a:ln>
                  <a:noFill/>
                </a:ln>
                <a:solidFill>
                  <a:prstClr val="white"/>
                </a:solidFill>
                <a:effectLst/>
                <a:uLnTx/>
                <a:uFillTx/>
                <a:latin typeface="Calibri" panose="020F0502020204030204" pitchFamily="34" charset="0"/>
                <a:ea typeface="Arial" panose="020B0604020202020204" pitchFamily="34" charset="0"/>
                <a:cs typeface="+mn-cs"/>
              </a:rPr>
              <a:t>Scenario A: Passive Metric Collection and Transmission</a:t>
            </a:r>
            <a:endParaRPr kumimoji="0" lang="en-US" sz="4400" b="0" i="0" u="none" strike="noStrike" kern="1200" cap="none" spc="0" normalizeH="0" baseline="0" noProof="0" dirty="0">
              <a:ln>
                <a:noFill/>
              </a:ln>
              <a:solidFill>
                <a:prstClr val="white"/>
              </a:solidFill>
              <a:effectLst/>
              <a:uLnTx/>
              <a:uFillTx/>
              <a:latin typeface="Calibri"/>
              <a:ea typeface="+mn-ea"/>
              <a:cs typeface="+mn-cs"/>
            </a:endParaRPr>
          </a:p>
        </p:txBody>
      </p:sp>
    </p:spTree>
    <p:extLst>
      <p:ext uri="{BB962C8B-B14F-4D97-AF65-F5344CB8AC3E}">
        <p14:creationId xmlns:p14="http://schemas.microsoft.com/office/powerpoint/2010/main" val="385192437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4F4F4"/>
        </a:solidFill>
        <a:effectLst/>
      </p:bgPr>
    </p:bg>
    <p:spTree>
      <p:nvGrpSpPr>
        <p:cNvPr id="1" name="">
          <a:extLst>
            <a:ext uri="{FF2B5EF4-FFF2-40B4-BE49-F238E27FC236}">
              <a16:creationId xmlns:a16="http://schemas.microsoft.com/office/drawing/2014/main" id="{53D20EC3-E566-D00D-26A2-1B1235744D11}"/>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6EAA577D-88ED-42A4-FE85-51E4491C1C2B}"/>
              </a:ext>
            </a:extLst>
          </p:cNvPr>
          <p:cNvSpPr/>
          <p:nvPr/>
        </p:nvSpPr>
        <p:spPr>
          <a:xfrm>
            <a:off x="0" y="0"/>
            <a:ext cx="18288000" cy="10287000"/>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5" name="TextBox 4">
            <a:extLst>
              <a:ext uri="{FF2B5EF4-FFF2-40B4-BE49-F238E27FC236}">
                <a16:creationId xmlns:a16="http://schemas.microsoft.com/office/drawing/2014/main" id="{65EBFC8E-F940-5B1E-9966-0E88559F6C74}"/>
              </a:ext>
            </a:extLst>
          </p:cNvPr>
          <p:cNvSpPr txBox="1"/>
          <p:nvPr/>
        </p:nvSpPr>
        <p:spPr>
          <a:xfrm>
            <a:off x="990600" y="3695700"/>
            <a:ext cx="6165850" cy="144655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400" b="1" i="0" u="none" strike="noStrike" kern="0" cap="none" spc="0" normalizeH="0" baseline="0" noProof="0" dirty="0">
                <a:ln>
                  <a:noFill/>
                </a:ln>
                <a:solidFill>
                  <a:prstClr val="white"/>
                </a:solidFill>
                <a:effectLst/>
                <a:uLnTx/>
                <a:uFillTx/>
                <a:latin typeface="Calibri" panose="020F0502020204030204" pitchFamily="34" charset="0"/>
                <a:ea typeface="Arial" panose="020B0604020202020204" pitchFamily="34" charset="0"/>
                <a:cs typeface="+mn-cs"/>
              </a:rPr>
              <a:t>Scenario B: Active Feedback Collection</a:t>
            </a:r>
            <a:endParaRPr kumimoji="0" lang="en-US" sz="4400" b="0" i="0" u="none" strike="noStrike" kern="1200" cap="none" spc="0" normalizeH="0" baseline="0" noProof="0" dirty="0">
              <a:ln>
                <a:noFill/>
              </a:ln>
              <a:solidFill>
                <a:prstClr val="white"/>
              </a:solidFill>
              <a:effectLst/>
              <a:uLnTx/>
              <a:uFillTx/>
              <a:latin typeface="Calibri"/>
              <a:ea typeface="+mn-ea"/>
              <a:cs typeface="+mn-cs"/>
            </a:endParaRPr>
          </a:p>
        </p:txBody>
      </p:sp>
      <p:pic>
        <p:nvPicPr>
          <p:cNvPr id="4" name="Picture 3">
            <a:extLst>
              <a:ext uri="{FF2B5EF4-FFF2-40B4-BE49-F238E27FC236}">
                <a16:creationId xmlns:a16="http://schemas.microsoft.com/office/drawing/2014/main" id="{60C393C2-ABE2-C1C7-1008-BF3A0AA8A91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156450" y="266700"/>
            <a:ext cx="11055018" cy="9433160"/>
          </a:xfrm>
          <a:prstGeom prst="rect">
            <a:avLst/>
          </a:prstGeom>
        </p:spPr>
      </p:pic>
    </p:spTree>
    <p:extLst>
      <p:ext uri="{BB962C8B-B14F-4D97-AF65-F5344CB8AC3E}">
        <p14:creationId xmlns:p14="http://schemas.microsoft.com/office/powerpoint/2010/main" val="414451054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4F4F4"/>
        </a:solidFill>
        <a:effectLst/>
      </p:bgPr>
    </p:bg>
    <p:spTree>
      <p:nvGrpSpPr>
        <p:cNvPr id="1" name="">
          <a:extLst>
            <a:ext uri="{FF2B5EF4-FFF2-40B4-BE49-F238E27FC236}">
              <a16:creationId xmlns:a16="http://schemas.microsoft.com/office/drawing/2014/main" id="{6C33D237-A93B-23FC-E633-BDE5171AB30F}"/>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972DFF6A-FEEC-FC18-A9DF-27C4F5B3B147}"/>
              </a:ext>
            </a:extLst>
          </p:cNvPr>
          <p:cNvSpPr/>
          <p:nvPr/>
        </p:nvSpPr>
        <p:spPr>
          <a:xfrm>
            <a:off x="0" y="0"/>
            <a:ext cx="18288000" cy="10287000"/>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5" name="TextBox 4">
            <a:extLst>
              <a:ext uri="{FF2B5EF4-FFF2-40B4-BE49-F238E27FC236}">
                <a16:creationId xmlns:a16="http://schemas.microsoft.com/office/drawing/2014/main" id="{12B6C238-C1BB-B333-6F5F-631F73059BCF}"/>
              </a:ext>
            </a:extLst>
          </p:cNvPr>
          <p:cNvSpPr txBox="1"/>
          <p:nvPr/>
        </p:nvSpPr>
        <p:spPr>
          <a:xfrm>
            <a:off x="990600" y="3695700"/>
            <a:ext cx="6165850" cy="76944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400" b="1" i="0" u="none" strike="noStrike" kern="0" cap="none" spc="0" normalizeH="0" baseline="0" noProof="0" dirty="0">
                <a:ln>
                  <a:noFill/>
                </a:ln>
                <a:solidFill>
                  <a:prstClr val="white"/>
                </a:solidFill>
                <a:effectLst/>
                <a:uLnTx/>
                <a:uFillTx/>
                <a:latin typeface="Calibri" panose="020F0502020204030204" pitchFamily="34" charset="0"/>
                <a:ea typeface="Arial" panose="020B0604020202020204" pitchFamily="34" charset="0"/>
                <a:cs typeface="+mn-cs"/>
              </a:rPr>
              <a:t>Data synchronization</a:t>
            </a:r>
            <a:endParaRPr kumimoji="0" lang="en-US" sz="4400" b="0" i="0" u="none" strike="noStrike" kern="1200" cap="none" spc="0" normalizeH="0" baseline="0" noProof="0" dirty="0">
              <a:ln>
                <a:noFill/>
              </a:ln>
              <a:solidFill>
                <a:prstClr val="white"/>
              </a:solidFill>
              <a:effectLst/>
              <a:uLnTx/>
              <a:uFillTx/>
              <a:latin typeface="Calibri"/>
              <a:ea typeface="+mn-ea"/>
              <a:cs typeface="+mn-cs"/>
            </a:endParaRPr>
          </a:p>
        </p:txBody>
      </p:sp>
      <p:pic>
        <p:nvPicPr>
          <p:cNvPr id="2" name="Picture 1">
            <a:extLst>
              <a:ext uri="{FF2B5EF4-FFF2-40B4-BE49-F238E27FC236}">
                <a16:creationId xmlns:a16="http://schemas.microsoft.com/office/drawing/2014/main" id="{6BFDBEAC-3C81-9E6B-C64C-A61F3641026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534400" y="220389"/>
            <a:ext cx="9228138" cy="9846222"/>
          </a:xfrm>
          <a:prstGeom prst="rect">
            <a:avLst/>
          </a:prstGeom>
        </p:spPr>
      </p:pic>
    </p:spTree>
    <p:extLst>
      <p:ext uri="{BB962C8B-B14F-4D97-AF65-F5344CB8AC3E}">
        <p14:creationId xmlns:p14="http://schemas.microsoft.com/office/powerpoint/2010/main" val="18852473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4F4F4"/>
        </a:solidFill>
        <a:effectLst/>
      </p:bgPr>
    </p:bg>
    <p:spTree>
      <p:nvGrpSpPr>
        <p:cNvPr id="1" name=""/>
        <p:cNvGrpSpPr/>
        <p:nvPr/>
      </p:nvGrpSpPr>
      <p:grpSpPr>
        <a:xfrm>
          <a:off x="0" y="0"/>
          <a:ext cx="0" cy="0"/>
          <a:chOff x="0" y="0"/>
          <a:chExt cx="0" cy="0"/>
        </a:xfrm>
      </p:grpSpPr>
      <p:sp>
        <p:nvSpPr>
          <p:cNvPr id="2" name="TextBox 2"/>
          <p:cNvSpPr txBox="1"/>
          <p:nvPr/>
        </p:nvSpPr>
        <p:spPr>
          <a:xfrm>
            <a:off x="1028700" y="990600"/>
            <a:ext cx="3383553" cy="356235"/>
          </a:xfrm>
          <a:prstGeom prst="rect">
            <a:avLst/>
          </a:prstGeom>
        </p:spPr>
        <p:txBody>
          <a:bodyPr lIns="0" tIns="0" rIns="0" bIns="0" rtlCol="0" anchor="t">
            <a:spAutoFit/>
          </a:bodyPr>
          <a:lstStyle/>
          <a:p>
            <a:pPr algn="l">
              <a:lnSpc>
                <a:spcPts val="2939"/>
              </a:lnSpc>
            </a:pPr>
            <a:r>
              <a:rPr lang="en-US" sz="2099" b="1">
                <a:solidFill>
                  <a:srgbClr val="101010"/>
                </a:solidFill>
                <a:latin typeface="Montserrat Bold"/>
                <a:ea typeface="Montserrat Bold"/>
                <a:cs typeface="Montserrat Bold"/>
                <a:sym typeface="Montserrat Bold"/>
              </a:rPr>
              <a:t>DFD Level 1</a:t>
            </a:r>
          </a:p>
        </p:txBody>
      </p:sp>
      <p:sp>
        <p:nvSpPr>
          <p:cNvPr id="3" name="TextBox 3"/>
          <p:cNvSpPr txBox="1"/>
          <p:nvPr/>
        </p:nvSpPr>
        <p:spPr>
          <a:xfrm>
            <a:off x="15712380" y="990600"/>
            <a:ext cx="1546920" cy="306705"/>
          </a:xfrm>
          <a:prstGeom prst="rect">
            <a:avLst/>
          </a:prstGeom>
        </p:spPr>
        <p:txBody>
          <a:bodyPr lIns="0" tIns="0" rIns="0" bIns="0" rtlCol="0" anchor="t">
            <a:spAutoFit/>
          </a:bodyPr>
          <a:lstStyle/>
          <a:p>
            <a:pPr algn="r">
              <a:lnSpc>
                <a:spcPts val="2520"/>
              </a:lnSpc>
            </a:pPr>
            <a:r>
              <a:rPr lang="en-US" sz="1800">
                <a:solidFill>
                  <a:srgbClr val="101010"/>
                </a:solidFill>
                <a:latin typeface="Aileron"/>
                <a:ea typeface="Aileron"/>
                <a:cs typeface="Aileron"/>
                <a:sym typeface="Aileron"/>
              </a:rPr>
              <a:t>09 May, 2026</a:t>
            </a:r>
          </a:p>
        </p:txBody>
      </p:sp>
      <p:sp>
        <p:nvSpPr>
          <p:cNvPr id="4" name="TextBox 4"/>
          <p:cNvSpPr txBox="1"/>
          <p:nvPr/>
        </p:nvSpPr>
        <p:spPr>
          <a:xfrm>
            <a:off x="1028700" y="5514975"/>
            <a:ext cx="8603976" cy="2059305"/>
          </a:xfrm>
          <a:prstGeom prst="rect">
            <a:avLst/>
          </a:prstGeom>
        </p:spPr>
        <p:txBody>
          <a:bodyPr lIns="0" tIns="0" rIns="0" bIns="0" rtlCol="0" anchor="t">
            <a:spAutoFit/>
          </a:bodyPr>
          <a:lstStyle/>
          <a:p>
            <a:pPr algn="l">
              <a:lnSpc>
                <a:spcPts val="7680"/>
              </a:lnSpc>
            </a:pPr>
            <a:r>
              <a:rPr lang="en-US" sz="9600" b="1" spc="-403">
                <a:solidFill>
                  <a:srgbClr val="101010"/>
                </a:solidFill>
                <a:latin typeface="Montserrat Bold"/>
                <a:ea typeface="Montserrat Bold"/>
                <a:cs typeface="Montserrat Bold"/>
                <a:sym typeface="Montserrat Bold"/>
              </a:rPr>
              <a:t>Data Flow Diagram </a:t>
            </a:r>
          </a:p>
        </p:txBody>
      </p:sp>
      <p:sp>
        <p:nvSpPr>
          <p:cNvPr id="5" name="TextBox 5"/>
          <p:cNvSpPr txBox="1"/>
          <p:nvPr/>
        </p:nvSpPr>
        <p:spPr>
          <a:xfrm>
            <a:off x="9632676" y="5105400"/>
            <a:ext cx="7464136" cy="2718361"/>
          </a:xfrm>
          <a:prstGeom prst="rect">
            <a:avLst/>
          </a:prstGeom>
        </p:spPr>
        <p:txBody>
          <a:bodyPr lIns="0" tIns="0" rIns="0" bIns="0" rtlCol="0" anchor="t">
            <a:spAutoFit/>
          </a:bodyPr>
          <a:lstStyle/>
          <a:p>
            <a:pPr algn="just">
              <a:lnSpc>
                <a:spcPts val="3093"/>
              </a:lnSpc>
            </a:pPr>
            <a:endParaRPr/>
          </a:p>
          <a:p>
            <a:pPr algn="just">
              <a:lnSpc>
                <a:spcPts val="3093"/>
              </a:lnSpc>
            </a:pPr>
            <a:r>
              <a:rPr lang="en-US" sz="2209" b="1" spc="-44">
                <a:solidFill>
                  <a:srgbClr val="101010"/>
                </a:solidFill>
                <a:latin typeface="Aileron Bold"/>
                <a:ea typeface="Aileron Bold"/>
                <a:cs typeface="Aileron Bold"/>
                <a:sym typeface="Aileron Bold"/>
              </a:rPr>
              <a:t>Data flows through Local Storage for offline caching, then to the Sync Manager which coordinates uploads. The Cloud Uploader transmits anonymized data to the backend, while Map &amp; Reporting processes generate analytics outputs.</a:t>
            </a:r>
          </a:p>
          <a:p>
            <a:pPr algn="just">
              <a:lnSpc>
                <a:spcPts val="3093"/>
              </a:lnSpc>
            </a:pPr>
            <a:endParaRPr lang="en-US" sz="2209" b="1" spc="-44">
              <a:solidFill>
                <a:srgbClr val="101010"/>
              </a:solidFill>
              <a:latin typeface="Aileron Bold"/>
              <a:ea typeface="Aileron Bold"/>
              <a:cs typeface="Aileron Bold"/>
              <a:sym typeface="Aileron Bold"/>
            </a:endParaRPr>
          </a:p>
        </p:txBody>
      </p:sp>
      <p:sp>
        <p:nvSpPr>
          <p:cNvPr id="6" name="TextBox 6"/>
          <p:cNvSpPr txBox="1"/>
          <p:nvPr/>
        </p:nvSpPr>
        <p:spPr>
          <a:xfrm>
            <a:off x="9515153" y="1976653"/>
            <a:ext cx="7835289" cy="2040459"/>
          </a:xfrm>
          <a:prstGeom prst="rect">
            <a:avLst/>
          </a:prstGeom>
        </p:spPr>
        <p:txBody>
          <a:bodyPr lIns="0" tIns="0" rIns="0" bIns="0" rtlCol="0" anchor="t">
            <a:spAutoFit/>
          </a:bodyPr>
          <a:lstStyle/>
          <a:p>
            <a:pPr algn="just">
              <a:lnSpc>
                <a:spcPts val="3247"/>
              </a:lnSpc>
            </a:pPr>
            <a:r>
              <a:rPr lang="en-US" sz="2319" b="1" spc="-46">
                <a:solidFill>
                  <a:srgbClr val="101010"/>
                </a:solidFill>
                <a:latin typeface="Aileron Bold"/>
                <a:ea typeface="Aileron Bold"/>
                <a:cs typeface="Aileron Bold"/>
                <a:sym typeface="Aileron Bold"/>
              </a:rPr>
              <a:t>The Level 1 DFD illustrates the primary processes and data movements within the mobile app system. Key processes include the Data Collection Service gathering network metrics, the Trigger &amp; Prompt Engine detecting quality issues, and User Feedback Capture recording ratings.</a:t>
            </a:r>
          </a:p>
        </p:txBody>
      </p:sp>
      <p:grpSp>
        <p:nvGrpSpPr>
          <p:cNvPr id="7" name="Group 7"/>
          <p:cNvGrpSpPr/>
          <p:nvPr/>
        </p:nvGrpSpPr>
        <p:grpSpPr>
          <a:xfrm>
            <a:off x="1028700" y="1928812"/>
            <a:ext cx="6429375" cy="2710577"/>
            <a:chOff x="0" y="0"/>
            <a:chExt cx="812800" cy="342670"/>
          </a:xfrm>
        </p:grpSpPr>
        <p:sp>
          <p:nvSpPr>
            <p:cNvPr id="8" name="Freeform 8"/>
            <p:cNvSpPr/>
            <p:nvPr/>
          </p:nvSpPr>
          <p:spPr>
            <a:xfrm>
              <a:off x="0" y="0"/>
              <a:ext cx="812800" cy="342670"/>
            </a:xfrm>
            <a:custGeom>
              <a:avLst/>
              <a:gdLst/>
              <a:ahLst/>
              <a:cxnLst/>
              <a:rect l="l" t="t" r="r" b="b"/>
              <a:pathLst>
                <a:path w="812800" h="342670">
                  <a:moveTo>
                    <a:pt x="0" y="0"/>
                  </a:moveTo>
                  <a:lnTo>
                    <a:pt x="812800" y="0"/>
                  </a:lnTo>
                  <a:lnTo>
                    <a:pt x="812800" y="342670"/>
                  </a:lnTo>
                  <a:lnTo>
                    <a:pt x="0" y="342670"/>
                  </a:lnTo>
                  <a:close/>
                </a:path>
              </a:pathLst>
            </a:custGeom>
            <a:blipFill>
              <a:blip r:embed="rId2"/>
              <a:stretch>
                <a:fillRect t="-29015" b="-29015"/>
              </a:stretch>
            </a:blipFill>
          </p:spPr>
          <p:txBody>
            <a:bodyPr/>
            <a:lstStyle/>
            <a:p>
              <a:endParaRPr lang="en-US"/>
            </a:p>
          </p:txBody>
        </p:sp>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4F4F4"/>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F12A0F91-7DA2-CB99-02C1-B96DF1289BC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2628900"/>
            <a:ext cx="18288000" cy="5606815"/>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4F4F4"/>
        </a:solidFill>
        <a:effectLst/>
      </p:bgPr>
    </p:bg>
    <p:spTree>
      <p:nvGrpSpPr>
        <p:cNvPr id="1" name=""/>
        <p:cNvGrpSpPr/>
        <p:nvPr/>
      </p:nvGrpSpPr>
      <p:grpSpPr>
        <a:xfrm>
          <a:off x="0" y="0"/>
          <a:ext cx="0" cy="0"/>
          <a:chOff x="0" y="0"/>
          <a:chExt cx="0" cy="0"/>
        </a:xfrm>
      </p:grpSpPr>
      <p:grpSp>
        <p:nvGrpSpPr>
          <p:cNvPr id="2" name="Group 2"/>
          <p:cNvGrpSpPr/>
          <p:nvPr/>
        </p:nvGrpSpPr>
        <p:grpSpPr>
          <a:xfrm>
            <a:off x="0" y="1928813"/>
            <a:ext cx="10695769" cy="6429375"/>
            <a:chOff x="0" y="0"/>
            <a:chExt cx="1352156" cy="812800"/>
          </a:xfrm>
        </p:grpSpPr>
        <p:sp>
          <p:nvSpPr>
            <p:cNvPr id="3" name="Freeform 3"/>
            <p:cNvSpPr/>
            <p:nvPr/>
          </p:nvSpPr>
          <p:spPr>
            <a:xfrm>
              <a:off x="0" y="0"/>
              <a:ext cx="1352156" cy="812800"/>
            </a:xfrm>
            <a:custGeom>
              <a:avLst/>
              <a:gdLst/>
              <a:ahLst/>
              <a:cxnLst/>
              <a:rect l="l" t="t" r="r" b="b"/>
              <a:pathLst>
                <a:path w="1352156" h="812800">
                  <a:moveTo>
                    <a:pt x="0" y="0"/>
                  </a:moveTo>
                  <a:lnTo>
                    <a:pt x="1352156" y="0"/>
                  </a:lnTo>
                  <a:lnTo>
                    <a:pt x="1352156" y="812800"/>
                  </a:lnTo>
                  <a:lnTo>
                    <a:pt x="0" y="812800"/>
                  </a:lnTo>
                  <a:close/>
                </a:path>
              </a:pathLst>
            </a:custGeom>
            <a:blipFill>
              <a:blip r:embed="rId2"/>
              <a:stretch>
                <a:fillRect t="-7288" b="-7288"/>
              </a:stretch>
            </a:blipFill>
          </p:spPr>
          <p:txBody>
            <a:bodyPr/>
            <a:lstStyle/>
            <a:p>
              <a:endParaRPr lang="en-US"/>
            </a:p>
          </p:txBody>
        </p:sp>
      </p:grpSp>
      <p:sp>
        <p:nvSpPr>
          <p:cNvPr id="4" name="TextBox 4"/>
          <p:cNvSpPr txBox="1"/>
          <p:nvPr/>
        </p:nvSpPr>
        <p:spPr>
          <a:xfrm>
            <a:off x="1028700" y="990600"/>
            <a:ext cx="3383553" cy="356235"/>
          </a:xfrm>
          <a:prstGeom prst="rect">
            <a:avLst/>
          </a:prstGeom>
        </p:spPr>
        <p:txBody>
          <a:bodyPr lIns="0" tIns="0" rIns="0" bIns="0" rtlCol="0" anchor="t">
            <a:spAutoFit/>
          </a:bodyPr>
          <a:lstStyle/>
          <a:p>
            <a:pPr algn="l">
              <a:lnSpc>
                <a:spcPts val="2939"/>
              </a:lnSpc>
            </a:pPr>
            <a:r>
              <a:rPr lang="en-US" sz="2099" b="1">
                <a:solidFill>
                  <a:srgbClr val="101010"/>
                </a:solidFill>
                <a:latin typeface="Montserrat Bold"/>
                <a:ea typeface="Montserrat Bold"/>
                <a:cs typeface="Montserrat Bold"/>
                <a:sym typeface="Montserrat Bold"/>
              </a:rPr>
              <a:t>Class Diagram</a:t>
            </a:r>
          </a:p>
        </p:txBody>
      </p:sp>
      <p:sp>
        <p:nvSpPr>
          <p:cNvPr id="5" name="TextBox 5"/>
          <p:cNvSpPr txBox="1"/>
          <p:nvPr/>
        </p:nvSpPr>
        <p:spPr>
          <a:xfrm>
            <a:off x="15712380" y="990600"/>
            <a:ext cx="1546920" cy="306705"/>
          </a:xfrm>
          <a:prstGeom prst="rect">
            <a:avLst/>
          </a:prstGeom>
        </p:spPr>
        <p:txBody>
          <a:bodyPr lIns="0" tIns="0" rIns="0" bIns="0" rtlCol="0" anchor="t">
            <a:spAutoFit/>
          </a:bodyPr>
          <a:lstStyle/>
          <a:p>
            <a:pPr algn="r">
              <a:lnSpc>
                <a:spcPts val="2520"/>
              </a:lnSpc>
            </a:pPr>
            <a:r>
              <a:rPr lang="en-US" sz="1800">
                <a:solidFill>
                  <a:srgbClr val="101010"/>
                </a:solidFill>
                <a:latin typeface="Aileron"/>
                <a:ea typeface="Aileron"/>
                <a:cs typeface="Aileron"/>
                <a:sym typeface="Aileron"/>
              </a:rPr>
              <a:t>09 May, 2026</a:t>
            </a:r>
          </a:p>
        </p:txBody>
      </p:sp>
      <p:sp>
        <p:nvSpPr>
          <p:cNvPr id="6" name="TextBox 6"/>
          <p:cNvSpPr txBox="1"/>
          <p:nvPr/>
        </p:nvSpPr>
        <p:spPr>
          <a:xfrm>
            <a:off x="11325771" y="6144360"/>
            <a:ext cx="5933529" cy="1108710"/>
          </a:xfrm>
          <a:prstGeom prst="rect">
            <a:avLst/>
          </a:prstGeom>
        </p:spPr>
        <p:txBody>
          <a:bodyPr lIns="0" tIns="0" rIns="0" bIns="0" rtlCol="0" anchor="t">
            <a:spAutoFit/>
          </a:bodyPr>
          <a:lstStyle/>
          <a:p>
            <a:pPr algn="l">
              <a:lnSpc>
                <a:spcPts val="2939"/>
              </a:lnSpc>
            </a:pPr>
            <a:r>
              <a:rPr lang="en-US" sz="2099">
                <a:solidFill>
                  <a:srgbClr val="101010"/>
                </a:solidFill>
                <a:latin typeface="Aileron"/>
                <a:ea typeface="Aileron"/>
                <a:cs typeface="Aileron"/>
                <a:sym typeface="Aileron"/>
              </a:rPr>
              <a:t>Key relationships include composition and aggregation patterns with defined multiplicities between users and use cases</a:t>
            </a:r>
          </a:p>
        </p:txBody>
      </p:sp>
      <p:sp>
        <p:nvSpPr>
          <p:cNvPr id="7" name="TextBox 7"/>
          <p:cNvSpPr txBox="1"/>
          <p:nvPr/>
        </p:nvSpPr>
        <p:spPr>
          <a:xfrm>
            <a:off x="11325771" y="3776879"/>
            <a:ext cx="6134966" cy="2059305"/>
          </a:xfrm>
          <a:prstGeom prst="rect">
            <a:avLst/>
          </a:prstGeom>
        </p:spPr>
        <p:txBody>
          <a:bodyPr lIns="0" tIns="0" rIns="0" bIns="0" rtlCol="0" anchor="t">
            <a:spAutoFit/>
          </a:bodyPr>
          <a:lstStyle/>
          <a:p>
            <a:pPr algn="l">
              <a:lnSpc>
                <a:spcPts val="7680"/>
              </a:lnSpc>
            </a:pPr>
            <a:r>
              <a:rPr lang="en-US" sz="9600" b="1" spc="-403" dirty="0">
                <a:solidFill>
                  <a:srgbClr val="101010"/>
                </a:solidFill>
                <a:latin typeface="Montserrat Bold"/>
                <a:ea typeface="Montserrat Bold"/>
                <a:cs typeface="Montserrat Bold"/>
                <a:sym typeface="Montserrat Bold"/>
              </a:rPr>
              <a:t>Class Diagram</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4F4F4"/>
        </a:solidFill>
        <a:effectLst/>
      </p:bgPr>
    </p:bg>
    <p:spTree>
      <p:nvGrpSpPr>
        <p:cNvPr id="1" name=""/>
        <p:cNvGrpSpPr/>
        <p:nvPr/>
      </p:nvGrpSpPr>
      <p:grpSpPr>
        <a:xfrm>
          <a:off x="0" y="0"/>
          <a:ext cx="0" cy="0"/>
          <a:chOff x="0" y="0"/>
          <a:chExt cx="0" cy="0"/>
        </a:xfrm>
      </p:grpSpPr>
      <p:grpSp>
        <p:nvGrpSpPr>
          <p:cNvPr id="2" name="Group 2"/>
          <p:cNvGrpSpPr/>
          <p:nvPr/>
        </p:nvGrpSpPr>
        <p:grpSpPr>
          <a:xfrm>
            <a:off x="169721" y="2115540"/>
            <a:ext cx="7953982" cy="4781249"/>
            <a:chOff x="0" y="0"/>
            <a:chExt cx="1352156" cy="812800"/>
          </a:xfrm>
        </p:grpSpPr>
        <p:sp>
          <p:nvSpPr>
            <p:cNvPr id="3" name="Freeform 3"/>
            <p:cNvSpPr/>
            <p:nvPr/>
          </p:nvSpPr>
          <p:spPr>
            <a:xfrm>
              <a:off x="0" y="0"/>
              <a:ext cx="1352156" cy="812800"/>
            </a:xfrm>
            <a:custGeom>
              <a:avLst/>
              <a:gdLst/>
              <a:ahLst/>
              <a:cxnLst/>
              <a:rect l="l" t="t" r="r" b="b"/>
              <a:pathLst>
                <a:path w="1352156" h="812800">
                  <a:moveTo>
                    <a:pt x="0" y="0"/>
                  </a:moveTo>
                  <a:lnTo>
                    <a:pt x="1352156" y="0"/>
                  </a:lnTo>
                  <a:lnTo>
                    <a:pt x="1352156" y="812800"/>
                  </a:lnTo>
                  <a:lnTo>
                    <a:pt x="0" y="812800"/>
                  </a:lnTo>
                  <a:close/>
                </a:path>
              </a:pathLst>
            </a:custGeom>
            <a:blipFill>
              <a:blip r:embed="rId2"/>
              <a:stretch>
                <a:fillRect l="-40054" r="-40054"/>
              </a:stretch>
            </a:blipFill>
          </p:spPr>
          <p:txBody>
            <a:bodyPr/>
            <a:lstStyle/>
            <a:p>
              <a:endParaRPr lang="en-US"/>
            </a:p>
          </p:txBody>
        </p:sp>
      </p:grpSp>
      <p:sp>
        <p:nvSpPr>
          <p:cNvPr id="4" name="TextBox 4"/>
          <p:cNvSpPr txBox="1"/>
          <p:nvPr/>
        </p:nvSpPr>
        <p:spPr>
          <a:xfrm>
            <a:off x="169721" y="900310"/>
            <a:ext cx="4242532" cy="446525"/>
          </a:xfrm>
          <a:prstGeom prst="rect">
            <a:avLst/>
          </a:prstGeom>
        </p:spPr>
        <p:txBody>
          <a:bodyPr lIns="0" tIns="0" rIns="0" bIns="0" rtlCol="0" anchor="t">
            <a:spAutoFit/>
          </a:bodyPr>
          <a:lstStyle/>
          <a:p>
            <a:pPr algn="l">
              <a:lnSpc>
                <a:spcPts val="3686"/>
              </a:lnSpc>
            </a:pPr>
            <a:r>
              <a:rPr lang="en-US" sz="2633" b="1" dirty="0">
                <a:solidFill>
                  <a:srgbClr val="101010"/>
                </a:solidFill>
                <a:latin typeface="Montserrat Bold"/>
                <a:ea typeface="Montserrat Bold"/>
                <a:cs typeface="Montserrat Bold"/>
                <a:sym typeface="Montserrat Bold"/>
              </a:rPr>
              <a:t>Class Diagram</a:t>
            </a:r>
          </a:p>
        </p:txBody>
      </p:sp>
      <p:sp>
        <p:nvSpPr>
          <p:cNvPr id="5" name="TextBox 5"/>
          <p:cNvSpPr txBox="1"/>
          <p:nvPr/>
        </p:nvSpPr>
        <p:spPr>
          <a:xfrm>
            <a:off x="8475858" y="1249680"/>
            <a:ext cx="8559811" cy="2017091"/>
          </a:xfrm>
          <a:prstGeom prst="rect">
            <a:avLst/>
          </a:prstGeom>
        </p:spPr>
        <p:txBody>
          <a:bodyPr lIns="0" tIns="0" rIns="0" bIns="0" rtlCol="0" anchor="t">
            <a:spAutoFit/>
          </a:bodyPr>
          <a:lstStyle/>
          <a:p>
            <a:pPr algn="l">
              <a:lnSpc>
                <a:spcPts val="3219"/>
              </a:lnSpc>
            </a:pPr>
            <a:r>
              <a:rPr lang="en-US" sz="2299" dirty="0">
                <a:solidFill>
                  <a:srgbClr val="101010"/>
                </a:solidFill>
                <a:latin typeface="Aileron"/>
                <a:ea typeface="Aileron"/>
                <a:cs typeface="Aileron"/>
                <a:sym typeface="Aileron"/>
              </a:rPr>
              <a:t>The UML class diagram illustrates the core system architecture with the primary classes. </a:t>
            </a:r>
            <a:r>
              <a:rPr lang="en-US" sz="2299" dirty="0" err="1">
                <a:solidFill>
                  <a:srgbClr val="101010"/>
                </a:solidFill>
                <a:latin typeface="Aileron"/>
                <a:ea typeface="Aileron"/>
                <a:cs typeface="Aileron"/>
                <a:sym typeface="Aileron"/>
              </a:rPr>
              <a:t>UserSession</a:t>
            </a:r>
            <a:r>
              <a:rPr lang="en-US" sz="2299" dirty="0">
                <a:solidFill>
                  <a:srgbClr val="101010"/>
                </a:solidFill>
                <a:latin typeface="Aileron"/>
                <a:ea typeface="Aileron"/>
                <a:cs typeface="Aileron"/>
                <a:sym typeface="Aileron"/>
              </a:rPr>
              <a:t> manages authentication and session state, while </a:t>
            </a:r>
            <a:r>
              <a:rPr lang="en-US" sz="2299" dirty="0" err="1">
                <a:solidFill>
                  <a:srgbClr val="101010"/>
                </a:solidFill>
                <a:latin typeface="Aileron"/>
                <a:ea typeface="Aileron"/>
                <a:cs typeface="Aileron"/>
                <a:sym typeface="Aileron"/>
              </a:rPr>
              <a:t>NetworkFeedback</a:t>
            </a:r>
            <a:r>
              <a:rPr lang="en-US" sz="2299" dirty="0">
                <a:solidFill>
                  <a:srgbClr val="101010"/>
                </a:solidFill>
                <a:latin typeface="Aileron"/>
                <a:ea typeface="Aileron"/>
                <a:cs typeface="Aileron"/>
                <a:sym typeface="Aileron"/>
              </a:rPr>
              <a:t> and </a:t>
            </a:r>
            <a:r>
              <a:rPr lang="en-US" sz="2299" dirty="0" err="1">
                <a:solidFill>
                  <a:srgbClr val="101010"/>
                </a:solidFill>
                <a:latin typeface="Aileron"/>
                <a:ea typeface="Aileron"/>
                <a:cs typeface="Aileron"/>
                <a:sym typeface="Aileron"/>
              </a:rPr>
              <a:t>NetworkMetric</a:t>
            </a:r>
            <a:r>
              <a:rPr lang="en-US" sz="2299" dirty="0">
                <a:solidFill>
                  <a:srgbClr val="101010"/>
                </a:solidFill>
                <a:latin typeface="Aileron"/>
                <a:ea typeface="Aileron"/>
                <a:cs typeface="Aileron"/>
                <a:sym typeface="Aileron"/>
              </a:rPr>
              <a:t> capture user ratings and passive network measurements respectively.</a:t>
            </a:r>
          </a:p>
        </p:txBody>
      </p:sp>
      <p:sp>
        <p:nvSpPr>
          <p:cNvPr id="6" name="TextBox 6"/>
          <p:cNvSpPr txBox="1"/>
          <p:nvPr/>
        </p:nvSpPr>
        <p:spPr>
          <a:xfrm>
            <a:off x="8475858" y="3640440"/>
            <a:ext cx="9211240" cy="2174875"/>
          </a:xfrm>
          <a:prstGeom prst="rect">
            <a:avLst/>
          </a:prstGeom>
        </p:spPr>
        <p:txBody>
          <a:bodyPr lIns="0" tIns="0" rIns="0" bIns="0" rtlCol="0" anchor="t">
            <a:spAutoFit/>
          </a:bodyPr>
          <a:lstStyle/>
          <a:p>
            <a:pPr algn="l">
              <a:lnSpc>
                <a:spcPts val="3499"/>
              </a:lnSpc>
            </a:pPr>
            <a:r>
              <a:rPr lang="en-US" sz="2499" dirty="0" err="1">
                <a:solidFill>
                  <a:srgbClr val="101010"/>
                </a:solidFill>
                <a:latin typeface="Aileron"/>
                <a:ea typeface="Aileron"/>
                <a:cs typeface="Aileron"/>
                <a:sym typeface="Aileron"/>
              </a:rPr>
              <a:t>LocationData</a:t>
            </a:r>
            <a:r>
              <a:rPr lang="en-US" sz="2499" dirty="0">
                <a:solidFill>
                  <a:srgbClr val="101010"/>
                </a:solidFill>
                <a:latin typeface="Aileron"/>
                <a:ea typeface="Aileron"/>
                <a:cs typeface="Aileron"/>
                <a:sym typeface="Aileron"/>
              </a:rPr>
              <a:t> handles GPS coordinates with privacy controls. </a:t>
            </a:r>
            <a:r>
              <a:rPr lang="en-US" sz="2499" dirty="0" err="1">
                <a:solidFill>
                  <a:srgbClr val="101010"/>
                </a:solidFill>
                <a:latin typeface="Aileron"/>
                <a:ea typeface="Aileron"/>
                <a:cs typeface="Aileron"/>
                <a:sym typeface="Aileron"/>
              </a:rPr>
              <a:t>DataCollectionService</a:t>
            </a:r>
            <a:r>
              <a:rPr lang="en-US" sz="2499" dirty="0">
                <a:solidFill>
                  <a:srgbClr val="101010"/>
                </a:solidFill>
                <a:latin typeface="Aileron"/>
                <a:ea typeface="Aileron"/>
                <a:cs typeface="Aileron"/>
                <a:sym typeface="Aileron"/>
              </a:rPr>
              <a:t> orchestrates background metric gathering, and </a:t>
            </a:r>
            <a:r>
              <a:rPr lang="en-US" sz="2499" dirty="0" err="1">
                <a:solidFill>
                  <a:srgbClr val="101010"/>
                </a:solidFill>
                <a:latin typeface="Aileron"/>
                <a:ea typeface="Aileron"/>
                <a:cs typeface="Aileron"/>
                <a:sym typeface="Aileron"/>
              </a:rPr>
              <a:t>SyncManager</a:t>
            </a:r>
            <a:r>
              <a:rPr lang="en-US" sz="2499" dirty="0">
                <a:solidFill>
                  <a:srgbClr val="101010"/>
                </a:solidFill>
                <a:latin typeface="Aileron"/>
                <a:ea typeface="Aileron"/>
                <a:cs typeface="Aileron"/>
                <a:sym typeface="Aileron"/>
              </a:rPr>
              <a:t> handles cloud synchronization with retry logic. </a:t>
            </a:r>
            <a:r>
              <a:rPr lang="en-US" sz="2499" dirty="0" err="1">
                <a:solidFill>
                  <a:srgbClr val="101010"/>
                </a:solidFill>
                <a:latin typeface="Aileron"/>
                <a:ea typeface="Aileron"/>
                <a:cs typeface="Aileron"/>
                <a:sym typeface="Aileron"/>
              </a:rPr>
              <a:t>RatingTriggerEngine</a:t>
            </a:r>
            <a:r>
              <a:rPr lang="en-US" sz="2499" dirty="0">
                <a:solidFill>
                  <a:srgbClr val="101010"/>
                </a:solidFill>
                <a:latin typeface="Aileron"/>
                <a:ea typeface="Aileron"/>
                <a:cs typeface="Aileron"/>
                <a:sym typeface="Aileron"/>
              </a:rPr>
              <a:t> determines when to prompt users for feedback based on network events.</a:t>
            </a:r>
          </a:p>
        </p:txBody>
      </p:sp>
      <p:sp>
        <p:nvSpPr>
          <p:cNvPr id="7" name="TextBox 7"/>
          <p:cNvSpPr txBox="1"/>
          <p:nvPr/>
        </p:nvSpPr>
        <p:spPr>
          <a:xfrm>
            <a:off x="8475858" y="6224891"/>
            <a:ext cx="8783442" cy="1099185"/>
          </a:xfrm>
          <a:prstGeom prst="rect">
            <a:avLst/>
          </a:prstGeom>
        </p:spPr>
        <p:txBody>
          <a:bodyPr lIns="0" tIns="0" rIns="0" bIns="0" rtlCol="0" anchor="t">
            <a:spAutoFit/>
          </a:bodyPr>
          <a:lstStyle/>
          <a:p>
            <a:pPr algn="l">
              <a:lnSpc>
                <a:spcPts val="2939"/>
              </a:lnSpc>
              <a:spcBef>
                <a:spcPct val="0"/>
              </a:spcBef>
            </a:pPr>
            <a:r>
              <a:rPr lang="en-US" sz="2099" b="1">
                <a:solidFill>
                  <a:srgbClr val="101010"/>
                </a:solidFill>
                <a:latin typeface="Montserrat Bold"/>
                <a:ea typeface="Montserrat Bold"/>
                <a:cs typeface="Montserrat Bold"/>
                <a:sym typeface="Montserrat Bold"/>
              </a:rPr>
              <a:t>Aggregated Tile and HeatMapRenderer work together for visualization, while FeedbackActivity provides the user interface for rating submissio</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AE00DE3-E450-891B-89A4-289118170F9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275397" y="0"/>
            <a:ext cx="11737205" cy="10287000"/>
          </a:xfrm>
          <a:prstGeom prst="rect">
            <a:avLst/>
          </a:prstGeom>
        </p:spPr>
      </p:pic>
    </p:spTree>
    <p:extLst>
      <p:ext uri="{BB962C8B-B14F-4D97-AF65-F5344CB8AC3E}">
        <p14:creationId xmlns:p14="http://schemas.microsoft.com/office/powerpoint/2010/main" val="84554112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4F4F4"/>
        </a:solidFill>
        <a:effectLst/>
      </p:bgPr>
    </p:bg>
    <p:spTree>
      <p:nvGrpSpPr>
        <p:cNvPr id="1" name=""/>
        <p:cNvGrpSpPr/>
        <p:nvPr/>
      </p:nvGrpSpPr>
      <p:grpSpPr>
        <a:xfrm>
          <a:off x="0" y="0"/>
          <a:ext cx="0" cy="0"/>
          <a:chOff x="0" y="0"/>
          <a:chExt cx="0" cy="0"/>
        </a:xfrm>
      </p:grpSpPr>
      <p:sp>
        <p:nvSpPr>
          <p:cNvPr id="2" name="TextBox 2"/>
          <p:cNvSpPr txBox="1"/>
          <p:nvPr/>
        </p:nvSpPr>
        <p:spPr>
          <a:xfrm>
            <a:off x="1028700" y="7641926"/>
            <a:ext cx="5840397" cy="727710"/>
          </a:xfrm>
          <a:prstGeom prst="rect">
            <a:avLst/>
          </a:prstGeom>
        </p:spPr>
        <p:txBody>
          <a:bodyPr lIns="0" tIns="0" rIns="0" bIns="0" rtlCol="0" anchor="t">
            <a:spAutoFit/>
          </a:bodyPr>
          <a:lstStyle/>
          <a:p>
            <a:pPr algn="l">
              <a:lnSpc>
                <a:spcPts val="2939"/>
              </a:lnSpc>
            </a:pPr>
            <a:r>
              <a:rPr lang="en-US" sz="2099" b="1">
                <a:solidFill>
                  <a:srgbClr val="101010"/>
                </a:solidFill>
                <a:latin typeface="Montserrat Bold"/>
                <a:ea typeface="Montserrat Bold"/>
                <a:cs typeface="Montserrat Bold"/>
                <a:sym typeface="Montserrat Bold"/>
              </a:rPr>
              <a:t>Three-tier architecture ensuring scalability and reliability</a:t>
            </a:r>
          </a:p>
        </p:txBody>
      </p:sp>
      <p:sp>
        <p:nvSpPr>
          <p:cNvPr id="3" name="TextBox 3"/>
          <p:cNvSpPr txBox="1"/>
          <p:nvPr/>
        </p:nvSpPr>
        <p:spPr>
          <a:xfrm>
            <a:off x="1028700" y="5514975"/>
            <a:ext cx="8603976" cy="2059305"/>
          </a:xfrm>
          <a:prstGeom prst="rect">
            <a:avLst/>
          </a:prstGeom>
        </p:spPr>
        <p:txBody>
          <a:bodyPr lIns="0" tIns="0" rIns="0" bIns="0" rtlCol="0" anchor="t">
            <a:spAutoFit/>
          </a:bodyPr>
          <a:lstStyle/>
          <a:p>
            <a:pPr algn="l">
              <a:lnSpc>
                <a:spcPts val="7680"/>
              </a:lnSpc>
            </a:pPr>
            <a:r>
              <a:rPr lang="en-US" sz="9600" b="1" spc="-403">
                <a:solidFill>
                  <a:srgbClr val="101010"/>
                </a:solidFill>
                <a:latin typeface="Montserrat Bold"/>
                <a:ea typeface="Montserrat Bold"/>
                <a:cs typeface="Montserrat Bold"/>
                <a:sym typeface="Montserrat Bold"/>
              </a:rPr>
              <a:t>Deployment Diagram</a:t>
            </a:r>
          </a:p>
        </p:txBody>
      </p:sp>
      <p:sp>
        <p:nvSpPr>
          <p:cNvPr id="4" name="TextBox 4"/>
          <p:cNvSpPr txBox="1"/>
          <p:nvPr/>
        </p:nvSpPr>
        <p:spPr>
          <a:xfrm>
            <a:off x="9424011" y="5260362"/>
            <a:ext cx="7464136" cy="3109274"/>
          </a:xfrm>
          <a:prstGeom prst="rect">
            <a:avLst/>
          </a:prstGeom>
        </p:spPr>
        <p:txBody>
          <a:bodyPr lIns="0" tIns="0" rIns="0" bIns="0" rtlCol="0" anchor="t">
            <a:spAutoFit/>
          </a:bodyPr>
          <a:lstStyle/>
          <a:p>
            <a:pPr algn="just">
              <a:lnSpc>
                <a:spcPts val="3093"/>
              </a:lnSpc>
            </a:pPr>
            <a:endParaRPr dirty="0"/>
          </a:p>
          <a:p>
            <a:pPr algn="just">
              <a:lnSpc>
                <a:spcPts val="3093"/>
              </a:lnSpc>
            </a:pPr>
            <a:endParaRPr dirty="0"/>
          </a:p>
          <a:p>
            <a:pPr algn="just">
              <a:lnSpc>
                <a:spcPts val="3093"/>
              </a:lnSpc>
            </a:pPr>
            <a:r>
              <a:rPr lang="en-US" sz="2209" b="1" spc="-44">
                <a:solidFill>
                  <a:srgbClr val="101010"/>
                </a:solidFill>
                <a:latin typeface="Aileron Bold"/>
                <a:ea typeface="Aileron Bold"/>
                <a:cs typeface="Aileron Bold"/>
                <a:sym typeface="Aileron Bold"/>
              </a:rPr>
              <a:t>ADMIN SPACE provides a web-based analytics dashboard enabling telecom researchers and administrators to monitor collected data, view heatmaps, and generate reports. </a:t>
            </a:r>
            <a:r>
              <a:rPr lang="en-US" sz="2209" b="1" spc="-44" dirty="0">
                <a:solidFill>
                  <a:srgbClr val="101010"/>
                </a:solidFill>
                <a:latin typeface="Aileron Bold"/>
                <a:ea typeface="Aileron Bold"/>
                <a:cs typeface="Aileron Bold"/>
                <a:sym typeface="Aileron Bold"/>
              </a:rPr>
              <a:t>Communication links connect all deployment nodes through secure HTTPS protocols.</a:t>
            </a:r>
          </a:p>
          <a:p>
            <a:pPr algn="just">
              <a:lnSpc>
                <a:spcPts val="3093"/>
              </a:lnSpc>
            </a:pPr>
            <a:endParaRPr lang="en-US" sz="2209" b="1" spc="-44" dirty="0">
              <a:solidFill>
                <a:srgbClr val="101010"/>
              </a:solidFill>
              <a:latin typeface="Aileron Bold"/>
              <a:ea typeface="Aileron Bold"/>
              <a:cs typeface="Aileron Bold"/>
              <a:sym typeface="Aileron Bold"/>
            </a:endParaRPr>
          </a:p>
        </p:txBody>
      </p:sp>
      <p:sp>
        <p:nvSpPr>
          <p:cNvPr id="5" name="TextBox 5"/>
          <p:cNvSpPr txBox="1"/>
          <p:nvPr/>
        </p:nvSpPr>
        <p:spPr>
          <a:xfrm>
            <a:off x="9424011" y="1616598"/>
            <a:ext cx="7835289" cy="3681864"/>
          </a:xfrm>
          <a:prstGeom prst="rect">
            <a:avLst/>
          </a:prstGeom>
        </p:spPr>
        <p:txBody>
          <a:bodyPr lIns="0" tIns="0" rIns="0" bIns="0" rtlCol="0" anchor="t">
            <a:spAutoFit/>
          </a:bodyPr>
          <a:lstStyle/>
          <a:p>
            <a:pPr algn="just">
              <a:lnSpc>
                <a:spcPts val="3247"/>
              </a:lnSpc>
            </a:pPr>
            <a:r>
              <a:rPr lang="en-US" sz="2319" b="1" spc="-46" dirty="0">
                <a:solidFill>
                  <a:srgbClr val="101010"/>
                </a:solidFill>
                <a:latin typeface="Aileron Bold"/>
                <a:ea typeface="Aileron Bold"/>
                <a:cs typeface="Aileron Bold"/>
                <a:sym typeface="Aileron Bold"/>
              </a:rPr>
              <a:t>The system deployment architecture spans three distinct spaces. USER SPACE contains the Android mobile device running the data collection app with local SQLite database for offline storage. CLOUD SPACE hosts the backend infrastructure including AWS/GCP servers, API Gateway for secure communication, MongoDB and </a:t>
            </a:r>
            <a:r>
              <a:rPr lang="en-US" sz="2319" b="1" spc="-46" dirty="0" err="1">
                <a:solidFill>
                  <a:srgbClr val="101010"/>
                </a:solidFill>
                <a:latin typeface="Aileron Bold"/>
                <a:ea typeface="Aileron Bold"/>
                <a:cs typeface="Aileron Bold"/>
                <a:sym typeface="Aileron Bold"/>
              </a:rPr>
              <a:t>PostgresDB</a:t>
            </a:r>
            <a:r>
              <a:rPr lang="en-US" sz="2319" b="1" spc="-46" dirty="0">
                <a:solidFill>
                  <a:srgbClr val="101010"/>
                </a:solidFill>
                <a:latin typeface="Aileron Bold"/>
                <a:ea typeface="Aileron Bold"/>
                <a:cs typeface="Aileron Bold"/>
                <a:sym typeface="Aileron Bold"/>
              </a:rPr>
              <a:t> for centralized data storage, Redis cache for performance optimization, batch processor for data aggregation, and CloudFront CDN for content delivery.</a:t>
            </a:r>
          </a:p>
        </p:txBody>
      </p:sp>
      <p:grpSp>
        <p:nvGrpSpPr>
          <p:cNvPr id="6" name="Group 6"/>
          <p:cNvGrpSpPr/>
          <p:nvPr/>
        </p:nvGrpSpPr>
        <p:grpSpPr>
          <a:xfrm>
            <a:off x="1028700" y="1928812"/>
            <a:ext cx="6429375" cy="2710577"/>
            <a:chOff x="0" y="0"/>
            <a:chExt cx="812800" cy="342670"/>
          </a:xfrm>
        </p:grpSpPr>
        <p:sp>
          <p:nvSpPr>
            <p:cNvPr id="7" name="Freeform 7"/>
            <p:cNvSpPr/>
            <p:nvPr/>
          </p:nvSpPr>
          <p:spPr>
            <a:xfrm>
              <a:off x="0" y="0"/>
              <a:ext cx="812800" cy="342670"/>
            </a:xfrm>
            <a:custGeom>
              <a:avLst/>
              <a:gdLst/>
              <a:ahLst/>
              <a:cxnLst/>
              <a:rect l="l" t="t" r="r" b="b"/>
              <a:pathLst>
                <a:path w="812800" h="342670">
                  <a:moveTo>
                    <a:pt x="0" y="0"/>
                  </a:moveTo>
                  <a:lnTo>
                    <a:pt x="812800" y="0"/>
                  </a:lnTo>
                  <a:lnTo>
                    <a:pt x="812800" y="342670"/>
                  </a:lnTo>
                  <a:lnTo>
                    <a:pt x="0" y="342670"/>
                  </a:lnTo>
                  <a:close/>
                </a:path>
              </a:pathLst>
            </a:custGeom>
            <a:blipFill>
              <a:blip r:embed="rId2"/>
              <a:stretch>
                <a:fillRect t="-29015" b="-29015"/>
              </a:stretch>
            </a:blipFill>
          </p:spPr>
          <p:txBody>
            <a:bodyPr/>
            <a:lstStyle/>
            <a:p>
              <a:endParaRPr lang="en-US"/>
            </a:p>
          </p:txBody>
        </p:sp>
      </p:gr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E556CCE-A365-C6F2-9FD4-38D289742182}"/>
              </a:ext>
            </a:extLst>
          </p:cNvPr>
          <p:cNvSpPr/>
          <p:nvPr/>
        </p:nvSpPr>
        <p:spPr>
          <a:xfrm>
            <a:off x="0" y="0"/>
            <a:ext cx="18288000" cy="10287000"/>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E8AA53AB-834A-C131-8602-61CEBA4C6B9B}"/>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239000" y="-30348"/>
            <a:ext cx="3731571" cy="10507848"/>
          </a:xfrm>
          <a:prstGeom prst="rect">
            <a:avLst/>
          </a:prstGeom>
        </p:spPr>
      </p:pic>
    </p:spTree>
    <p:extLst>
      <p:ext uri="{BB962C8B-B14F-4D97-AF65-F5344CB8AC3E}">
        <p14:creationId xmlns:p14="http://schemas.microsoft.com/office/powerpoint/2010/main" val="205432781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E5E5E5"/>
        </a:solidFill>
        <a:effectLst/>
      </p:bgPr>
    </p:bg>
    <p:spTree>
      <p:nvGrpSpPr>
        <p:cNvPr id="1" name=""/>
        <p:cNvGrpSpPr/>
        <p:nvPr/>
      </p:nvGrpSpPr>
      <p:grpSpPr>
        <a:xfrm>
          <a:off x="0" y="0"/>
          <a:ext cx="0" cy="0"/>
          <a:chOff x="0" y="0"/>
          <a:chExt cx="0" cy="0"/>
        </a:xfrm>
      </p:grpSpPr>
      <p:sp>
        <p:nvSpPr>
          <p:cNvPr id="2" name="TextBox 2"/>
          <p:cNvSpPr txBox="1"/>
          <p:nvPr/>
        </p:nvSpPr>
        <p:spPr>
          <a:xfrm>
            <a:off x="783154" y="1317178"/>
            <a:ext cx="16721692" cy="1393080"/>
          </a:xfrm>
          <a:prstGeom prst="rect">
            <a:avLst/>
          </a:prstGeom>
        </p:spPr>
        <p:txBody>
          <a:bodyPr lIns="0" tIns="0" rIns="0" bIns="0" rtlCol="0" anchor="t">
            <a:spAutoFit/>
          </a:bodyPr>
          <a:lstStyle/>
          <a:p>
            <a:pPr marL="0" lvl="0" indent="0" algn="ctr">
              <a:lnSpc>
                <a:spcPts val="11346"/>
              </a:lnSpc>
              <a:spcBef>
                <a:spcPct val="0"/>
              </a:spcBef>
            </a:pPr>
            <a:r>
              <a:rPr lang="en-US" sz="8104" b="1">
                <a:solidFill>
                  <a:srgbClr val="1F5A4E"/>
                </a:solidFill>
                <a:latin typeface="Roboto Bold"/>
                <a:ea typeface="Roboto Bold"/>
                <a:cs typeface="Roboto Bold"/>
                <a:sym typeface="Roboto Bold"/>
              </a:rPr>
              <a:t>Technologies to be Used</a:t>
            </a:r>
          </a:p>
        </p:txBody>
      </p:sp>
      <p:sp>
        <p:nvSpPr>
          <p:cNvPr id="3" name="Freeform 3"/>
          <p:cNvSpPr/>
          <p:nvPr/>
        </p:nvSpPr>
        <p:spPr>
          <a:xfrm rot="-5400000">
            <a:off x="-2367246" y="700906"/>
            <a:ext cx="4389589" cy="2402303"/>
          </a:xfrm>
          <a:custGeom>
            <a:avLst/>
            <a:gdLst/>
            <a:ahLst/>
            <a:cxnLst/>
            <a:rect l="l" t="t" r="r" b="b"/>
            <a:pathLst>
              <a:path w="4389589" h="2402303">
                <a:moveTo>
                  <a:pt x="0" y="0"/>
                </a:moveTo>
                <a:lnTo>
                  <a:pt x="4389589" y="0"/>
                </a:lnTo>
                <a:lnTo>
                  <a:pt x="4389589" y="2402302"/>
                </a:lnTo>
                <a:lnTo>
                  <a:pt x="0" y="2402302"/>
                </a:lnTo>
                <a:lnTo>
                  <a:pt x="0" y="0"/>
                </a:lnTo>
                <a:close/>
              </a:path>
            </a:pathLst>
          </a:custGeom>
          <a:blipFill>
            <a:blip>
              <a:alphaModFix amt="64000"/>
              <a:extLst>
                <a:ext uri="{96DAC541-7B7A-43D3-8B79-37D633B846F1}">
                  <asvg:svgBlip xmlns:asvg="http://schemas.microsoft.com/office/drawing/2016/SVG/main" r:embed="rId2"/>
                </a:ext>
              </a:extLst>
            </a:blip>
            <a:stretch>
              <a:fillRect/>
            </a:stretch>
          </a:blipFill>
        </p:spPr>
        <p:txBody>
          <a:bodyPr/>
          <a:lstStyle/>
          <a:p>
            <a:endParaRPr lang="en-US"/>
          </a:p>
        </p:txBody>
      </p:sp>
      <p:grpSp>
        <p:nvGrpSpPr>
          <p:cNvPr id="4" name="Group 4"/>
          <p:cNvGrpSpPr/>
          <p:nvPr/>
        </p:nvGrpSpPr>
        <p:grpSpPr>
          <a:xfrm>
            <a:off x="1845796" y="5527877"/>
            <a:ext cx="3086100" cy="3367240"/>
            <a:chOff x="0" y="0"/>
            <a:chExt cx="812800" cy="886845"/>
          </a:xfrm>
        </p:grpSpPr>
        <p:sp>
          <p:nvSpPr>
            <p:cNvPr id="5" name="Freeform 5"/>
            <p:cNvSpPr/>
            <p:nvPr/>
          </p:nvSpPr>
          <p:spPr>
            <a:xfrm>
              <a:off x="0" y="0"/>
              <a:ext cx="812800" cy="886845"/>
            </a:xfrm>
            <a:custGeom>
              <a:avLst/>
              <a:gdLst/>
              <a:ahLst/>
              <a:cxnLst/>
              <a:rect l="l" t="t" r="r" b="b"/>
              <a:pathLst>
                <a:path w="812800" h="886845">
                  <a:moveTo>
                    <a:pt x="127941" y="0"/>
                  </a:moveTo>
                  <a:lnTo>
                    <a:pt x="684859" y="0"/>
                  </a:lnTo>
                  <a:cubicBezTo>
                    <a:pt x="718791" y="0"/>
                    <a:pt x="751333" y="13479"/>
                    <a:pt x="775327" y="37473"/>
                  </a:cubicBezTo>
                  <a:cubicBezTo>
                    <a:pt x="799321" y="61467"/>
                    <a:pt x="812800" y="94009"/>
                    <a:pt x="812800" y="127941"/>
                  </a:cubicBezTo>
                  <a:lnTo>
                    <a:pt x="812800" y="758904"/>
                  </a:lnTo>
                  <a:cubicBezTo>
                    <a:pt x="812800" y="792836"/>
                    <a:pt x="799321" y="825379"/>
                    <a:pt x="775327" y="849372"/>
                  </a:cubicBezTo>
                  <a:cubicBezTo>
                    <a:pt x="751333" y="873366"/>
                    <a:pt x="718791" y="886845"/>
                    <a:pt x="684859" y="886845"/>
                  </a:cubicBezTo>
                  <a:lnTo>
                    <a:pt x="127941" y="886845"/>
                  </a:lnTo>
                  <a:cubicBezTo>
                    <a:pt x="94009" y="886845"/>
                    <a:pt x="61467" y="873366"/>
                    <a:pt x="37473" y="849372"/>
                  </a:cubicBezTo>
                  <a:cubicBezTo>
                    <a:pt x="13479" y="825379"/>
                    <a:pt x="0" y="792836"/>
                    <a:pt x="0" y="758904"/>
                  </a:cubicBezTo>
                  <a:lnTo>
                    <a:pt x="0" y="127941"/>
                  </a:lnTo>
                  <a:cubicBezTo>
                    <a:pt x="0" y="94009"/>
                    <a:pt x="13479" y="61467"/>
                    <a:pt x="37473" y="37473"/>
                  </a:cubicBezTo>
                  <a:cubicBezTo>
                    <a:pt x="61467" y="13479"/>
                    <a:pt x="94009" y="0"/>
                    <a:pt x="127941" y="0"/>
                  </a:cubicBezTo>
                  <a:close/>
                </a:path>
              </a:pathLst>
            </a:custGeom>
            <a:solidFill>
              <a:srgbClr val="2E7D6B">
                <a:alpha val="75686"/>
              </a:srgbClr>
            </a:solidFill>
          </p:spPr>
          <p:txBody>
            <a:bodyPr/>
            <a:lstStyle/>
            <a:p>
              <a:endParaRPr lang="en-US"/>
            </a:p>
          </p:txBody>
        </p:sp>
        <p:sp>
          <p:nvSpPr>
            <p:cNvPr id="6" name="TextBox 6"/>
            <p:cNvSpPr txBox="1"/>
            <p:nvPr/>
          </p:nvSpPr>
          <p:spPr>
            <a:xfrm>
              <a:off x="0" y="-38100"/>
              <a:ext cx="812800" cy="924945"/>
            </a:xfrm>
            <a:prstGeom prst="rect">
              <a:avLst/>
            </a:prstGeom>
          </p:spPr>
          <p:txBody>
            <a:bodyPr lIns="50800" tIns="50800" rIns="50800" bIns="50800" rtlCol="0" anchor="ctr"/>
            <a:lstStyle/>
            <a:p>
              <a:pPr marL="0" lvl="0" indent="0" algn="ctr">
                <a:lnSpc>
                  <a:spcPts val="2659"/>
                </a:lnSpc>
              </a:pPr>
              <a:endParaRPr/>
            </a:p>
          </p:txBody>
        </p:sp>
      </p:grpSp>
      <p:sp>
        <p:nvSpPr>
          <p:cNvPr id="7" name="Freeform 7"/>
          <p:cNvSpPr/>
          <p:nvPr/>
        </p:nvSpPr>
        <p:spPr>
          <a:xfrm rot="-10800000">
            <a:off x="13898411" y="9258300"/>
            <a:ext cx="4389589" cy="2402303"/>
          </a:xfrm>
          <a:custGeom>
            <a:avLst/>
            <a:gdLst/>
            <a:ahLst/>
            <a:cxnLst/>
            <a:rect l="l" t="t" r="r" b="b"/>
            <a:pathLst>
              <a:path w="4389589" h="2402303">
                <a:moveTo>
                  <a:pt x="0" y="0"/>
                </a:moveTo>
                <a:lnTo>
                  <a:pt x="4389589" y="0"/>
                </a:lnTo>
                <a:lnTo>
                  <a:pt x="4389589" y="2402303"/>
                </a:lnTo>
                <a:lnTo>
                  <a:pt x="0" y="2402303"/>
                </a:lnTo>
                <a:lnTo>
                  <a:pt x="0" y="0"/>
                </a:lnTo>
                <a:close/>
              </a:path>
            </a:pathLst>
          </a:custGeom>
          <a:blipFill>
            <a:blip>
              <a:alphaModFix amt="64000"/>
              <a:extLst>
                <a:ext uri="{96DAC541-7B7A-43D3-8B79-37D633B846F1}">
                  <asvg:svgBlip xmlns:asvg="http://schemas.microsoft.com/office/drawing/2016/SVG/main" r:embed="rId2"/>
                </a:ext>
              </a:extLst>
            </a:blip>
            <a:stretch>
              <a:fillRect/>
            </a:stretch>
          </a:blipFill>
        </p:spPr>
        <p:txBody>
          <a:bodyPr/>
          <a:lstStyle/>
          <a:p>
            <a:endParaRPr lang="en-US"/>
          </a:p>
        </p:txBody>
      </p:sp>
      <p:grpSp>
        <p:nvGrpSpPr>
          <p:cNvPr id="8" name="Group 8"/>
          <p:cNvGrpSpPr/>
          <p:nvPr/>
        </p:nvGrpSpPr>
        <p:grpSpPr>
          <a:xfrm>
            <a:off x="5681663" y="5527877"/>
            <a:ext cx="3086100" cy="3367240"/>
            <a:chOff x="0" y="0"/>
            <a:chExt cx="812800" cy="886845"/>
          </a:xfrm>
        </p:grpSpPr>
        <p:sp>
          <p:nvSpPr>
            <p:cNvPr id="9" name="Freeform 9"/>
            <p:cNvSpPr/>
            <p:nvPr/>
          </p:nvSpPr>
          <p:spPr>
            <a:xfrm>
              <a:off x="0" y="0"/>
              <a:ext cx="812800" cy="886845"/>
            </a:xfrm>
            <a:custGeom>
              <a:avLst/>
              <a:gdLst/>
              <a:ahLst/>
              <a:cxnLst/>
              <a:rect l="l" t="t" r="r" b="b"/>
              <a:pathLst>
                <a:path w="812800" h="886845">
                  <a:moveTo>
                    <a:pt x="127941" y="0"/>
                  </a:moveTo>
                  <a:lnTo>
                    <a:pt x="684859" y="0"/>
                  </a:lnTo>
                  <a:cubicBezTo>
                    <a:pt x="718791" y="0"/>
                    <a:pt x="751333" y="13479"/>
                    <a:pt x="775327" y="37473"/>
                  </a:cubicBezTo>
                  <a:cubicBezTo>
                    <a:pt x="799321" y="61467"/>
                    <a:pt x="812800" y="94009"/>
                    <a:pt x="812800" y="127941"/>
                  </a:cubicBezTo>
                  <a:lnTo>
                    <a:pt x="812800" y="758904"/>
                  </a:lnTo>
                  <a:cubicBezTo>
                    <a:pt x="812800" y="792836"/>
                    <a:pt x="799321" y="825379"/>
                    <a:pt x="775327" y="849372"/>
                  </a:cubicBezTo>
                  <a:cubicBezTo>
                    <a:pt x="751333" y="873366"/>
                    <a:pt x="718791" y="886845"/>
                    <a:pt x="684859" y="886845"/>
                  </a:cubicBezTo>
                  <a:lnTo>
                    <a:pt x="127941" y="886845"/>
                  </a:lnTo>
                  <a:cubicBezTo>
                    <a:pt x="94009" y="886845"/>
                    <a:pt x="61467" y="873366"/>
                    <a:pt x="37473" y="849372"/>
                  </a:cubicBezTo>
                  <a:cubicBezTo>
                    <a:pt x="13479" y="825379"/>
                    <a:pt x="0" y="792836"/>
                    <a:pt x="0" y="758904"/>
                  </a:cubicBezTo>
                  <a:lnTo>
                    <a:pt x="0" y="127941"/>
                  </a:lnTo>
                  <a:cubicBezTo>
                    <a:pt x="0" y="94009"/>
                    <a:pt x="13479" y="61467"/>
                    <a:pt x="37473" y="37473"/>
                  </a:cubicBezTo>
                  <a:cubicBezTo>
                    <a:pt x="61467" y="13479"/>
                    <a:pt x="94009" y="0"/>
                    <a:pt x="127941" y="0"/>
                  </a:cubicBezTo>
                  <a:close/>
                </a:path>
              </a:pathLst>
            </a:custGeom>
            <a:solidFill>
              <a:srgbClr val="2E7D6B">
                <a:alpha val="75686"/>
              </a:srgbClr>
            </a:solidFill>
          </p:spPr>
          <p:txBody>
            <a:bodyPr/>
            <a:lstStyle/>
            <a:p>
              <a:endParaRPr lang="en-US"/>
            </a:p>
          </p:txBody>
        </p:sp>
        <p:sp>
          <p:nvSpPr>
            <p:cNvPr id="10" name="TextBox 10"/>
            <p:cNvSpPr txBox="1"/>
            <p:nvPr/>
          </p:nvSpPr>
          <p:spPr>
            <a:xfrm>
              <a:off x="0" y="-38100"/>
              <a:ext cx="812800" cy="924945"/>
            </a:xfrm>
            <a:prstGeom prst="rect">
              <a:avLst/>
            </a:prstGeom>
          </p:spPr>
          <p:txBody>
            <a:bodyPr lIns="50800" tIns="50800" rIns="50800" bIns="50800" rtlCol="0" anchor="ctr"/>
            <a:lstStyle/>
            <a:p>
              <a:pPr marL="0" lvl="0" indent="0" algn="ctr">
                <a:lnSpc>
                  <a:spcPts val="2659"/>
                </a:lnSpc>
              </a:pPr>
              <a:endParaRPr/>
            </a:p>
          </p:txBody>
        </p:sp>
      </p:grpSp>
      <p:grpSp>
        <p:nvGrpSpPr>
          <p:cNvPr id="11" name="Group 11"/>
          <p:cNvGrpSpPr/>
          <p:nvPr/>
        </p:nvGrpSpPr>
        <p:grpSpPr>
          <a:xfrm>
            <a:off x="9517529" y="5527877"/>
            <a:ext cx="3086100" cy="3367240"/>
            <a:chOff x="0" y="0"/>
            <a:chExt cx="812800" cy="886845"/>
          </a:xfrm>
        </p:grpSpPr>
        <p:sp>
          <p:nvSpPr>
            <p:cNvPr id="12" name="Freeform 12"/>
            <p:cNvSpPr/>
            <p:nvPr/>
          </p:nvSpPr>
          <p:spPr>
            <a:xfrm>
              <a:off x="0" y="0"/>
              <a:ext cx="812800" cy="886845"/>
            </a:xfrm>
            <a:custGeom>
              <a:avLst/>
              <a:gdLst/>
              <a:ahLst/>
              <a:cxnLst/>
              <a:rect l="l" t="t" r="r" b="b"/>
              <a:pathLst>
                <a:path w="812800" h="886845">
                  <a:moveTo>
                    <a:pt x="127941" y="0"/>
                  </a:moveTo>
                  <a:lnTo>
                    <a:pt x="684859" y="0"/>
                  </a:lnTo>
                  <a:cubicBezTo>
                    <a:pt x="718791" y="0"/>
                    <a:pt x="751333" y="13479"/>
                    <a:pt x="775327" y="37473"/>
                  </a:cubicBezTo>
                  <a:cubicBezTo>
                    <a:pt x="799321" y="61467"/>
                    <a:pt x="812800" y="94009"/>
                    <a:pt x="812800" y="127941"/>
                  </a:cubicBezTo>
                  <a:lnTo>
                    <a:pt x="812800" y="758904"/>
                  </a:lnTo>
                  <a:cubicBezTo>
                    <a:pt x="812800" y="792836"/>
                    <a:pt x="799321" y="825379"/>
                    <a:pt x="775327" y="849372"/>
                  </a:cubicBezTo>
                  <a:cubicBezTo>
                    <a:pt x="751333" y="873366"/>
                    <a:pt x="718791" y="886845"/>
                    <a:pt x="684859" y="886845"/>
                  </a:cubicBezTo>
                  <a:lnTo>
                    <a:pt x="127941" y="886845"/>
                  </a:lnTo>
                  <a:cubicBezTo>
                    <a:pt x="94009" y="886845"/>
                    <a:pt x="61467" y="873366"/>
                    <a:pt x="37473" y="849372"/>
                  </a:cubicBezTo>
                  <a:cubicBezTo>
                    <a:pt x="13479" y="825379"/>
                    <a:pt x="0" y="792836"/>
                    <a:pt x="0" y="758904"/>
                  </a:cubicBezTo>
                  <a:lnTo>
                    <a:pt x="0" y="127941"/>
                  </a:lnTo>
                  <a:cubicBezTo>
                    <a:pt x="0" y="94009"/>
                    <a:pt x="13479" y="61467"/>
                    <a:pt x="37473" y="37473"/>
                  </a:cubicBezTo>
                  <a:cubicBezTo>
                    <a:pt x="61467" y="13479"/>
                    <a:pt x="94009" y="0"/>
                    <a:pt x="127941" y="0"/>
                  </a:cubicBezTo>
                  <a:close/>
                </a:path>
              </a:pathLst>
            </a:custGeom>
            <a:solidFill>
              <a:srgbClr val="2E7D6B">
                <a:alpha val="75686"/>
              </a:srgbClr>
            </a:solidFill>
          </p:spPr>
          <p:txBody>
            <a:bodyPr/>
            <a:lstStyle/>
            <a:p>
              <a:endParaRPr lang="en-US"/>
            </a:p>
          </p:txBody>
        </p:sp>
        <p:sp>
          <p:nvSpPr>
            <p:cNvPr id="13" name="TextBox 13"/>
            <p:cNvSpPr txBox="1"/>
            <p:nvPr/>
          </p:nvSpPr>
          <p:spPr>
            <a:xfrm>
              <a:off x="0" y="-38100"/>
              <a:ext cx="812800" cy="924945"/>
            </a:xfrm>
            <a:prstGeom prst="rect">
              <a:avLst/>
            </a:prstGeom>
          </p:spPr>
          <p:txBody>
            <a:bodyPr lIns="50800" tIns="50800" rIns="50800" bIns="50800" rtlCol="0" anchor="ctr"/>
            <a:lstStyle/>
            <a:p>
              <a:pPr marL="0" lvl="0" indent="0" algn="ctr">
                <a:lnSpc>
                  <a:spcPts val="2659"/>
                </a:lnSpc>
              </a:pPr>
              <a:endParaRPr/>
            </a:p>
          </p:txBody>
        </p:sp>
      </p:grpSp>
      <p:grpSp>
        <p:nvGrpSpPr>
          <p:cNvPr id="14" name="Group 14"/>
          <p:cNvGrpSpPr/>
          <p:nvPr/>
        </p:nvGrpSpPr>
        <p:grpSpPr>
          <a:xfrm>
            <a:off x="13356104" y="5527877"/>
            <a:ext cx="3086100" cy="3367240"/>
            <a:chOff x="0" y="0"/>
            <a:chExt cx="812800" cy="886845"/>
          </a:xfrm>
        </p:grpSpPr>
        <p:sp>
          <p:nvSpPr>
            <p:cNvPr id="15" name="Freeform 15"/>
            <p:cNvSpPr/>
            <p:nvPr/>
          </p:nvSpPr>
          <p:spPr>
            <a:xfrm>
              <a:off x="0" y="0"/>
              <a:ext cx="812800" cy="886845"/>
            </a:xfrm>
            <a:custGeom>
              <a:avLst/>
              <a:gdLst/>
              <a:ahLst/>
              <a:cxnLst/>
              <a:rect l="l" t="t" r="r" b="b"/>
              <a:pathLst>
                <a:path w="812800" h="886845">
                  <a:moveTo>
                    <a:pt x="127941" y="0"/>
                  </a:moveTo>
                  <a:lnTo>
                    <a:pt x="684859" y="0"/>
                  </a:lnTo>
                  <a:cubicBezTo>
                    <a:pt x="718791" y="0"/>
                    <a:pt x="751333" y="13479"/>
                    <a:pt x="775327" y="37473"/>
                  </a:cubicBezTo>
                  <a:cubicBezTo>
                    <a:pt x="799321" y="61467"/>
                    <a:pt x="812800" y="94009"/>
                    <a:pt x="812800" y="127941"/>
                  </a:cubicBezTo>
                  <a:lnTo>
                    <a:pt x="812800" y="758904"/>
                  </a:lnTo>
                  <a:cubicBezTo>
                    <a:pt x="812800" y="792836"/>
                    <a:pt x="799321" y="825379"/>
                    <a:pt x="775327" y="849372"/>
                  </a:cubicBezTo>
                  <a:cubicBezTo>
                    <a:pt x="751333" y="873366"/>
                    <a:pt x="718791" y="886845"/>
                    <a:pt x="684859" y="886845"/>
                  </a:cubicBezTo>
                  <a:lnTo>
                    <a:pt x="127941" y="886845"/>
                  </a:lnTo>
                  <a:cubicBezTo>
                    <a:pt x="94009" y="886845"/>
                    <a:pt x="61467" y="873366"/>
                    <a:pt x="37473" y="849372"/>
                  </a:cubicBezTo>
                  <a:cubicBezTo>
                    <a:pt x="13479" y="825379"/>
                    <a:pt x="0" y="792836"/>
                    <a:pt x="0" y="758904"/>
                  </a:cubicBezTo>
                  <a:lnTo>
                    <a:pt x="0" y="127941"/>
                  </a:lnTo>
                  <a:cubicBezTo>
                    <a:pt x="0" y="94009"/>
                    <a:pt x="13479" y="61467"/>
                    <a:pt x="37473" y="37473"/>
                  </a:cubicBezTo>
                  <a:cubicBezTo>
                    <a:pt x="61467" y="13479"/>
                    <a:pt x="94009" y="0"/>
                    <a:pt x="127941" y="0"/>
                  </a:cubicBezTo>
                  <a:close/>
                </a:path>
              </a:pathLst>
            </a:custGeom>
            <a:solidFill>
              <a:srgbClr val="2E7D6B">
                <a:alpha val="75686"/>
              </a:srgbClr>
            </a:solidFill>
          </p:spPr>
          <p:txBody>
            <a:bodyPr/>
            <a:lstStyle/>
            <a:p>
              <a:endParaRPr lang="en-US"/>
            </a:p>
          </p:txBody>
        </p:sp>
        <p:sp>
          <p:nvSpPr>
            <p:cNvPr id="16" name="TextBox 16"/>
            <p:cNvSpPr txBox="1"/>
            <p:nvPr/>
          </p:nvSpPr>
          <p:spPr>
            <a:xfrm>
              <a:off x="0" y="-38100"/>
              <a:ext cx="812800" cy="924945"/>
            </a:xfrm>
            <a:prstGeom prst="rect">
              <a:avLst/>
            </a:prstGeom>
          </p:spPr>
          <p:txBody>
            <a:bodyPr lIns="50800" tIns="50800" rIns="50800" bIns="50800" rtlCol="0" anchor="ctr"/>
            <a:lstStyle/>
            <a:p>
              <a:pPr marL="0" lvl="0" indent="0" algn="ctr">
                <a:lnSpc>
                  <a:spcPts val="2659"/>
                </a:lnSpc>
              </a:pPr>
              <a:endParaRPr/>
            </a:p>
          </p:txBody>
        </p:sp>
      </p:grpSp>
      <p:sp>
        <p:nvSpPr>
          <p:cNvPr id="17" name="Freeform 17"/>
          <p:cNvSpPr/>
          <p:nvPr/>
        </p:nvSpPr>
        <p:spPr>
          <a:xfrm>
            <a:off x="3082170" y="5766816"/>
            <a:ext cx="671393" cy="1195501"/>
          </a:xfrm>
          <a:custGeom>
            <a:avLst/>
            <a:gdLst/>
            <a:ahLst/>
            <a:cxnLst/>
            <a:rect l="l" t="t" r="r" b="b"/>
            <a:pathLst>
              <a:path w="671393" h="1195501">
                <a:moveTo>
                  <a:pt x="0" y="0"/>
                </a:moveTo>
                <a:lnTo>
                  <a:pt x="671393" y="0"/>
                </a:lnTo>
                <a:lnTo>
                  <a:pt x="671393" y="1195501"/>
                </a:lnTo>
                <a:lnTo>
                  <a:pt x="0" y="1195501"/>
                </a:lnTo>
                <a:lnTo>
                  <a:pt x="0" y="0"/>
                </a:lnTo>
                <a:close/>
              </a:path>
            </a:pathLst>
          </a:custGeom>
          <a:blipFill>
            <a:blip r:embed="rId3"/>
            <a:stretch>
              <a:fillRect/>
            </a:stretch>
          </a:blipFill>
        </p:spPr>
        <p:txBody>
          <a:bodyPr/>
          <a:lstStyle/>
          <a:p>
            <a:endParaRPr lang="en-US"/>
          </a:p>
        </p:txBody>
      </p:sp>
      <p:sp>
        <p:nvSpPr>
          <p:cNvPr id="18" name="Freeform 18"/>
          <p:cNvSpPr/>
          <p:nvPr/>
        </p:nvSpPr>
        <p:spPr>
          <a:xfrm>
            <a:off x="6850689" y="5951558"/>
            <a:ext cx="770130" cy="708134"/>
          </a:xfrm>
          <a:custGeom>
            <a:avLst/>
            <a:gdLst/>
            <a:ahLst/>
            <a:cxnLst/>
            <a:rect l="l" t="t" r="r" b="b"/>
            <a:pathLst>
              <a:path w="770130" h="708134">
                <a:moveTo>
                  <a:pt x="0" y="0"/>
                </a:moveTo>
                <a:lnTo>
                  <a:pt x="770131" y="0"/>
                </a:lnTo>
                <a:lnTo>
                  <a:pt x="770131" y="708134"/>
                </a:lnTo>
                <a:lnTo>
                  <a:pt x="0" y="708134"/>
                </a:lnTo>
                <a:lnTo>
                  <a:pt x="0" y="0"/>
                </a:lnTo>
                <a:close/>
              </a:path>
            </a:pathLst>
          </a:custGeom>
          <a:blipFill>
            <a:blip r:embed="rId4"/>
            <a:stretch>
              <a:fillRect/>
            </a:stretch>
          </a:blipFill>
        </p:spPr>
        <p:txBody>
          <a:bodyPr/>
          <a:lstStyle/>
          <a:p>
            <a:endParaRPr lang="en-US"/>
          </a:p>
        </p:txBody>
      </p:sp>
      <p:sp>
        <p:nvSpPr>
          <p:cNvPr id="19" name="Freeform 19"/>
          <p:cNvSpPr/>
          <p:nvPr/>
        </p:nvSpPr>
        <p:spPr>
          <a:xfrm>
            <a:off x="10757220" y="5919440"/>
            <a:ext cx="759579" cy="915346"/>
          </a:xfrm>
          <a:custGeom>
            <a:avLst/>
            <a:gdLst/>
            <a:ahLst/>
            <a:cxnLst/>
            <a:rect l="l" t="t" r="r" b="b"/>
            <a:pathLst>
              <a:path w="759579" h="915346">
                <a:moveTo>
                  <a:pt x="0" y="0"/>
                </a:moveTo>
                <a:lnTo>
                  <a:pt x="759579" y="0"/>
                </a:lnTo>
                <a:lnTo>
                  <a:pt x="759579" y="915346"/>
                </a:lnTo>
                <a:lnTo>
                  <a:pt x="0" y="915346"/>
                </a:lnTo>
                <a:lnTo>
                  <a:pt x="0" y="0"/>
                </a:lnTo>
                <a:close/>
              </a:path>
            </a:pathLst>
          </a:custGeom>
          <a:blipFill>
            <a:blip r:embed="rId5"/>
            <a:stretch>
              <a:fillRect/>
            </a:stretch>
          </a:blipFill>
        </p:spPr>
        <p:txBody>
          <a:bodyPr/>
          <a:lstStyle/>
          <a:p>
            <a:endParaRPr lang="en-US"/>
          </a:p>
        </p:txBody>
      </p:sp>
      <p:sp>
        <p:nvSpPr>
          <p:cNvPr id="20" name="Freeform 20"/>
          <p:cNvSpPr/>
          <p:nvPr/>
        </p:nvSpPr>
        <p:spPr>
          <a:xfrm>
            <a:off x="14247888" y="5852274"/>
            <a:ext cx="1283987" cy="898117"/>
          </a:xfrm>
          <a:custGeom>
            <a:avLst/>
            <a:gdLst/>
            <a:ahLst/>
            <a:cxnLst/>
            <a:rect l="l" t="t" r="r" b="b"/>
            <a:pathLst>
              <a:path w="1283987" h="898117">
                <a:moveTo>
                  <a:pt x="0" y="0"/>
                </a:moveTo>
                <a:lnTo>
                  <a:pt x="1283986" y="0"/>
                </a:lnTo>
                <a:lnTo>
                  <a:pt x="1283986" y="898116"/>
                </a:lnTo>
                <a:lnTo>
                  <a:pt x="0" y="898116"/>
                </a:lnTo>
                <a:lnTo>
                  <a:pt x="0" y="0"/>
                </a:lnTo>
                <a:close/>
              </a:path>
            </a:pathLst>
          </a:custGeom>
          <a:blipFill>
            <a:blip r:embed="rId6"/>
            <a:stretch>
              <a:fillRect/>
            </a:stretch>
          </a:blipFill>
        </p:spPr>
        <p:txBody>
          <a:bodyPr/>
          <a:lstStyle/>
          <a:p>
            <a:endParaRPr lang="en-US"/>
          </a:p>
        </p:txBody>
      </p:sp>
      <p:sp>
        <p:nvSpPr>
          <p:cNvPr id="21" name="TextBox 21"/>
          <p:cNvSpPr txBox="1"/>
          <p:nvPr/>
        </p:nvSpPr>
        <p:spPr>
          <a:xfrm>
            <a:off x="1472267" y="3205413"/>
            <a:ext cx="15343465" cy="1420113"/>
          </a:xfrm>
          <a:prstGeom prst="rect">
            <a:avLst/>
          </a:prstGeom>
        </p:spPr>
        <p:txBody>
          <a:bodyPr lIns="0" tIns="0" rIns="0" bIns="0" rtlCol="0" anchor="t">
            <a:spAutoFit/>
          </a:bodyPr>
          <a:lstStyle/>
          <a:p>
            <a:pPr marL="0" lvl="0" indent="0" algn="ctr">
              <a:lnSpc>
                <a:spcPts val="3892"/>
              </a:lnSpc>
            </a:pPr>
            <a:r>
              <a:rPr lang="en-US" sz="2162">
                <a:solidFill>
                  <a:srgbClr val="555555"/>
                </a:solidFill>
                <a:latin typeface="Roboto"/>
                <a:ea typeface="Roboto"/>
                <a:cs typeface="Roboto"/>
                <a:sym typeface="Roboto"/>
              </a:rPr>
              <a:t>Our mobile app leverages a modern, scalable technology stack designed for reliable data collection and seamless cloud synchronization. The architecture combines native Android development with robust backend services and enterprise-grade cloud infrastructure.</a:t>
            </a:r>
          </a:p>
        </p:txBody>
      </p:sp>
      <p:sp>
        <p:nvSpPr>
          <p:cNvPr id="22" name="TextBox 22"/>
          <p:cNvSpPr txBox="1"/>
          <p:nvPr/>
        </p:nvSpPr>
        <p:spPr>
          <a:xfrm>
            <a:off x="13721028" y="7091152"/>
            <a:ext cx="2384677" cy="740670"/>
          </a:xfrm>
          <a:prstGeom prst="rect">
            <a:avLst/>
          </a:prstGeom>
        </p:spPr>
        <p:txBody>
          <a:bodyPr lIns="0" tIns="0" rIns="0" bIns="0" rtlCol="0" anchor="t">
            <a:spAutoFit/>
          </a:bodyPr>
          <a:lstStyle/>
          <a:p>
            <a:pPr marL="0" lvl="0" indent="0" algn="ctr">
              <a:lnSpc>
                <a:spcPts val="3052"/>
              </a:lnSpc>
            </a:pPr>
            <a:r>
              <a:rPr lang="en-US" sz="1695" b="1">
                <a:solidFill>
                  <a:srgbClr val="E5E5E5"/>
                </a:solidFill>
                <a:latin typeface="Roboto Bold"/>
                <a:ea typeface="Roboto Bold"/>
                <a:cs typeface="Roboto Bold"/>
                <a:sym typeface="Roboto Bold"/>
              </a:rPr>
              <a:t>Railway Hosting, CloudFront CDN</a:t>
            </a:r>
          </a:p>
        </p:txBody>
      </p:sp>
      <p:sp>
        <p:nvSpPr>
          <p:cNvPr id="23" name="TextBox 23"/>
          <p:cNvSpPr txBox="1"/>
          <p:nvPr/>
        </p:nvSpPr>
        <p:spPr>
          <a:xfrm>
            <a:off x="9910762" y="7091152"/>
            <a:ext cx="2239196" cy="1123229"/>
          </a:xfrm>
          <a:prstGeom prst="rect">
            <a:avLst/>
          </a:prstGeom>
        </p:spPr>
        <p:txBody>
          <a:bodyPr lIns="0" tIns="0" rIns="0" bIns="0" rtlCol="0" anchor="t">
            <a:spAutoFit/>
          </a:bodyPr>
          <a:lstStyle/>
          <a:p>
            <a:pPr marL="0" lvl="0" indent="0" algn="ctr">
              <a:lnSpc>
                <a:spcPts val="3052"/>
              </a:lnSpc>
            </a:pPr>
            <a:r>
              <a:rPr lang="en-US" sz="1695" b="1">
                <a:solidFill>
                  <a:srgbClr val="E5E5E5"/>
                </a:solidFill>
                <a:latin typeface="Roboto Bold"/>
                <a:ea typeface="Roboto Bold"/>
                <a:cs typeface="Roboto Bold"/>
                <a:sym typeface="Roboto Bold"/>
              </a:rPr>
              <a:t>Cloudinary cloud storage, MongoDB and   local caching</a:t>
            </a:r>
          </a:p>
        </p:txBody>
      </p:sp>
      <p:sp>
        <p:nvSpPr>
          <p:cNvPr id="24" name="TextBox 24"/>
          <p:cNvSpPr txBox="1"/>
          <p:nvPr/>
        </p:nvSpPr>
        <p:spPr>
          <a:xfrm>
            <a:off x="6185154" y="7091152"/>
            <a:ext cx="2101372" cy="1123229"/>
          </a:xfrm>
          <a:prstGeom prst="rect">
            <a:avLst/>
          </a:prstGeom>
        </p:spPr>
        <p:txBody>
          <a:bodyPr lIns="0" tIns="0" rIns="0" bIns="0" rtlCol="0" anchor="t">
            <a:spAutoFit/>
          </a:bodyPr>
          <a:lstStyle/>
          <a:p>
            <a:pPr marL="0" lvl="0" indent="0" algn="ctr">
              <a:lnSpc>
                <a:spcPts val="3052"/>
              </a:lnSpc>
            </a:pPr>
            <a:r>
              <a:rPr lang="en-US" sz="1695" b="1">
                <a:solidFill>
                  <a:srgbClr val="E5E5E5"/>
                </a:solidFill>
                <a:latin typeface="Roboto Bold"/>
                <a:ea typeface="Roboto Bold"/>
                <a:cs typeface="Roboto Bold"/>
                <a:sym typeface="Roboto Bold"/>
              </a:rPr>
              <a:t>Node.js and Flask for RESTful API backend services</a:t>
            </a:r>
          </a:p>
        </p:txBody>
      </p:sp>
      <p:sp>
        <p:nvSpPr>
          <p:cNvPr id="25" name="TextBox 25"/>
          <p:cNvSpPr txBox="1"/>
          <p:nvPr/>
        </p:nvSpPr>
        <p:spPr>
          <a:xfrm>
            <a:off x="2116745" y="7106722"/>
            <a:ext cx="2602244" cy="1123229"/>
          </a:xfrm>
          <a:prstGeom prst="rect">
            <a:avLst/>
          </a:prstGeom>
        </p:spPr>
        <p:txBody>
          <a:bodyPr lIns="0" tIns="0" rIns="0" bIns="0" rtlCol="0" anchor="t">
            <a:spAutoFit/>
          </a:bodyPr>
          <a:lstStyle/>
          <a:p>
            <a:pPr marL="0" lvl="0" indent="0" algn="ctr">
              <a:lnSpc>
                <a:spcPts val="3052"/>
              </a:lnSpc>
            </a:pPr>
            <a:r>
              <a:rPr lang="en-US" sz="1695" b="1">
                <a:solidFill>
                  <a:srgbClr val="E5E5E5"/>
                </a:solidFill>
                <a:latin typeface="Roboto Bold"/>
                <a:ea typeface="Roboto Bold"/>
                <a:cs typeface="Roboto Bold"/>
                <a:sym typeface="Roboto Bold"/>
              </a:rPr>
              <a:t>react native with Expo, Kotlin, Java for native mobile development</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E5E5E5"/>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4271729"/>
            <a:chOff x="0" y="0"/>
            <a:chExt cx="2833290" cy="661803"/>
          </a:xfrm>
        </p:grpSpPr>
        <p:sp>
          <p:nvSpPr>
            <p:cNvPr id="3" name="Freeform 3"/>
            <p:cNvSpPr/>
            <p:nvPr/>
          </p:nvSpPr>
          <p:spPr>
            <a:xfrm>
              <a:off x="0" y="0"/>
              <a:ext cx="2833290" cy="661803"/>
            </a:xfrm>
            <a:custGeom>
              <a:avLst/>
              <a:gdLst/>
              <a:ahLst/>
              <a:cxnLst/>
              <a:rect l="l" t="t" r="r" b="b"/>
              <a:pathLst>
                <a:path w="2833290" h="661803">
                  <a:moveTo>
                    <a:pt x="0" y="0"/>
                  </a:moveTo>
                  <a:lnTo>
                    <a:pt x="2833290" y="0"/>
                  </a:lnTo>
                  <a:lnTo>
                    <a:pt x="2833290" y="661803"/>
                  </a:lnTo>
                  <a:lnTo>
                    <a:pt x="0" y="661803"/>
                  </a:lnTo>
                  <a:close/>
                </a:path>
              </a:pathLst>
            </a:custGeom>
            <a:blipFill>
              <a:blip r:embed="rId2"/>
              <a:stretch>
                <a:fillRect t="-72013" b="-72013"/>
              </a:stretch>
            </a:blipFill>
          </p:spPr>
          <p:txBody>
            <a:bodyPr/>
            <a:lstStyle/>
            <a:p>
              <a:endParaRPr lang="en-US"/>
            </a:p>
          </p:txBody>
        </p:sp>
      </p:grpSp>
      <p:sp>
        <p:nvSpPr>
          <p:cNvPr id="4" name="Freeform 4"/>
          <p:cNvSpPr/>
          <p:nvPr/>
        </p:nvSpPr>
        <p:spPr>
          <a:xfrm>
            <a:off x="-3360889" y="4281254"/>
            <a:ext cx="4389589" cy="2402303"/>
          </a:xfrm>
          <a:custGeom>
            <a:avLst/>
            <a:gdLst/>
            <a:ahLst/>
            <a:cxnLst/>
            <a:rect l="l" t="t" r="r" b="b"/>
            <a:pathLst>
              <a:path w="4389589" h="2402303">
                <a:moveTo>
                  <a:pt x="0" y="0"/>
                </a:moveTo>
                <a:lnTo>
                  <a:pt x="4389589" y="0"/>
                </a:lnTo>
                <a:lnTo>
                  <a:pt x="4389589" y="2402303"/>
                </a:lnTo>
                <a:lnTo>
                  <a:pt x="0" y="2402303"/>
                </a:lnTo>
                <a:lnTo>
                  <a:pt x="0" y="0"/>
                </a:lnTo>
                <a:close/>
              </a:path>
            </a:pathLst>
          </a:custGeom>
          <a:blipFill>
            <a:blip>
              <a:alphaModFix amt="64000"/>
              <a:extLst>
                <a:ext uri="{96DAC541-7B7A-43D3-8B79-37D633B846F1}">
                  <asvg:svgBlip xmlns:asvg="http://schemas.microsoft.com/office/drawing/2016/SVG/main" r:embed="rId3"/>
                </a:ext>
              </a:extLst>
            </a:blip>
            <a:stretch>
              <a:fillRect/>
            </a:stretch>
          </a:blipFill>
        </p:spPr>
        <p:txBody>
          <a:bodyPr/>
          <a:lstStyle/>
          <a:p>
            <a:endParaRPr lang="en-US"/>
          </a:p>
        </p:txBody>
      </p:sp>
      <p:sp>
        <p:nvSpPr>
          <p:cNvPr id="5" name="Freeform 5"/>
          <p:cNvSpPr/>
          <p:nvPr/>
        </p:nvSpPr>
        <p:spPr>
          <a:xfrm rot="-10800000">
            <a:off x="17259300" y="7884697"/>
            <a:ext cx="4389589" cy="2402303"/>
          </a:xfrm>
          <a:custGeom>
            <a:avLst/>
            <a:gdLst/>
            <a:ahLst/>
            <a:cxnLst/>
            <a:rect l="l" t="t" r="r" b="b"/>
            <a:pathLst>
              <a:path w="4389589" h="2402303">
                <a:moveTo>
                  <a:pt x="0" y="0"/>
                </a:moveTo>
                <a:lnTo>
                  <a:pt x="4389589" y="0"/>
                </a:lnTo>
                <a:lnTo>
                  <a:pt x="4389589" y="2402303"/>
                </a:lnTo>
                <a:lnTo>
                  <a:pt x="0" y="2402303"/>
                </a:lnTo>
                <a:lnTo>
                  <a:pt x="0" y="0"/>
                </a:lnTo>
                <a:close/>
              </a:path>
            </a:pathLst>
          </a:custGeom>
          <a:blipFill>
            <a:blip>
              <a:alphaModFix amt="64000"/>
              <a:extLst>
                <a:ext uri="{96DAC541-7B7A-43D3-8B79-37D633B846F1}">
                  <asvg:svgBlip xmlns:asvg="http://schemas.microsoft.com/office/drawing/2016/SVG/main" r:embed="rId3"/>
                </a:ext>
              </a:extLst>
            </a:blip>
            <a:stretch>
              <a:fillRect/>
            </a:stretch>
          </a:blipFill>
        </p:spPr>
        <p:txBody>
          <a:bodyPr/>
          <a:lstStyle/>
          <a:p>
            <a:endParaRPr lang="en-US"/>
          </a:p>
        </p:txBody>
      </p:sp>
      <p:grpSp>
        <p:nvGrpSpPr>
          <p:cNvPr id="6" name="Group 6"/>
          <p:cNvGrpSpPr/>
          <p:nvPr/>
        </p:nvGrpSpPr>
        <p:grpSpPr>
          <a:xfrm>
            <a:off x="1571149" y="5482405"/>
            <a:ext cx="6995160" cy="3367240"/>
            <a:chOff x="0" y="0"/>
            <a:chExt cx="1842347" cy="886845"/>
          </a:xfrm>
        </p:grpSpPr>
        <p:sp>
          <p:nvSpPr>
            <p:cNvPr id="7" name="Freeform 7"/>
            <p:cNvSpPr/>
            <p:nvPr/>
          </p:nvSpPr>
          <p:spPr>
            <a:xfrm>
              <a:off x="0" y="0"/>
              <a:ext cx="1842347" cy="886845"/>
            </a:xfrm>
            <a:custGeom>
              <a:avLst/>
              <a:gdLst/>
              <a:ahLst/>
              <a:cxnLst/>
              <a:rect l="l" t="t" r="r" b="b"/>
              <a:pathLst>
                <a:path w="1842347" h="886845">
                  <a:moveTo>
                    <a:pt x="56444" y="0"/>
                  </a:moveTo>
                  <a:lnTo>
                    <a:pt x="1785902" y="0"/>
                  </a:lnTo>
                  <a:cubicBezTo>
                    <a:pt x="1800872" y="0"/>
                    <a:pt x="1815229" y="5947"/>
                    <a:pt x="1825815" y="16532"/>
                  </a:cubicBezTo>
                  <a:cubicBezTo>
                    <a:pt x="1836400" y="27118"/>
                    <a:pt x="1842347" y="41474"/>
                    <a:pt x="1842347" y="56444"/>
                  </a:cubicBezTo>
                  <a:lnTo>
                    <a:pt x="1842347" y="830401"/>
                  </a:lnTo>
                  <a:cubicBezTo>
                    <a:pt x="1842347" y="845371"/>
                    <a:pt x="1836400" y="859727"/>
                    <a:pt x="1825815" y="870313"/>
                  </a:cubicBezTo>
                  <a:cubicBezTo>
                    <a:pt x="1815229" y="880898"/>
                    <a:pt x="1800872" y="886845"/>
                    <a:pt x="1785902" y="886845"/>
                  </a:cubicBezTo>
                  <a:lnTo>
                    <a:pt x="56444" y="886845"/>
                  </a:lnTo>
                  <a:cubicBezTo>
                    <a:pt x="41474" y="886845"/>
                    <a:pt x="27118" y="880898"/>
                    <a:pt x="16532" y="870313"/>
                  </a:cubicBezTo>
                  <a:cubicBezTo>
                    <a:pt x="5947" y="859727"/>
                    <a:pt x="0" y="845371"/>
                    <a:pt x="0" y="830401"/>
                  </a:cubicBezTo>
                  <a:lnTo>
                    <a:pt x="0" y="56444"/>
                  </a:lnTo>
                  <a:cubicBezTo>
                    <a:pt x="0" y="41474"/>
                    <a:pt x="5947" y="27118"/>
                    <a:pt x="16532" y="16532"/>
                  </a:cubicBezTo>
                  <a:cubicBezTo>
                    <a:pt x="27118" y="5947"/>
                    <a:pt x="41474" y="0"/>
                    <a:pt x="56444" y="0"/>
                  </a:cubicBezTo>
                  <a:close/>
                </a:path>
              </a:pathLst>
            </a:custGeom>
            <a:solidFill>
              <a:srgbClr val="2E7D6B">
                <a:alpha val="75686"/>
              </a:srgbClr>
            </a:solidFill>
          </p:spPr>
          <p:txBody>
            <a:bodyPr/>
            <a:lstStyle/>
            <a:p>
              <a:endParaRPr lang="en-US"/>
            </a:p>
          </p:txBody>
        </p:sp>
        <p:sp>
          <p:nvSpPr>
            <p:cNvPr id="8" name="TextBox 8"/>
            <p:cNvSpPr txBox="1"/>
            <p:nvPr/>
          </p:nvSpPr>
          <p:spPr>
            <a:xfrm>
              <a:off x="0" y="-38100"/>
              <a:ext cx="1842347" cy="924945"/>
            </a:xfrm>
            <a:prstGeom prst="rect">
              <a:avLst/>
            </a:prstGeom>
          </p:spPr>
          <p:txBody>
            <a:bodyPr lIns="50800" tIns="50800" rIns="50800" bIns="50800" rtlCol="0" anchor="ctr"/>
            <a:lstStyle/>
            <a:p>
              <a:pPr marL="0" lvl="0" indent="0" algn="ctr">
                <a:lnSpc>
                  <a:spcPts val="2659"/>
                </a:lnSpc>
              </a:pPr>
              <a:endParaRPr/>
            </a:p>
          </p:txBody>
        </p:sp>
      </p:grpSp>
      <p:grpSp>
        <p:nvGrpSpPr>
          <p:cNvPr id="9" name="Group 9"/>
          <p:cNvGrpSpPr/>
          <p:nvPr/>
        </p:nvGrpSpPr>
        <p:grpSpPr>
          <a:xfrm>
            <a:off x="7093816" y="4843358"/>
            <a:ext cx="1008070" cy="1008070"/>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F5A4E"/>
            </a:solidFill>
          </p:spPr>
          <p:txBody>
            <a:bodyPr/>
            <a:lstStyle/>
            <a:p>
              <a:endParaRPr lang="en-US"/>
            </a:p>
          </p:txBody>
        </p:sp>
        <p:sp>
          <p:nvSpPr>
            <p:cNvPr id="11" name="TextBox 11"/>
            <p:cNvSpPr txBox="1"/>
            <p:nvPr/>
          </p:nvSpPr>
          <p:spPr>
            <a:xfrm>
              <a:off x="76200" y="38100"/>
              <a:ext cx="660400" cy="698500"/>
            </a:xfrm>
            <a:prstGeom prst="rect">
              <a:avLst/>
            </a:prstGeom>
          </p:spPr>
          <p:txBody>
            <a:bodyPr lIns="50800" tIns="50800" rIns="50800" bIns="50800" rtlCol="0" anchor="ctr"/>
            <a:lstStyle/>
            <a:p>
              <a:pPr marL="0" lvl="0" indent="0" algn="ctr">
                <a:lnSpc>
                  <a:spcPts val="2659"/>
                </a:lnSpc>
              </a:pPr>
              <a:endParaRPr/>
            </a:p>
          </p:txBody>
        </p:sp>
      </p:grpSp>
      <p:grpSp>
        <p:nvGrpSpPr>
          <p:cNvPr id="12" name="Group 12"/>
          <p:cNvGrpSpPr/>
          <p:nvPr/>
        </p:nvGrpSpPr>
        <p:grpSpPr>
          <a:xfrm>
            <a:off x="9721691" y="5482405"/>
            <a:ext cx="6995160" cy="3367240"/>
            <a:chOff x="0" y="0"/>
            <a:chExt cx="1842347" cy="886845"/>
          </a:xfrm>
        </p:grpSpPr>
        <p:sp>
          <p:nvSpPr>
            <p:cNvPr id="13" name="Freeform 13"/>
            <p:cNvSpPr/>
            <p:nvPr/>
          </p:nvSpPr>
          <p:spPr>
            <a:xfrm>
              <a:off x="0" y="0"/>
              <a:ext cx="1842347" cy="886845"/>
            </a:xfrm>
            <a:custGeom>
              <a:avLst/>
              <a:gdLst/>
              <a:ahLst/>
              <a:cxnLst/>
              <a:rect l="l" t="t" r="r" b="b"/>
              <a:pathLst>
                <a:path w="1842347" h="886845">
                  <a:moveTo>
                    <a:pt x="56444" y="0"/>
                  </a:moveTo>
                  <a:lnTo>
                    <a:pt x="1785902" y="0"/>
                  </a:lnTo>
                  <a:cubicBezTo>
                    <a:pt x="1800872" y="0"/>
                    <a:pt x="1815229" y="5947"/>
                    <a:pt x="1825815" y="16532"/>
                  </a:cubicBezTo>
                  <a:cubicBezTo>
                    <a:pt x="1836400" y="27118"/>
                    <a:pt x="1842347" y="41474"/>
                    <a:pt x="1842347" y="56444"/>
                  </a:cubicBezTo>
                  <a:lnTo>
                    <a:pt x="1842347" y="830401"/>
                  </a:lnTo>
                  <a:cubicBezTo>
                    <a:pt x="1842347" y="845371"/>
                    <a:pt x="1836400" y="859727"/>
                    <a:pt x="1825815" y="870313"/>
                  </a:cubicBezTo>
                  <a:cubicBezTo>
                    <a:pt x="1815229" y="880898"/>
                    <a:pt x="1800872" y="886845"/>
                    <a:pt x="1785902" y="886845"/>
                  </a:cubicBezTo>
                  <a:lnTo>
                    <a:pt x="56444" y="886845"/>
                  </a:lnTo>
                  <a:cubicBezTo>
                    <a:pt x="41474" y="886845"/>
                    <a:pt x="27118" y="880898"/>
                    <a:pt x="16532" y="870313"/>
                  </a:cubicBezTo>
                  <a:cubicBezTo>
                    <a:pt x="5947" y="859727"/>
                    <a:pt x="0" y="845371"/>
                    <a:pt x="0" y="830401"/>
                  </a:cubicBezTo>
                  <a:lnTo>
                    <a:pt x="0" y="56444"/>
                  </a:lnTo>
                  <a:cubicBezTo>
                    <a:pt x="0" y="41474"/>
                    <a:pt x="5947" y="27118"/>
                    <a:pt x="16532" y="16532"/>
                  </a:cubicBezTo>
                  <a:cubicBezTo>
                    <a:pt x="27118" y="5947"/>
                    <a:pt x="41474" y="0"/>
                    <a:pt x="56444" y="0"/>
                  </a:cubicBezTo>
                  <a:close/>
                </a:path>
              </a:pathLst>
            </a:custGeom>
            <a:solidFill>
              <a:srgbClr val="2E7D6B">
                <a:alpha val="75686"/>
              </a:srgbClr>
            </a:solidFill>
          </p:spPr>
          <p:txBody>
            <a:bodyPr/>
            <a:lstStyle/>
            <a:p>
              <a:endParaRPr lang="en-US"/>
            </a:p>
          </p:txBody>
        </p:sp>
        <p:sp>
          <p:nvSpPr>
            <p:cNvPr id="14" name="TextBox 14"/>
            <p:cNvSpPr txBox="1"/>
            <p:nvPr/>
          </p:nvSpPr>
          <p:spPr>
            <a:xfrm>
              <a:off x="0" y="-38100"/>
              <a:ext cx="1842347" cy="924945"/>
            </a:xfrm>
            <a:prstGeom prst="rect">
              <a:avLst/>
            </a:prstGeom>
          </p:spPr>
          <p:txBody>
            <a:bodyPr lIns="50800" tIns="50800" rIns="50800" bIns="50800" rtlCol="0" anchor="ctr"/>
            <a:lstStyle/>
            <a:p>
              <a:pPr marL="0" lvl="0" indent="0" algn="ctr">
                <a:lnSpc>
                  <a:spcPts val="2659"/>
                </a:lnSpc>
              </a:pPr>
              <a:endParaRPr/>
            </a:p>
          </p:txBody>
        </p:sp>
      </p:grpSp>
      <p:grpSp>
        <p:nvGrpSpPr>
          <p:cNvPr id="15" name="Group 15"/>
          <p:cNvGrpSpPr/>
          <p:nvPr/>
        </p:nvGrpSpPr>
        <p:grpSpPr>
          <a:xfrm>
            <a:off x="15244358" y="4843358"/>
            <a:ext cx="1008070" cy="1008070"/>
            <a:chOff x="0" y="0"/>
            <a:chExt cx="812800" cy="812800"/>
          </a:xfrm>
        </p:grpSpPr>
        <p:sp>
          <p:nvSpPr>
            <p:cNvPr id="16" name="Freeform 1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F5A4E"/>
            </a:solidFill>
          </p:spPr>
          <p:txBody>
            <a:bodyPr/>
            <a:lstStyle/>
            <a:p>
              <a:endParaRPr lang="en-US"/>
            </a:p>
          </p:txBody>
        </p:sp>
        <p:sp>
          <p:nvSpPr>
            <p:cNvPr id="17" name="TextBox 17"/>
            <p:cNvSpPr txBox="1"/>
            <p:nvPr/>
          </p:nvSpPr>
          <p:spPr>
            <a:xfrm>
              <a:off x="76200" y="38100"/>
              <a:ext cx="660400" cy="698500"/>
            </a:xfrm>
            <a:prstGeom prst="rect">
              <a:avLst/>
            </a:prstGeom>
          </p:spPr>
          <p:txBody>
            <a:bodyPr lIns="50800" tIns="50800" rIns="50800" bIns="50800" rtlCol="0" anchor="ctr"/>
            <a:lstStyle/>
            <a:p>
              <a:pPr marL="0" lvl="0" indent="0" algn="ctr">
                <a:lnSpc>
                  <a:spcPts val="2659"/>
                </a:lnSpc>
              </a:pPr>
              <a:endParaRPr/>
            </a:p>
          </p:txBody>
        </p:sp>
      </p:grpSp>
      <p:sp>
        <p:nvSpPr>
          <p:cNvPr id="18" name="TextBox 18"/>
          <p:cNvSpPr txBox="1"/>
          <p:nvPr/>
        </p:nvSpPr>
        <p:spPr>
          <a:xfrm>
            <a:off x="4817504" y="1335232"/>
            <a:ext cx="8401767" cy="2398664"/>
          </a:xfrm>
          <a:prstGeom prst="rect">
            <a:avLst/>
          </a:prstGeom>
        </p:spPr>
        <p:txBody>
          <a:bodyPr lIns="0" tIns="0" rIns="0" bIns="0" rtlCol="0" anchor="t">
            <a:spAutoFit/>
          </a:bodyPr>
          <a:lstStyle/>
          <a:p>
            <a:pPr marL="0" lvl="0" indent="0" algn="ctr">
              <a:lnSpc>
                <a:spcPts val="9610"/>
              </a:lnSpc>
              <a:spcBef>
                <a:spcPct val="0"/>
              </a:spcBef>
            </a:pPr>
            <a:r>
              <a:rPr lang="en-US" sz="6864" b="1">
                <a:solidFill>
                  <a:srgbClr val="1F5A4E"/>
                </a:solidFill>
                <a:latin typeface="Roboto Bold"/>
                <a:ea typeface="Roboto Bold"/>
                <a:cs typeface="Roboto Bold"/>
                <a:sym typeface="Roboto Bold"/>
              </a:rPr>
              <a:t>DATABASE &amp; STORAGE DESIGN</a:t>
            </a:r>
          </a:p>
        </p:txBody>
      </p:sp>
      <p:sp>
        <p:nvSpPr>
          <p:cNvPr id="19" name="TextBox 19"/>
          <p:cNvSpPr txBox="1"/>
          <p:nvPr/>
        </p:nvSpPr>
        <p:spPr>
          <a:xfrm>
            <a:off x="2035572" y="5840866"/>
            <a:ext cx="6370836" cy="504700"/>
          </a:xfrm>
          <a:prstGeom prst="rect">
            <a:avLst/>
          </a:prstGeom>
        </p:spPr>
        <p:txBody>
          <a:bodyPr lIns="0" tIns="0" rIns="0" bIns="0" rtlCol="0" anchor="t">
            <a:spAutoFit/>
          </a:bodyPr>
          <a:lstStyle/>
          <a:p>
            <a:pPr marL="0" lvl="0" indent="0" algn="l">
              <a:lnSpc>
                <a:spcPts val="4205"/>
              </a:lnSpc>
            </a:pPr>
            <a:r>
              <a:rPr lang="en-US" sz="2336" b="1">
                <a:solidFill>
                  <a:srgbClr val="E5E5E5"/>
                </a:solidFill>
                <a:latin typeface="Roboto Bold"/>
                <a:ea typeface="Roboto Bold"/>
                <a:cs typeface="Roboto Bold"/>
                <a:sym typeface="Roboto Bold"/>
              </a:rPr>
              <a:t>Local Offline Queue</a:t>
            </a:r>
          </a:p>
        </p:txBody>
      </p:sp>
      <p:sp>
        <p:nvSpPr>
          <p:cNvPr id="20" name="TextBox 20"/>
          <p:cNvSpPr txBox="1"/>
          <p:nvPr/>
        </p:nvSpPr>
        <p:spPr>
          <a:xfrm>
            <a:off x="2035572" y="6411077"/>
            <a:ext cx="6066314" cy="1770757"/>
          </a:xfrm>
          <a:prstGeom prst="rect">
            <a:avLst/>
          </a:prstGeom>
        </p:spPr>
        <p:txBody>
          <a:bodyPr lIns="0" tIns="0" rIns="0" bIns="0" rtlCol="0" anchor="t">
            <a:spAutoFit/>
          </a:bodyPr>
          <a:lstStyle/>
          <a:p>
            <a:pPr marL="0" lvl="0" indent="0" algn="just">
              <a:lnSpc>
                <a:spcPts val="2363"/>
              </a:lnSpc>
            </a:pPr>
            <a:r>
              <a:rPr lang="en-US" sz="1313">
                <a:solidFill>
                  <a:srgbClr val="FFFFFF"/>
                </a:solidFill>
                <a:latin typeface="Roboto"/>
                <a:ea typeface="Roboto"/>
                <a:cs typeface="Roboto"/>
                <a:sym typeface="Roboto"/>
              </a:rPr>
              <a:t>Local database caches all collected metrics and user feedback locally on the device. Enables continuous data collection even without network connectivity. Implements queue-based architecture for pending uploads with automatic retry logic.</a:t>
            </a:r>
          </a:p>
          <a:p>
            <a:pPr marL="0" lvl="0" indent="0" algn="just">
              <a:lnSpc>
                <a:spcPts val="2363"/>
              </a:lnSpc>
            </a:pPr>
            <a:r>
              <a:rPr lang="en-US" sz="1313">
                <a:solidFill>
                  <a:srgbClr val="FFFFFF"/>
                </a:solidFill>
                <a:latin typeface="Roboto"/>
                <a:ea typeface="Roboto"/>
                <a:cs typeface="Roboto"/>
                <a:sym typeface="Roboto"/>
              </a:rPr>
              <a:t>Data persists securely until successful cloud synchronization is confirmed. Lightweight footprint optimized for mobile device storage constraints.</a:t>
            </a:r>
          </a:p>
        </p:txBody>
      </p:sp>
      <p:sp>
        <p:nvSpPr>
          <p:cNvPr id="21" name="TextBox 21"/>
          <p:cNvSpPr txBox="1"/>
          <p:nvPr/>
        </p:nvSpPr>
        <p:spPr>
          <a:xfrm>
            <a:off x="7468122" y="4859120"/>
            <a:ext cx="361057" cy="757661"/>
          </a:xfrm>
          <a:prstGeom prst="rect">
            <a:avLst/>
          </a:prstGeom>
        </p:spPr>
        <p:txBody>
          <a:bodyPr lIns="0" tIns="0" rIns="0" bIns="0" rtlCol="0" anchor="t">
            <a:spAutoFit/>
          </a:bodyPr>
          <a:lstStyle/>
          <a:p>
            <a:pPr marL="0" lvl="0" indent="0" algn="ctr">
              <a:lnSpc>
                <a:spcPts val="6402"/>
              </a:lnSpc>
            </a:pPr>
            <a:r>
              <a:rPr lang="en-US" sz="3556" b="1">
                <a:solidFill>
                  <a:srgbClr val="E5E5E5"/>
                </a:solidFill>
                <a:latin typeface="Roboto Bold"/>
                <a:ea typeface="Roboto Bold"/>
                <a:cs typeface="Roboto Bold"/>
                <a:sym typeface="Roboto Bold"/>
              </a:rPr>
              <a:t>1</a:t>
            </a:r>
          </a:p>
        </p:txBody>
      </p:sp>
      <p:sp>
        <p:nvSpPr>
          <p:cNvPr id="22" name="TextBox 22"/>
          <p:cNvSpPr txBox="1"/>
          <p:nvPr/>
        </p:nvSpPr>
        <p:spPr>
          <a:xfrm>
            <a:off x="10186114" y="6411077"/>
            <a:ext cx="6066314" cy="2069862"/>
          </a:xfrm>
          <a:prstGeom prst="rect">
            <a:avLst/>
          </a:prstGeom>
        </p:spPr>
        <p:txBody>
          <a:bodyPr lIns="0" tIns="0" rIns="0" bIns="0" rtlCol="0" anchor="t">
            <a:spAutoFit/>
          </a:bodyPr>
          <a:lstStyle/>
          <a:p>
            <a:pPr marL="0" lvl="0" indent="0" algn="just">
              <a:lnSpc>
                <a:spcPts val="2363"/>
              </a:lnSpc>
            </a:pPr>
            <a:r>
              <a:rPr lang="en-US" sz="1313">
                <a:solidFill>
                  <a:srgbClr val="FFFFFF"/>
                </a:solidFill>
                <a:latin typeface="Roboto"/>
                <a:ea typeface="Roboto"/>
                <a:cs typeface="Roboto"/>
                <a:sym typeface="Roboto"/>
              </a:rPr>
              <a:t>MOngoDB serves as the centralized cloud database for all synchronized user experience data. Handles high-volume concurrent writes from thousands of mobile subscribers. Supports complex analytical queries for heatmap generation and reporting.</a:t>
            </a:r>
          </a:p>
          <a:p>
            <a:pPr marL="0" lvl="0" indent="0" algn="just">
              <a:lnSpc>
                <a:spcPts val="2363"/>
              </a:lnSpc>
            </a:pPr>
            <a:r>
              <a:rPr lang="en-US" sz="1313">
                <a:solidFill>
                  <a:srgbClr val="FFFFFF"/>
                </a:solidFill>
                <a:latin typeface="Roboto"/>
                <a:ea typeface="Roboto"/>
                <a:cs typeface="Roboto"/>
                <a:sym typeface="Roboto"/>
              </a:rPr>
              <a:t>Sync strategy employs exponential backoff for intermittent connectivity. Data anonymization applied before upload using hashed user identifiers and location generalization techniques.</a:t>
            </a:r>
          </a:p>
        </p:txBody>
      </p:sp>
      <p:sp>
        <p:nvSpPr>
          <p:cNvPr id="23" name="TextBox 23"/>
          <p:cNvSpPr txBox="1"/>
          <p:nvPr/>
        </p:nvSpPr>
        <p:spPr>
          <a:xfrm>
            <a:off x="15618664" y="4859120"/>
            <a:ext cx="361057" cy="757661"/>
          </a:xfrm>
          <a:prstGeom prst="rect">
            <a:avLst/>
          </a:prstGeom>
        </p:spPr>
        <p:txBody>
          <a:bodyPr lIns="0" tIns="0" rIns="0" bIns="0" rtlCol="0" anchor="t">
            <a:spAutoFit/>
          </a:bodyPr>
          <a:lstStyle/>
          <a:p>
            <a:pPr marL="0" lvl="0" indent="0" algn="ctr">
              <a:lnSpc>
                <a:spcPts val="6402"/>
              </a:lnSpc>
            </a:pPr>
            <a:r>
              <a:rPr lang="en-US" sz="3556" b="1">
                <a:solidFill>
                  <a:srgbClr val="E5E5E5"/>
                </a:solidFill>
                <a:latin typeface="Roboto Bold"/>
                <a:ea typeface="Roboto Bold"/>
                <a:cs typeface="Roboto Bold"/>
                <a:sym typeface="Roboto Bold"/>
              </a:rPr>
              <a:t>2</a:t>
            </a:r>
          </a:p>
        </p:txBody>
      </p:sp>
      <p:sp>
        <p:nvSpPr>
          <p:cNvPr id="24" name="TextBox 24"/>
          <p:cNvSpPr txBox="1"/>
          <p:nvPr/>
        </p:nvSpPr>
        <p:spPr>
          <a:xfrm>
            <a:off x="10186114" y="5840866"/>
            <a:ext cx="5692007" cy="504700"/>
          </a:xfrm>
          <a:prstGeom prst="rect">
            <a:avLst/>
          </a:prstGeom>
        </p:spPr>
        <p:txBody>
          <a:bodyPr lIns="0" tIns="0" rIns="0" bIns="0" rtlCol="0" anchor="t">
            <a:spAutoFit/>
          </a:bodyPr>
          <a:lstStyle/>
          <a:p>
            <a:pPr marL="0" lvl="0" indent="0" algn="l">
              <a:lnSpc>
                <a:spcPts val="4205"/>
              </a:lnSpc>
            </a:pPr>
            <a:r>
              <a:rPr lang="en-US" sz="2336" b="1">
                <a:solidFill>
                  <a:srgbClr val="E5E5E5"/>
                </a:solidFill>
                <a:latin typeface="Roboto Bold"/>
                <a:ea typeface="Roboto Bold"/>
                <a:cs typeface="Roboto Bold"/>
                <a:sym typeface="Roboto Bold"/>
              </a:rPr>
              <a:t>Cloud &amp; Sync Strategy</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E5E5E5"/>
        </a:solidFill>
        <a:effectLst/>
      </p:bgPr>
    </p:bg>
    <p:spTree>
      <p:nvGrpSpPr>
        <p:cNvPr id="1" name=""/>
        <p:cNvGrpSpPr/>
        <p:nvPr/>
      </p:nvGrpSpPr>
      <p:grpSpPr>
        <a:xfrm>
          <a:off x="0" y="0"/>
          <a:ext cx="0" cy="0"/>
          <a:chOff x="0" y="0"/>
          <a:chExt cx="0" cy="0"/>
        </a:xfrm>
      </p:grpSpPr>
      <p:sp>
        <p:nvSpPr>
          <p:cNvPr id="2" name="TextBox 2"/>
          <p:cNvSpPr txBox="1"/>
          <p:nvPr/>
        </p:nvSpPr>
        <p:spPr>
          <a:xfrm>
            <a:off x="783154" y="1317178"/>
            <a:ext cx="16721692" cy="1393080"/>
          </a:xfrm>
          <a:prstGeom prst="rect">
            <a:avLst/>
          </a:prstGeom>
        </p:spPr>
        <p:txBody>
          <a:bodyPr lIns="0" tIns="0" rIns="0" bIns="0" rtlCol="0" anchor="t">
            <a:spAutoFit/>
          </a:bodyPr>
          <a:lstStyle/>
          <a:p>
            <a:pPr marL="0" lvl="0" indent="0" algn="ctr">
              <a:lnSpc>
                <a:spcPts val="11346"/>
              </a:lnSpc>
              <a:spcBef>
                <a:spcPct val="0"/>
              </a:spcBef>
            </a:pPr>
            <a:r>
              <a:rPr lang="en-US" sz="8104" b="1">
                <a:solidFill>
                  <a:srgbClr val="1F5A4E"/>
                </a:solidFill>
                <a:latin typeface="Roboto Bold"/>
                <a:ea typeface="Roboto Bold"/>
                <a:cs typeface="Roboto Bold"/>
                <a:sym typeface="Roboto Bold"/>
              </a:rPr>
              <a:t>Privacy &amp; Security</a:t>
            </a:r>
          </a:p>
        </p:txBody>
      </p:sp>
      <p:sp>
        <p:nvSpPr>
          <p:cNvPr id="3" name="Freeform 3"/>
          <p:cNvSpPr/>
          <p:nvPr/>
        </p:nvSpPr>
        <p:spPr>
          <a:xfrm rot="-5400000">
            <a:off x="-2367246" y="700906"/>
            <a:ext cx="4389589" cy="2402303"/>
          </a:xfrm>
          <a:custGeom>
            <a:avLst/>
            <a:gdLst/>
            <a:ahLst/>
            <a:cxnLst/>
            <a:rect l="l" t="t" r="r" b="b"/>
            <a:pathLst>
              <a:path w="4389589" h="2402303">
                <a:moveTo>
                  <a:pt x="0" y="0"/>
                </a:moveTo>
                <a:lnTo>
                  <a:pt x="4389589" y="0"/>
                </a:lnTo>
                <a:lnTo>
                  <a:pt x="4389589" y="2402302"/>
                </a:lnTo>
                <a:lnTo>
                  <a:pt x="0" y="2402302"/>
                </a:lnTo>
                <a:lnTo>
                  <a:pt x="0" y="0"/>
                </a:lnTo>
                <a:close/>
              </a:path>
            </a:pathLst>
          </a:custGeom>
          <a:blipFill>
            <a:blip>
              <a:alphaModFix amt="64000"/>
              <a:extLst>
                <a:ext uri="{96DAC541-7B7A-43D3-8B79-37D633B846F1}">
                  <asvg:svgBlip xmlns:asvg="http://schemas.microsoft.com/office/drawing/2016/SVG/main" r:embed="rId2"/>
                </a:ext>
              </a:extLst>
            </a:blip>
            <a:stretch>
              <a:fillRect/>
            </a:stretch>
          </a:blipFill>
        </p:spPr>
        <p:txBody>
          <a:bodyPr/>
          <a:lstStyle/>
          <a:p>
            <a:endParaRPr lang="en-US"/>
          </a:p>
        </p:txBody>
      </p:sp>
      <p:grpSp>
        <p:nvGrpSpPr>
          <p:cNvPr id="4" name="Group 4"/>
          <p:cNvGrpSpPr/>
          <p:nvPr/>
        </p:nvGrpSpPr>
        <p:grpSpPr>
          <a:xfrm>
            <a:off x="1845796" y="5527877"/>
            <a:ext cx="3086100" cy="3367240"/>
            <a:chOff x="0" y="0"/>
            <a:chExt cx="812800" cy="886845"/>
          </a:xfrm>
        </p:grpSpPr>
        <p:sp>
          <p:nvSpPr>
            <p:cNvPr id="5" name="Freeform 5"/>
            <p:cNvSpPr/>
            <p:nvPr/>
          </p:nvSpPr>
          <p:spPr>
            <a:xfrm>
              <a:off x="0" y="0"/>
              <a:ext cx="812800" cy="886845"/>
            </a:xfrm>
            <a:custGeom>
              <a:avLst/>
              <a:gdLst/>
              <a:ahLst/>
              <a:cxnLst/>
              <a:rect l="l" t="t" r="r" b="b"/>
              <a:pathLst>
                <a:path w="812800" h="886845">
                  <a:moveTo>
                    <a:pt x="127941" y="0"/>
                  </a:moveTo>
                  <a:lnTo>
                    <a:pt x="684859" y="0"/>
                  </a:lnTo>
                  <a:cubicBezTo>
                    <a:pt x="718791" y="0"/>
                    <a:pt x="751333" y="13479"/>
                    <a:pt x="775327" y="37473"/>
                  </a:cubicBezTo>
                  <a:cubicBezTo>
                    <a:pt x="799321" y="61467"/>
                    <a:pt x="812800" y="94009"/>
                    <a:pt x="812800" y="127941"/>
                  </a:cubicBezTo>
                  <a:lnTo>
                    <a:pt x="812800" y="758904"/>
                  </a:lnTo>
                  <a:cubicBezTo>
                    <a:pt x="812800" y="792836"/>
                    <a:pt x="799321" y="825379"/>
                    <a:pt x="775327" y="849372"/>
                  </a:cubicBezTo>
                  <a:cubicBezTo>
                    <a:pt x="751333" y="873366"/>
                    <a:pt x="718791" y="886845"/>
                    <a:pt x="684859" y="886845"/>
                  </a:cubicBezTo>
                  <a:lnTo>
                    <a:pt x="127941" y="886845"/>
                  </a:lnTo>
                  <a:cubicBezTo>
                    <a:pt x="94009" y="886845"/>
                    <a:pt x="61467" y="873366"/>
                    <a:pt x="37473" y="849372"/>
                  </a:cubicBezTo>
                  <a:cubicBezTo>
                    <a:pt x="13479" y="825379"/>
                    <a:pt x="0" y="792836"/>
                    <a:pt x="0" y="758904"/>
                  </a:cubicBezTo>
                  <a:lnTo>
                    <a:pt x="0" y="127941"/>
                  </a:lnTo>
                  <a:cubicBezTo>
                    <a:pt x="0" y="94009"/>
                    <a:pt x="13479" y="61467"/>
                    <a:pt x="37473" y="37473"/>
                  </a:cubicBezTo>
                  <a:cubicBezTo>
                    <a:pt x="61467" y="13479"/>
                    <a:pt x="94009" y="0"/>
                    <a:pt x="127941" y="0"/>
                  </a:cubicBezTo>
                  <a:close/>
                </a:path>
              </a:pathLst>
            </a:custGeom>
            <a:solidFill>
              <a:srgbClr val="2E7D6B">
                <a:alpha val="75686"/>
              </a:srgbClr>
            </a:solidFill>
          </p:spPr>
          <p:txBody>
            <a:bodyPr/>
            <a:lstStyle/>
            <a:p>
              <a:endParaRPr lang="en-US"/>
            </a:p>
          </p:txBody>
        </p:sp>
        <p:sp>
          <p:nvSpPr>
            <p:cNvPr id="6" name="TextBox 6"/>
            <p:cNvSpPr txBox="1"/>
            <p:nvPr/>
          </p:nvSpPr>
          <p:spPr>
            <a:xfrm>
              <a:off x="0" y="-38100"/>
              <a:ext cx="812800" cy="924945"/>
            </a:xfrm>
            <a:prstGeom prst="rect">
              <a:avLst/>
            </a:prstGeom>
          </p:spPr>
          <p:txBody>
            <a:bodyPr lIns="50800" tIns="50800" rIns="50800" bIns="50800" rtlCol="0" anchor="ctr"/>
            <a:lstStyle/>
            <a:p>
              <a:pPr marL="0" lvl="0" indent="0" algn="ctr">
                <a:lnSpc>
                  <a:spcPts val="2659"/>
                </a:lnSpc>
              </a:pPr>
              <a:endParaRPr/>
            </a:p>
          </p:txBody>
        </p:sp>
      </p:grpSp>
      <p:sp>
        <p:nvSpPr>
          <p:cNvPr id="7" name="Freeform 7"/>
          <p:cNvSpPr/>
          <p:nvPr/>
        </p:nvSpPr>
        <p:spPr>
          <a:xfrm rot="-10800000">
            <a:off x="13898411" y="9258300"/>
            <a:ext cx="4389589" cy="2402303"/>
          </a:xfrm>
          <a:custGeom>
            <a:avLst/>
            <a:gdLst/>
            <a:ahLst/>
            <a:cxnLst/>
            <a:rect l="l" t="t" r="r" b="b"/>
            <a:pathLst>
              <a:path w="4389589" h="2402303">
                <a:moveTo>
                  <a:pt x="0" y="0"/>
                </a:moveTo>
                <a:lnTo>
                  <a:pt x="4389589" y="0"/>
                </a:lnTo>
                <a:lnTo>
                  <a:pt x="4389589" y="2402303"/>
                </a:lnTo>
                <a:lnTo>
                  <a:pt x="0" y="2402303"/>
                </a:lnTo>
                <a:lnTo>
                  <a:pt x="0" y="0"/>
                </a:lnTo>
                <a:close/>
              </a:path>
            </a:pathLst>
          </a:custGeom>
          <a:blipFill>
            <a:blip>
              <a:alphaModFix amt="64000"/>
              <a:extLst>
                <a:ext uri="{96DAC541-7B7A-43D3-8B79-37D633B846F1}">
                  <asvg:svgBlip xmlns:asvg="http://schemas.microsoft.com/office/drawing/2016/SVG/main" r:embed="rId2"/>
                </a:ext>
              </a:extLst>
            </a:blip>
            <a:stretch>
              <a:fillRect/>
            </a:stretch>
          </a:blipFill>
        </p:spPr>
        <p:txBody>
          <a:bodyPr/>
          <a:lstStyle/>
          <a:p>
            <a:endParaRPr lang="en-US"/>
          </a:p>
        </p:txBody>
      </p:sp>
      <p:grpSp>
        <p:nvGrpSpPr>
          <p:cNvPr id="8" name="Group 8"/>
          <p:cNvGrpSpPr/>
          <p:nvPr/>
        </p:nvGrpSpPr>
        <p:grpSpPr>
          <a:xfrm>
            <a:off x="5681663" y="5527877"/>
            <a:ext cx="3086100" cy="3367240"/>
            <a:chOff x="0" y="0"/>
            <a:chExt cx="812800" cy="886845"/>
          </a:xfrm>
        </p:grpSpPr>
        <p:sp>
          <p:nvSpPr>
            <p:cNvPr id="9" name="Freeform 9"/>
            <p:cNvSpPr/>
            <p:nvPr/>
          </p:nvSpPr>
          <p:spPr>
            <a:xfrm>
              <a:off x="0" y="0"/>
              <a:ext cx="812800" cy="886845"/>
            </a:xfrm>
            <a:custGeom>
              <a:avLst/>
              <a:gdLst/>
              <a:ahLst/>
              <a:cxnLst/>
              <a:rect l="l" t="t" r="r" b="b"/>
              <a:pathLst>
                <a:path w="812800" h="886845">
                  <a:moveTo>
                    <a:pt x="127941" y="0"/>
                  </a:moveTo>
                  <a:lnTo>
                    <a:pt x="684859" y="0"/>
                  </a:lnTo>
                  <a:cubicBezTo>
                    <a:pt x="718791" y="0"/>
                    <a:pt x="751333" y="13479"/>
                    <a:pt x="775327" y="37473"/>
                  </a:cubicBezTo>
                  <a:cubicBezTo>
                    <a:pt x="799321" y="61467"/>
                    <a:pt x="812800" y="94009"/>
                    <a:pt x="812800" y="127941"/>
                  </a:cubicBezTo>
                  <a:lnTo>
                    <a:pt x="812800" y="758904"/>
                  </a:lnTo>
                  <a:cubicBezTo>
                    <a:pt x="812800" y="792836"/>
                    <a:pt x="799321" y="825379"/>
                    <a:pt x="775327" y="849372"/>
                  </a:cubicBezTo>
                  <a:cubicBezTo>
                    <a:pt x="751333" y="873366"/>
                    <a:pt x="718791" y="886845"/>
                    <a:pt x="684859" y="886845"/>
                  </a:cubicBezTo>
                  <a:lnTo>
                    <a:pt x="127941" y="886845"/>
                  </a:lnTo>
                  <a:cubicBezTo>
                    <a:pt x="94009" y="886845"/>
                    <a:pt x="61467" y="873366"/>
                    <a:pt x="37473" y="849372"/>
                  </a:cubicBezTo>
                  <a:cubicBezTo>
                    <a:pt x="13479" y="825379"/>
                    <a:pt x="0" y="792836"/>
                    <a:pt x="0" y="758904"/>
                  </a:cubicBezTo>
                  <a:lnTo>
                    <a:pt x="0" y="127941"/>
                  </a:lnTo>
                  <a:cubicBezTo>
                    <a:pt x="0" y="94009"/>
                    <a:pt x="13479" y="61467"/>
                    <a:pt x="37473" y="37473"/>
                  </a:cubicBezTo>
                  <a:cubicBezTo>
                    <a:pt x="61467" y="13479"/>
                    <a:pt x="94009" y="0"/>
                    <a:pt x="127941" y="0"/>
                  </a:cubicBezTo>
                  <a:close/>
                </a:path>
              </a:pathLst>
            </a:custGeom>
            <a:solidFill>
              <a:srgbClr val="2E7D6B">
                <a:alpha val="75686"/>
              </a:srgbClr>
            </a:solidFill>
          </p:spPr>
          <p:txBody>
            <a:bodyPr/>
            <a:lstStyle/>
            <a:p>
              <a:endParaRPr lang="en-US"/>
            </a:p>
          </p:txBody>
        </p:sp>
        <p:sp>
          <p:nvSpPr>
            <p:cNvPr id="10" name="TextBox 10"/>
            <p:cNvSpPr txBox="1"/>
            <p:nvPr/>
          </p:nvSpPr>
          <p:spPr>
            <a:xfrm>
              <a:off x="0" y="-38100"/>
              <a:ext cx="812800" cy="924945"/>
            </a:xfrm>
            <a:prstGeom prst="rect">
              <a:avLst/>
            </a:prstGeom>
          </p:spPr>
          <p:txBody>
            <a:bodyPr lIns="50800" tIns="50800" rIns="50800" bIns="50800" rtlCol="0" anchor="ctr"/>
            <a:lstStyle/>
            <a:p>
              <a:pPr marL="0" lvl="0" indent="0" algn="ctr">
                <a:lnSpc>
                  <a:spcPts val="2659"/>
                </a:lnSpc>
              </a:pPr>
              <a:endParaRPr/>
            </a:p>
          </p:txBody>
        </p:sp>
      </p:grpSp>
      <p:grpSp>
        <p:nvGrpSpPr>
          <p:cNvPr id="11" name="Group 11"/>
          <p:cNvGrpSpPr/>
          <p:nvPr/>
        </p:nvGrpSpPr>
        <p:grpSpPr>
          <a:xfrm>
            <a:off x="9517529" y="5527877"/>
            <a:ext cx="3086100" cy="3367240"/>
            <a:chOff x="0" y="0"/>
            <a:chExt cx="812800" cy="886845"/>
          </a:xfrm>
        </p:grpSpPr>
        <p:sp>
          <p:nvSpPr>
            <p:cNvPr id="12" name="Freeform 12"/>
            <p:cNvSpPr/>
            <p:nvPr/>
          </p:nvSpPr>
          <p:spPr>
            <a:xfrm>
              <a:off x="0" y="0"/>
              <a:ext cx="812800" cy="886845"/>
            </a:xfrm>
            <a:custGeom>
              <a:avLst/>
              <a:gdLst/>
              <a:ahLst/>
              <a:cxnLst/>
              <a:rect l="l" t="t" r="r" b="b"/>
              <a:pathLst>
                <a:path w="812800" h="886845">
                  <a:moveTo>
                    <a:pt x="127941" y="0"/>
                  </a:moveTo>
                  <a:lnTo>
                    <a:pt x="684859" y="0"/>
                  </a:lnTo>
                  <a:cubicBezTo>
                    <a:pt x="718791" y="0"/>
                    <a:pt x="751333" y="13479"/>
                    <a:pt x="775327" y="37473"/>
                  </a:cubicBezTo>
                  <a:cubicBezTo>
                    <a:pt x="799321" y="61467"/>
                    <a:pt x="812800" y="94009"/>
                    <a:pt x="812800" y="127941"/>
                  </a:cubicBezTo>
                  <a:lnTo>
                    <a:pt x="812800" y="758904"/>
                  </a:lnTo>
                  <a:cubicBezTo>
                    <a:pt x="812800" y="792836"/>
                    <a:pt x="799321" y="825379"/>
                    <a:pt x="775327" y="849372"/>
                  </a:cubicBezTo>
                  <a:cubicBezTo>
                    <a:pt x="751333" y="873366"/>
                    <a:pt x="718791" y="886845"/>
                    <a:pt x="684859" y="886845"/>
                  </a:cubicBezTo>
                  <a:lnTo>
                    <a:pt x="127941" y="886845"/>
                  </a:lnTo>
                  <a:cubicBezTo>
                    <a:pt x="94009" y="886845"/>
                    <a:pt x="61467" y="873366"/>
                    <a:pt x="37473" y="849372"/>
                  </a:cubicBezTo>
                  <a:cubicBezTo>
                    <a:pt x="13479" y="825379"/>
                    <a:pt x="0" y="792836"/>
                    <a:pt x="0" y="758904"/>
                  </a:cubicBezTo>
                  <a:lnTo>
                    <a:pt x="0" y="127941"/>
                  </a:lnTo>
                  <a:cubicBezTo>
                    <a:pt x="0" y="94009"/>
                    <a:pt x="13479" y="61467"/>
                    <a:pt x="37473" y="37473"/>
                  </a:cubicBezTo>
                  <a:cubicBezTo>
                    <a:pt x="61467" y="13479"/>
                    <a:pt x="94009" y="0"/>
                    <a:pt x="127941" y="0"/>
                  </a:cubicBezTo>
                  <a:close/>
                </a:path>
              </a:pathLst>
            </a:custGeom>
            <a:solidFill>
              <a:srgbClr val="2E7D6B">
                <a:alpha val="75686"/>
              </a:srgbClr>
            </a:solidFill>
          </p:spPr>
          <p:txBody>
            <a:bodyPr/>
            <a:lstStyle/>
            <a:p>
              <a:endParaRPr lang="en-US"/>
            </a:p>
          </p:txBody>
        </p:sp>
        <p:sp>
          <p:nvSpPr>
            <p:cNvPr id="13" name="TextBox 13"/>
            <p:cNvSpPr txBox="1"/>
            <p:nvPr/>
          </p:nvSpPr>
          <p:spPr>
            <a:xfrm>
              <a:off x="0" y="-38100"/>
              <a:ext cx="812800" cy="924945"/>
            </a:xfrm>
            <a:prstGeom prst="rect">
              <a:avLst/>
            </a:prstGeom>
          </p:spPr>
          <p:txBody>
            <a:bodyPr lIns="50800" tIns="50800" rIns="50800" bIns="50800" rtlCol="0" anchor="ctr"/>
            <a:lstStyle/>
            <a:p>
              <a:pPr marL="0" lvl="0" indent="0" algn="ctr">
                <a:lnSpc>
                  <a:spcPts val="2659"/>
                </a:lnSpc>
              </a:pPr>
              <a:endParaRPr/>
            </a:p>
          </p:txBody>
        </p:sp>
      </p:grpSp>
      <p:grpSp>
        <p:nvGrpSpPr>
          <p:cNvPr id="14" name="Group 14"/>
          <p:cNvGrpSpPr/>
          <p:nvPr/>
        </p:nvGrpSpPr>
        <p:grpSpPr>
          <a:xfrm>
            <a:off x="13356104" y="5527877"/>
            <a:ext cx="3086100" cy="3367240"/>
            <a:chOff x="0" y="0"/>
            <a:chExt cx="812800" cy="886845"/>
          </a:xfrm>
        </p:grpSpPr>
        <p:sp>
          <p:nvSpPr>
            <p:cNvPr id="15" name="Freeform 15"/>
            <p:cNvSpPr/>
            <p:nvPr/>
          </p:nvSpPr>
          <p:spPr>
            <a:xfrm>
              <a:off x="0" y="0"/>
              <a:ext cx="812800" cy="886845"/>
            </a:xfrm>
            <a:custGeom>
              <a:avLst/>
              <a:gdLst/>
              <a:ahLst/>
              <a:cxnLst/>
              <a:rect l="l" t="t" r="r" b="b"/>
              <a:pathLst>
                <a:path w="812800" h="886845">
                  <a:moveTo>
                    <a:pt x="127941" y="0"/>
                  </a:moveTo>
                  <a:lnTo>
                    <a:pt x="684859" y="0"/>
                  </a:lnTo>
                  <a:cubicBezTo>
                    <a:pt x="718791" y="0"/>
                    <a:pt x="751333" y="13479"/>
                    <a:pt x="775327" y="37473"/>
                  </a:cubicBezTo>
                  <a:cubicBezTo>
                    <a:pt x="799321" y="61467"/>
                    <a:pt x="812800" y="94009"/>
                    <a:pt x="812800" y="127941"/>
                  </a:cubicBezTo>
                  <a:lnTo>
                    <a:pt x="812800" y="758904"/>
                  </a:lnTo>
                  <a:cubicBezTo>
                    <a:pt x="812800" y="792836"/>
                    <a:pt x="799321" y="825379"/>
                    <a:pt x="775327" y="849372"/>
                  </a:cubicBezTo>
                  <a:cubicBezTo>
                    <a:pt x="751333" y="873366"/>
                    <a:pt x="718791" y="886845"/>
                    <a:pt x="684859" y="886845"/>
                  </a:cubicBezTo>
                  <a:lnTo>
                    <a:pt x="127941" y="886845"/>
                  </a:lnTo>
                  <a:cubicBezTo>
                    <a:pt x="94009" y="886845"/>
                    <a:pt x="61467" y="873366"/>
                    <a:pt x="37473" y="849372"/>
                  </a:cubicBezTo>
                  <a:cubicBezTo>
                    <a:pt x="13479" y="825379"/>
                    <a:pt x="0" y="792836"/>
                    <a:pt x="0" y="758904"/>
                  </a:cubicBezTo>
                  <a:lnTo>
                    <a:pt x="0" y="127941"/>
                  </a:lnTo>
                  <a:cubicBezTo>
                    <a:pt x="0" y="94009"/>
                    <a:pt x="13479" y="61467"/>
                    <a:pt x="37473" y="37473"/>
                  </a:cubicBezTo>
                  <a:cubicBezTo>
                    <a:pt x="61467" y="13479"/>
                    <a:pt x="94009" y="0"/>
                    <a:pt x="127941" y="0"/>
                  </a:cubicBezTo>
                  <a:close/>
                </a:path>
              </a:pathLst>
            </a:custGeom>
            <a:solidFill>
              <a:srgbClr val="2E7D6B">
                <a:alpha val="75686"/>
              </a:srgbClr>
            </a:solidFill>
          </p:spPr>
          <p:txBody>
            <a:bodyPr/>
            <a:lstStyle/>
            <a:p>
              <a:endParaRPr lang="en-US"/>
            </a:p>
          </p:txBody>
        </p:sp>
        <p:sp>
          <p:nvSpPr>
            <p:cNvPr id="16" name="TextBox 16"/>
            <p:cNvSpPr txBox="1"/>
            <p:nvPr/>
          </p:nvSpPr>
          <p:spPr>
            <a:xfrm>
              <a:off x="0" y="-38100"/>
              <a:ext cx="812800" cy="924945"/>
            </a:xfrm>
            <a:prstGeom prst="rect">
              <a:avLst/>
            </a:prstGeom>
          </p:spPr>
          <p:txBody>
            <a:bodyPr lIns="50800" tIns="50800" rIns="50800" bIns="50800" rtlCol="0" anchor="ctr"/>
            <a:lstStyle/>
            <a:p>
              <a:pPr marL="0" lvl="0" indent="0" algn="ctr">
                <a:lnSpc>
                  <a:spcPts val="2659"/>
                </a:lnSpc>
              </a:pPr>
              <a:endParaRPr/>
            </a:p>
          </p:txBody>
        </p:sp>
      </p:grpSp>
      <p:sp>
        <p:nvSpPr>
          <p:cNvPr id="17" name="Freeform 17"/>
          <p:cNvSpPr/>
          <p:nvPr/>
        </p:nvSpPr>
        <p:spPr>
          <a:xfrm>
            <a:off x="2967495" y="5846402"/>
            <a:ext cx="902901" cy="906300"/>
          </a:xfrm>
          <a:custGeom>
            <a:avLst/>
            <a:gdLst/>
            <a:ahLst/>
            <a:cxnLst/>
            <a:rect l="l" t="t" r="r" b="b"/>
            <a:pathLst>
              <a:path w="902901" h="906300">
                <a:moveTo>
                  <a:pt x="0" y="0"/>
                </a:moveTo>
                <a:lnTo>
                  <a:pt x="902901" y="0"/>
                </a:lnTo>
                <a:lnTo>
                  <a:pt x="902901" y="906300"/>
                </a:lnTo>
                <a:lnTo>
                  <a:pt x="0" y="906300"/>
                </a:lnTo>
                <a:lnTo>
                  <a:pt x="0" y="0"/>
                </a:lnTo>
                <a:close/>
              </a:path>
            </a:pathLst>
          </a:custGeom>
          <a:blipFill>
            <a:blip r:embed="rId3"/>
            <a:stretch>
              <a:fillRect/>
            </a:stretch>
          </a:blipFill>
        </p:spPr>
        <p:txBody>
          <a:bodyPr/>
          <a:lstStyle/>
          <a:p>
            <a:endParaRPr lang="en-US"/>
          </a:p>
        </p:txBody>
      </p:sp>
      <p:sp>
        <p:nvSpPr>
          <p:cNvPr id="18" name="Freeform 18"/>
          <p:cNvSpPr/>
          <p:nvPr/>
        </p:nvSpPr>
        <p:spPr>
          <a:xfrm>
            <a:off x="6853117" y="5864722"/>
            <a:ext cx="764698" cy="1099254"/>
          </a:xfrm>
          <a:custGeom>
            <a:avLst/>
            <a:gdLst/>
            <a:ahLst/>
            <a:cxnLst/>
            <a:rect l="l" t="t" r="r" b="b"/>
            <a:pathLst>
              <a:path w="764698" h="1099254">
                <a:moveTo>
                  <a:pt x="0" y="0"/>
                </a:moveTo>
                <a:lnTo>
                  <a:pt x="764698" y="0"/>
                </a:lnTo>
                <a:lnTo>
                  <a:pt x="764698" y="1099254"/>
                </a:lnTo>
                <a:lnTo>
                  <a:pt x="0" y="1099254"/>
                </a:lnTo>
                <a:lnTo>
                  <a:pt x="0" y="0"/>
                </a:lnTo>
                <a:close/>
              </a:path>
            </a:pathLst>
          </a:custGeom>
          <a:blipFill>
            <a:blip r:embed="rId4"/>
            <a:stretch>
              <a:fillRect/>
            </a:stretch>
          </a:blipFill>
        </p:spPr>
        <p:txBody>
          <a:bodyPr/>
          <a:lstStyle/>
          <a:p>
            <a:endParaRPr lang="en-US"/>
          </a:p>
        </p:txBody>
      </p:sp>
      <p:sp>
        <p:nvSpPr>
          <p:cNvPr id="19" name="Freeform 19"/>
          <p:cNvSpPr/>
          <p:nvPr/>
        </p:nvSpPr>
        <p:spPr>
          <a:xfrm>
            <a:off x="10753558" y="5814573"/>
            <a:ext cx="766780" cy="1026306"/>
          </a:xfrm>
          <a:custGeom>
            <a:avLst/>
            <a:gdLst/>
            <a:ahLst/>
            <a:cxnLst/>
            <a:rect l="l" t="t" r="r" b="b"/>
            <a:pathLst>
              <a:path w="766780" h="1026306">
                <a:moveTo>
                  <a:pt x="0" y="0"/>
                </a:moveTo>
                <a:lnTo>
                  <a:pt x="766780" y="0"/>
                </a:lnTo>
                <a:lnTo>
                  <a:pt x="766780" y="1026306"/>
                </a:lnTo>
                <a:lnTo>
                  <a:pt x="0" y="1026306"/>
                </a:lnTo>
                <a:lnTo>
                  <a:pt x="0" y="0"/>
                </a:lnTo>
                <a:close/>
              </a:path>
            </a:pathLst>
          </a:custGeom>
          <a:blipFill>
            <a:blip r:embed="rId5"/>
            <a:stretch>
              <a:fillRect/>
            </a:stretch>
          </a:blipFill>
        </p:spPr>
        <p:txBody>
          <a:bodyPr/>
          <a:lstStyle/>
          <a:p>
            <a:endParaRPr lang="en-US"/>
          </a:p>
        </p:txBody>
      </p:sp>
      <p:sp>
        <p:nvSpPr>
          <p:cNvPr id="20" name="Freeform 20"/>
          <p:cNvSpPr/>
          <p:nvPr/>
        </p:nvSpPr>
        <p:spPr>
          <a:xfrm>
            <a:off x="14455357" y="5849714"/>
            <a:ext cx="862185" cy="935470"/>
          </a:xfrm>
          <a:custGeom>
            <a:avLst/>
            <a:gdLst/>
            <a:ahLst/>
            <a:cxnLst/>
            <a:rect l="l" t="t" r="r" b="b"/>
            <a:pathLst>
              <a:path w="862185" h="935470">
                <a:moveTo>
                  <a:pt x="0" y="0"/>
                </a:moveTo>
                <a:lnTo>
                  <a:pt x="862185" y="0"/>
                </a:lnTo>
                <a:lnTo>
                  <a:pt x="862185" y="935470"/>
                </a:lnTo>
                <a:lnTo>
                  <a:pt x="0" y="935470"/>
                </a:lnTo>
                <a:lnTo>
                  <a:pt x="0" y="0"/>
                </a:lnTo>
                <a:close/>
              </a:path>
            </a:pathLst>
          </a:custGeom>
          <a:blipFill>
            <a:blip r:embed="rId6"/>
            <a:stretch>
              <a:fillRect/>
            </a:stretch>
          </a:blipFill>
        </p:spPr>
        <p:txBody>
          <a:bodyPr/>
          <a:lstStyle/>
          <a:p>
            <a:endParaRPr lang="en-US"/>
          </a:p>
        </p:txBody>
      </p:sp>
      <p:sp>
        <p:nvSpPr>
          <p:cNvPr id="21" name="TextBox 21"/>
          <p:cNvSpPr txBox="1"/>
          <p:nvPr/>
        </p:nvSpPr>
        <p:spPr>
          <a:xfrm>
            <a:off x="1472267" y="3176838"/>
            <a:ext cx="15343465" cy="1032319"/>
          </a:xfrm>
          <a:prstGeom prst="rect">
            <a:avLst/>
          </a:prstGeom>
        </p:spPr>
        <p:txBody>
          <a:bodyPr lIns="0" tIns="0" rIns="0" bIns="0" rtlCol="0" anchor="t">
            <a:spAutoFit/>
          </a:bodyPr>
          <a:lstStyle/>
          <a:p>
            <a:pPr marL="0" lvl="0" indent="0" algn="ctr">
              <a:lnSpc>
                <a:spcPts val="4224"/>
              </a:lnSpc>
            </a:pPr>
            <a:r>
              <a:rPr lang="en-US" sz="2346">
                <a:solidFill>
                  <a:srgbClr val="555555"/>
                </a:solidFill>
                <a:latin typeface="Roboto"/>
                <a:ea typeface="Roboto"/>
                <a:cs typeface="Roboto"/>
                <a:sym typeface="Roboto"/>
              </a:rPr>
              <a:t>Protecting user data is fundamental to our system design. We implement multiple layers of security to ensure data confidentiality, integrity, and user privacy throughout the collection, transmission, and storage processes.</a:t>
            </a:r>
          </a:p>
        </p:txBody>
      </p:sp>
      <p:sp>
        <p:nvSpPr>
          <p:cNvPr id="22" name="TextBox 22"/>
          <p:cNvSpPr txBox="1"/>
          <p:nvPr/>
        </p:nvSpPr>
        <p:spPr>
          <a:xfrm>
            <a:off x="13721028" y="7081627"/>
            <a:ext cx="2384677" cy="1221533"/>
          </a:xfrm>
          <a:prstGeom prst="rect">
            <a:avLst/>
          </a:prstGeom>
        </p:spPr>
        <p:txBody>
          <a:bodyPr lIns="0" tIns="0" rIns="0" bIns="0" rtlCol="0" anchor="t">
            <a:spAutoFit/>
          </a:bodyPr>
          <a:lstStyle/>
          <a:p>
            <a:pPr marL="0" lvl="0" indent="0" algn="ctr">
              <a:lnSpc>
                <a:spcPts val="3312"/>
              </a:lnSpc>
            </a:pPr>
            <a:r>
              <a:rPr lang="en-US" sz="1840" b="1">
                <a:solidFill>
                  <a:srgbClr val="E5E5E5"/>
                </a:solidFill>
                <a:latin typeface="Roboto Bold"/>
                <a:ea typeface="Roboto Bold"/>
                <a:cs typeface="Roboto Bold"/>
                <a:sym typeface="Roboto Bold"/>
              </a:rPr>
              <a:t>Secure API communication with HTTPS and tokens</a:t>
            </a:r>
          </a:p>
        </p:txBody>
      </p:sp>
      <p:sp>
        <p:nvSpPr>
          <p:cNvPr id="23" name="TextBox 23"/>
          <p:cNvSpPr txBox="1"/>
          <p:nvPr/>
        </p:nvSpPr>
        <p:spPr>
          <a:xfrm>
            <a:off x="9910762" y="7081627"/>
            <a:ext cx="2239196" cy="805708"/>
          </a:xfrm>
          <a:prstGeom prst="rect">
            <a:avLst/>
          </a:prstGeom>
        </p:spPr>
        <p:txBody>
          <a:bodyPr lIns="0" tIns="0" rIns="0" bIns="0" rtlCol="0" anchor="t">
            <a:spAutoFit/>
          </a:bodyPr>
          <a:lstStyle/>
          <a:p>
            <a:pPr marL="0" lvl="0" indent="0" algn="ctr">
              <a:lnSpc>
                <a:spcPts val="3312"/>
              </a:lnSpc>
            </a:pPr>
            <a:r>
              <a:rPr lang="en-US" sz="1840" b="1">
                <a:solidFill>
                  <a:srgbClr val="E5E5E5"/>
                </a:solidFill>
                <a:latin typeface="Roboto Bold"/>
                <a:ea typeface="Roboto Bold"/>
                <a:cs typeface="Roboto Bold"/>
                <a:sym typeface="Roboto Bold"/>
              </a:rPr>
              <a:t>Data encryption in transit and at rest</a:t>
            </a:r>
          </a:p>
        </p:txBody>
      </p:sp>
      <p:sp>
        <p:nvSpPr>
          <p:cNvPr id="24" name="TextBox 24"/>
          <p:cNvSpPr txBox="1"/>
          <p:nvPr/>
        </p:nvSpPr>
        <p:spPr>
          <a:xfrm>
            <a:off x="6185154" y="7081627"/>
            <a:ext cx="2101372" cy="1221533"/>
          </a:xfrm>
          <a:prstGeom prst="rect">
            <a:avLst/>
          </a:prstGeom>
        </p:spPr>
        <p:txBody>
          <a:bodyPr lIns="0" tIns="0" rIns="0" bIns="0" rtlCol="0" anchor="t">
            <a:spAutoFit/>
          </a:bodyPr>
          <a:lstStyle/>
          <a:p>
            <a:pPr marL="0" lvl="0" indent="0" algn="ctr">
              <a:lnSpc>
                <a:spcPts val="3312"/>
              </a:lnSpc>
            </a:pPr>
            <a:r>
              <a:rPr lang="en-US" sz="1840" b="1">
                <a:solidFill>
                  <a:srgbClr val="E5E5E5"/>
                </a:solidFill>
                <a:latin typeface="Roboto Bold"/>
                <a:ea typeface="Roboto Bold"/>
                <a:cs typeface="Roboto Bold"/>
                <a:sym typeface="Roboto Bold"/>
              </a:rPr>
              <a:t>Permission-based GPS location access</a:t>
            </a:r>
          </a:p>
        </p:txBody>
      </p:sp>
      <p:sp>
        <p:nvSpPr>
          <p:cNvPr id="25" name="TextBox 25"/>
          <p:cNvSpPr txBox="1"/>
          <p:nvPr/>
        </p:nvSpPr>
        <p:spPr>
          <a:xfrm>
            <a:off x="2326943" y="7097197"/>
            <a:ext cx="2101372" cy="805708"/>
          </a:xfrm>
          <a:prstGeom prst="rect">
            <a:avLst/>
          </a:prstGeom>
        </p:spPr>
        <p:txBody>
          <a:bodyPr lIns="0" tIns="0" rIns="0" bIns="0" rtlCol="0" anchor="t">
            <a:spAutoFit/>
          </a:bodyPr>
          <a:lstStyle/>
          <a:p>
            <a:pPr marL="0" lvl="0" indent="0" algn="ctr">
              <a:lnSpc>
                <a:spcPts val="3312"/>
              </a:lnSpc>
            </a:pPr>
            <a:r>
              <a:rPr lang="en-US" sz="1840" b="1">
                <a:solidFill>
                  <a:srgbClr val="E5E5E5"/>
                </a:solidFill>
                <a:latin typeface="Roboto Bold"/>
                <a:ea typeface="Roboto Bold"/>
                <a:cs typeface="Roboto Bold"/>
                <a:sym typeface="Roboto Bold"/>
              </a:rPr>
              <a:t>Anonymous user IDs protect identity</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E5E5E5"/>
        </a:solidFill>
        <a:effectLst/>
      </p:bgPr>
    </p:bg>
    <p:spTree>
      <p:nvGrpSpPr>
        <p:cNvPr id="1" name=""/>
        <p:cNvGrpSpPr/>
        <p:nvPr/>
      </p:nvGrpSpPr>
      <p:grpSpPr>
        <a:xfrm>
          <a:off x="0" y="0"/>
          <a:ext cx="0" cy="0"/>
          <a:chOff x="0" y="0"/>
          <a:chExt cx="0" cy="0"/>
        </a:xfrm>
      </p:grpSpPr>
      <p:grpSp>
        <p:nvGrpSpPr>
          <p:cNvPr id="2" name="Group 2"/>
          <p:cNvGrpSpPr/>
          <p:nvPr/>
        </p:nvGrpSpPr>
        <p:grpSpPr>
          <a:xfrm rot="-1621114">
            <a:off x="-6849822" y="-1512783"/>
            <a:ext cx="12676189" cy="3497067"/>
            <a:chOff x="0" y="0"/>
            <a:chExt cx="3338585" cy="921038"/>
          </a:xfrm>
        </p:grpSpPr>
        <p:sp>
          <p:nvSpPr>
            <p:cNvPr id="3" name="Freeform 3"/>
            <p:cNvSpPr/>
            <p:nvPr/>
          </p:nvSpPr>
          <p:spPr>
            <a:xfrm>
              <a:off x="0" y="0"/>
              <a:ext cx="3338585" cy="921038"/>
            </a:xfrm>
            <a:custGeom>
              <a:avLst/>
              <a:gdLst/>
              <a:ahLst/>
              <a:cxnLst/>
              <a:rect l="l" t="t" r="r" b="b"/>
              <a:pathLst>
                <a:path w="3338585" h="921038">
                  <a:moveTo>
                    <a:pt x="0" y="0"/>
                  </a:moveTo>
                  <a:lnTo>
                    <a:pt x="3338585" y="0"/>
                  </a:lnTo>
                  <a:lnTo>
                    <a:pt x="3338585" y="921038"/>
                  </a:lnTo>
                  <a:lnTo>
                    <a:pt x="0" y="921038"/>
                  </a:lnTo>
                  <a:close/>
                </a:path>
              </a:pathLst>
            </a:custGeom>
            <a:solidFill>
              <a:srgbClr val="2E7D6B">
                <a:alpha val="87843"/>
              </a:srgbClr>
            </a:solidFill>
          </p:spPr>
          <p:txBody>
            <a:bodyPr/>
            <a:lstStyle/>
            <a:p>
              <a:endParaRPr lang="en-US"/>
            </a:p>
          </p:txBody>
        </p:sp>
        <p:sp>
          <p:nvSpPr>
            <p:cNvPr id="4" name="TextBox 4"/>
            <p:cNvSpPr txBox="1"/>
            <p:nvPr/>
          </p:nvSpPr>
          <p:spPr>
            <a:xfrm>
              <a:off x="0" y="-38100"/>
              <a:ext cx="3338585" cy="959138"/>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5" name="Group 5"/>
          <p:cNvGrpSpPr/>
          <p:nvPr/>
        </p:nvGrpSpPr>
        <p:grpSpPr>
          <a:xfrm rot="5400000">
            <a:off x="7752904" y="1682561"/>
            <a:ext cx="10897491" cy="7532369"/>
            <a:chOff x="0" y="0"/>
            <a:chExt cx="2870121" cy="1983834"/>
          </a:xfrm>
        </p:grpSpPr>
        <p:sp>
          <p:nvSpPr>
            <p:cNvPr id="6" name="Freeform 6"/>
            <p:cNvSpPr/>
            <p:nvPr/>
          </p:nvSpPr>
          <p:spPr>
            <a:xfrm>
              <a:off x="0" y="0"/>
              <a:ext cx="2870121" cy="1983834"/>
            </a:xfrm>
            <a:custGeom>
              <a:avLst/>
              <a:gdLst/>
              <a:ahLst/>
              <a:cxnLst/>
              <a:rect l="l" t="t" r="r" b="b"/>
              <a:pathLst>
                <a:path w="2870121" h="1983834">
                  <a:moveTo>
                    <a:pt x="0" y="0"/>
                  </a:moveTo>
                  <a:lnTo>
                    <a:pt x="2870121" y="0"/>
                  </a:lnTo>
                  <a:lnTo>
                    <a:pt x="2870121" y="1983834"/>
                  </a:lnTo>
                  <a:lnTo>
                    <a:pt x="0" y="1983834"/>
                  </a:lnTo>
                  <a:close/>
                </a:path>
              </a:pathLst>
            </a:custGeom>
            <a:solidFill>
              <a:srgbClr val="2E7D6B">
                <a:alpha val="62745"/>
              </a:srgbClr>
            </a:solidFill>
          </p:spPr>
          <p:txBody>
            <a:bodyPr/>
            <a:lstStyle/>
            <a:p>
              <a:endParaRPr lang="en-US"/>
            </a:p>
          </p:txBody>
        </p:sp>
        <p:sp>
          <p:nvSpPr>
            <p:cNvPr id="7" name="TextBox 7"/>
            <p:cNvSpPr txBox="1"/>
            <p:nvPr/>
          </p:nvSpPr>
          <p:spPr>
            <a:xfrm>
              <a:off x="0" y="-38100"/>
              <a:ext cx="2870121" cy="2021934"/>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8" name="Freeform 8"/>
          <p:cNvSpPr/>
          <p:nvPr/>
        </p:nvSpPr>
        <p:spPr>
          <a:xfrm>
            <a:off x="17259300" y="0"/>
            <a:ext cx="4389589" cy="2402303"/>
          </a:xfrm>
          <a:custGeom>
            <a:avLst/>
            <a:gdLst/>
            <a:ahLst/>
            <a:cxnLst/>
            <a:rect l="l" t="t" r="r" b="b"/>
            <a:pathLst>
              <a:path w="4389589" h="2402303">
                <a:moveTo>
                  <a:pt x="0" y="0"/>
                </a:moveTo>
                <a:lnTo>
                  <a:pt x="4389589" y="0"/>
                </a:lnTo>
                <a:lnTo>
                  <a:pt x="4389589" y="2402303"/>
                </a:lnTo>
                <a:lnTo>
                  <a:pt x="0" y="2402303"/>
                </a:lnTo>
                <a:lnTo>
                  <a:pt x="0" y="0"/>
                </a:lnTo>
                <a:close/>
              </a:path>
            </a:pathLst>
          </a:custGeom>
          <a:blipFill>
            <a:blip>
              <a:alphaModFix amt="64000"/>
              <a:extLst>
                <a:ext uri="{96DAC541-7B7A-43D3-8B79-37D633B846F1}">
                  <asvg:svgBlip xmlns:asvg="http://schemas.microsoft.com/office/drawing/2016/SVG/main" r:embed="rId2"/>
                </a:ext>
              </a:extLst>
            </a:blip>
            <a:stretch>
              <a:fillRect/>
            </a:stretch>
          </a:blipFill>
        </p:spPr>
        <p:txBody>
          <a:bodyPr/>
          <a:lstStyle/>
          <a:p>
            <a:endParaRPr lang="en-US"/>
          </a:p>
        </p:txBody>
      </p:sp>
      <p:sp>
        <p:nvSpPr>
          <p:cNvPr id="9" name="Freeform 9"/>
          <p:cNvSpPr/>
          <p:nvPr/>
        </p:nvSpPr>
        <p:spPr>
          <a:xfrm>
            <a:off x="519098" y="9258300"/>
            <a:ext cx="4389589" cy="2402303"/>
          </a:xfrm>
          <a:custGeom>
            <a:avLst/>
            <a:gdLst/>
            <a:ahLst/>
            <a:cxnLst/>
            <a:rect l="l" t="t" r="r" b="b"/>
            <a:pathLst>
              <a:path w="4389589" h="2402303">
                <a:moveTo>
                  <a:pt x="0" y="0"/>
                </a:moveTo>
                <a:lnTo>
                  <a:pt x="4389589" y="0"/>
                </a:lnTo>
                <a:lnTo>
                  <a:pt x="4389589" y="2402303"/>
                </a:lnTo>
                <a:lnTo>
                  <a:pt x="0" y="2402303"/>
                </a:lnTo>
                <a:lnTo>
                  <a:pt x="0" y="0"/>
                </a:lnTo>
                <a:close/>
              </a:path>
            </a:pathLst>
          </a:custGeom>
          <a:blipFill>
            <a:blip>
              <a:alphaModFix amt="64000"/>
              <a:extLst>
                <a:ext uri="{96DAC541-7B7A-43D3-8B79-37D633B846F1}">
                  <asvg:svgBlip xmlns:asvg="http://schemas.microsoft.com/office/drawing/2016/SVG/main" r:embed="rId2"/>
                </a:ext>
              </a:extLst>
            </a:blip>
            <a:stretch>
              <a:fillRect/>
            </a:stretch>
          </a:blipFill>
        </p:spPr>
        <p:txBody>
          <a:bodyPr/>
          <a:lstStyle/>
          <a:p>
            <a:endParaRPr lang="en-US"/>
          </a:p>
        </p:txBody>
      </p:sp>
      <p:grpSp>
        <p:nvGrpSpPr>
          <p:cNvPr id="10" name="Group 10"/>
          <p:cNvGrpSpPr/>
          <p:nvPr/>
        </p:nvGrpSpPr>
        <p:grpSpPr>
          <a:xfrm>
            <a:off x="9853054" y="-245701"/>
            <a:ext cx="6697193" cy="7573365"/>
            <a:chOff x="0" y="0"/>
            <a:chExt cx="1037570" cy="1173312"/>
          </a:xfrm>
        </p:grpSpPr>
        <p:sp>
          <p:nvSpPr>
            <p:cNvPr id="11" name="Freeform 11"/>
            <p:cNvSpPr/>
            <p:nvPr/>
          </p:nvSpPr>
          <p:spPr>
            <a:xfrm>
              <a:off x="0" y="0"/>
              <a:ext cx="1037570" cy="1173312"/>
            </a:xfrm>
            <a:custGeom>
              <a:avLst/>
              <a:gdLst/>
              <a:ahLst/>
              <a:cxnLst/>
              <a:rect l="l" t="t" r="r" b="b"/>
              <a:pathLst>
                <a:path w="1037570" h="1173312">
                  <a:moveTo>
                    <a:pt x="0" y="0"/>
                  </a:moveTo>
                  <a:lnTo>
                    <a:pt x="1037570" y="0"/>
                  </a:lnTo>
                  <a:lnTo>
                    <a:pt x="1037570" y="1173312"/>
                  </a:lnTo>
                  <a:lnTo>
                    <a:pt x="0" y="1173312"/>
                  </a:lnTo>
                  <a:close/>
                </a:path>
              </a:pathLst>
            </a:custGeom>
            <a:blipFill>
              <a:blip r:embed="rId3"/>
              <a:stretch>
                <a:fillRect t="-4671" b="-4671"/>
              </a:stretch>
            </a:blipFill>
          </p:spPr>
          <p:txBody>
            <a:bodyPr/>
            <a:lstStyle/>
            <a:p>
              <a:endParaRPr lang="en-US"/>
            </a:p>
          </p:txBody>
        </p:sp>
      </p:grpSp>
      <p:sp>
        <p:nvSpPr>
          <p:cNvPr id="12" name="TextBox 12"/>
          <p:cNvSpPr txBox="1"/>
          <p:nvPr/>
        </p:nvSpPr>
        <p:spPr>
          <a:xfrm>
            <a:off x="1358265" y="1230012"/>
            <a:ext cx="8115300" cy="1172291"/>
          </a:xfrm>
          <a:prstGeom prst="rect">
            <a:avLst/>
          </a:prstGeom>
        </p:spPr>
        <p:txBody>
          <a:bodyPr lIns="0" tIns="0" rIns="0" bIns="0" rtlCol="0" anchor="t">
            <a:spAutoFit/>
          </a:bodyPr>
          <a:lstStyle/>
          <a:p>
            <a:pPr marL="0" lvl="0" indent="0" algn="l">
              <a:lnSpc>
                <a:spcPts val="9519"/>
              </a:lnSpc>
              <a:spcBef>
                <a:spcPct val="0"/>
              </a:spcBef>
            </a:pPr>
            <a:r>
              <a:rPr lang="en-US" sz="6799" b="1" dirty="0">
                <a:solidFill>
                  <a:srgbClr val="1F5A4E"/>
                </a:solidFill>
                <a:latin typeface="Roboto Bold"/>
                <a:ea typeface="Roboto Bold"/>
                <a:cs typeface="Roboto Bold"/>
                <a:sym typeface="Roboto Bold"/>
              </a:rPr>
              <a:t>Heatmap &amp; Analytics</a:t>
            </a:r>
          </a:p>
        </p:txBody>
      </p:sp>
      <p:sp>
        <p:nvSpPr>
          <p:cNvPr id="13" name="TextBox 13"/>
          <p:cNvSpPr txBox="1"/>
          <p:nvPr/>
        </p:nvSpPr>
        <p:spPr>
          <a:xfrm>
            <a:off x="1320165" y="3770337"/>
            <a:ext cx="7571941" cy="4764302"/>
          </a:xfrm>
          <a:prstGeom prst="rect">
            <a:avLst/>
          </a:prstGeom>
        </p:spPr>
        <p:txBody>
          <a:bodyPr lIns="0" tIns="0" rIns="0" bIns="0" rtlCol="0" anchor="t">
            <a:spAutoFit/>
          </a:bodyPr>
          <a:lstStyle/>
          <a:p>
            <a:pPr marL="0" lvl="0" indent="0" algn="just">
              <a:lnSpc>
                <a:spcPts val="3800"/>
              </a:lnSpc>
            </a:pPr>
            <a:r>
              <a:rPr lang="en-US" sz="2111">
                <a:solidFill>
                  <a:srgbClr val="555555"/>
                </a:solidFill>
                <a:latin typeface="Roboto"/>
                <a:ea typeface="Roboto"/>
                <a:cs typeface="Roboto"/>
                <a:sym typeface="Roboto"/>
              </a:rPr>
              <a:t>The system aggregates network quality metrics into regional tiles for comprehensive visualization. Dynamic heatmaps display signal quality and user feedback across geographic areas, enabling identification of coverage patterns and problem zones.</a:t>
            </a:r>
          </a:p>
          <a:p>
            <a:pPr marL="0" lvl="0" indent="0" algn="just">
              <a:lnSpc>
                <a:spcPts val="3800"/>
              </a:lnSpc>
            </a:pPr>
            <a:r>
              <a:rPr lang="en-US" sz="2111">
                <a:solidFill>
                  <a:srgbClr val="555555"/>
                </a:solidFill>
                <a:latin typeface="Roboto"/>
                <a:ea typeface="Roboto"/>
                <a:cs typeface="Roboto"/>
                <a:sym typeface="Roboto"/>
              </a:rPr>
              <a:t>Advanced filtering capabilities allow analysis by mobile operator and time period, supporting trend identification and comparative studies. The analytics dashboard presents color-coded maps and statistical summaries for actionable telecom insights.</a:t>
            </a:r>
          </a:p>
        </p:txBody>
      </p:sp>
      <p:sp>
        <p:nvSpPr>
          <p:cNvPr id="14" name="TextBox 14"/>
          <p:cNvSpPr txBox="1"/>
          <p:nvPr/>
        </p:nvSpPr>
        <p:spPr>
          <a:xfrm>
            <a:off x="10203040" y="7554145"/>
            <a:ext cx="5997221" cy="2155667"/>
          </a:xfrm>
          <a:prstGeom prst="rect">
            <a:avLst/>
          </a:prstGeom>
        </p:spPr>
        <p:txBody>
          <a:bodyPr lIns="0" tIns="0" rIns="0" bIns="0" rtlCol="0" anchor="t">
            <a:spAutoFit/>
          </a:bodyPr>
          <a:lstStyle/>
          <a:p>
            <a:pPr marL="0" lvl="0" indent="0" algn="ctr">
              <a:lnSpc>
                <a:spcPts val="5778"/>
              </a:lnSpc>
            </a:pPr>
            <a:r>
              <a:rPr lang="en-US" sz="3210" b="1">
                <a:solidFill>
                  <a:srgbClr val="E5E5E5"/>
                </a:solidFill>
                <a:latin typeface="Roboto Bold"/>
                <a:ea typeface="Roboto Bold"/>
                <a:cs typeface="Roboto Bold"/>
                <a:sym typeface="Roboto Bold"/>
              </a:rPr>
              <a:t>Dynamic heatmaps visualize network quality through color-coded regional tiles</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E5E5E5"/>
        </a:solidFill>
        <a:effectLst/>
      </p:bgPr>
    </p:bg>
    <p:spTree>
      <p:nvGrpSpPr>
        <p:cNvPr id="1" name=""/>
        <p:cNvGrpSpPr/>
        <p:nvPr/>
      </p:nvGrpSpPr>
      <p:grpSpPr>
        <a:xfrm>
          <a:off x="0" y="0"/>
          <a:ext cx="0" cy="0"/>
          <a:chOff x="0" y="0"/>
          <a:chExt cx="0" cy="0"/>
        </a:xfrm>
      </p:grpSpPr>
      <p:sp>
        <p:nvSpPr>
          <p:cNvPr id="2" name="TextBox 2"/>
          <p:cNvSpPr txBox="1"/>
          <p:nvPr/>
        </p:nvSpPr>
        <p:spPr>
          <a:xfrm>
            <a:off x="783154" y="1317178"/>
            <a:ext cx="16721692" cy="1393080"/>
          </a:xfrm>
          <a:prstGeom prst="rect">
            <a:avLst/>
          </a:prstGeom>
        </p:spPr>
        <p:txBody>
          <a:bodyPr lIns="0" tIns="0" rIns="0" bIns="0" rtlCol="0" anchor="t">
            <a:spAutoFit/>
          </a:bodyPr>
          <a:lstStyle/>
          <a:p>
            <a:pPr marL="0" lvl="0" indent="0" algn="ctr">
              <a:lnSpc>
                <a:spcPts val="11346"/>
              </a:lnSpc>
              <a:spcBef>
                <a:spcPct val="0"/>
              </a:spcBef>
            </a:pPr>
            <a:r>
              <a:rPr lang="en-US" sz="8104" b="1" dirty="0">
                <a:solidFill>
                  <a:srgbClr val="1F5A4E"/>
                </a:solidFill>
                <a:latin typeface="Roboto Bold"/>
                <a:ea typeface="Roboto Bold"/>
                <a:cs typeface="Roboto Bold"/>
                <a:sym typeface="Roboto Bold"/>
              </a:rPr>
              <a:t>Benefits of the System</a:t>
            </a:r>
          </a:p>
        </p:txBody>
      </p:sp>
      <p:sp>
        <p:nvSpPr>
          <p:cNvPr id="3" name="Freeform 3"/>
          <p:cNvSpPr/>
          <p:nvPr/>
        </p:nvSpPr>
        <p:spPr>
          <a:xfrm rot="-5400000">
            <a:off x="-2367246" y="700906"/>
            <a:ext cx="4389589" cy="2402303"/>
          </a:xfrm>
          <a:custGeom>
            <a:avLst/>
            <a:gdLst/>
            <a:ahLst/>
            <a:cxnLst/>
            <a:rect l="l" t="t" r="r" b="b"/>
            <a:pathLst>
              <a:path w="4389589" h="2402303">
                <a:moveTo>
                  <a:pt x="0" y="0"/>
                </a:moveTo>
                <a:lnTo>
                  <a:pt x="4389589" y="0"/>
                </a:lnTo>
                <a:lnTo>
                  <a:pt x="4389589" y="2402302"/>
                </a:lnTo>
                <a:lnTo>
                  <a:pt x="0" y="2402302"/>
                </a:lnTo>
                <a:lnTo>
                  <a:pt x="0" y="0"/>
                </a:lnTo>
                <a:close/>
              </a:path>
            </a:pathLst>
          </a:custGeom>
          <a:blipFill>
            <a:blip>
              <a:alphaModFix amt="64000"/>
              <a:extLst>
                <a:ext uri="{96DAC541-7B7A-43D3-8B79-37D633B846F1}">
                  <asvg:svgBlip xmlns:asvg="http://schemas.microsoft.com/office/drawing/2016/SVG/main" r:embed="rId2"/>
                </a:ext>
              </a:extLst>
            </a:blip>
            <a:stretch>
              <a:fillRect/>
            </a:stretch>
          </a:blipFill>
        </p:spPr>
        <p:txBody>
          <a:bodyPr/>
          <a:lstStyle/>
          <a:p>
            <a:endParaRPr lang="en-US"/>
          </a:p>
        </p:txBody>
      </p:sp>
      <p:grpSp>
        <p:nvGrpSpPr>
          <p:cNvPr id="4" name="Group 4"/>
          <p:cNvGrpSpPr/>
          <p:nvPr/>
        </p:nvGrpSpPr>
        <p:grpSpPr>
          <a:xfrm>
            <a:off x="1845796" y="5527877"/>
            <a:ext cx="3086100" cy="3367240"/>
            <a:chOff x="0" y="0"/>
            <a:chExt cx="812800" cy="886845"/>
          </a:xfrm>
        </p:grpSpPr>
        <p:sp>
          <p:nvSpPr>
            <p:cNvPr id="5" name="Freeform 5"/>
            <p:cNvSpPr/>
            <p:nvPr/>
          </p:nvSpPr>
          <p:spPr>
            <a:xfrm>
              <a:off x="0" y="0"/>
              <a:ext cx="812800" cy="886845"/>
            </a:xfrm>
            <a:custGeom>
              <a:avLst/>
              <a:gdLst/>
              <a:ahLst/>
              <a:cxnLst/>
              <a:rect l="l" t="t" r="r" b="b"/>
              <a:pathLst>
                <a:path w="812800" h="886845">
                  <a:moveTo>
                    <a:pt x="127941" y="0"/>
                  </a:moveTo>
                  <a:lnTo>
                    <a:pt x="684859" y="0"/>
                  </a:lnTo>
                  <a:cubicBezTo>
                    <a:pt x="718791" y="0"/>
                    <a:pt x="751333" y="13479"/>
                    <a:pt x="775327" y="37473"/>
                  </a:cubicBezTo>
                  <a:cubicBezTo>
                    <a:pt x="799321" y="61467"/>
                    <a:pt x="812800" y="94009"/>
                    <a:pt x="812800" y="127941"/>
                  </a:cubicBezTo>
                  <a:lnTo>
                    <a:pt x="812800" y="758904"/>
                  </a:lnTo>
                  <a:cubicBezTo>
                    <a:pt x="812800" y="792836"/>
                    <a:pt x="799321" y="825379"/>
                    <a:pt x="775327" y="849372"/>
                  </a:cubicBezTo>
                  <a:cubicBezTo>
                    <a:pt x="751333" y="873366"/>
                    <a:pt x="718791" y="886845"/>
                    <a:pt x="684859" y="886845"/>
                  </a:cubicBezTo>
                  <a:lnTo>
                    <a:pt x="127941" y="886845"/>
                  </a:lnTo>
                  <a:cubicBezTo>
                    <a:pt x="94009" y="886845"/>
                    <a:pt x="61467" y="873366"/>
                    <a:pt x="37473" y="849372"/>
                  </a:cubicBezTo>
                  <a:cubicBezTo>
                    <a:pt x="13479" y="825379"/>
                    <a:pt x="0" y="792836"/>
                    <a:pt x="0" y="758904"/>
                  </a:cubicBezTo>
                  <a:lnTo>
                    <a:pt x="0" y="127941"/>
                  </a:lnTo>
                  <a:cubicBezTo>
                    <a:pt x="0" y="94009"/>
                    <a:pt x="13479" y="61467"/>
                    <a:pt x="37473" y="37473"/>
                  </a:cubicBezTo>
                  <a:cubicBezTo>
                    <a:pt x="61467" y="13479"/>
                    <a:pt x="94009" y="0"/>
                    <a:pt x="127941" y="0"/>
                  </a:cubicBezTo>
                  <a:close/>
                </a:path>
              </a:pathLst>
            </a:custGeom>
            <a:solidFill>
              <a:srgbClr val="2E7D6B">
                <a:alpha val="75686"/>
              </a:srgbClr>
            </a:solidFill>
          </p:spPr>
          <p:txBody>
            <a:bodyPr/>
            <a:lstStyle/>
            <a:p>
              <a:endParaRPr lang="en-US"/>
            </a:p>
          </p:txBody>
        </p:sp>
        <p:sp>
          <p:nvSpPr>
            <p:cNvPr id="6" name="TextBox 6"/>
            <p:cNvSpPr txBox="1"/>
            <p:nvPr/>
          </p:nvSpPr>
          <p:spPr>
            <a:xfrm>
              <a:off x="0" y="-38100"/>
              <a:ext cx="812800" cy="924945"/>
            </a:xfrm>
            <a:prstGeom prst="rect">
              <a:avLst/>
            </a:prstGeom>
          </p:spPr>
          <p:txBody>
            <a:bodyPr lIns="50800" tIns="50800" rIns="50800" bIns="50800" rtlCol="0" anchor="ctr"/>
            <a:lstStyle/>
            <a:p>
              <a:pPr marL="0" lvl="0" indent="0" algn="ctr">
                <a:lnSpc>
                  <a:spcPts val="2659"/>
                </a:lnSpc>
              </a:pPr>
              <a:endParaRPr/>
            </a:p>
          </p:txBody>
        </p:sp>
      </p:grpSp>
      <p:sp>
        <p:nvSpPr>
          <p:cNvPr id="7" name="Freeform 7"/>
          <p:cNvSpPr/>
          <p:nvPr/>
        </p:nvSpPr>
        <p:spPr>
          <a:xfrm rot="-10800000">
            <a:off x="13898411" y="9258300"/>
            <a:ext cx="4389589" cy="2402303"/>
          </a:xfrm>
          <a:custGeom>
            <a:avLst/>
            <a:gdLst/>
            <a:ahLst/>
            <a:cxnLst/>
            <a:rect l="l" t="t" r="r" b="b"/>
            <a:pathLst>
              <a:path w="4389589" h="2402303">
                <a:moveTo>
                  <a:pt x="0" y="0"/>
                </a:moveTo>
                <a:lnTo>
                  <a:pt x="4389589" y="0"/>
                </a:lnTo>
                <a:lnTo>
                  <a:pt x="4389589" y="2402303"/>
                </a:lnTo>
                <a:lnTo>
                  <a:pt x="0" y="2402303"/>
                </a:lnTo>
                <a:lnTo>
                  <a:pt x="0" y="0"/>
                </a:lnTo>
                <a:close/>
              </a:path>
            </a:pathLst>
          </a:custGeom>
          <a:blipFill>
            <a:blip>
              <a:alphaModFix amt="64000"/>
              <a:extLst>
                <a:ext uri="{96DAC541-7B7A-43D3-8B79-37D633B846F1}">
                  <asvg:svgBlip xmlns:asvg="http://schemas.microsoft.com/office/drawing/2016/SVG/main" r:embed="rId2"/>
                </a:ext>
              </a:extLst>
            </a:blip>
            <a:stretch>
              <a:fillRect/>
            </a:stretch>
          </a:blipFill>
        </p:spPr>
        <p:txBody>
          <a:bodyPr/>
          <a:lstStyle/>
          <a:p>
            <a:endParaRPr lang="en-US"/>
          </a:p>
        </p:txBody>
      </p:sp>
      <p:grpSp>
        <p:nvGrpSpPr>
          <p:cNvPr id="8" name="Group 8"/>
          <p:cNvGrpSpPr/>
          <p:nvPr/>
        </p:nvGrpSpPr>
        <p:grpSpPr>
          <a:xfrm>
            <a:off x="5681663" y="5527877"/>
            <a:ext cx="3086100" cy="3367240"/>
            <a:chOff x="0" y="0"/>
            <a:chExt cx="812800" cy="886845"/>
          </a:xfrm>
        </p:grpSpPr>
        <p:sp>
          <p:nvSpPr>
            <p:cNvPr id="9" name="Freeform 9"/>
            <p:cNvSpPr/>
            <p:nvPr/>
          </p:nvSpPr>
          <p:spPr>
            <a:xfrm>
              <a:off x="0" y="0"/>
              <a:ext cx="812800" cy="886845"/>
            </a:xfrm>
            <a:custGeom>
              <a:avLst/>
              <a:gdLst/>
              <a:ahLst/>
              <a:cxnLst/>
              <a:rect l="l" t="t" r="r" b="b"/>
              <a:pathLst>
                <a:path w="812800" h="886845">
                  <a:moveTo>
                    <a:pt x="127941" y="0"/>
                  </a:moveTo>
                  <a:lnTo>
                    <a:pt x="684859" y="0"/>
                  </a:lnTo>
                  <a:cubicBezTo>
                    <a:pt x="718791" y="0"/>
                    <a:pt x="751333" y="13479"/>
                    <a:pt x="775327" y="37473"/>
                  </a:cubicBezTo>
                  <a:cubicBezTo>
                    <a:pt x="799321" y="61467"/>
                    <a:pt x="812800" y="94009"/>
                    <a:pt x="812800" y="127941"/>
                  </a:cubicBezTo>
                  <a:lnTo>
                    <a:pt x="812800" y="758904"/>
                  </a:lnTo>
                  <a:cubicBezTo>
                    <a:pt x="812800" y="792836"/>
                    <a:pt x="799321" y="825379"/>
                    <a:pt x="775327" y="849372"/>
                  </a:cubicBezTo>
                  <a:cubicBezTo>
                    <a:pt x="751333" y="873366"/>
                    <a:pt x="718791" y="886845"/>
                    <a:pt x="684859" y="886845"/>
                  </a:cubicBezTo>
                  <a:lnTo>
                    <a:pt x="127941" y="886845"/>
                  </a:lnTo>
                  <a:cubicBezTo>
                    <a:pt x="94009" y="886845"/>
                    <a:pt x="61467" y="873366"/>
                    <a:pt x="37473" y="849372"/>
                  </a:cubicBezTo>
                  <a:cubicBezTo>
                    <a:pt x="13479" y="825379"/>
                    <a:pt x="0" y="792836"/>
                    <a:pt x="0" y="758904"/>
                  </a:cubicBezTo>
                  <a:lnTo>
                    <a:pt x="0" y="127941"/>
                  </a:lnTo>
                  <a:cubicBezTo>
                    <a:pt x="0" y="94009"/>
                    <a:pt x="13479" y="61467"/>
                    <a:pt x="37473" y="37473"/>
                  </a:cubicBezTo>
                  <a:cubicBezTo>
                    <a:pt x="61467" y="13479"/>
                    <a:pt x="94009" y="0"/>
                    <a:pt x="127941" y="0"/>
                  </a:cubicBezTo>
                  <a:close/>
                </a:path>
              </a:pathLst>
            </a:custGeom>
            <a:solidFill>
              <a:srgbClr val="2E7D6B">
                <a:alpha val="75686"/>
              </a:srgbClr>
            </a:solidFill>
          </p:spPr>
          <p:txBody>
            <a:bodyPr/>
            <a:lstStyle/>
            <a:p>
              <a:endParaRPr lang="en-US"/>
            </a:p>
          </p:txBody>
        </p:sp>
        <p:sp>
          <p:nvSpPr>
            <p:cNvPr id="10" name="TextBox 10"/>
            <p:cNvSpPr txBox="1"/>
            <p:nvPr/>
          </p:nvSpPr>
          <p:spPr>
            <a:xfrm>
              <a:off x="0" y="-38100"/>
              <a:ext cx="812800" cy="924945"/>
            </a:xfrm>
            <a:prstGeom prst="rect">
              <a:avLst/>
            </a:prstGeom>
          </p:spPr>
          <p:txBody>
            <a:bodyPr lIns="50800" tIns="50800" rIns="50800" bIns="50800" rtlCol="0" anchor="ctr"/>
            <a:lstStyle/>
            <a:p>
              <a:pPr marL="0" lvl="0" indent="0" algn="ctr">
                <a:lnSpc>
                  <a:spcPts val="2659"/>
                </a:lnSpc>
              </a:pPr>
              <a:endParaRPr/>
            </a:p>
          </p:txBody>
        </p:sp>
      </p:grpSp>
      <p:grpSp>
        <p:nvGrpSpPr>
          <p:cNvPr id="11" name="Group 11"/>
          <p:cNvGrpSpPr/>
          <p:nvPr/>
        </p:nvGrpSpPr>
        <p:grpSpPr>
          <a:xfrm>
            <a:off x="9517529" y="5527877"/>
            <a:ext cx="3086100" cy="3367240"/>
            <a:chOff x="0" y="0"/>
            <a:chExt cx="812800" cy="886845"/>
          </a:xfrm>
        </p:grpSpPr>
        <p:sp>
          <p:nvSpPr>
            <p:cNvPr id="12" name="Freeform 12"/>
            <p:cNvSpPr/>
            <p:nvPr/>
          </p:nvSpPr>
          <p:spPr>
            <a:xfrm>
              <a:off x="0" y="0"/>
              <a:ext cx="812800" cy="886845"/>
            </a:xfrm>
            <a:custGeom>
              <a:avLst/>
              <a:gdLst/>
              <a:ahLst/>
              <a:cxnLst/>
              <a:rect l="l" t="t" r="r" b="b"/>
              <a:pathLst>
                <a:path w="812800" h="886845">
                  <a:moveTo>
                    <a:pt x="127941" y="0"/>
                  </a:moveTo>
                  <a:lnTo>
                    <a:pt x="684859" y="0"/>
                  </a:lnTo>
                  <a:cubicBezTo>
                    <a:pt x="718791" y="0"/>
                    <a:pt x="751333" y="13479"/>
                    <a:pt x="775327" y="37473"/>
                  </a:cubicBezTo>
                  <a:cubicBezTo>
                    <a:pt x="799321" y="61467"/>
                    <a:pt x="812800" y="94009"/>
                    <a:pt x="812800" y="127941"/>
                  </a:cubicBezTo>
                  <a:lnTo>
                    <a:pt x="812800" y="758904"/>
                  </a:lnTo>
                  <a:cubicBezTo>
                    <a:pt x="812800" y="792836"/>
                    <a:pt x="799321" y="825379"/>
                    <a:pt x="775327" y="849372"/>
                  </a:cubicBezTo>
                  <a:cubicBezTo>
                    <a:pt x="751333" y="873366"/>
                    <a:pt x="718791" y="886845"/>
                    <a:pt x="684859" y="886845"/>
                  </a:cubicBezTo>
                  <a:lnTo>
                    <a:pt x="127941" y="886845"/>
                  </a:lnTo>
                  <a:cubicBezTo>
                    <a:pt x="94009" y="886845"/>
                    <a:pt x="61467" y="873366"/>
                    <a:pt x="37473" y="849372"/>
                  </a:cubicBezTo>
                  <a:cubicBezTo>
                    <a:pt x="13479" y="825379"/>
                    <a:pt x="0" y="792836"/>
                    <a:pt x="0" y="758904"/>
                  </a:cubicBezTo>
                  <a:lnTo>
                    <a:pt x="0" y="127941"/>
                  </a:lnTo>
                  <a:cubicBezTo>
                    <a:pt x="0" y="94009"/>
                    <a:pt x="13479" y="61467"/>
                    <a:pt x="37473" y="37473"/>
                  </a:cubicBezTo>
                  <a:cubicBezTo>
                    <a:pt x="61467" y="13479"/>
                    <a:pt x="94009" y="0"/>
                    <a:pt x="127941" y="0"/>
                  </a:cubicBezTo>
                  <a:close/>
                </a:path>
              </a:pathLst>
            </a:custGeom>
            <a:solidFill>
              <a:srgbClr val="2E7D6B">
                <a:alpha val="75686"/>
              </a:srgbClr>
            </a:solidFill>
          </p:spPr>
          <p:txBody>
            <a:bodyPr/>
            <a:lstStyle/>
            <a:p>
              <a:endParaRPr lang="en-US"/>
            </a:p>
          </p:txBody>
        </p:sp>
        <p:sp>
          <p:nvSpPr>
            <p:cNvPr id="13" name="TextBox 13"/>
            <p:cNvSpPr txBox="1"/>
            <p:nvPr/>
          </p:nvSpPr>
          <p:spPr>
            <a:xfrm>
              <a:off x="0" y="-38100"/>
              <a:ext cx="812800" cy="924945"/>
            </a:xfrm>
            <a:prstGeom prst="rect">
              <a:avLst/>
            </a:prstGeom>
          </p:spPr>
          <p:txBody>
            <a:bodyPr lIns="50800" tIns="50800" rIns="50800" bIns="50800" rtlCol="0" anchor="ctr"/>
            <a:lstStyle/>
            <a:p>
              <a:pPr marL="0" lvl="0" indent="0" algn="ctr">
                <a:lnSpc>
                  <a:spcPts val="2659"/>
                </a:lnSpc>
              </a:pPr>
              <a:endParaRPr/>
            </a:p>
          </p:txBody>
        </p:sp>
      </p:grpSp>
      <p:grpSp>
        <p:nvGrpSpPr>
          <p:cNvPr id="14" name="Group 14"/>
          <p:cNvGrpSpPr/>
          <p:nvPr/>
        </p:nvGrpSpPr>
        <p:grpSpPr>
          <a:xfrm>
            <a:off x="13356104" y="5527877"/>
            <a:ext cx="3086100" cy="3367240"/>
            <a:chOff x="0" y="0"/>
            <a:chExt cx="812800" cy="886845"/>
          </a:xfrm>
        </p:grpSpPr>
        <p:sp>
          <p:nvSpPr>
            <p:cNvPr id="15" name="Freeform 15"/>
            <p:cNvSpPr/>
            <p:nvPr/>
          </p:nvSpPr>
          <p:spPr>
            <a:xfrm>
              <a:off x="0" y="0"/>
              <a:ext cx="812800" cy="886845"/>
            </a:xfrm>
            <a:custGeom>
              <a:avLst/>
              <a:gdLst/>
              <a:ahLst/>
              <a:cxnLst/>
              <a:rect l="l" t="t" r="r" b="b"/>
              <a:pathLst>
                <a:path w="812800" h="886845">
                  <a:moveTo>
                    <a:pt x="127941" y="0"/>
                  </a:moveTo>
                  <a:lnTo>
                    <a:pt x="684859" y="0"/>
                  </a:lnTo>
                  <a:cubicBezTo>
                    <a:pt x="718791" y="0"/>
                    <a:pt x="751333" y="13479"/>
                    <a:pt x="775327" y="37473"/>
                  </a:cubicBezTo>
                  <a:cubicBezTo>
                    <a:pt x="799321" y="61467"/>
                    <a:pt x="812800" y="94009"/>
                    <a:pt x="812800" y="127941"/>
                  </a:cubicBezTo>
                  <a:lnTo>
                    <a:pt x="812800" y="758904"/>
                  </a:lnTo>
                  <a:cubicBezTo>
                    <a:pt x="812800" y="792836"/>
                    <a:pt x="799321" y="825379"/>
                    <a:pt x="775327" y="849372"/>
                  </a:cubicBezTo>
                  <a:cubicBezTo>
                    <a:pt x="751333" y="873366"/>
                    <a:pt x="718791" y="886845"/>
                    <a:pt x="684859" y="886845"/>
                  </a:cubicBezTo>
                  <a:lnTo>
                    <a:pt x="127941" y="886845"/>
                  </a:lnTo>
                  <a:cubicBezTo>
                    <a:pt x="94009" y="886845"/>
                    <a:pt x="61467" y="873366"/>
                    <a:pt x="37473" y="849372"/>
                  </a:cubicBezTo>
                  <a:cubicBezTo>
                    <a:pt x="13479" y="825379"/>
                    <a:pt x="0" y="792836"/>
                    <a:pt x="0" y="758904"/>
                  </a:cubicBezTo>
                  <a:lnTo>
                    <a:pt x="0" y="127941"/>
                  </a:lnTo>
                  <a:cubicBezTo>
                    <a:pt x="0" y="94009"/>
                    <a:pt x="13479" y="61467"/>
                    <a:pt x="37473" y="37473"/>
                  </a:cubicBezTo>
                  <a:cubicBezTo>
                    <a:pt x="61467" y="13479"/>
                    <a:pt x="94009" y="0"/>
                    <a:pt x="127941" y="0"/>
                  </a:cubicBezTo>
                  <a:close/>
                </a:path>
              </a:pathLst>
            </a:custGeom>
            <a:solidFill>
              <a:srgbClr val="2E7D6B">
                <a:alpha val="75686"/>
              </a:srgbClr>
            </a:solidFill>
          </p:spPr>
          <p:txBody>
            <a:bodyPr/>
            <a:lstStyle/>
            <a:p>
              <a:endParaRPr lang="en-US"/>
            </a:p>
          </p:txBody>
        </p:sp>
        <p:sp>
          <p:nvSpPr>
            <p:cNvPr id="16" name="TextBox 16"/>
            <p:cNvSpPr txBox="1"/>
            <p:nvPr/>
          </p:nvSpPr>
          <p:spPr>
            <a:xfrm>
              <a:off x="0" y="-38100"/>
              <a:ext cx="812800" cy="924945"/>
            </a:xfrm>
            <a:prstGeom prst="rect">
              <a:avLst/>
            </a:prstGeom>
          </p:spPr>
          <p:txBody>
            <a:bodyPr lIns="50800" tIns="50800" rIns="50800" bIns="50800" rtlCol="0" anchor="ctr"/>
            <a:lstStyle/>
            <a:p>
              <a:pPr marL="0" lvl="0" indent="0" algn="ctr">
                <a:lnSpc>
                  <a:spcPts val="2659"/>
                </a:lnSpc>
              </a:pPr>
              <a:endParaRPr/>
            </a:p>
          </p:txBody>
        </p:sp>
      </p:grpSp>
      <p:sp>
        <p:nvSpPr>
          <p:cNvPr id="17" name="Freeform 17"/>
          <p:cNvSpPr/>
          <p:nvPr/>
        </p:nvSpPr>
        <p:spPr>
          <a:xfrm>
            <a:off x="2918190" y="5996068"/>
            <a:ext cx="1057425" cy="811654"/>
          </a:xfrm>
          <a:custGeom>
            <a:avLst/>
            <a:gdLst/>
            <a:ahLst/>
            <a:cxnLst/>
            <a:rect l="l" t="t" r="r" b="b"/>
            <a:pathLst>
              <a:path w="1057425" h="811654">
                <a:moveTo>
                  <a:pt x="0" y="0"/>
                </a:moveTo>
                <a:lnTo>
                  <a:pt x="1057425" y="0"/>
                </a:lnTo>
                <a:lnTo>
                  <a:pt x="1057425" y="811653"/>
                </a:lnTo>
                <a:lnTo>
                  <a:pt x="0" y="811653"/>
                </a:lnTo>
                <a:lnTo>
                  <a:pt x="0" y="0"/>
                </a:lnTo>
                <a:close/>
              </a:path>
            </a:pathLst>
          </a:custGeom>
          <a:blipFill>
            <a:blip r:embed="rId3"/>
            <a:stretch>
              <a:fillRect/>
            </a:stretch>
          </a:blipFill>
        </p:spPr>
        <p:txBody>
          <a:bodyPr/>
          <a:lstStyle/>
          <a:p>
            <a:endParaRPr lang="en-US"/>
          </a:p>
        </p:txBody>
      </p:sp>
      <p:sp>
        <p:nvSpPr>
          <p:cNvPr id="18" name="Freeform 18"/>
          <p:cNvSpPr/>
          <p:nvPr/>
        </p:nvSpPr>
        <p:spPr>
          <a:xfrm>
            <a:off x="6830579" y="6043150"/>
            <a:ext cx="830147" cy="713567"/>
          </a:xfrm>
          <a:custGeom>
            <a:avLst/>
            <a:gdLst/>
            <a:ahLst/>
            <a:cxnLst/>
            <a:rect l="l" t="t" r="r" b="b"/>
            <a:pathLst>
              <a:path w="830147" h="713567">
                <a:moveTo>
                  <a:pt x="0" y="0"/>
                </a:moveTo>
                <a:lnTo>
                  <a:pt x="830147" y="0"/>
                </a:lnTo>
                <a:lnTo>
                  <a:pt x="830147" y="713567"/>
                </a:lnTo>
                <a:lnTo>
                  <a:pt x="0" y="713567"/>
                </a:lnTo>
                <a:lnTo>
                  <a:pt x="0" y="0"/>
                </a:lnTo>
                <a:close/>
              </a:path>
            </a:pathLst>
          </a:custGeom>
          <a:blipFill>
            <a:blip r:embed="rId4"/>
            <a:stretch>
              <a:fillRect/>
            </a:stretch>
          </a:blipFill>
        </p:spPr>
        <p:txBody>
          <a:bodyPr/>
          <a:lstStyle/>
          <a:p>
            <a:endParaRPr lang="en-US"/>
          </a:p>
        </p:txBody>
      </p:sp>
      <p:sp>
        <p:nvSpPr>
          <p:cNvPr id="19" name="Freeform 19"/>
          <p:cNvSpPr/>
          <p:nvPr/>
        </p:nvSpPr>
        <p:spPr>
          <a:xfrm>
            <a:off x="10684895" y="5933831"/>
            <a:ext cx="914216" cy="921124"/>
          </a:xfrm>
          <a:custGeom>
            <a:avLst/>
            <a:gdLst/>
            <a:ahLst/>
            <a:cxnLst/>
            <a:rect l="l" t="t" r="r" b="b"/>
            <a:pathLst>
              <a:path w="914216" h="921124">
                <a:moveTo>
                  <a:pt x="0" y="0"/>
                </a:moveTo>
                <a:lnTo>
                  <a:pt x="914216" y="0"/>
                </a:lnTo>
                <a:lnTo>
                  <a:pt x="914216" y="921125"/>
                </a:lnTo>
                <a:lnTo>
                  <a:pt x="0" y="921125"/>
                </a:lnTo>
                <a:lnTo>
                  <a:pt x="0" y="0"/>
                </a:lnTo>
                <a:close/>
              </a:path>
            </a:pathLst>
          </a:custGeom>
          <a:blipFill>
            <a:blip r:embed="rId5"/>
            <a:stretch>
              <a:fillRect/>
            </a:stretch>
          </a:blipFill>
        </p:spPr>
        <p:txBody>
          <a:bodyPr/>
          <a:lstStyle/>
          <a:p>
            <a:endParaRPr lang="en-US"/>
          </a:p>
        </p:txBody>
      </p:sp>
      <p:sp>
        <p:nvSpPr>
          <p:cNvPr id="20" name="Freeform 20"/>
          <p:cNvSpPr/>
          <p:nvPr/>
        </p:nvSpPr>
        <p:spPr>
          <a:xfrm>
            <a:off x="14474539" y="5874591"/>
            <a:ext cx="906962" cy="906962"/>
          </a:xfrm>
          <a:custGeom>
            <a:avLst/>
            <a:gdLst/>
            <a:ahLst/>
            <a:cxnLst/>
            <a:rect l="l" t="t" r="r" b="b"/>
            <a:pathLst>
              <a:path w="906962" h="906962">
                <a:moveTo>
                  <a:pt x="0" y="0"/>
                </a:moveTo>
                <a:lnTo>
                  <a:pt x="906963" y="0"/>
                </a:lnTo>
                <a:lnTo>
                  <a:pt x="906963" y="906963"/>
                </a:lnTo>
                <a:lnTo>
                  <a:pt x="0" y="906963"/>
                </a:lnTo>
                <a:lnTo>
                  <a:pt x="0" y="0"/>
                </a:lnTo>
                <a:close/>
              </a:path>
            </a:pathLst>
          </a:custGeom>
          <a:blipFill>
            <a:blip r:embed="rId6"/>
            <a:stretch>
              <a:fillRect/>
            </a:stretch>
          </a:blipFill>
        </p:spPr>
        <p:txBody>
          <a:bodyPr/>
          <a:lstStyle/>
          <a:p>
            <a:endParaRPr lang="en-US"/>
          </a:p>
        </p:txBody>
      </p:sp>
      <p:sp>
        <p:nvSpPr>
          <p:cNvPr id="21" name="TextBox 21"/>
          <p:cNvSpPr txBox="1"/>
          <p:nvPr/>
        </p:nvSpPr>
        <p:spPr>
          <a:xfrm>
            <a:off x="1472267" y="3176838"/>
            <a:ext cx="15343465" cy="1561687"/>
          </a:xfrm>
          <a:prstGeom prst="rect">
            <a:avLst/>
          </a:prstGeom>
        </p:spPr>
        <p:txBody>
          <a:bodyPr lIns="0" tIns="0" rIns="0" bIns="0" rtlCol="0" anchor="t">
            <a:spAutoFit/>
          </a:bodyPr>
          <a:lstStyle/>
          <a:p>
            <a:pPr marL="0" lvl="0" indent="0" algn="ctr">
              <a:lnSpc>
                <a:spcPts val="4224"/>
              </a:lnSpc>
            </a:pPr>
            <a:r>
              <a:rPr lang="en-US" sz="2346" dirty="0">
                <a:solidFill>
                  <a:srgbClr val="555555"/>
                </a:solidFill>
                <a:latin typeface="Roboto"/>
                <a:ea typeface="Roboto"/>
                <a:cs typeface="Roboto"/>
                <a:sym typeface="Roboto"/>
              </a:rPr>
              <a:t>The mobile app system  will deliver significant advantages for telecom operators, researchers, and network planners. By leveraging real user data and crowdsourced feedback, the platform enables data-driven decision making while maintaining robust data collection even in challenging connectivity conditions.</a:t>
            </a:r>
          </a:p>
        </p:txBody>
      </p:sp>
      <p:sp>
        <p:nvSpPr>
          <p:cNvPr id="22" name="TextBox 22"/>
          <p:cNvSpPr txBox="1"/>
          <p:nvPr/>
        </p:nvSpPr>
        <p:spPr>
          <a:xfrm>
            <a:off x="13721028" y="7081627"/>
            <a:ext cx="2384677" cy="1221533"/>
          </a:xfrm>
          <a:prstGeom prst="rect">
            <a:avLst/>
          </a:prstGeom>
        </p:spPr>
        <p:txBody>
          <a:bodyPr lIns="0" tIns="0" rIns="0" bIns="0" rtlCol="0" anchor="t">
            <a:spAutoFit/>
          </a:bodyPr>
          <a:lstStyle/>
          <a:p>
            <a:pPr marL="0" lvl="0" indent="0" algn="ctr">
              <a:lnSpc>
                <a:spcPts val="3312"/>
              </a:lnSpc>
            </a:pPr>
            <a:r>
              <a:rPr lang="en-US" sz="1840" b="1">
                <a:solidFill>
                  <a:srgbClr val="E5E5E5"/>
                </a:solidFill>
                <a:latin typeface="Roboto Bold"/>
                <a:ea typeface="Roboto Bold"/>
                <a:cs typeface="Roboto Bold"/>
                <a:sym typeface="Roboto Bold"/>
              </a:rPr>
              <a:t>Offline-first design ensures reliable data collection</a:t>
            </a:r>
          </a:p>
        </p:txBody>
      </p:sp>
      <p:sp>
        <p:nvSpPr>
          <p:cNvPr id="23" name="TextBox 23"/>
          <p:cNvSpPr txBox="1"/>
          <p:nvPr/>
        </p:nvSpPr>
        <p:spPr>
          <a:xfrm>
            <a:off x="9910762" y="7081627"/>
            <a:ext cx="2239196" cy="805708"/>
          </a:xfrm>
          <a:prstGeom prst="rect">
            <a:avLst/>
          </a:prstGeom>
        </p:spPr>
        <p:txBody>
          <a:bodyPr lIns="0" tIns="0" rIns="0" bIns="0" rtlCol="0" anchor="t">
            <a:spAutoFit/>
          </a:bodyPr>
          <a:lstStyle/>
          <a:p>
            <a:pPr marL="0" lvl="0" indent="0" algn="ctr">
              <a:lnSpc>
                <a:spcPts val="3312"/>
              </a:lnSpc>
            </a:pPr>
            <a:r>
              <a:rPr lang="en-US" sz="1840" b="1">
                <a:solidFill>
                  <a:srgbClr val="E5E5E5"/>
                </a:solidFill>
                <a:latin typeface="Roboto Bold"/>
                <a:ea typeface="Roboto Bold"/>
                <a:cs typeface="Roboto Bold"/>
                <a:sym typeface="Roboto Bold"/>
              </a:rPr>
              <a:t>Supports better network Statistics</a:t>
            </a:r>
          </a:p>
        </p:txBody>
      </p:sp>
      <p:sp>
        <p:nvSpPr>
          <p:cNvPr id="24" name="TextBox 24"/>
          <p:cNvSpPr txBox="1"/>
          <p:nvPr/>
        </p:nvSpPr>
        <p:spPr>
          <a:xfrm>
            <a:off x="6185154" y="7081627"/>
            <a:ext cx="2101372" cy="1221533"/>
          </a:xfrm>
          <a:prstGeom prst="rect">
            <a:avLst/>
          </a:prstGeom>
        </p:spPr>
        <p:txBody>
          <a:bodyPr lIns="0" tIns="0" rIns="0" bIns="0" rtlCol="0" anchor="t">
            <a:spAutoFit/>
          </a:bodyPr>
          <a:lstStyle/>
          <a:p>
            <a:pPr marL="0" lvl="0" indent="0" algn="ctr">
              <a:lnSpc>
                <a:spcPts val="3312"/>
              </a:lnSpc>
            </a:pPr>
            <a:r>
              <a:rPr lang="en-US" sz="1840" b="1">
                <a:solidFill>
                  <a:srgbClr val="E5E5E5"/>
                </a:solidFill>
                <a:latin typeface="Roboto Bold"/>
                <a:ea typeface="Roboto Bold"/>
                <a:cs typeface="Roboto Bold"/>
                <a:sym typeface="Roboto Bold"/>
              </a:rPr>
              <a:t>Real-time Subscriber network feedback</a:t>
            </a:r>
          </a:p>
        </p:txBody>
      </p:sp>
      <p:sp>
        <p:nvSpPr>
          <p:cNvPr id="25" name="TextBox 25"/>
          <p:cNvSpPr txBox="1"/>
          <p:nvPr/>
        </p:nvSpPr>
        <p:spPr>
          <a:xfrm>
            <a:off x="2326943" y="7097197"/>
            <a:ext cx="2101372" cy="1221533"/>
          </a:xfrm>
          <a:prstGeom prst="rect">
            <a:avLst/>
          </a:prstGeom>
        </p:spPr>
        <p:txBody>
          <a:bodyPr lIns="0" tIns="0" rIns="0" bIns="0" rtlCol="0" anchor="t">
            <a:spAutoFit/>
          </a:bodyPr>
          <a:lstStyle/>
          <a:p>
            <a:pPr marL="0" lvl="0" indent="0" algn="ctr">
              <a:lnSpc>
                <a:spcPts val="3312"/>
              </a:lnSpc>
            </a:pPr>
            <a:r>
              <a:rPr lang="en-US" sz="1840" b="1">
                <a:solidFill>
                  <a:srgbClr val="E5E5E5"/>
                </a:solidFill>
                <a:latin typeface="Roboto Bold"/>
                <a:ea typeface="Roboto Bold"/>
                <a:cs typeface="Roboto Bold"/>
                <a:sym typeface="Roboto Bold"/>
              </a:rPr>
              <a:t>Improved telecom insights from real user data</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E5E5E5"/>
        </a:solidFill>
        <a:effectLst/>
      </p:bgPr>
    </p:bg>
    <p:spTree>
      <p:nvGrpSpPr>
        <p:cNvPr id="1" name=""/>
        <p:cNvGrpSpPr/>
        <p:nvPr/>
      </p:nvGrpSpPr>
      <p:grpSpPr>
        <a:xfrm>
          <a:off x="0" y="0"/>
          <a:ext cx="0" cy="0"/>
          <a:chOff x="0" y="0"/>
          <a:chExt cx="0" cy="0"/>
        </a:xfrm>
      </p:grpSpPr>
      <p:grpSp>
        <p:nvGrpSpPr>
          <p:cNvPr id="2" name="Group 2"/>
          <p:cNvGrpSpPr/>
          <p:nvPr/>
        </p:nvGrpSpPr>
        <p:grpSpPr>
          <a:xfrm rot="5400000">
            <a:off x="-4061429" y="3756184"/>
            <a:ext cx="10897491" cy="2774632"/>
            <a:chOff x="0" y="0"/>
            <a:chExt cx="2870121" cy="730767"/>
          </a:xfrm>
        </p:grpSpPr>
        <p:sp>
          <p:nvSpPr>
            <p:cNvPr id="3" name="Freeform 3"/>
            <p:cNvSpPr/>
            <p:nvPr/>
          </p:nvSpPr>
          <p:spPr>
            <a:xfrm>
              <a:off x="0" y="0"/>
              <a:ext cx="2870121" cy="730767"/>
            </a:xfrm>
            <a:custGeom>
              <a:avLst/>
              <a:gdLst/>
              <a:ahLst/>
              <a:cxnLst/>
              <a:rect l="l" t="t" r="r" b="b"/>
              <a:pathLst>
                <a:path w="2870121" h="730767">
                  <a:moveTo>
                    <a:pt x="0" y="0"/>
                  </a:moveTo>
                  <a:lnTo>
                    <a:pt x="2870121" y="0"/>
                  </a:lnTo>
                  <a:lnTo>
                    <a:pt x="2870121" y="730767"/>
                  </a:lnTo>
                  <a:lnTo>
                    <a:pt x="0" y="730767"/>
                  </a:lnTo>
                  <a:close/>
                </a:path>
              </a:pathLst>
            </a:custGeom>
            <a:solidFill>
              <a:srgbClr val="2E7D6B">
                <a:alpha val="62745"/>
              </a:srgbClr>
            </a:solidFill>
          </p:spPr>
          <p:txBody>
            <a:bodyPr/>
            <a:lstStyle/>
            <a:p>
              <a:endParaRPr lang="en-US"/>
            </a:p>
          </p:txBody>
        </p:sp>
        <p:sp>
          <p:nvSpPr>
            <p:cNvPr id="4" name="TextBox 4"/>
            <p:cNvSpPr txBox="1"/>
            <p:nvPr/>
          </p:nvSpPr>
          <p:spPr>
            <a:xfrm>
              <a:off x="0" y="-38100"/>
              <a:ext cx="2870121" cy="768867"/>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5" name="Group 5"/>
          <p:cNvGrpSpPr/>
          <p:nvPr/>
        </p:nvGrpSpPr>
        <p:grpSpPr>
          <a:xfrm>
            <a:off x="3849840" y="3617837"/>
            <a:ext cx="5294160" cy="3051326"/>
            <a:chOff x="0" y="0"/>
            <a:chExt cx="912506" cy="525929"/>
          </a:xfrm>
        </p:grpSpPr>
        <p:sp>
          <p:nvSpPr>
            <p:cNvPr id="6" name="Freeform 6"/>
            <p:cNvSpPr/>
            <p:nvPr/>
          </p:nvSpPr>
          <p:spPr>
            <a:xfrm>
              <a:off x="0" y="0"/>
              <a:ext cx="912506" cy="525929"/>
            </a:xfrm>
            <a:custGeom>
              <a:avLst/>
              <a:gdLst/>
              <a:ahLst/>
              <a:cxnLst/>
              <a:rect l="l" t="t" r="r" b="b"/>
              <a:pathLst>
                <a:path w="912506" h="525929">
                  <a:moveTo>
                    <a:pt x="0" y="0"/>
                  </a:moveTo>
                  <a:lnTo>
                    <a:pt x="912506" y="0"/>
                  </a:lnTo>
                  <a:lnTo>
                    <a:pt x="912506" y="525929"/>
                  </a:lnTo>
                  <a:lnTo>
                    <a:pt x="0" y="525929"/>
                  </a:lnTo>
                  <a:close/>
                </a:path>
              </a:pathLst>
            </a:custGeom>
            <a:blipFill>
              <a:blip r:embed="rId2"/>
              <a:stretch>
                <a:fillRect l="-557" r="-557"/>
              </a:stretch>
            </a:blipFill>
            <a:ln w="38100" cap="sq">
              <a:solidFill>
                <a:srgbClr val="1F5A4E"/>
              </a:solidFill>
              <a:prstDash val="solid"/>
              <a:miter/>
            </a:ln>
          </p:spPr>
          <p:txBody>
            <a:bodyPr/>
            <a:lstStyle/>
            <a:p>
              <a:endParaRPr lang="en-US"/>
            </a:p>
          </p:txBody>
        </p:sp>
      </p:grpSp>
      <p:grpSp>
        <p:nvGrpSpPr>
          <p:cNvPr id="7" name="Group 7"/>
          <p:cNvGrpSpPr/>
          <p:nvPr/>
        </p:nvGrpSpPr>
        <p:grpSpPr>
          <a:xfrm>
            <a:off x="11048835" y="3617837"/>
            <a:ext cx="5422747" cy="3051326"/>
            <a:chOff x="0" y="0"/>
            <a:chExt cx="934670" cy="525929"/>
          </a:xfrm>
        </p:grpSpPr>
        <p:sp>
          <p:nvSpPr>
            <p:cNvPr id="8" name="Freeform 8"/>
            <p:cNvSpPr/>
            <p:nvPr/>
          </p:nvSpPr>
          <p:spPr>
            <a:xfrm>
              <a:off x="0" y="0"/>
              <a:ext cx="934670" cy="525929"/>
            </a:xfrm>
            <a:custGeom>
              <a:avLst/>
              <a:gdLst/>
              <a:ahLst/>
              <a:cxnLst/>
              <a:rect l="l" t="t" r="r" b="b"/>
              <a:pathLst>
                <a:path w="934670" h="525929">
                  <a:moveTo>
                    <a:pt x="0" y="0"/>
                  </a:moveTo>
                  <a:lnTo>
                    <a:pt x="934670" y="0"/>
                  </a:lnTo>
                  <a:lnTo>
                    <a:pt x="934670" y="525929"/>
                  </a:lnTo>
                  <a:lnTo>
                    <a:pt x="0" y="525929"/>
                  </a:lnTo>
                  <a:close/>
                </a:path>
              </a:pathLst>
            </a:custGeom>
            <a:blipFill>
              <a:blip r:embed="rId3"/>
              <a:stretch>
                <a:fillRect t="-649" b="-649"/>
              </a:stretch>
            </a:blipFill>
            <a:ln w="38100" cap="sq">
              <a:solidFill>
                <a:srgbClr val="1F5A4E"/>
              </a:solidFill>
              <a:prstDash val="solid"/>
              <a:miter/>
            </a:ln>
          </p:spPr>
          <p:txBody>
            <a:bodyPr/>
            <a:lstStyle/>
            <a:p>
              <a:endParaRPr lang="en-US"/>
            </a:p>
          </p:txBody>
        </p:sp>
      </p:grpSp>
      <p:grpSp>
        <p:nvGrpSpPr>
          <p:cNvPr id="9" name="Group 9"/>
          <p:cNvGrpSpPr/>
          <p:nvPr/>
        </p:nvGrpSpPr>
        <p:grpSpPr>
          <a:xfrm>
            <a:off x="3345805" y="3113802"/>
            <a:ext cx="1008070" cy="1008070"/>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F5A4E"/>
            </a:solidFill>
          </p:spPr>
          <p:txBody>
            <a:bodyPr/>
            <a:lstStyle/>
            <a:p>
              <a:endParaRPr lang="en-US"/>
            </a:p>
          </p:txBody>
        </p:sp>
        <p:sp>
          <p:nvSpPr>
            <p:cNvPr id="11" name="TextBox 11"/>
            <p:cNvSpPr txBox="1"/>
            <p:nvPr/>
          </p:nvSpPr>
          <p:spPr>
            <a:xfrm>
              <a:off x="76200" y="38100"/>
              <a:ext cx="660400" cy="698500"/>
            </a:xfrm>
            <a:prstGeom prst="rect">
              <a:avLst/>
            </a:prstGeom>
          </p:spPr>
          <p:txBody>
            <a:bodyPr lIns="50800" tIns="50800" rIns="50800" bIns="50800" rtlCol="0" anchor="ctr"/>
            <a:lstStyle/>
            <a:p>
              <a:pPr marL="0" lvl="0" indent="0" algn="ctr">
                <a:lnSpc>
                  <a:spcPts val="2659"/>
                </a:lnSpc>
              </a:pPr>
              <a:endParaRPr/>
            </a:p>
          </p:txBody>
        </p:sp>
      </p:grpSp>
      <p:grpSp>
        <p:nvGrpSpPr>
          <p:cNvPr id="12" name="Group 12"/>
          <p:cNvGrpSpPr/>
          <p:nvPr/>
        </p:nvGrpSpPr>
        <p:grpSpPr>
          <a:xfrm>
            <a:off x="10544800" y="3113802"/>
            <a:ext cx="1008070" cy="1008070"/>
            <a:chOff x="0" y="0"/>
            <a:chExt cx="812800" cy="812800"/>
          </a:xfrm>
        </p:grpSpPr>
        <p:sp>
          <p:nvSpPr>
            <p:cNvPr id="13" name="Freeform 1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F5A4E"/>
            </a:solidFill>
          </p:spPr>
          <p:txBody>
            <a:bodyPr/>
            <a:lstStyle/>
            <a:p>
              <a:endParaRPr lang="en-US"/>
            </a:p>
          </p:txBody>
        </p:sp>
        <p:sp>
          <p:nvSpPr>
            <p:cNvPr id="14" name="TextBox 14"/>
            <p:cNvSpPr txBox="1"/>
            <p:nvPr/>
          </p:nvSpPr>
          <p:spPr>
            <a:xfrm>
              <a:off x="76200" y="38100"/>
              <a:ext cx="660400" cy="698500"/>
            </a:xfrm>
            <a:prstGeom prst="rect">
              <a:avLst/>
            </a:prstGeom>
          </p:spPr>
          <p:txBody>
            <a:bodyPr lIns="50800" tIns="50800" rIns="50800" bIns="50800" rtlCol="0" anchor="ctr"/>
            <a:lstStyle/>
            <a:p>
              <a:pPr marL="0" lvl="0" indent="0" algn="ctr">
                <a:lnSpc>
                  <a:spcPts val="2659"/>
                </a:lnSpc>
              </a:pPr>
              <a:endParaRPr/>
            </a:p>
          </p:txBody>
        </p:sp>
      </p:grpSp>
      <p:sp>
        <p:nvSpPr>
          <p:cNvPr id="15" name="TextBox 15"/>
          <p:cNvSpPr txBox="1"/>
          <p:nvPr/>
        </p:nvSpPr>
        <p:spPr>
          <a:xfrm>
            <a:off x="3720112" y="1311069"/>
            <a:ext cx="13088005" cy="1208187"/>
          </a:xfrm>
          <a:prstGeom prst="rect">
            <a:avLst/>
          </a:prstGeom>
        </p:spPr>
        <p:txBody>
          <a:bodyPr lIns="0" tIns="0" rIns="0" bIns="0" rtlCol="0" anchor="t">
            <a:spAutoFit/>
          </a:bodyPr>
          <a:lstStyle/>
          <a:p>
            <a:pPr marL="0" lvl="0" indent="0" algn="ctr">
              <a:lnSpc>
                <a:spcPts val="9706"/>
              </a:lnSpc>
              <a:spcBef>
                <a:spcPct val="0"/>
              </a:spcBef>
            </a:pPr>
            <a:r>
              <a:rPr lang="en-US" sz="6933" b="1">
                <a:solidFill>
                  <a:srgbClr val="1F5A4E"/>
                </a:solidFill>
                <a:latin typeface="Roboto Bold"/>
                <a:ea typeface="Roboto Bold"/>
                <a:cs typeface="Roboto Bold"/>
                <a:sym typeface="Roboto Bold"/>
              </a:rPr>
              <a:t>Challenges &amp; Limitations</a:t>
            </a:r>
          </a:p>
        </p:txBody>
      </p:sp>
      <p:sp>
        <p:nvSpPr>
          <p:cNvPr id="16" name="TextBox 16"/>
          <p:cNvSpPr txBox="1"/>
          <p:nvPr/>
        </p:nvSpPr>
        <p:spPr>
          <a:xfrm>
            <a:off x="3720112" y="3129564"/>
            <a:ext cx="327190" cy="757661"/>
          </a:xfrm>
          <a:prstGeom prst="rect">
            <a:avLst/>
          </a:prstGeom>
        </p:spPr>
        <p:txBody>
          <a:bodyPr lIns="0" tIns="0" rIns="0" bIns="0" rtlCol="0" anchor="t">
            <a:spAutoFit/>
          </a:bodyPr>
          <a:lstStyle/>
          <a:p>
            <a:pPr marL="0" lvl="0" indent="0" algn="ctr">
              <a:lnSpc>
                <a:spcPts val="6402"/>
              </a:lnSpc>
            </a:pPr>
            <a:r>
              <a:rPr lang="en-US" sz="3556" b="1">
                <a:solidFill>
                  <a:srgbClr val="E5E5E5"/>
                </a:solidFill>
                <a:latin typeface="Roboto Bold"/>
                <a:ea typeface="Roboto Bold"/>
                <a:cs typeface="Roboto Bold"/>
                <a:sym typeface="Roboto Bold"/>
              </a:rPr>
              <a:t>1</a:t>
            </a:r>
          </a:p>
        </p:txBody>
      </p:sp>
      <p:sp>
        <p:nvSpPr>
          <p:cNvPr id="17" name="TextBox 17"/>
          <p:cNvSpPr txBox="1"/>
          <p:nvPr/>
        </p:nvSpPr>
        <p:spPr>
          <a:xfrm>
            <a:off x="10885240" y="3129527"/>
            <a:ext cx="327190" cy="757661"/>
          </a:xfrm>
          <a:prstGeom prst="rect">
            <a:avLst/>
          </a:prstGeom>
        </p:spPr>
        <p:txBody>
          <a:bodyPr lIns="0" tIns="0" rIns="0" bIns="0" rtlCol="0" anchor="t">
            <a:spAutoFit/>
          </a:bodyPr>
          <a:lstStyle/>
          <a:p>
            <a:pPr marL="0" lvl="0" indent="0" algn="ctr">
              <a:lnSpc>
                <a:spcPts val="6402"/>
              </a:lnSpc>
            </a:pPr>
            <a:r>
              <a:rPr lang="en-US" sz="3556" b="1">
                <a:solidFill>
                  <a:srgbClr val="E5E5E5"/>
                </a:solidFill>
                <a:latin typeface="Roboto Bold"/>
                <a:ea typeface="Roboto Bold"/>
                <a:cs typeface="Roboto Bold"/>
                <a:sym typeface="Roboto Bold"/>
              </a:rPr>
              <a:t>2</a:t>
            </a:r>
          </a:p>
        </p:txBody>
      </p:sp>
      <p:sp>
        <p:nvSpPr>
          <p:cNvPr id="18" name="TextBox 18"/>
          <p:cNvSpPr txBox="1"/>
          <p:nvPr/>
        </p:nvSpPr>
        <p:spPr>
          <a:xfrm>
            <a:off x="3849840" y="6768265"/>
            <a:ext cx="5294160" cy="2355029"/>
          </a:xfrm>
          <a:prstGeom prst="rect">
            <a:avLst/>
          </a:prstGeom>
        </p:spPr>
        <p:txBody>
          <a:bodyPr lIns="0" tIns="0" rIns="0" bIns="0" rtlCol="0" anchor="t">
            <a:spAutoFit/>
          </a:bodyPr>
          <a:lstStyle/>
          <a:p>
            <a:pPr marL="0" lvl="0" indent="0" algn="just">
              <a:lnSpc>
                <a:spcPts val="3139"/>
              </a:lnSpc>
            </a:pPr>
            <a:r>
              <a:rPr lang="en-US" sz="1743">
                <a:solidFill>
                  <a:srgbClr val="000000"/>
                </a:solidFill>
                <a:latin typeface="Roboto"/>
                <a:ea typeface="Roboto"/>
                <a:cs typeface="Roboto"/>
                <a:sym typeface="Roboto"/>
              </a:rPr>
              <a:t>GPS Permissions &amp; Battery Consumption</a:t>
            </a:r>
          </a:p>
          <a:p>
            <a:pPr marL="0" lvl="0" indent="0" algn="just">
              <a:lnSpc>
                <a:spcPts val="3139"/>
              </a:lnSpc>
            </a:pPr>
            <a:r>
              <a:rPr lang="en-US" sz="1743">
                <a:solidFill>
                  <a:srgbClr val="000000"/>
                </a:solidFill>
                <a:latin typeface="Roboto"/>
                <a:ea typeface="Roboto"/>
                <a:cs typeface="Roboto"/>
                <a:sym typeface="Roboto"/>
              </a:rPr>
              <a:t>The app requires GPS permissions for location-based data collection, which some users may decline. Continuous background monitoring also increases battery consumption, requiring careful optimization to balance data quality with device performance.</a:t>
            </a:r>
          </a:p>
        </p:txBody>
      </p:sp>
      <p:sp>
        <p:nvSpPr>
          <p:cNvPr id="19" name="TextBox 19"/>
          <p:cNvSpPr txBox="1"/>
          <p:nvPr/>
        </p:nvSpPr>
        <p:spPr>
          <a:xfrm>
            <a:off x="11048835" y="6768265"/>
            <a:ext cx="5422747" cy="2355029"/>
          </a:xfrm>
          <a:prstGeom prst="rect">
            <a:avLst/>
          </a:prstGeom>
        </p:spPr>
        <p:txBody>
          <a:bodyPr lIns="0" tIns="0" rIns="0" bIns="0" rtlCol="0" anchor="t">
            <a:spAutoFit/>
          </a:bodyPr>
          <a:lstStyle/>
          <a:p>
            <a:pPr marL="0" lvl="0" indent="0" algn="just">
              <a:lnSpc>
                <a:spcPts val="3139"/>
              </a:lnSpc>
            </a:pPr>
            <a:r>
              <a:rPr lang="en-US" sz="1743">
                <a:solidFill>
                  <a:srgbClr val="000000"/>
                </a:solidFill>
                <a:latin typeface="Roboto"/>
                <a:ea typeface="Roboto"/>
                <a:cs typeface="Roboto"/>
                <a:sym typeface="Roboto"/>
              </a:rPr>
              <a:t>Sync Delays &amp; User Participation</a:t>
            </a:r>
          </a:p>
          <a:p>
            <a:pPr marL="0" lvl="0" indent="0" algn="just">
              <a:lnSpc>
                <a:spcPts val="3139"/>
              </a:lnSpc>
            </a:pPr>
            <a:r>
              <a:rPr lang="en-US" sz="1743">
                <a:solidFill>
                  <a:srgbClr val="000000"/>
                </a:solidFill>
                <a:latin typeface="Roboto"/>
                <a:ea typeface="Roboto"/>
                <a:cs typeface="Roboto"/>
                <a:sym typeface="Roboto"/>
              </a:rPr>
              <a:t>Offline data synchronization introduces delays when connectivity is intermittent, potentially affecting real-time analytics. Additionally, variability in user participation and engagement impacts the volume and consistency of crowdsourced feedback data.</a:t>
            </a:r>
          </a:p>
        </p:txBody>
      </p:sp>
      <p:sp>
        <p:nvSpPr>
          <p:cNvPr id="20" name="Freeform 20"/>
          <p:cNvSpPr/>
          <p:nvPr/>
        </p:nvSpPr>
        <p:spPr>
          <a:xfrm>
            <a:off x="2774632" y="-1373603"/>
            <a:ext cx="4389589" cy="2402303"/>
          </a:xfrm>
          <a:custGeom>
            <a:avLst/>
            <a:gdLst/>
            <a:ahLst/>
            <a:cxnLst/>
            <a:rect l="l" t="t" r="r" b="b"/>
            <a:pathLst>
              <a:path w="4389589" h="2402303">
                <a:moveTo>
                  <a:pt x="0" y="0"/>
                </a:moveTo>
                <a:lnTo>
                  <a:pt x="4389589" y="0"/>
                </a:lnTo>
                <a:lnTo>
                  <a:pt x="4389589" y="2402303"/>
                </a:lnTo>
                <a:lnTo>
                  <a:pt x="0" y="2402303"/>
                </a:lnTo>
                <a:lnTo>
                  <a:pt x="0" y="0"/>
                </a:lnTo>
                <a:close/>
              </a:path>
            </a:pathLst>
          </a:custGeom>
          <a:blipFill>
            <a:blip>
              <a:alphaModFix amt="64000"/>
              <a:extLst>
                <a:ext uri="{96DAC541-7B7A-43D3-8B79-37D633B846F1}">
                  <asvg:svgBlip xmlns:asvg="http://schemas.microsoft.com/office/drawing/2016/SVG/main" r:embed="rId4"/>
                </a:ext>
              </a:extLst>
            </a:blip>
            <a:stretch>
              <a:fillRect/>
            </a:stretch>
          </a:blipFill>
        </p:spPr>
        <p:txBody>
          <a:bodyPr/>
          <a:lstStyle/>
          <a:p>
            <a:endParaRPr lang="en-US"/>
          </a:p>
        </p:txBody>
      </p:sp>
      <p:sp>
        <p:nvSpPr>
          <p:cNvPr id="21" name="Freeform 21"/>
          <p:cNvSpPr/>
          <p:nvPr/>
        </p:nvSpPr>
        <p:spPr>
          <a:xfrm rot="-10800000">
            <a:off x="17259300" y="7884697"/>
            <a:ext cx="4389589" cy="2402303"/>
          </a:xfrm>
          <a:custGeom>
            <a:avLst/>
            <a:gdLst/>
            <a:ahLst/>
            <a:cxnLst/>
            <a:rect l="l" t="t" r="r" b="b"/>
            <a:pathLst>
              <a:path w="4389589" h="2402303">
                <a:moveTo>
                  <a:pt x="0" y="0"/>
                </a:moveTo>
                <a:lnTo>
                  <a:pt x="4389589" y="0"/>
                </a:lnTo>
                <a:lnTo>
                  <a:pt x="4389589" y="2402303"/>
                </a:lnTo>
                <a:lnTo>
                  <a:pt x="0" y="2402303"/>
                </a:lnTo>
                <a:lnTo>
                  <a:pt x="0" y="0"/>
                </a:lnTo>
                <a:close/>
              </a:path>
            </a:pathLst>
          </a:custGeom>
          <a:blipFill>
            <a:blip>
              <a:alphaModFix amt="64000"/>
              <a:extLst>
                <a:ext uri="{96DAC541-7B7A-43D3-8B79-37D633B846F1}">
                  <asvg:svgBlip xmlns:asvg="http://schemas.microsoft.com/office/drawing/2016/SVG/main" r:embed="rId4"/>
                </a:ext>
              </a:extLst>
            </a:blip>
            <a:stretch>
              <a:fillRect/>
            </a:stretch>
          </a:blipFill>
        </p:spPr>
        <p:txBody>
          <a:bodyPr/>
          <a:lstStyle/>
          <a:p>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4F4F4"/>
        </a:solidFill>
        <a:effectLst/>
      </p:bgPr>
    </p:bg>
    <p:spTree>
      <p:nvGrpSpPr>
        <p:cNvPr id="1" name=""/>
        <p:cNvGrpSpPr/>
        <p:nvPr/>
      </p:nvGrpSpPr>
      <p:grpSpPr>
        <a:xfrm>
          <a:off x="0" y="0"/>
          <a:ext cx="0" cy="0"/>
          <a:chOff x="0" y="0"/>
          <a:chExt cx="0" cy="0"/>
        </a:xfrm>
      </p:grpSpPr>
      <p:grpSp>
        <p:nvGrpSpPr>
          <p:cNvPr id="2" name="Group 2"/>
          <p:cNvGrpSpPr/>
          <p:nvPr/>
        </p:nvGrpSpPr>
        <p:grpSpPr>
          <a:xfrm>
            <a:off x="1304036" y="583927"/>
            <a:ext cx="7417283" cy="8229600"/>
            <a:chOff x="0" y="0"/>
            <a:chExt cx="1149131" cy="1274980"/>
          </a:xfrm>
        </p:grpSpPr>
        <p:sp>
          <p:nvSpPr>
            <p:cNvPr id="3" name="Freeform 3"/>
            <p:cNvSpPr/>
            <p:nvPr/>
          </p:nvSpPr>
          <p:spPr>
            <a:xfrm>
              <a:off x="0" y="0"/>
              <a:ext cx="1149131" cy="1274980"/>
            </a:xfrm>
            <a:custGeom>
              <a:avLst/>
              <a:gdLst/>
              <a:ahLst/>
              <a:cxnLst/>
              <a:rect l="l" t="t" r="r" b="b"/>
              <a:pathLst>
                <a:path w="1149131" h="1274980">
                  <a:moveTo>
                    <a:pt x="0" y="0"/>
                  </a:moveTo>
                  <a:lnTo>
                    <a:pt x="1149131" y="0"/>
                  </a:lnTo>
                  <a:lnTo>
                    <a:pt x="1149131" y="1274980"/>
                  </a:lnTo>
                  <a:lnTo>
                    <a:pt x="0" y="1274980"/>
                  </a:lnTo>
                  <a:close/>
                </a:path>
              </a:pathLst>
            </a:custGeom>
            <a:blipFill>
              <a:blip r:embed="rId2"/>
              <a:stretch>
                <a:fillRect l="-5475" r="-5475"/>
              </a:stretch>
            </a:blipFill>
          </p:spPr>
          <p:txBody>
            <a:bodyPr/>
            <a:lstStyle/>
            <a:p>
              <a:endParaRPr lang="en-US"/>
            </a:p>
          </p:txBody>
        </p:sp>
      </p:grpSp>
      <p:sp>
        <p:nvSpPr>
          <p:cNvPr id="4" name="TextBox 4"/>
          <p:cNvSpPr txBox="1"/>
          <p:nvPr/>
        </p:nvSpPr>
        <p:spPr>
          <a:xfrm>
            <a:off x="9757183" y="4347359"/>
            <a:ext cx="5716637" cy="630226"/>
          </a:xfrm>
          <a:prstGeom prst="rect">
            <a:avLst/>
          </a:prstGeom>
        </p:spPr>
        <p:txBody>
          <a:bodyPr lIns="0" tIns="0" rIns="0" bIns="0" rtlCol="0" anchor="t">
            <a:spAutoFit/>
          </a:bodyPr>
          <a:lstStyle/>
          <a:p>
            <a:pPr algn="ctr">
              <a:lnSpc>
                <a:spcPts val="5163"/>
              </a:lnSpc>
              <a:spcBef>
                <a:spcPct val="0"/>
              </a:spcBef>
            </a:pPr>
            <a:r>
              <a:rPr lang="en-US" sz="3687">
                <a:solidFill>
                  <a:srgbClr val="3A625D"/>
                </a:solidFill>
                <a:latin typeface="Aileron"/>
                <a:ea typeface="Aileron"/>
                <a:cs typeface="Aileron"/>
                <a:sym typeface="Aileron"/>
              </a:rPr>
              <a:t>Thanks for your Atttendtion</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txBody>
          <a:bodyPr/>
          <a:lstStyle/>
          <a:p>
            <a:endParaRPr lang="en-US"/>
          </a:p>
        </p:txBody>
      </p:sp>
      <p:sp>
        <p:nvSpPr>
          <p:cNvPr id="3" name="TextBox 3"/>
          <p:cNvSpPr txBox="1"/>
          <p:nvPr/>
        </p:nvSpPr>
        <p:spPr>
          <a:xfrm>
            <a:off x="1028700" y="990600"/>
            <a:ext cx="3383553" cy="356235"/>
          </a:xfrm>
          <a:prstGeom prst="rect">
            <a:avLst/>
          </a:prstGeom>
        </p:spPr>
        <p:txBody>
          <a:bodyPr lIns="0" tIns="0" rIns="0" bIns="0" rtlCol="0" anchor="t">
            <a:spAutoFit/>
          </a:bodyPr>
          <a:lstStyle/>
          <a:p>
            <a:pPr algn="l">
              <a:lnSpc>
                <a:spcPts val="2939"/>
              </a:lnSpc>
            </a:pPr>
            <a:r>
              <a:rPr lang="en-US" sz="2099" b="1">
                <a:solidFill>
                  <a:srgbClr val="F4F4F4"/>
                </a:solidFill>
                <a:latin typeface="Montserrat Bold"/>
                <a:ea typeface="Montserrat Bold"/>
                <a:cs typeface="Montserrat Bold"/>
                <a:sym typeface="Montserrat Bold"/>
              </a:rPr>
              <a:t>Group 5 Presentation</a:t>
            </a:r>
          </a:p>
        </p:txBody>
      </p:sp>
      <p:sp>
        <p:nvSpPr>
          <p:cNvPr id="4" name="TextBox 4"/>
          <p:cNvSpPr txBox="1"/>
          <p:nvPr/>
        </p:nvSpPr>
        <p:spPr>
          <a:xfrm>
            <a:off x="15712380" y="990600"/>
            <a:ext cx="1546920" cy="306705"/>
          </a:xfrm>
          <a:prstGeom prst="rect">
            <a:avLst/>
          </a:prstGeom>
        </p:spPr>
        <p:txBody>
          <a:bodyPr lIns="0" tIns="0" rIns="0" bIns="0" rtlCol="0" anchor="t">
            <a:spAutoFit/>
          </a:bodyPr>
          <a:lstStyle/>
          <a:p>
            <a:pPr algn="r">
              <a:lnSpc>
                <a:spcPts val="2520"/>
              </a:lnSpc>
            </a:pPr>
            <a:r>
              <a:rPr lang="en-US" sz="1800">
                <a:solidFill>
                  <a:srgbClr val="F4F4F4"/>
                </a:solidFill>
                <a:latin typeface="Aileron"/>
                <a:ea typeface="Aileron"/>
                <a:cs typeface="Aileron"/>
                <a:sym typeface="Aileron"/>
              </a:rPr>
              <a:t>25  May, 2026</a:t>
            </a:r>
          </a:p>
        </p:txBody>
      </p:sp>
      <p:sp>
        <p:nvSpPr>
          <p:cNvPr id="5" name="TextBox 5"/>
          <p:cNvSpPr txBox="1"/>
          <p:nvPr/>
        </p:nvSpPr>
        <p:spPr>
          <a:xfrm>
            <a:off x="1028700" y="8892540"/>
            <a:ext cx="1828949" cy="365760"/>
          </a:xfrm>
          <a:prstGeom prst="rect">
            <a:avLst/>
          </a:prstGeom>
        </p:spPr>
        <p:txBody>
          <a:bodyPr lIns="0" tIns="0" rIns="0" bIns="0" rtlCol="0" anchor="t">
            <a:spAutoFit/>
          </a:bodyPr>
          <a:lstStyle/>
          <a:p>
            <a:pPr algn="l">
              <a:lnSpc>
                <a:spcPts val="2939"/>
              </a:lnSpc>
            </a:pPr>
            <a:r>
              <a:rPr lang="en-US" sz="2099" b="1">
                <a:solidFill>
                  <a:srgbClr val="F4F4F4"/>
                </a:solidFill>
                <a:latin typeface="Aileron Bold"/>
                <a:ea typeface="Aileron Bold"/>
                <a:cs typeface="Aileron Bold"/>
                <a:sym typeface="Aileron Bold"/>
              </a:rPr>
              <a:t>Ndefru Brayan</a:t>
            </a:r>
          </a:p>
        </p:txBody>
      </p:sp>
      <p:sp>
        <p:nvSpPr>
          <p:cNvPr id="6" name="TextBox 6"/>
          <p:cNvSpPr txBox="1"/>
          <p:nvPr/>
        </p:nvSpPr>
        <p:spPr>
          <a:xfrm>
            <a:off x="5638850" y="8926830"/>
            <a:ext cx="1533227" cy="306705"/>
          </a:xfrm>
          <a:prstGeom prst="rect">
            <a:avLst/>
          </a:prstGeom>
        </p:spPr>
        <p:txBody>
          <a:bodyPr lIns="0" tIns="0" rIns="0" bIns="0" rtlCol="0" anchor="t">
            <a:spAutoFit/>
          </a:bodyPr>
          <a:lstStyle/>
          <a:p>
            <a:pPr algn="l">
              <a:lnSpc>
                <a:spcPts val="2520"/>
              </a:lnSpc>
            </a:pPr>
            <a:r>
              <a:rPr lang="en-US" sz="1800">
                <a:solidFill>
                  <a:srgbClr val="F4F4F4"/>
                </a:solidFill>
                <a:latin typeface="Aileron"/>
                <a:ea typeface="Aileron"/>
                <a:cs typeface="Aileron"/>
                <a:sym typeface="Aileron"/>
              </a:rPr>
              <a:t>Akoh McPeace</a:t>
            </a:r>
          </a:p>
        </p:txBody>
      </p:sp>
      <p:sp>
        <p:nvSpPr>
          <p:cNvPr id="7" name="TextBox 7"/>
          <p:cNvSpPr txBox="1"/>
          <p:nvPr/>
        </p:nvSpPr>
        <p:spPr>
          <a:xfrm>
            <a:off x="11161464" y="8926830"/>
            <a:ext cx="1365052" cy="306705"/>
          </a:xfrm>
          <a:prstGeom prst="rect">
            <a:avLst/>
          </a:prstGeom>
        </p:spPr>
        <p:txBody>
          <a:bodyPr lIns="0" tIns="0" rIns="0" bIns="0" rtlCol="0" anchor="t">
            <a:spAutoFit/>
          </a:bodyPr>
          <a:lstStyle/>
          <a:p>
            <a:pPr algn="l">
              <a:lnSpc>
                <a:spcPts val="2520"/>
              </a:lnSpc>
            </a:pPr>
            <a:r>
              <a:rPr lang="en-US" sz="1800">
                <a:solidFill>
                  <a:srgbClr val="F4F4F4"/>
                </a:solidFill>
                <a:latin typeface="Aileron"/>
                <a:ea typeface="Aileron"/>
                <a:cs typeface="Aileron"/>
                <a:sym typeface="Aileron"/>
              </a:rPr>
              <a:t>Ngolien Lucy</a:t>
            </a:r>
          </a:p>
        </p:txBody>
      </p:sp>
      <p:sp>
        <p:nvSpPr>
          <p:cNvPr id="8" name="TextBox 8"/>
          <p:cNvSpPr txBox="1"/>
          <p:nvPr/>
        </p:nvSpPr>
        <p:spPr>
          <a:xfrm>
            <a:off x="15675471" y="8926830"/>
            <a:ext cx="704404" cy="306705"/>
          </a:xfrm>
          <a:prstGeom prst="rect">
            <a:avLst/>
          </a:prstGeom>
        </p:spPr>
        <p:txBody>
          <a:bodyPr lIns="0" tIns="0" rIns="0" bIns="0" rtlCol="0" anchor="t">
            <a:spAutoFit/>
          </a:bodyPr>
          <a:lstStyle/>
          <a:p>
            <a:pPr algn="l">
              <a:lnSpc>
                <a:spcPts val="2520"/>
              </a:lnSpc>
            </a:pPr>
            <a:r>
              <a:rPr lang="en-US" sz="1800">
                <a:solidFill>
                  <a:srgbClr val="F4F4F4"/>
                </a:solidFill>
                <a:latin typeface="Aileron"/>
                <a:ea typeface="Aileron"/>
                <a:cs typeface="Aileron"/>
                <a:sym typeface="Aileron"/>
              </a:rPr>
              <a:t>Anelka</a:t>
            </a:r>
          </a:p>
        </p:txBody>
      </p:sp>
      <p:sp>
        <p:nvSpPr>
          <p:cNvPr id="9" name="TextBox 9"/>
          <p:cNvSpPr txBox="1"/>
          <p:nvPr/>
        </p:nvSpPr>
        <p:spPr>
          <a:xfrm>
            <a:off x="5253142" y="4299585"/>
            <a:ext cx="7781716" cy="1087755"/>
          </a:xfrm>
          <a:prstGeom prst="rect">
            <a:avLst/>
          </a:prstGeom>
        </p:spPr>
        <p:txBody>
          <a:bodyPr lIns="0" tIns="0" rIns="0" bIns="0" rtlCol="0" anchor="t">
            <a:spAutoFit/>
          </a:bodyPr>
          <a:lstStyle/>
          <a:p>
            <a:pPr algn="l">
              <a:lnSpc>
                <a:spcPts val="7680"/>
              </a:lnSpc>
            </a:pPr>
            <a:r>
              <a:rPr lang="en-US" sz="9600" b="1" spc="-403">
                <a:solidFill>
                  <a:srgbClr val="F4F4F4"/>
                </a:solidFill>
                <a:latin typeface="Montserrat Bold"/>
                <a:ea typeface="Montserrat Bold"/>
                <a:cs typeface="Montserrat Bold"/>
                <a:sym typeface="Montserrat Bold"/>
              </a:rPr>
              <a:t>Questions?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50</TotalTime>
  <Words>1338</Words>
  <Application>Microsoft Office PowerPoint</Application>
  <PresentationFormat>Custom</PresentationFormat>
  <Paragraphs>112</Paragraphs>
  <Slides>27</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27</vt:i4>
      </vt:variant>
    </vt:vector>
  </HeadingPairs>
  <TitlesOfParts>
    <vt:vector size="35" baseType="lpstr">
      <vt:lpstr>Arial</vt:lpstr>
      <vt:lpstr>Roboto Bold</vt:lpstr>
      <vt:lpstr>Aileron</vt:lpstr>
      <vt:lpstr>Calibri</vt:lpstr>
      <vt:lpstr>Aileron Bold</vt:lpstr>
      <vt:lpstr>Roboto</vt:lpstr>
      <vt:lpstr>Montserrat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Black and White Minimalist Creative Portfolio Presentation</dc:title>
  <cp:lastModifiedBy>HP-USER PC</cp:lastModifiedBy>
  <cp:revision>13</cp:revision>
  <dcterms:created xsi:type="dcterms:W3CDTF">2006-08-16T00:00:00Z</dcterms:created>
  <dcterms:modified xsi:type="dcterms:W3CDTF">2026-06-02T14:27:44Z</dcterms:modified>
  <dc:identifier>DAHKonuK7_Y</dc:identifier>
</cp:coreProperties>
</file>