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Poppins Bold" charset="1" panose="00000800000000000000"/>
      <p:regular r:id="rId28"/>
    </p:embeddedFont>
    <p:embeddedFont>
      <p:font typeface="Poppins" charset="1" panose="00000500000000000000"/>
      <p:regular r:id="rId29"/>
    </p:embeddedFont>
    <p:embeddedFont>
      <p:font typeface="Bricolage Grotesque" charset="1" panose="020B0605040402000204"/>
      <p:regular r:id="rId30"/>
    </p:embeddedFont>
    <p:embeddedFont>
      <p:font typeface="Bricolage Grotesque Bold" charset="1" panose="020B0605040402000204"/>
      <p:regular r:id="rId31"/>
    </p:embeddedFont>
    <p:embeddedFont>
      <p:font typeface="Canva Sans Bold" charset="1" panose="020B0803030501040103"/>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5.png" Type="http://schemas.openxmlformats.org/officeDocument/2006/relationships/image"/><Relationship Id="rId5" Target="../media/image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0.png" Type="http://schemas.openxmlformats.org/officeDocument/2006/relationships/image"/><Relationship Id="rId5" Target="../media/image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2.pn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4.pn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5.png" Type="http://schemas.openxmlformats.org/officeDocument/2006/relationships/image"/><Relationship Id="rId5" Target="../media/image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png" Type="http://schemas.openxmlformats.org/officeDocument/2006/relationships/image"/><Relationship Id="rId2" Target="../media/image26.png" Type="http://schemas.openxmlformats.org/officeDocument/2006/relationships/image"/><Relationship Id="rId3" Target="../media/image27.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32.png" Type="http://schemas.openxmlformats.org/officeDocument/2006/relationships/image"/><Relationship Id="rId9" Target="../media/image3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2415882" cy="10287000"/>
            <a:chOff x="0" y="0"/>
            <a:chExt cx="636282" cy="2709333"/>
          </a:xfrm>
        </p:grpSpPr>
        <p:sp>
          <p:nvSpPr>
            <p:cNvPr name="Freeform 3" id="3"/>
            <p:cNvSpPr/>
            <p:nvPr/>
          </p:nvSpPr>
          <p:spPr>
            <a:xfrm flipH="false" flipV="false" rot="0">
              <a:off x="0" y="0"/>
              <a:ext cx="636282" cy="2709333"/>
            </a:xfrm>
            <a:custGeom>
              <a:avLst/>
              <a:gdLst/>
              <a:ahLst/>
              <a:cxnLst/>
              <a:rect r="r" b="b" t="t" l="l"/>
              <a:pathLst>
                <a:path h="2709333" w="636282">
                  <a:moveTo>
                    <a:pt x="0" y="0"/>
                  </a:moveTo>
                  <a:lnTo>
                    <a:pt x="636282" y="0"/>
                  </a:lnTo>
                  <a:lnTo>
                    <a:pt x="636282" y="2709333"/>
                  </a:lnTo>
                  <a:lnTo>
                    <a:pt x="0" y="2709333"/>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4" id="4"/>
            <p:cNvSpPr txBox="true"/>
            <p:nvPr/>
          </p:nvSpPr>
          <p:spPr>
            <a:xfrm>
              <a:off x="0" y="-38100"/>
              <a:ext cx="636282"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918080" y="1097369"/>
            <a:ext cx="581010" cy="570222"/>
          </a:xfrm>
          <a:custGeom>
            <a:avLst/>
            <a:gdLst/>
            <a:ahLst/>
            <a:cxnLst/>
            <a:rect r="r" b="b" t="t" l="l"/>
            <a:pathLst>
              <a:path h="570222" w="581010">
                <a:moveTo>
                  <a:pt x="0" y="0"/>
                </a:moveTo>
                <a:lnTo>
                  <a:pt x="581010" y="0"/>
                </a:lnTo>
                <a:lnTo>
                  <a:pt x="581010" y="570222"/>
                </a:lnTo>
                <a:lnTo>
                  <a:pt x="0" y="570222"/>
                </a:lnTo>
                <a:lnTo>
                  <a:pt x="0" y="0"/>
                </a:lnTo>
                <a:close/>
              </a:path>
            </a:pathLst>
          </a:custGeom>
          <a:blipFill>
            <a:blip r:embed="rId2"/>
            <a:stretch>
              <a:fillRect l="0" t="0" r="0" b="0"/>
            </a:stretch>
          </a:blipFill>
        </p:spPr>
      </p:sp>
      <p:grpSp>
        <p:nvGrpSpPr>
          <p:cNvPr name="Group 6" id="6"/>
          <p:cNvGrpSpPr/>
          <p:nvPr/>
        </p:nvGrpSpPr>
        <p:grpSpPr>
          <a:xfrm rot="0">
            <a:off x="3320099" y="7508794"/>
            <a:ext cx="5544361" cy="1532733"/>
            <a:chOff x="0" y="0"/>
            <a:chExt cx="7392482" cy="2043643"/>
          </a:xfrm>
        </p:grpSpPr>
        <p:grpSp>
          <p:nvGrpSpPr>
            <p:cNvPr name="Group 7" id="7"/>
            <p:cNvGrpSpPr/>
            <p:nvPr/>
          </p:nvGrpSpPr>
          <p:grpSpPr>
            <a:xfrm rot="0">
              <a:off x="0" y="147166"/>
              <a:ext cx="282714" cy="134591"/>
              <a:chOff x="0" y="0"/>
              <a:chExt cx="1707319" cy="812800"/>
            </a:xfrm>
          </p:grpSpPr>
          <p:sp>
            <p:nvSpPr>
              <p:cNvPr name="Freeform 8" id="8"/>
              <p:cNvSpPr/>
              <p:nvPr/>
            </p:nvSpPr>
            <p:spPr>
              <a:xfrm flipH="false" flipV="false" rot="0">
                <a:off x="0" y="0"/>
                <a:ext cx="1707319" cy="812800"/>
              </a:xfrm>
              <a:custGeom>
                <a:avLst/>
                <a:gdLst/>
                <a:ahLst/>
                <a:cxnLst/>
                <a:rect r="r" b="b" t="t" l="l"/>
                <a:pathLst>
                  <a:path h="812800" w="1707319">
                    <a:moveTo>
                      <a:pt x="853660" y="0"/>
                    </a:moveTo>
                    <a:cubicBezTo>
                      <a:pt x="382196" y="0"/>
                      <a:pt x="0" y="181951"/>
                      <a:pt x="0" y="406400"/>
                    </a:cubicBezTo>
                    <a:cubicBezTo>
                      <a:pt x="0" y="630849"/>
                      <a:pt x="382196" y="812800"/>
                      <a:pt x="853660" y="812800"/>
                    </a:cubicBezTo>
                    <a:cubicBezTo>
                      <a:pt x="1325123" y="812800"/>
                      <a:pt x="1707319" y="630849"/>
                      <a:pt x="1707319" y="406400"/>
                    </a:cubicBezTo>
                    <a:cubicBezTo>
                      <a:pt x="1707319" y="181951"/>
                      <a:pt x="1325123" y="0"/>
                      <a:pt x="85366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9" id="9"/>
              <p:cNvSpPr txBox="true"/>
              <p:nvPr/>
            </p:nvSpPr>
            <p:spPr>
              <a:xfrm>
                <a:off x="160061" y="104775"/>
                <a:ext cx="1387197" cy="631825"/>
              </a:xfrm>
              <a:prstGeom prst="rect">
                <a:avLst/>
              </a:prstGeom>
            </p:spPr>
            <p:txBody>
              <a:bodyPr anchor="ctr" rtlCol="false" tIns="50800" lIns="50800" bIns="50800" rIns="50800"/>
              <a:lstStyle/>
              <a:p>
                <a:pPr algn="ctr" marL="0" indent="0" lvl="0">
                  <a:lnSpc>
                    <a:spcPts val="1308"/>
                  </a:lnSpc>
                </a:pPr>
              </a:p>
            </p:txBody>
          </p:sp>
        </p:grpSp>
        <p:sp>
          <p:nvSpPr>
            <p:cNvPr name="TextBox 10" id="10"/>
            <p:cNvSpPr txBox="true"/>
            <p:nvPr/>
          </p:nvSpPr>
          <p:spPr>
            <a:xfrm rot="0">
              <a:off x="691171" y="47625"/>
              <a:ext cx="5774591" cy="381297"/>
            </a:xfrm>
            <a:prstGeom prst="rect">
              <a:avLst/>
            </a:prstGeom>
          </p:spPr>
          <p:txBody>
            <a:bodyPr anchor="t" rtlCol="false" tIns="0" lIns="0" bIns="0" rIns="0">
              <a:spAutoFit/>
            </a:bodyPr>
            <a:lstStyle/>
            <a:p>
              <a:pPr algn="l" marL="0" indent="0" lvl="0">
                <a:lnSpc>
                  <a:spcPts val="1869"/>
                </a:lnSpc>
              </a:pPr>
              <a:r>
                <a:rPr lang="en-US" b="true" sz="2149">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GROUP 5 </a:t>
              </a:r>
            </a:p>
          </p:txBody>
        </p:sp>
        <p:sp>
          <p:nvSpPr>
            <p:cNvPr name="TextBox 11" id="11"/>
            <p:cNvSpPr txBox="true"/>
            <p:nvPr/>
          </p:nvSpPr>
          <p:spPr>
            <a:xfrm rot="0">
              <a:off x="691171" y="1255993"/>
              <a:ext cx="5774591" cy="381297"/>
            </a:xfrm>
            <a:prstGeom prst="rect">
              <a:avLst/>
            </a:prstGeom>
          </p:spPr>
          <p:txBody>
            <a:bodyPr anchor="t" rtlCol="false" tIns="0" lIns="0" bIns="0" rIns="0">
              <a:spAutoFit/>
            </a:bodyPr>
            <a:lstStyle/>
            <a:p>
              <a:pPr algn="l" marL="0" indent="0" lvl="0">
                <a:lnSpc>
                  <a:spcPts val="1869"/>
                </a:lnSpc>
              </a:pPr>
              <a:r>
                <a:rPr lang="en-US" b="true" sz="2149">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DEPARTMENT</a:t>
              </a:r>
            </a:p>
          </p:txBody>
        </p:sp>
        <p:sp>
          <p:nvSpPr>
            <p:cNvPr name="TextBox 12" id="12"/>
            <p:cNvSpPr txBox="true"/>
            <p:nvPr/>
          </p:nvSpPr>
          <p:spPr>
            <a:xfrm rot="0">
              <a:off x="691171" y="1675391"/>
              <a:ext cx="6701311" cy="368253"/>
            </a:xfrm>
            <a:prstGeom prst="rect">
              <a:avLst/>
            </a:prstGeom>
          </p:spPr>
          <p:txBody>
            <a:bodyPr anchor="t" rtlCol="false" tIns="0" lIns="0" bIns="0" rIns="0">
              <a:spAutoFit/>
            </a:bodyPr>
            <a:lstStyle/>
            <a:p>
              <a:pPr algn="l" marL="0" indent="0" lvl="0">
                <a:lnSpc>
                  <a:spcPts val="1801"/>
                </a:lnSpc>
              </a:pPr>
              <a:r>
                <a:rPr lang="en-US" sz="2070">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Computer </a:t>
              </a:r>
              <a:r>
                <a:rPr lang="en-US" sz="2070">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Engineering</a:t>
              </a:r>
            </a:p>
          </p:txBody>
        </p:sp>
        <p:grpSp>
          <p:nvGrpSpPr>
            <p:cNvPr name="Group 13" id="13"/>
            <p:cNvGrpSpPr/>
            <p:nvPr/>
          </p:nvGrpSpPr>
          <p:grpSpPr>
            <a:xfrm rot="0">
              <a:off x="0" y="1422830"/>
              <a:ext cx="282714" cy="134591"/>
              <a:chOff x="0" y="0"/>
              <a:chExt cx="1707319" cy="812800"/>
            </a:xfrm>
          </p:grpSpPr>
          <p:sp>
            <p:nvSpPr>
              <p:cNvPr name="Freeform 14" id="14"/>
              <p:cNvSpPr/>
              <p:nvPr/>
            </p:nvSpPr>
            <p:spPr>
              <a:xfrm flipH="false" flipV="false" rot="0">
                <a:off x="0" y="0"/>
                <a:ext cx="1707319" cy="812800"/>
              </a:xfrm>
              <a:custGeom>
                <a:avLst/>
                <a:gdLst/>
                <a:ahLst/>
                <a:cxnLst/>
                <a:rect r="r" b="b" t="t" l="l"/>
                <a:pathLst>
                  <a:path h="812800" w="1707319">
                    <a:moveTo>
                      <a:pt x="853660" y="0"/>
                    </a:moveTo>
                    <a:cubicBezTo>
                      <a:pt x="382196" y="0"/>
                      <a:pt x="0" y="181951"/>
                      <a:pt x="0" y="406400"/>
                    </a:cubicBezTo>
                    <a:cubicBezTo>
                      <a:pt x="0" y="630849"/>
                      <a:pt x="382196" y="812800"/>
                      <a:pt x="853660" y="812800"/>
                    </a:cubicBezTo>
                    <a:cubicBezTo>
                      <a:pt x="1325123" y="812800"/>
                      <a:pt x="1707319" y="630849"/>
                      <a:pt x="1707319" y="406400"/>
                    </a:cubicBezTo>
                    <a:cubicBezTo>
                      <a:pt x="1707319" y="181951"/>
                      <a:pt x="1325123" y="0"/>
                      <a:pt x="85366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5" id="15"/>
              <p:cNvSpPr txBox="true"/>
              <p:nvPr/>
            </p:nvSpPr>
            <p:spPr>
              <a:xfrm>
                <a:off x="160061" y="104775"/>
                <a:ext cx="1387197" cy="631825"/>
              </a:xfrm>
              <a:prstGeom prst="rect">
                <a:avLst/>
              </a:prstGeom>
            </p:spPr>
            <p:txBody>
              <a:bodyPr anchor="ctr" rtlCol="false" tIns="50800" lIns="50800" bIns="50800" rIns="50800"/>
              <a:lstStyle/>
              <a:p>
                <a:pPr algn="ctr" marL="0" indent="0" lvl="0">
                  <a:lnSpc>
                    <a:spcPts val="1308"/>
                  </a:lnSpc>
                </a:pPr>
              </a:p>
            </p:txBody>
          </p:sp>
        </p:grpSp>
      </p:grpSp>
      <p:sp>
        <p:nvSpPr>
          <p:cNvPr name="TextBox 16" id="16"/>
          <p:cNvSpPr txBox="true"/>
          <p:nvPr/>
        </p:nvSpPr>
        <p:spPr>
          <a:xfrm rot="0">
            <a:off x="3012606" y="2064082"/>
            <a:ext cx="8289038" cy="2272213"/>
          </a:xfrm>
          <a:prstGeom prst="rect">
            <a:avLst/>
          </a:prstGeom>
        </p:spPr>
        <p:txBody>
          <a:bodyPr anchor="t" rtlCol="false" tIns="0" lIns="0" bIns="0" rIns="0">
            <a:spAutoFit/>
          </a:bodyPr>
          <a:lstStyle/>
          <a:p>
            <a:pPr algn="l" marL="0" indent="0" lvl="0">
              <a:lnSpc>
                <a:spcPts val="4482"/>
              </a:lnSpc>
            </a:pPr>
            <a:r>
              <a:rPr lang="en-US" sz="4573" spc="-292">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DESIGN AND IMPLEMENTATION OF A MOBILE APP FOR COLLECTION OF USER EXPERIENCE DATA FROM MOBILE NETWORK SUBSCRIBERS</a:t>
            </a:r>
          </a:p>
        </p:txBody>
      </p:sp>
      <p:sp>
        <p:nvSpPr>
          <p:cNvPr name="TextBox 17" id="17"/>
          <p:cNvSpPr txBox="true"/>
          <p:nvPr/>
        </p:nvSpPr>
        <p:spPr>
          <a:xfrm rot="0">
            <a:off x="3320099" y="5570120"/>
            <a:ext cx="5696631" cy="1101260"/>
          </a:xfrm>
          <a:prstGeom prst="rect">
            <a:avLst/>
          </a:prstGeom>
        </p:spPr>
        <p:txBody>
          <a:bodyPr anchor="t" rtlCol="false" tIns="0" lIns="0" bIns="0" rIns="0">
            <a:spAutoFit/>
          </a:bodyPr>
          <a:lstStyle/>
          <a:p>
            <a:pPr algn="just" marL="0" indent="0" lvl="0">
              <a:lnSpc>
                <a:spcPts val="2858"/>
              </a:lnSpc>
            </a:pPr>
            <a:r>
              <a:rPr lang="en-US" sz="2233" spc="-6">
                <a:solidFill>
                  <a:srgbClr val="3A58E4"/>
                </a:solidFill>
                <a:latin typeface="Poppins"/>
                <a:ea typeface="Poppins"/>
                <a:cs typeface="Poppins"/>
                <a:sym typeface="Poppins"/>
              </a:rPr>
              <a:t>CEF440 - Internet and Mobile Programming | Software Engineering Option</a:t>
            </a:r>
          </a:p>
        </p:txBody>
      </p:sp>
      <p:sp>
        <p:nvSpPr>
          <p:cNvPr name="TextBox 18" id="18"/>
          <p:cNvSpPr txBox="true"/>
          <p:nvPr/>
        </p:nvSpPr>
        <p:spPr>
          <a:xfrm rot="0">
            <a:off x="350972" y="1968832"/>
            <a:ext cx="1704171" cy="342132"/>
          </a:xfrm>
          <a:prstGeom prst="rect">
            <a:avLst/>
          </a:prstGeom>
        </p:spPr>
        <p:txBody>
          <a:bodyPr anchor="t" rtlCol="false" tIns="0" lIns="0" bIns="0" rIns="0">
            <a:spAutoFit/>
          </a:bodyPr>
          <a:lstStyle/>
          <a:p>
            <a:pPr algn="ctr" marL="0" indent="0" lvl="0">
              <a:lnSpc>
                <a:spcPts val="2419"/>
              </a:lnSpc>
            </a:pPr>
            <a:r>
              <a:rPr lang="en-US" b="true" sz="2261">
                <a:solidFill>
                  <a:srgbClr val="FFFFFF"/>
                </a:solidFill>
                <a:latin typeface="Poppins Bold"/>
                <a:ea typeface="Poppins Bold"/>
                <a:cs typeface="Poppins Bold"/>
                <a:sym typeface="Poppins Bold"/>
              </a:rPr>
              <a:t>CEF440</a:t>
            </a:r>
          </a:p>
        </p:txBody>
      </p:sp>
      <p:sp>
        <p:nvSpPr>
          <p:cNvPr name="TextBox 19" id="19"/>
          <p:cNvSpPr txBox="true"/>
          <p:nvPr/>
        </p:nvSpPr>
        <p:spPr>
          <a:xfrm rot="0">
            <a:off x="360740" y="2310991"/>
            <a:ext cx="1704171" cy="331238"/>
          </a:xfrm>
          <a:prstGeom prst="rect">
            <a:avLst/>
          </a:prstGeom>
        </p:spPr>
        <p:txBody>
          <a:bodyPr anchor="t" rtlCol="false" tIns="0" lIns="0" bIns="0" rIns="0">
            <a:spAutoFit/>
          </a:bodyPr>
          <a:lstStyle/>
          <a:p>
            <a:pPr algn="ctr" marL="0" indent="0" lvl="0">
              <a:lnSpc>
                <a:spcPts val="2330"/>
              </a:lnSpc>
            </a:pPr>
            <a:r>
              <a:rPr lang="en-US" sz="2178">
                <a:solidFill>
                  <a:srgbClr val="FFFFFF"/>
                </a:solidFill>
                <a:latin typeface="Poppins"/>
                <a:ea typeface="Poppins"/>
                <a:cs typeface="Poppins"/>
                <a:sym typeface="Poppins"/>
              </a:rPr>
              <a:t>Project</a:t>
            </a:r>
          </a:p>
        </p:txBody>
      </p:sp>
      <p:grpSp>
        <p:nvGrpSpPr>
          <p:cNvPr name="Group 20" id="20"/>
          <p:cNvGrpSpPr/>
          <p:nvPr/>
        </p:nvGrpSpPr>
        <p:grpSpPr>
          <a:xfrm rot="0">
            <a:off x="360740" y="8287049"/>
            <a:ext cx="1713939" cy="968645"/>
            <a:chOff x="0" y="0"/>
            <a:chExt cx="2285252" cy="1291527"/>
          </a:xfrm>
        </p:grpSpPr>
        <p:sp>
          <p:nvSpPr>
            <p:cNvPr name="TextBox 21" id="21"/>
            <p:cNvSpPr txBox="true"/>
            <p:nvPr/>
          </p:nvSpPr>
          <p:spPr>
            <a:xfrm rot="0">
              <a:off x="0" y="0"/>
              <a:ext cx="2272228" cy="456176"/>
            </a:xfrm>
            <a:prstGeom prst="rect">
              <a:avLst/>
            </a:prstGeom>
          </p:spPr>
          <p:txBody>
            <a:bodyPr anchor="t" rtlCol="false" tIns="0" lIns="0" bIns="0" rIns="0">
              <a:spAutoFit/>
            </a:bodyPr>
            <a:lstStyle/>
            <a:p>
              <a:pPr algn="ctr" marL="0" indent="0" lvl="0">
                <a:lnSpc>
                  <a:spcPts val="2419"/>
                </a:lnSpc>
              </a:pPr>
              <a:r>
                <a:rPr lang="en-US" b="true" sz="2261">
                  <a:solidFill>
                    <a:srgbClr val="FFFFFF"/>
                  </a:solidFill>
                  <a:latin typeface="Poppins Bold"/>
                  <a:ea typeface="Poppins Bold"/>
                  <a:cs typeface="Poppins Bold"/>
                  <a:sym typeface="Poppins Bold"/>
                </a:rPr>
                <a:t>2026</a:t>
              </a:r>
            </a:p>
          </p:txBody>
        </p:sp>
        <p:sp>
          <p:nvSpPr>
            <p:cNvPr name="TextBox 22" id="22"/>
            <p:cNvSpPr txBox="true"/>
            <p:nvPr/>
          </p:nvSpPr>
          <p:spPr>
            <a:xfrm rot="0">
              <a:off x="13024" y="456176"/>
              <a:ext cx="2272228" cy="835351"/>
            </a:xfrm>
            <a:prstGeom prst="rect">
              <a:avLst/>
            </a:prstGeom>
          </p:spPr>
          <p:txBody>
            <a:bodyPr anchor="t" rtlCol="false" tIns="0" lIns="0" bIns="0" rIns="0">
              <a:spAutoFit/>
            </a:bodyPr>
            <a:lstStyle/>
            <a:p>
              <a:pPr algn="ctr" marL="0" indent="0" lvl="0">
                <a:lnSpc>
                  <a:spcPts val="2330"/>
                </a:lnSpc>
              </a:pPr>
              <a:r>
                <a:rPr lang="en-US" sz="2178">
                  <a:solidFill>
                    <a:srgbClr val="FFFFFF"/>
                  </a:solidFill>
                  <a:latin typeface="Poppins"/>
                  <a:ea typeface="Poppins"/>
                  <a:cs typeface="Poppins"/>
                  <a:sym typeface="Poppins"/>
                </a:rPr>
                <a:t>Academic Year</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33665" y="5930756"/>
            <a:ext cx="3625123" cy="2648558"/>
          </a:xfrm>
          <a:prstGeom prst="rect">
            <a:avLst/>
          </a:prstGeom>
        </p:spPr>
        <p:txBody>
          <a:bodyPr anchor="t" rtlCol="false" tIns="0" lIns="0" bIns="0" rIns="0">
            <a:spAutoFit/>
          </a:bodyPr>
          <a:lstStyle/>
          <a:p>
            <a:pPr algn="l" marL="0" indent="0" lvl="0">
              <a:lnSpc>
                <a:spcPts val="4301"/>
              </a:lnSpc>
            </a:pPr>
            <a:r>
              <a:rPr lang="en-US" sz="1720" spc="-110">
                <a:solidFill>
                  <a:srgbClr val="3A58E4"/>
                </a:solidFill>
                <a:latin typeface="Poppins"/>
                <a:ea typeface="Poppins"/>
                <a:cs typeface="Poppins"/>
                <a:sym typeface="Poppins"/>
              </a:rPr>
              <a:t>Introduction, Problem &amp; Objectives</a:t>
            </a:r>
          </a:p>
          <a:p>
            <a:pPr algn="l" marL="0" indent="0" lvl="0">
              <a:lnSpc>
                <a:spcPts val="4301"/>
              </a:lnSpc>
            </a:pPr>
            <a:r>
              <a:rPr lang="en-US" sz="1720" spc="-110">
                <a:solidFill>
                  <a:srgbClr val="3A58E4"/>
                </a:solidFill>
                <a:latin typeface="Poppins"/>
                <a:ea typeface="Poppins"/>
                <a:cs typeface="Poppins"/>
                <a:sym typeface="Poppins"/>
              </a:rPr>
              <a:t>Literature &amp; Technology Stack</a:t>
            </a:r>
          </a:p>
          <a:p>
            <a:pPr algn="l" marL="0" indent="0" lvl="0">
              <a:lnSpc>
                <a:spcPts val="4301"/>
              </a:lnSpc>
            </a:pPr>
            <a:r>
              <a:rPr lang="en-US" sz="1720" spc="-110">
                <a:solidFill>
                  <a:srgbClr val="3A58E4"/>
                </a:solidFill>
                <a:latin typeface="Poppins"/>
                <a:ea typeface="Poppins"/>
                <a:cs typeface="Poppins"/>
                <a:sym typeface="Poppins"/>
              </a:rPr>
              <a:t>Requirements &amp; System Design</a:t>
            </a:r>
          </a:p>
          <a:p>
            <a:pPr algn="l" marL="0" indent="0" lvl="0">
              <a:lnSpc>
                <a:spcPts val="4301"/>
              </a:lnSpc>
            </a:pPr>
            <a:r>
              <a:rPr lang="en-US" sz="1720" spc="-110">
                <a:solidFill>
                  <a:srgbClr val="3A58E4"/>
                </a:solidFill>
                <a:latin typeface="Poppins"/>
                <a:ea typeface="Poppins"/>
                <a:cs typeface="Poppins"/>
                <a:sym typeface="Poppins"/>
              </a:rPr>
              <a:t>Implementation &amp; Measurement</a:t>
            </a:r>
          </a:p>
          <a:p>
            <a:pPr algn="l" marL="0" indent="0" lvl="0">
              <a:lnSpc>
                <a:spcPts val="4301"/>
              </a:lnSpc>
            </a:pPr>
            <a:r>
              <a:rPr lang="en-US" sz="1720" spc="-110">
                <a:solidFill>
                  <a:srgbClr val="3A58E4"/>
                </a:solidFill>
                <a:latin typeface="Poppins"/>
                <a:ea typeface="Poppins"/>
                <a:cs typeface="Poppins"/>
                <a:sym typeface="Poppins"/>
              </a:rPr>
              <a:t>Results, Conclusion &amp; Future Work</a:t>
            </a:r>
          </a:p>
        </p:txBody>
      </p:sp>
      <p:sp>
        <p:nvSpPr>
          <p:cNvPr name="AutoShape 3" id="3"/>
          <p:cNvSpPr/>
          <p:nvPr/>
        </p:nvSpPr>
        <p:spPr>
          <a:xfrm>
            <a:off x="4188847" y="6026742"/>
            <a:ext cx="3866216" cy="0"/>
          </a:xfrm>
          <a:prstGeom prst="line">
            <a:avLst/>
          </a:prstGeom>
          <a:ln cap="rnd" w="9525">
            <a:solidFill>
              <a:srgbClr val="3A58E4"/>
            </a:solidFill>
            <a:prstDash val="solid"/>
            <a:headEnd type="none" len="sm" w="sm"/>
            <a:tailEnd type="none" len="sm" w="sm"/>
          </a:ln>
        </p:spPr>
      </p:sp>
      <p:sp>
        <p:nvSpPr>
          <p:cNvPr name="AutoShape 4" id="4"/>
          <p:cNvSpPr/>
          <p:nvPr/>
        </p:nvSpPr>
        <p:spPr>
          <a:xfrm>
            <a:off x="3875499" y="6820183"/>
            <a:ext cx="4179564" cy="0"/>
          </a:xfrm>
          <a:prstGeom prst="line">
            <a:avLst/>
          </a:prstGeom>
          <a:ln cap="rnd" w="9525">
            <a:solidFill>
              <a:srgbClr val="3A58E4"/>
            </a:solidFill>
            <a:prstDash val="solid"/>
            <a:headEnd type="none" len="sm" w="sm"/>
            <a:tailEnd type="none" len="sm" w="sm"/>
          </a:ln>
        </p:spPr>
      </p:sp>
      <p:sp>
        <p:nvSpPr>
          <p:cNvPr name="AutoShape 5" id="5"/>
          <p:cNvSpPr/>
          <p:nvPr/>
        </p:nvSpPr>
        <p:spPr>
          <a:xfrm>
            <a:off x="4355079" y="7611677"/>
            <a:ext cx="3699984" cy="0"/>
          </a:xfrm>
          <a:prstGeom prst="line">
            <a:avLst/>
          </a:prstGeom>
          <a:ln cap="rnd" w="9525">
            <a:solidFill>
              <a:srgbClr val="3A58E4"/>
            </a:solidFill>
            <a:prstDash val="solid"/>
            <a:headEnd type="none" len="sm" w="sm"/>
            <a:tailEnd type="none" len="sm" w="sm"/>
          </a:ln>
        </p:spPr>
      </p:sp>
      <p:sp>
        <p:nvSpPr>
          <p:cNvPr name="AutoShape 6" id="6"/>
          <p:cNvSpPr/>
          <p:nvPr/>
        </p:nvSpPr>
        <p:spPr>
          <a:xfrm>
            <a:off x="4883376" y="8403541"/>
            <a:ext cx="3171687" cy="0"/>
          </a:xfrm>
          <a:prstGeom prst="line">
            <a:avLst/>
          </a:prstGeom>
          <a:ln cap="rnd" w="9525">
            <a:solidFill>
              <a:srgbClr val="3A58E4"/>
            </a:solidFill>
            <a:prstDash val="solid"/>
            <a:headEnd type="none" len="sm" w="sm"/>
            <a:tailEnd type="none" len="sm" w="sm"/>
          </a:ln>
        </p:spPr>
      </p:sp>
      <p:sp>
        <p:nvSpPr>
          <p:cNvPr name="TextBox 7" id="7"/>
          <p:cNvSpPr txBox="true"/>
          <p:nvPr/>
        </p:nvSpPr>
        <p:spPr>
          <a:xfrm rot="0">
            <a:off x="8275007" y="5930756"/>
            <a:ext cx="504523" cy="2648558"/>
          </a:xfrm>
          <a:prstGeom prst="rect">
            <a:avLst/>
          </a:prstGeom>
        </p:spPr>
        <p:txBody>
          <a:bodyPr anchor="t" rtlCol="false" tIns="0" lIns="0" bIns="0" rIns="0">
            <a:spAutoFit/>
          </a:bodyPr>
          <a:lstStyle/>
          <a:p>
            <a:pPr algn="l" marL="0" indent="0" lvl="0">
              <a:lnSpc>
                <a:spcPts val="4301"/>
              </a:lnSpc>
            </a:pPr>
            <a:r>
              <a:rPr lang="en-US" sz="1720" spc="-110">
                <a:solidFill>
                  <a:srgbClr val="3A58E4"/>
                </a:solidFill>
                <a:latin typeface="Poppins"/>
                <a:ea typeface="Poppins"/>
                <a:cs typeface="Poppins"/>
                <a:sym typeface="Poppins"/>
              </a:rPr>
              <a:t>01</a:t>
            </a:r>
          </a:p>
          <a:p>
            <a:pPr algn="l" marL="0" indent="0" lvl="0">
              <a:lnSpc>
                <a:spcPts val="4301"/>
              </a:lnSpc>
            </a:pPr>
            <a:r>
              <a:rPr lang="en-US" sz="1720" spc="-110">
                <a:solidFill>
                  <a:srgbClr val="3A58E4"/>
                </a:solidFill>
                <a:latin typeface="Poppins"/>
                <a:ea typeface="Poppins"/>
                <a:cs typeface="Poppins"/>
                <a:sym typeface="Poppins"/>
              </a:rPr>
              <a:t>02</a:t>
            </a:r>
          </a:p>
          <a:p>
            <a:pPr algn="l" marL="0" indent="0" lvl="0">
              <a:lnSpc>
                <a:spcPts val="4301"/>
              </a:lnSpc>
            </a:pPr>
            <a:r>
              <a:rPr lang="en-US" sz="1720" spc="-110">
                <a:solidFill>
                  <a:srgbClr val="3A58E4"/>
                </a:solidFill>
                <a:latin typeface="Poppins"/>
                <a:ea typeface="Poppins"/>
                <a:cs typeface="Poppins"/>
                <a:sym typeface="Poppins"/>
              </a:rPr>
              <a:t>03</a:t>
            </a:r>
          </a:p>
          <a:p>
            <a:pPr algn="l" marL="0" indent="0" lvl="0">
              <a:lnSpc>
                <a:spcPts val="4301"/>
              </a:lnSpc>
            </a:pPr>
            <a:r>
              <a:rPr lang="en-US" sz="1720" spc="-110">
                <a:solidFill>
                  <a:srgbClr val="3A58E4"/>
                </a:solidFill>
                <a:latin typeface="Poppins"/>
                <a:ea typeface="Poppins"/>
                <a:cs typeface="Poppins"/>
                <a:sym typeface="Poppins"/>
              </a:rPr>
              <a:t>04</a:t>
            </a:r>
          </a:p>
          <a:p>
            <a:pPr algn="l" marL="0" indent="0" lvl="0">
              <a:lnSpc>
                <a:spcPts val="4301"/>
              </a:lnSpc>
            </a:pPr>
            <a:r>
              <a:rPr lang="en-US" sz="1720" spc="-110">
                <a:solidFill>
                  <a:srgbClr val="3A58E4"/>
                </a:solidFill>
                <a:latin typeface="Poppins"/>
                <a:ea typeface="Poppins"/>
                <a:cs typeface="Poppins"/>
                <a:sym typeface="Poppins"/>
              </a:rPr>
              <a:t>05</a:t>
            </a:r>
          </a:p>
        </p:txBody>
      </p:sp>
      <p:sp>
        <p:nvSpPr>
          <p:cNvPr name="TextBox 8" id="8"/>
          <p:cNvSpPr txBox="true"/>
          <p:nvPr/>
        </p:nvSpPr>
        <p:spPr>
          <a:xfrm rot="0">
            <a:off x="9452665" y="4849132"/>
            <a:ext cx="3625123" cy="3730182"/>
          </a:xfrm>
          <a:prstGeom prst="rect">
            <a:avLst/>
          </a:prstGeom>
        </p:spPr>
        <p:txBody>
          <a:bodyPr anchor="t" rtlCol="false" tIns="0" lIns="0" bIns="0" rIns="0">
            <a:spAutoFit/>
          </a:bodyPr>
          <a:lstStyle/>
          <a:p>
            <a:pPr algn="l" marL="0" indent="0" lvl="0">
              <a:lnSpc>
                <a:spcPts val="4301"/>
              </a:lnSpc>
            </a:pPr>
            <a:r>
              <a:rPr lang="en-US" sz="1720" spc="-110">
                <a:solidFill>
                  <a:srgbClr val="3A58E4"/>
                </a:solidFill>
                <a:latin typeface="Poppins"/>
                <a:ea typeface="Poppins"/>
                <a:cs typeface="Poppins"/>
                <a:sym typeface="Poppins"/>
              </a:rPr>
              <a:t>Background, Context &amp; Survey Findings</a:t>
            </a:r>
          </a:p>
          <a:p>
            <a:pPr algn="l" marL="0" indent="0" lvl="0">
              <a:lnSpc>
                <a:spcPts val="4301"/>
              </a:lnSpc>
            </a:pPr>
            <a:r>
              <a:rPr lang="en-US" sz="1720" spc="-110">
                <a:solidFill>
                  <a:srgbClr val="3A58E4"/>
                </a:solidFill>
                <a:latin typeface="Poppins"/>
                <a:ea typeface="Poppins"/>
                <a:cs typeface="Poppins"/>
                <a:sym typeface="Poppins"/>
              </a:rPr>
              <a:t>System Modelling &amp; Database Design</a:t>
            </a:r>
          </a:p>
          <a:p>
            <a:pPr algn="l" marL="0" indent="0" lvl="0">
              <a:lnSpc>
                <a:spcPts val="4301"/>
              </a:lnSpc>
            </a:pPr>
            <a:r>
              <a:rPr lang="en-US" sz="1720" spc="-110">
                <a:solidFill>
                  <a:srgbClr val="3A58E4"/>
                </a:solidFill>
                <a:latin typeface="Poppins"/>
                <a:ea typeface="Poppins"/>
                <a:cs typeface="Poppins"/>
                <a:sym typeface="Poppins"/>
              </a:rPr>
              <a:t>Technical QoS &amp; QoE Metrics</a:t>
            </a:r>
          </a:p>
          <a:p>
            <a:pPr algn="l" marL="0" indent="0" lvl="0">
              <a:lnSpc>
                <a:spcPts val="4301"/>
              </a:lnSpc>
            </a:pPr>
            <a:r>
              <a:rPr lang="en-US" sz="1720" spc="-110">
                <a:solidFill>
                  <a:srgbClr val="3A58E4"/>
                </a:solidFill>
                <a:latin typeface="Poppins"/>
                <a:ea typeface="Poppins"/>
                <a:cs typeface="Poppins"/>
                <a:sym typeface="Poppins"/>
              </a:rPr>
              <a:t>Mobile App UI &amp; Admin Dashboard</a:t>
            </a:r>
          </a:p>
          <a:p>
            <a:pPr algn="l" marL="0" indent="0" lvl="0">
              <a:lnSpc>
                <a:spcPts val="4301"/>
              </a:lnSpc>
            </a:pPr>
            <a:r>
              <a:rPr lang="en-US" sz="1720" spc="-110">
                <a:solidFill>
                  <a:srgbClr val="3A58E4"/>
                </a:solidFill>
                <a:latin typeface="Poppins"/>
                <a:ea typeface="Poppins"/>
                <a:cs typeface="Poppins"/>
                <a:sym typeface="Poppins"/>
              </a:rPr>
              <a:t>Backend API, Evaluation &amp; Recommendations</a:t>
            </a:r>
          </a:p>
        </p:txBody>
      </p:sp>
      <p:sp>
        <p:nvSpPr>
          <p:cNvPr name="AutoShape 9" id="9"/>
          <p:cNvSpPr/>
          <p:nvPr/>
        </p:nvSpPr>
        <p:spPr>
          <a:xfrm flipV="true">
            <a:off x="12399512" y="5233301"/>
            <a:ext cx="4174552" cy="0"/>
          </a:xfrm>
          <a:prstGeom prst="line">
            <a:avLst/>
          </a:prstGeom>
          <a:ln cap="rnd" w="9525">
            <a:solidFill>
              <a:srgbClr val="3A58E4"/>
            </a:solidFill>
            <a:prstDash val="solid"/>
            <a:headEnd type="none" len="sm" w="sm"/>
            <a:tailEnd type="none" len="sm" w="sm"/>
          </a:ln>
        </p:spPr>
      </p:sp>
      <p:sp>
        <p:nvSpPr>
          <p:cNvPr name="AutoShape 10" id="10"/>
          <p:cNvSpPr/>
          <p:nvPr/>
        </p:nvSpPr>
        <p:spPr>
          <a:xfrm flipV="true">
            <a:off x="13077788" y="6026742"/>
            <a:ext cx="3496276" cy="0"/>
          </a:xfrm>
          <a:prstGeom prst="line">
            <a:avLst/>
          </a:prstGeom>
          <a:ln cap="rnd" w="9525">
            <a:solidFill>
              <a:srgbClr val="3A58E4"/>
            </a:solidFill>
            <a:prstDash val="solid"/>
            <a:headEnd type="none" len="sm" w="sm"/>
            <a:tailEnd type="none" len="sm" w="sm"/>
          </a:ln>
        </p:spPr>
      </p:sp>
      <p:sp>
        <p:nvSpPr>
          <p:cNvPr name="AutoShape 11" id="11"/>
          <p:cNvSpPr/>
          <p:nvPr/>
        </p:nvSpPr>
        <p:spPr>
          <a:xfrm>
            <a:off x="12714894" y="6820183"/>
            <a:ext cx="3859170" cy="0"/>
          </a:xfrm>
          <a:prstGeom prst="line">
            <a:avLst/>
          </a:prstGeom>
          <a:ln cap="rnd" w="9525">
            <a:solidFill>
              <a:srgbClr val="3A58E4"/>
            </a:solidFill>
            <a:prstDash val="solid"/>
            <a:headEnd type="none" len="sm" w="sm"/>
            <a:tailEnd type="none" len="sm" w="sm"/>
          </a:ln>
        </p:spPr>
      </p:sp>
      <p:sp>
        <p:nvSpPr>
          <p:cNvPr name="AutoShape 12" id="12"/>
          <p:cNvSpPr/>
          <p:nvPr/>
        </p:nvSpPr>
        <p:spPr>
          <a:xfrm>
            <a:off x="11908397" y="7611677"/>
            <a:ext cx="4665667" cy="0"/>
          </a:xfrm>
          <a:prstGeom prst="line">
            <a:avLst/>
          </a:prstGeom>
          <a:ln cap="rnd" w="9525">
            <a:solidFill>
              <a:srgbClr val="3A58E4"/>
            </a:solidFill>
            <a:prstDash val="solid"/>
            <a:headEnd type="none" len="sm" w="sm"/>
            <a:tailEnd type="none" len="sm" w="sm"/>
          </a:ln>
        </p:spPr>
      </p:sp>
      <p:sp>
        <p:nvSpPr>
          <p:cNvPr name="AutoShape 13" id="13"/>
          <p:cNvSpPr/>
          <p:nvPr/>
        </p:nvSpPr>
        <p:spPr>
          <a:xfrm>
            <a:off x="13077788" y="8403541"/>
            <a:ext cx="3496276" cy="0"/>
          </a:xfrm>
          <a:prstGeom prst="line">
            <a:avLst/>
          </a:prstGeom>
          <a:ln cap="rnd" w="9525">
            <a:solidFill>
              <a:srgbClr val="3A58E4"/>
            </a:solidFill>
            <a:prstDash val="solid"/>
            <a:headEnd type="none" len="sm" w="sm"/>
            <a:tailEnd type="none" len="sm" w="sm"/>
          </a:ln>
        </p:spPr>
      </p:sp>
      <p:sp>
        <p:nvSpPr>
          <p:cNvPr name="TextBox 14" id="14"/>
          <p:cNvSpPr txBox="true"/>
          <p:nvPr/>
        </p:nvSpPr>
        <p:spPr>
          <a:xfrm rot="0">
            <a:off x="16794008" y="5930756"/>
            <a:ext cx="560327" cy="2648558"/>
          </a:xfrm>
          <a:prstGeom prst="rect">
            <a:avLst/>
          </a:prstGeom>
        </p:spPr>
        <p:txBody>
          <a:bodyPr anchor="t" rtlCol="false" tIns="0" lIns="0" bIns="0" rIns="0">
            <a:spAutoFit/>
          </a:bodyPr>
          <a:lstStyle/>
          <a:p>
            <a:pPr algn="l" marL="0" indent="0" lvl="0">
              <a:lnSpc>
                <a:spcPts val="4301"/>
              </a:lnSpc>
            </a:pPr>
            <a:r>
              <a:rPr lang="en-US" sz="1720" spc="-110">
                <a:solidFill>
                  <a:srgbClr val="3A58E4"/>
                </a:solidFill>
                <a:latin typeface="Poppins"/>
                <a:ea typeface="Poppins"/>
                <a:cs typeface="Poppins"/>
                <a:sym typeface="Poppins"/>
              </a:rPr>
              <a:t>06</a:t>
            </a:r>
          </a:p>
          <a:p>
            <a:pPr algn="l" marL="0" indent="0" lvl="0">
              <a:lnSpc>
                <a:spcPts val="4301"/>
              </a:lnSpc>
            </a:pPr>
            <a:r>
              <a:rPr lang="en-US" sz="1720" spc="-110">
                <a:solidFill>
                  <a:srgbClr val="3A58E4"/>
                </a:solidFill>
                <a:latin typeface="Poppins"/>
                <a:ea typeface="Poppins"/>
                <a:cs typeface="Poppins"/>
                <a:sym typeface="Poppins"/>
              </a:rPr>
              <a:t>07</a:t>
            </a:r>
          </a:p>
          <a:p>
            <a:pPr algn="l" marL="0" indent="0" lvl="0">
              <a:lnSpc>
                <a:spcPts val="4301"/>
              </a:lnSpc>
            </a:pPr>
            <a:r>
              <a:rPr lang="en-US" sz="1720" spc="-110">
                <a:solidFill>
                  <a:srgbClr val="3A58E4"/>
                </a:solidFill>
                <a:latin typeface="Poppins"/>
                <a:ea typeface="Poppins"/>
                <a:cs typeface="Poppins"/>
                <a:sym typeface="Poppins"/>
              </a:rPr>
              <a:t>08</a:t>
            </a:r>
          </a:p>
          <a:p>
            <a:pPr algn="l" marL="0" indent="0" lvl="0">
              <a:lnSpc>
                <a:spcPts val="4301"/>
              </a:lnSpc>
            </a:pPr>
            <a:r>
              <a:rPr lang="en-US" sz="1720" spc="-110">
                <a:solidFill>
                  <a:srgbClr val="3A58E4"/>
                </a:solidFill>
                <a:latin typeface="Poppins"/>
                <a:ea typeface="Poppins"/>
                <a:cs typeface="Poppins"/>
                <a:sym typeface="Poppins"/>
              </a:rPr>
              <a:t>09</a:t>
            </a:r>
          </a:p>
          <a:p>
            <a:pPr algn="l" marL="0" indent="0" lvl="0">
              <a:lnSpc>
                <a:spcPts val="4301"/>
              </a:lnSpc>
            </a:pPr>
            <a:r>
              <a:rPr lang="en-US" sz="1720" spc="-110">
                <a:solidFill>
                  <a:srgbClr val="3A58E4"/>
                </a:solidFill>
                <a:latin typeface="Poppins"/>
                <a:ea typeface="Poppins"/>
                <a:cs typeface="Poppins"/>
                <a:sym typeface="Poppins"/>
              </a:rPr>
              <a:t>10</a:t>
            </a:r>
          </a:p>
        </p:txBody>
      </p:sp>
      <p:grpSp>
        <p:nvGrpSpPr>
          <p:cNvPr name="Group 15" id="15"/>
          <p:cNvGrpSpPr/>
          <p:nvPr/>
        </p:nvGrpSpPr>
        <p:grpSpPr>
          <a:xfrm rot="0">
            <a:off x="4208579" y="3311917"/>
            <a:ext cx="9870843" cy="379246"/>
            <a:chOff x="0" y="0"/>
            <a:chExt cx="13161124" cy="505662"/>
          </a:xfrm>
        </p:grpSpPr>
        <p:sp>
          <p:nvSpPr>
            <p:cNvPr name="TextBox 16" id="16"/>
            <p:cNvSpPr txBox="true"/>
            <p:nvPr/>
          </p:nvSpPr>
          <p:spPr>
            <a:xfrm rot="0">
              <a:off x="0" y="148083"/>
              <a:ext cx="13021857" cy="357579"/>
            </a:xfrm>
            <a:prstGeom prst="rect">
              <a:avLst/>
            </a:prstGeom>
          </p:spPr>
          <p:txBody>
            <a:bodyPr anchor="t" rtlCol="false" tIns="0" lIns="0" bIns="0" rIns="0">
              <a:spAutoFit/>
            </a:bodyPr>
            <a:lstStyle/>
            <a:p>
              <a:pPr algn="l" marL="0" indent="0" lvl="0">
                <a:lnSpc>
                  <a:spcPts val="2273"/>
                </a:lnSpc>
              </a:pPr>
              <a:r>
                <a:rPr lang="en-US" sz="1624" spc="-40">
                  <a:gradFill>
                    <a:gsLst>
                      <a:gs pos="0">
                        <a:srgbClr val="3A58E4">
                          <a:alpha val="100000"/>
                        </a:srgbClr>
                      </a:gs>
                      <a:gs pos="100000">
                        <a:srgbClr val="293E9C">
                          <a:alpha val="100000"/>
                        </a:srgbClr>
                      </a:gs>
                    </a:gsLst>
                    <a:path path="circle">
                      <a:fillToRect l="0" r="100000" t="0" b="100000"/>
                    </a:path>
                    <a:tileRect r="0" l="-100000" b="0" t="-100000"/>
                  </a:gradFill>
                  <a:latin typeface="Poppins"/>
                  <a:ea typeface="Poppins"/>
                  <a:cs typeface="Poppins"/>
                  <a:sym typeface="Poppins"/>
                </a:rPr>
                <a:t>Structure and flow of today's presentation — CEF440 Internet and Mobile Programming</a:t>
              </a:r>
            </a:p>
          </p:txBody>
        </p:sp>
        <p:sp>
          <p:nvSpPr>
            <p:cNvPr name="Freeform 17" id="17"/>
            <p:cNvSpPr/>
            <p:nvPr/>
          </p:nvSpPr>
          <p:spPr>
            <a:xfrm flipH="false" flipV="false" rot="-8687136">
              <a:off x="12844104"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AutoShape 18" id="18"/>
          <p:cNvSpPr/>
          <p:nvPr/>
        </p:nvSpPr>
        <p:spPr>
          <a:xfrm>
            <a:off x="4208579" y="3853088"/>
            <a:ext cx="9870843" cy="0"/>
          </a:xfrm>
          <a:prstGeom prst="line">
            <a:avLst/>
          </a:prstGeom>
          <a:ln cap="rnd" w="19050">
            <a:solidFill>
              <a:srgbClr val="3A58E4"/>
            </a:solidFill>
            <a:prstDash val="solid"/>
            <a:headEnd type="none" len="sm" w="sm"/>
            <a:tailEnd type="none" len="sm" w="sm"/>
          </a:ln>
        </p:spPr>
      </p:sp>
      <p:sp>
        <p:nvSpPr>
          <p:cNvPr name="TextBox 19" id="19"/>
          <p:cNvSpPr txBox="true"/>
          <p:nvPr/>
        </p:nvSpPr>
        <p:spPr>
          <a:xfrm rot="0">
            <a:off x="3626085" y="1899498"/>
            <a:ext cx="11035829" cy="1014824"/>
          </a:xfrm>
          <a:prstGeom prst="rect">
            <a:avLst/>
          </a:prstGeom>
        </p:spPr>
        <p:txBody>
          <a:bodyPr anchor="t" rtlCol="false" tIns="0" lIns="0" bIns="0" rIns="0">
            <a:spAutoFit/>
          </a:bodyPr>
          <a:lstStyle/>
          <a:p>
            <a:pPr algn="ctr" marL="0" indent="0" lvl="0">
              <a:lnSpc>
                <a:spcPts val="7531"/>
              </a:lnSpc>
            </a:pPr>
            <a:r>
              <a:rPr lang="en-US" sz="7685" spc="-491">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Presentation Outline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492056" y="1525863"/>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8492056" y="4593830"/>
            <a:ext cx="7106119" cy="266065"/>
          </a:xfrm>
          <a:prstGeom prst="rect">
            <a:avLst/>
          </a:prstGeom>
        </p:spPr>
        <p:txBody>
          <a:bodyPr anchor="t" rtlCol="false" tIns="0" lIns="0" bIns="0" rIns="0">
            <a:spAutoFit/>
          </a:bodyPr>
          <a:lstStyle/>
          <a:p>
            <a:pPr algn="l" marL="0" indent="0" lvl="0">
              <a:lnSpc>
                <a:spcPts val="2135"/>
              </a:lnSpc>
            </a:pPr>
            <a:r>
              <a:rPr lang="en-US" b="true" sz="1525" spc="-38">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UNDERSTANDING THE MOBILE NETWORK LANDSCAPE AND THE QOS–QOE GAP</a:t>
            </a:r>
          </a:p>
        </p:txBody>
      </p:sp>
      <p:sp>
        <p:nvSpPr>
          <p:cNvPr name="Freeform 6" id="6"/>
          <p:cNvSpPr/>
          <p:nvPr/>
        </p:nvSpPr>
        <p:spPr>
          <a:xfrm flipH="false" flipV="false" rot="-8687136">
            <a:off x="15580115" y="4542838"/>
            <a:ext cx="189150" cy="228643"/>
          </a:xfrm>
          <a:custGeom>
            <a:avLst/>
            <a:gdLst/>
            <a:ahLst/>
            <a:cxnLst/>
            <a:rect r="r" b="b" t="t" l="l"/>
            <a:pathLst>
              <a:path h="228643" w="189150">
                <a:moveTo>
                  <a:pt x="0" y="0"/>
                </a:moveTo>
                <a:lnTo>
                  <a:pt x="189150" y="0"/>
                </a:lnTo>
                <a:lnTo>
                  <a:pt x="189150" y="228644"/>
                </a:lnTo>
                <a:lnTo>
                  <a:pt x="0" y="2286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0" y="0"/>
            <a:ext cx="6352295" cy="10287000"/>
            <a:chOff x="0" y="0"/>
            <a:chExt cx="984137" cy="1593725"/>
          </a:xfrm>
        </p:grpSpPr>
        <p:sp>
          <p:nvSpPr>
            <p:cNvPr name="Freeform 8" id="8"/>
            <p:cNvSpPr/>
            <p:nvPr/>
          </p:nvSpPr>
          <p:spPr>
            <a:xfrm flipH="false" flipV="false" rot="0">
              <a:off x="0" y="0"/>
              <a:ext cx="984137" cy="1593725"/>
            </a:xfrm>
            <a:custGeom>
              <a:avLst/>
              <a:gdLst/>
              <a:ahLst/>
              <a:cxnLst/>
              <a:rect r="r" b="b" t="t" l="l"/>
              <a:pathLst>
                <a:path h="1593725" w="984137">
                  <a:moveTo>
                    <a:pt x="0" y="0"/>
                  </a:moveTo>
                  <a:lnTo>
                    <a:pt x="984137" y="0"/>
                  </a:lnTo>
                  <a:lnTo>
                    <a:pt x="984137" y="1593725"/>
                  </a:lnTo>
                  <a:lnTo>
                    <a:pt x="0" y="1593725"/>
                  </a:lnTo>
                  <a:close/>
                </a:path>
              </a:pathLst>
            </a:custGeom>
            <a:blipFill>
              <a:blip r:embed="rId4"/>
              <a:stretch>
                <a:fillRect l="0" t="-306" r="0" b="-306"/>
              </a:stretch>
            </a:blipFill>
          </p:spPr>
        </p:sp>
      </p:grpSp>
      <p:grpSp>
        <p:nvGrpSpPr>
          <p:cNvPr name="Group 9" id="9"/>
          <p:cNvGrpSpPr/>
          <p:nvPr/>
        </p:nvGrpSpPr>
        <p:grpSpPr>
          <a:xfrm rot="0">
            <a:off x="16438046" y="351089"/>
            <a:ext cx="1849954" cy="1497078"/>
            <a:chOff x="0" y="0"/>
            <a:chExt cx="2466605" cy="1996104"/>
          </a:xfrm>
        </p:grpSpPr>
        <p:grpSp>
          <p:nvGrpSpPr>
            <p:cNvPr name="Group 10" id="10"/>
            <p:cNvGrpSpPr/>
            <p:nvPr/>
          </p:nvGrpSpPr>
          <p:grpSpPr>
            <a:xfrm rot="0">
              <a:off x="0" y="0"/>
              <a:ext cx="2466605" cy="1996104"/>
              <a:chOff x="0" y="0"/>
              <a:chExt cx="787566" cy="637339"/>
            </a:xfrm>
          </p:grpSpPr>
          <p:sp>
            <p:nvSpPr>
              <p:cNvPr name="Freeform 11" id="11"/>
              <p:cNvSpPr/>
              <p:nvPr/>
            </p:nvSpPr>
            <p:spPr>
              <a:xfrm flipH="false" flipV="false" rot="0">
                <a:off x="0" y="0"/>
                <a:ext cx="787566" cy="637339"/>
              </a:xfrm>
              <a:custGeom>
                <a:avLst/>
                <a:gdLst/>
                <a:ahLst/>
                <a:cxnLst/>
                <a:rect r="r" b="b" t="t" l="l"/>
                <a:pathLst>
                  <a:path h="637339" w="787566">
                    <a:moveTo>
                      <a:pt x="0" y="0"/>
                    </a:moveTo>
                    <a:lnTo>
                      <a:pt x="787566" y="0"/>
                    </a:lnTo>
                    <a:lnTo>
                      <a:pt x="787566" y="637339"/>
                    </a:lnTo>
                    <a:lnTo>
                      <a:pt x="0" y="637339"/>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2" id="12"/>
              <p:cNvSpPr txBox="true"/>
              <p:nvPr/>
            </p:nvSpPr>
            <p:spPr>
              <a:xfrm>
                <a:off x="0" y="-38100"/>
                <a:ext cx="787566" cy="675439"/>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319164" y="655949"/>
              <a:ext cx="1828278" cy="769931"/>
            </a:xfrm>
            <a:prstGeom prst="rect">
              <a:avLst/>
            </a:prstGeom>
          </p:spPr>
          <p:txBody>
            <a:bodyPr anchor="t" rtlCol="false" tIns="0" lIns="0" bIns="0" rIns="0">
              <a:spAutoFit/>
            </a:bodyPr>
            <a:lstStyle/>
            <a:p>
              <a:pPr algn="ctr" marL="0" indent="0" lvl="0">
                <a:lnSpc>
                  <a:spcPts val="4134"/>
                </a:lnSpc>
              </a:pPr>
              <a:r>
                <a:rPr lang="en-US" sz="4218" spc="-269">
                  <a:solidFill>
                    <a:srgbClr val="FFFFFF"/>
                  </a:solidFill>
                  <a:latin typeface="Bricolage Grotesque"/>
                  <a:ea typeface="Bricolage Grotesque"/>
                  <a:cs typeface="Bricolage Grotesque"/>
                  <a:sym typeface="Bricolage Grotesque"/>
                </a:rPr>
                <a:t>03</a:t>
              </a:r>
            </a:p>
          </p:txBody>
        </p:sp>
      </p:grpSp>
      <p:sp>
        <p:nvSpPr>
          <p:cNvPr name="AutoShape 14" id="14"/>
          <p:cNvSpPr/>
          <p:nvPr/>
        </p:nvSpPr>
        <p:spPr>
          <a:xfrm flipH="true">
            <a:off x="6542795" y="0"/>
            <a:ext cx="0" cy="10287000"/>
          </a:xfrm>
          <a:prstGeom prst="line">
            <a:avLst/>
          </a:prstGeom>
          <a:ln cap="rnd" w="19050">
            <a:solidFill>
              <a:srgbClr val="3A58E4"/>
            </a:solidFill>
            <a:prstDash val="solid"/>
            <a:headEnd type="none" len="sm" w="sm"/>
            <a:tailEnd type="none" len="sm" w="sm"/>
          </a:ln>
        </p:spPr>
      </p:sp>
      <p:sp>
        <p:nvSpPr>
          <p:cNvPr name="Freeform 15" id="15"/>
          <p:cNvSpPr/>
          <p:nvPr/>
        </p:nvSpPr>
        <p:spPr>
          <a:xfrm flipH="false" flipV="false" rot="0">
            <a:off x="5177017" y="5870652"/>
            <a:ext cx="2350556" cy="457290"/>
          </a:xfrm>
          <a:custGeom>
            <a:avLst/>
            <a:gdLst/>
            <a:ahLst/>
            <a:cxnLst/>
            <a:rect r="r" b="b" t="t" l="l"/>
            <a:pathLst>
              <a:path h="457290" w="2350556">
                <a:moveTo>
                  <a:pt x="0" y="0"/>
                </a:moveTo>
                <a:lnTo>
                  <a:pt x="2350556" y="0"/>
                </a:lnTo>
                <a:lnTo>
                  <a:pt x="2350556" y="457290"/>
                </a:lnTo>
                <a:lnTo>
                  <a:pt x="0" y="457290"/>
                </a:lnTo>
                <a:lnTo>
                  <a:pt x="0" y="0"/>
                </a:lnTo>
                <a:close/>
              </a:path>
            </a:pathLst>
          </a:custGeom>
          <a:blipFill>
            <a:blip r:embed="rId5"/>
            <a:stretch>
              <a:fillRect l="0" t="0" r="0" b="0"/>
            </a:stretch>
          </a:blipFill>
        </p:spPr>
      </p:sp>
      <p:grpSp>
        <p:nvGrpSpPr>
          <p:cNvPr name="Group 16" id="16"/>
          <p:cNvGrpSpPr/>
          <p:nvPr/>
        </p:nvGrpSpPr>
        <p:grpSpPr>
          <a:xfrm rot="0">
            <a:off x="5262566" y="3959058"/>
            <a:ext cx="2152019" cy="2149322"/>
            <a:chOff x="0" y="0"/>
            <a:chExt cx="567580" cy="566868"/>
          </a:xfrm>
        </p:grpSpPr>
        <p:sp>
          <p:nvSpPr>
            <p:cNvPr name="Freeform 17" id="17"/>
            <p:cNvSpPr/>
            <p:nvPr/>
          </p:nvSpPr>
          <p:spPr>
            <a:xfrm flipH="false" flipV="false" rot="0">
              <a:off x="0" y="0"/>
              <a:ext cx="567580" cy="566868"/>
            </a:xfrm>
            <a:custGeom>
              <a:avLst/>
              <a:gdLst/>
              <a:ahLst/>
              <a:cxnLst/>
              <a:rect r="r" b="b" t="t" l="l"/>
              <a:pathLst>
                <a:path h="566868" w="567580">
                  <a:moveTo>
                    <a:pt x="161888" y="0"/>
                  </a:moveTo>
                  <a:lnTo>
                    <a:pt x="405691" y="0"/>
                  </a:lnTo>
                  <a:cubicBezTo>
                    <a:pt x="495100" y="0"/>
                    <a:pt x="567580" y="72480"/>
                    <a:pt x="567580" y="161888"/>
                  </a:cubicBezTo>
                  <a:lnTo>
                    <a:pt x="567580" y="404980"/>
                  </a:lnTo>
                  <a:cubicBezTo>
                    <a:pt x="567580" y="494389"/>
                    <a:pt x="495100" y="566868"/>
                    <a:pt x="405691" y="566868"/>
                  </a:cubicBezTo>
                  <a:lnTo>
                    <a:pt x="161888" y="566868"/>
                  </a:lnTo>
                  <a:cubicBezTo>
                    <a:pt x="72480" y="566868"/>
                    <a:pt x="0" y="494389"/>
                    <a:pt x="0" y="404980"/>
                  </a:cubicBezTo>
                  <a:lnTo>
                    <a:pt x="0" y="161888"/>
                  </a:lnTo>
                  <a:cubicBezTo>
                    <a:pt x="0" y="72480"/>
                    <a:pt x="72480" y="0"/>
                    <a:pt x="161888"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rnd">
              <a:noFill/>
              <a:prstDash val="solid"/>
              <a:round/>
            </a:ln>
          </p:spPr>
        </p:sp>
        <p:sp>
          <p:nvSpPr>
            <p:cNvPr name="TextBox 18" id="18"/>
            <p:cNvSpPr txBox="true"/>
            <p:nvPr/>
          </p:nvSpPr>
          <p:spPr>
            <a:xfrm>
              <a:off x="0" y="28575"/>
              <a:ext cx="567580" cy="538293"/>
            </a:xfrm>
            <a:prstGeom prst="rect">
              <a:avLst/>
            </a:prstGeom>
          </p:spPr>
          <p:txBody>
            <a:bodyPr anchor="ctr" rtlCol="false" tIns="48445" lIns="48445" bIns="48445" rIns="48445"/>
            <a:lstStyle/>
            <a:p>
              <a:pPr algn="ctr" marL="0" indent="0" lvl="0">
                <a:lnSpc>
                  <a:spcPts val="2460"/>
                </a:lnSpc>
              </a:pPr>
            </a:p>
          </p:txBody>
        </p:sp>
      </p:grpSp>
      <p:sp>
        <p:nvSpPr>
          <p:cNvPr name="TextBox 19" id="19"/>
          <p:cNvSpPr txBox="true"/>
          <p:nvPr/>
        </p:nvSpPr>
        <p:spPr>
          <a:xfrm rot="0">
            <a:off x="5602320" y="4416246"/>
            <a:ext cx="1499950" cy="315855"/>
          </a:xfrm>
          <a:prstGeom prst="rect">
            <a:avLst/>
          </a:prstGeom>
        </p:spPr>
        <p:txBody>
          <a:bodyPr anchor="t" rtlCol="false" tIns="0" lIns="0" bIns="0" rIns="0">
            <a:spAutoFit/>
          </a:bodyPr>
          <a:lstStyle/>
          <a:p>
            <a:pPr algn="ctr" marL="0" indent="0" lvl="0">
              <a:lnSpc>
                <a:spcPts val="2365"/>
              </a:lnSpc>
            </a:pPr>
            <a:r>
              <a:rPr lang="en-US" b="true" sz="2389" spc="-71">
                <a:solidFill>
                  <a:srgbClr val="FFFFFF"/>
                </a:solidFill>
                <a:latin typeface="Bricolage Grotesque Bold"/>
                <a:ea typeface="Bricolage Grotesque Bold"/>
                <a:cs typeface="Bricolage Grotesque Bold"/>
                <a:sym typeface="Bricolage Grotesque Bold"/>
              </a:rPr>
              <a:t>5.4B</a:t>
            </a:r>
          </a:p>
        </p:txBody>
      </p:sp>
      <p:sp>
        <p:nvSpPr>
          <p:cNvPr name="TextBox 20" id="20"/>
          <p:cNvSpPr txBox="true"/>
          <p:nvPr/>
        </p:nvSpPr>
        <p:spPr>
          <a:xfrm rot="0">
            <a:off x="5746312" y="5274096"/>
            <a:ext cx="1211966" cy="417195"/>
          </a:xfrm>
          <a:prstGeom prst="rect">
            <a:avLst/>
          </a:prstGeom>
        </p:spPr>
        <p:txBody>
          <a:bodyPr anchor="t" rtlCol="false" tIns="0" lIns="0" bIns="0" rIns="0">
            <a:spAutoFit/>
          </a:bodyPr>
          <a:lstStyle/>
          <a:p>
            <a:pPr algn="ctr" marL="0" indent="0" lvl="0">
              <a:lnSpc>
                <a:spcPts val="1679"/>
              </a:lnSpc>
            </a:pPr>
            <a:r>
              <a:rPr lang="en-US" sz="1199" spc="-29">
                <a:solidFill>
                  <a:srgbClr val="FFFFFF"/>
                </a:solidFill>
                <a:latin typeface="Poppins"/>
                <a:ea typeface="Poppins"/>
                <a:cs typeface="Poppins"/>
                <a:sym typeface="Poppins"/>
              </a:rPr>
              <a:t>MOBILE USERS WORLDWIDE</a:t>
            </a:r>
          </a:p>
        </p:txBody>
      </p:sp>
      <p:sp>
        <p:nvSpPr>
          <p:cNvPr name="TextBox 21" id="21"/>
          <p:cNvSpPr txBox="true"/>
          <p:nvPr/>
        </p:nvSpPr>
        <p:spPr>
          <a:xfrm rot="0">
            <a:off x="8720122" y="1582592"/>
            <a:ext cx="5780387" cy="2313327"/>
          </a:xfrm>
          <a:prstGeom prst="rect">
            <a:avLst/>
          </a:prstGeom>
        </p:spPr>
        <p:txBody>
          <a:bodyPr anchor="t" rtlCol="false" tIns="0" lIns="0" bIns="0" rIns="0">
            <a:spAutoFit/>
          </a:bodyPr>
          <a:lstStyle/>
          <a:p>
            <a:pPr algn="l" marL="0" indent="0" lvl="0">
              <a:lnSpc>
                <a:spcPts val="8842"/>
              </a:lnSpc>
            </a:pPr>
            <a:r>
              <a:rPr lang="en-US" sz="9022" spc="-577">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Background</a:t>
            </a:r>
          </a:p>
          <a:p>
            <a:pPr algn="l" marL="0" indent="0" lvl="0">
              <a:lnSpc>
                <a:spcPts val="8842"/>
              </a:lnSpc>
            </a:pPr>
            <a:r>
              <a:rPr lang="en-US" sz="9022" spc="-577">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&amp; Context</a:t>
            </a:r>
          </a:p>
        </p:txBody>
      </p:sp>
      <p:sp>
        <p:nvSpPr>
          <p:cNvPr name="TextBox 22" id="22"/>
          <p:cNvSpPr txBox="true"/>
          <p:nvPr/>
        </p:nvSpPr>
        <p:spPr>
          <a:xfrm rot="0">
            <a:off x="8492056" y="4458093"/>
            <a:ext cx="7325824" cy="2517117"/>
          </a:xfrm>
          <a:prstGeom prst="rect">
            <a:avLst/>
          </a:prstGeom>
        </p:spPr>
        <p:txBody>
          <a:bodyPr anchor="t" rtlCol="false" tIns="0" lIns="0" bIns="0" rIns="0">
            <a:spAutoFit/>
          </a:bodyPr>
          <a:lstStyle/>
          <a:p>
            <a:pPr algn="just" marL="0" indent="0" lvl="0">
              <a:lnSpc>
                <a:spcPts val="2486"/>
              </a:lnSpc>
            </a:pPr>
            <a:r>
              <a:rPr lang="en-US" sz="1775" spc="-5">
                <a:solidFill>
                  <a:srgbClr val="3A58E4"/>
                </a:solidFill>
                <a:latin typeface="Poppins"/>
                <a:ea typeface="Poppins"/>
                <a:cs typeface="Poppins"/>
                <a:sym typeface="Poppins"/>
              </a:rPr>
              <a:t>Mobile networks are critical infrastructure for billions of users globally. Despite advances in 4G/5G technology, subscribers routinely experience degraded service. Network operators measure Quality of Service (QoS) — technical metrics like throughput and latency — but this rarely reflects the actual Quality of Experience (QoE) perceived by users. Bridging this gap requires real-time, subscriber-level data collected directly from devices in the field.</a:t>
            </a:r>
          </a:p>
        </p:txBody>
      </p:sp>
      <p:sp>
        <p:nvSpPr>
          <p:cNvPr name="TextBox 23" id="23"/>
          <p:cNvSpPr txBox="true"/>
          <p:nvPr/>
        </p:nvSpPr>
        <p:spPr>
          <a:xfrm rot="0">
            <a:off x="8274055" y="6259083"/>
            <a:ext cx="5481943" cy="2831442"/>
          </a:xfrm>
          <a:prstGeom prst="rect">
            <a:avLst/>
          </a:prstGeom>
        </p:spPr>
        <p:txBody>
          <a:bodyPr anchor="t" rtlCol="false" tIns="0" lIns="0" bIns="0" rIns="0">
            <a:spAutoFit/>
          </a:bodyPr>
          <a:lstStyle/>
          <a:p>
            <a:pPr algn="just" marL="0" indent="0" lvl="0">
              <a:lnSpc>
                <a:spcPts val="2486"/>
              </a:lnSpc>
            </a:pPr>
            <a:r>
              <a:rPr lang="en-US" sz="1775" spc="-5">
                <a:solidFill>
                  <a:srgbClr val="3A58E4"/>
                </a:solidFill>
                <a:latin typeface="Poppins"/>
                <a:ea typeface="Poppins"/>
                <a:cs typeface="Poppins"/>
                <a:sym typeface="Poppins"/>
              </a:rPr>
              <a:t>Slow download &amp; upload speeds reported by users</a:t>
            </a:r>
          </a:p>
          <a:p>
            <a:pPr algn="just" marL="0" indent="0" lvl="0">
              <a:lnSpc>
                <a:spcPts val="2486"/>
              </a:lnSpc>
            </a:pPr>
            <a:r>
              <a:rPr lang="en-US" sz="1775" spc="-5">
                <a:solidFill>
                  <a:srgbClr val="3A58E4"/>
                </a:solidFill>
                <a:latin typeface="Poppins"/>
                <a:ea typeface="Poppins"/>
                <a:cs typeface="Poppins"/>
                <a:sym typeface="Poppins"/>
              </a:rPr>
              <a:t>Unstable connectivity and frequent disconnections</a:t>
            </a:r>
          </a:p>
          <a:p>
            <a:pPr algn="just" marL="0" indent="0" lvl="0">
              <a:lnSpc>
                <a:spcPts val="2486"/>
              </a:lnSpc>
            </a:pPr>
            <a:r>
              <a:rPr lang="en-US" sz="1775" spc="-5">
                <a:solidFill>
                  <a:srgbClr val="3A58E4"/>
                </a:solidFill>
                <a:latin typeface="Poppins"/>
                <a:ea typeface="Poppins"/>
                <a:cs typeface="Poppins"/>
                <a:sym typeface="Poppins"/>
              </a:rPr>
              <a:t>Weak signal strength in urban and rural areas</a:t>
            </a:r>
          </a:p>
          <a:p>
            <a:pPr algn="just" marL="0" indent="0" lvl="0">
              <a:lnSpc>
                <a:spcPts val="2486"/>
              </a:lnSpc>
            </a:pPr>
            <a:r>
              <a:rPr lang="en-US" sz="1775" spc="-5">
                <a:solidFill>
                  <a:srgbClr val="3A58E4"/>
                </a:solidFill>
                <a:latin typeface="Poppins"/>
                <a:ea typeface="Poppins"/>
                <a:cs typeface="Poppins"/>
                <a:sym typeface="Poppins"/>
              </a:rPr>
              <a:t>Gap between operator QoS metrics and real user QoE</a:t>
            </a:r>
          </a:p>
          <a:p>
            <a:pPr algn="just" marL="0" indent="0" lvl="0">
              <a:lnSpc>
                <a:spcPts val="2486"/>
              </a:lnSpc>
            </a:pPr>
            <a:r>
              <a:rPr lang="en-US" sz="1775" spc="-5">
                <a:solidFill>
                  <a:srgbClr val="3A58E4"/>
                </a:solidFill>
                <a:latin typeface="Poppins"/>
                <a:ea typeface="Poppins"/>
                <a:cs typeface="Poppins"/>
                <a:sym typeface="Poppins"/>
              </a:rPr>
              <a:t>Goal: bridge this gap with a mobile data collection app</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1311" y="0"/>
            <a:ext cx="546689" cy="7173190"/>
            <a:chOff x="0" y="0"/>
            <a:chExt cx="143984" cy="1889235"/>
          </a:xfrm>
        </p:grpSpPr>
        <p:sp>
          <p:nvSpPr>
            <p:cNvPr name="Freeform 3" id="3"/>
            <p:cNvSpPr/>
            <p:nvPr/>
          </p:nvSpPr>
          <p:spPr>
            <a:xfrm flipH="false" flipV="false" rot="0">
              <a:off x="0" y="0"/>
              <a:ext cx="143984" cy="1889235"/>
            </a:xfrm>
            <a:custGeom>
              <a:avLst/>
              <a:gdLst/>
              <a:ahLst/>
              <a:cxnLst/>
              <a:rect r="r" b="b" t="t" l="l"/>
              <a:pathLst>
                <a:path h="1889235" w="143984">
                  <a:moveTo>
                    <a:pt x="0" y="0"/>
                  </a:moveTo>
                  <a:lnTo>
                    <a:pt x="143984" y="0"/>
                  </a:lnTo>
                  <a:lnTo>
                    <a:pt x="143984" y="1889235"/>
                  </a:lnTo>
                  <a:lnTo>
                    <a:pt x="0" y="1889235"/>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4" id="4"/>
            <p:cNvSpPr txBox="true"/>
            <p:nvPr/>
          </p:nvSpPr>
          <p:spPr>
            <a:xfrm>
              <a:off x="0" y="-38100"/>
              <a:ext cx="143984" cy="192733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5" id="5"/>
          <p:cNvSpPr/>
          <p:nvPr/>
        </p:nvSpPr>
        <p:spPr>
          <a:xfrm flipH="true">
            <a:off x="4442685" y="0"/>
            <a:ext cx="0" cy="10287000"/>
          </a:xfrm>
          <a:prstGeom prst="line">
            <a:avLst/>
          </a:prstGeom>
          <a:ln cap="rnd" w="19050">
            <a:solidFill>
              <a:srgbClr val="3A58E4"/>
            </a:solidFill>
            <a:prstDash val="solid"/>
            <a:headEnd type="none" len="sm" w="sm"/>
            <a:tailEnd type="none" len="sm" w="sm"/>
          </a:ln>
        </p:spPr>
      </p:sp>
      <p:sp>
        <p:nvSpPr>
          <p:cNvPr name="AutoShape 6" id="6"/>
          <p:cNvSpPr/>
          <p:nvPr/>
        </p:nvSpPr>
        <p:spPr>
          <a:xfrm>
            <a:off x="8872264" y="0"/>
            <a:ext cx="0" cy="7163665"/>
          </a:xfrm>
          <a:prstGeom prst="line">
            <a:avLst/>
          </a:prstGeom>
          <a:ln cap="rnd" w="19050">
            <a:solidFill>
              <a:srgbClr val="3A58E4"/>
            </a:solidFill>
            <a:prstDash val="solid"/>
            <a:headEnd type="none" len="sm" w="sm"/>
            <a:tailEnd type="none" len="sm" w="sm"/>
          </a:ln>
        </p:spPr>
      </p:sp>
      <p:sp>
        <p:nvSpPr>
          <p:cNvPr name="AutoShape 7" id="7"/>
          <p:cNvSpPr/>
          <p:nvPr/>
        </p:nvSpPr>
        <p:spPr>
          <a:xfrm>
            <a:off x="13301844" y="0"/>
            <a:ext cx="0" cy="7163665"/>
          </a:xfrm>
          <a:prstGeom prst="line">
            <a:avLst/>
          </a:prstGeom>
          <a:ln cap="rnd" w="19050">
            <a:solidFill>
              <a:srgbClr val="3A58E4"/>
            </a:solidFill>
            <a:prstDash val="solid"/>
            <a:headEnd type="none" len="sm" w="sm"/>
            <a:tailEnd type="none" len="sm" w="sm"/>
          </a:ln>
        </p:spPr>
      </p:sp>
      <p:sp>
        <p:nvSpPr>
          <p:cNvPr name="AutoShape 8" id="8"/>
          <p:cNvSpPr/>
          <p:nvPr/>
        </p:nvSpPr>
        <p:spPr>
          <a:xfrm>
            <a:off x="0" y="7173190"/>
            <a:ext cx="18288000" cy="0"/>
          </a:xfrm>
          <a:prstGeom prst="line">
            <a:avLst/>
          </a:prstGeom>
          <a:ln cap="rnd" w="19050">
            <a:solidFill>
              <a:srgbClr val="3A58E4"/>
            </a:solidFill>
            <a:prstDash val="solid"/>
            <a:headEnd type="none" len="sm" w="sm"/>
            <a:tailEnd type="none" len="sm" w="sm"/>
          </a:ln>
        </p:spPr>
      </p:sp>
      <p:grpSp>
        <p:nvGrpSpPr>
          <p:cNvPr name="Group 9" id="9"/>
          <p:cNvGrpSpPr/>
          <p:nvPr/>
        </p:nvGrpSpPr>
        <p:grpSpPr>
          <a:xfrm rot="0">
            <a:off x="16305" y="9608"/>
            <a:ext cx="1197405" cy="1196165"/>
            <a:chOff x="0" y="0"/>
            <a:chExt cx="1596540" cy="1594886"/>
          </a:xfrm>
        </p:grpSpPr>
        <p:grpSp>
          <p:nvGrpSpPr>
            <p:cNvPr name="Group 10" id="10"/>
            <p:cNvGrpSpPr/>
            <p:nvPr/>
          </p:nvGrpSpPr>
          <p:grpSpPr>
            <a:xfrm rot="0">
              <a:off x="0" y="0"/>
              <a:ext cx="1596540" cy="1594886"/>
              <a:chOff x="0" y="0"/>
              <a:chExt cx="787566" cy="786750"/>
            </a:xfrm>
          </p:grpSpPr>
          <p:sp>
            <p:nvSpPr>
              <p:cNvPr name="Freeform 11" id="11"/>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2" id="12"/>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206583" y="454809"/>
              <a:ext cx="1183375" cy="770992"/>
            </a:xfrm>
            <a:prstGeom prst="rect">
              <a:avLst/>
            </a:prstGeom>
          </p:spPr>
          <p:txBody>
            <a:bodyPr anchor="t" rtlCol="false" tIns="0" lIns="0" bIns="0" rIns="0">
              <a:spAutoFit/>
            </a:bodyPr>
            <a:lstStyle/>
            <a:p>
              <a:pPr algn="ctr" marL="0" indent="0" lvl="0">
                <a:lnSpc>
                  <a:spcPts val="4156"/>
                </a:lnSpc>
              </a:pPr>
              <a:r>
                <a:rPr lang="en-US" sz="4241" spc="-271">
                  <a:solidFill>
                    <a:srgbClr val="FFFFFF"/>
                  </a:solidFill>
                  <a:latin typeface="Bricolage Grotesque"/>
                  <a:ea typeface="Bricolage Grotesque"/>
                  <a:cs typeface="Bricolage Grotesque"/>
                  <a:sym typeface="Bricolage Grotesque"/>
                </a:rPr>
                <a:t>01</a:t>
              </a:r>
            </a:p>
          </p:txBody>
        </p:sp>
      </p:grpSp>
      <p:grpSp>
        <p:nvGrpSpPr>
          <p:cNvPr name="Group 14" id="14"/>
          <p:cNvGrpSpPr/>
          <p:nvPr/>
        </p:nvGrpSpPr>
        <p:grpSpPr>
          <a:xfrm rot="0">
            <a:off x="4442685" y="9608"/>
            <a:ext cx="1197405" cy="1196165"/>
            <a:chOff x="0" y="0"/>
            <a:chExt cx="1596540" cy="1594886"/>
          </a:xfrm>
        </p:grpSpPr>
        <p:grpSp>
          <p:nvGrpSpPr>
            <p:cNvPr name="Group 15" id="15"/>
            <p:cNvGrpSpPr/>
            <p:nvPr/>
          </p:nvGrpSpPr>
          <p:grpSpPr>
            <a:xfrm rot="0">
              <a:off x="0" y="0"/>
              <a:ext cx="1596540" cy="1594886"/>
              <a:chOff x="0" y="0"/>
              <a:chExt cx="787566" cy="786750"/>
            </a:xfrm>
          </p:grpSpPr>
          <p:sp>
            <p:nvSpPr>
              <p:cNvPr name="Freeform 16" id="16"/>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7" id="17"/>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8" id="18"/>
            <p:cNvSpPr txBox="true"/>
            <p:nvPr/>
          </p:nvSpPr>
          <p:spPr>
            <a:xfrm rot="0">
              <a:off x="206583" y="454809"/>
              <a:ext cx="1183375" cy="770992"/>
            </a:xfrm>
            <a:prstGeom prst="rect">
              <a:avLst/>
            </a:prstGeom>
          </p:spPr>
          <p:txBody>
            <a:bodyPr anchor="t" rtlCol="false" tIns="0" lIns="0" bIns="0" rIns="0">
              <a:spAutoFit/>
            </a:bodyPr>
            <a:lstStyle/>
            <a:p>
              <a:pPr algn="ctr" marL="0" indent="0" lvl="0">
                <a:lnSpc>
                  <a:spcPts val="4156"/>
                </a:lnSpc>
              </a:pPr>
              <a:r>
                <a:rPr lang="en-US" sz="4241" spc="-271">
                  <a:solidFill>
                    <a:srgbClr val="FFFFFF"/>
                  </a:solidFill>
                  <a:latin typeface="Bricolage Grotesque"/>
                  <a:ea typeface="Bricolage Grotesque"/>
                  <a:cs typeface="Bricolage Grotesque"/>
                  <a:sym typeface="Bricolage Grotesque"/>
                </a:rPr>
                <a:t>02</a:t>
              </a:r>
            </a:p>
          </p:txBody>
        </p:sp>
      </p:grpSp>
      <p:grpSp>
        <p:nvGrpSpPr>
          <p:cNvPr name="Group 19" id="19"/>
          <p:cNvGrpSpPr/>
          <p:nvPr/>
        </p:nvGrpSpPr>
        <p:grpSpPr>
          <a:xfrm rot="0">
            <a:off x="8875845" y="9608"/>
            <a:ext cx="1197405" cy="1196165"/>
            <a:chOff x="0" y="0"/>
            <a:chExt cx="1596540" cy="1594886"/>
          </a:xfrm>
        </p:grpSpPr>
        <p:grpSp>
          <p:nvGrpSpPr>
            <p:cNvPr name="Group 20" id="20"/>
            <p:cNvGrpSpPr/>
            <p:nvPr/>
          </p:nvGrpSpPr>
          <p:grpSpPr>
            <a:xfrm rot="0">
              <a:off x="0" y="0"/>
              <a:ext cx="1596540" cy="1594886"/>
              <a:chOff x="0" y="0"/>
              <a:chExt cx="787566" cy="786750"/>
            </a:xfrm>
          </p:grpSpPr>
          <p:sp>
            <p:nvSpPr>
              <p:cNvPr name="Freeform 21" id="21"/>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22" id="22"/>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3" id="23"/>
            <p:cNvSpPr txBox="true"/>
            <p:nvPr/>
          </p:nvSpPr>
          <p:spPr>
            <a:xfrm rot="0">
              <a:off x="206583" y="454809"/>
              <a:ext cx="1183375" cy="770992"/>
            </a:xfrm>
            <a:prstGeom prst="rect">
              <a:avLst/>
            </a:prstGeom>
          </p:spPr>
          <p:txBody>
            <a:bodyPr anchor="t" rtlCol="false" tIns="0" lIns="0" bIns="0" rIns="0">
              <a:spAutoFit/>
            </a:bodyPr>
            <a:lstStyle/>
            <a:p>
              <a:pPr algn="ctr" marL="0" indent="0" lvl="0">
                <a:lnSpc>
                  <a:spcPts val="4156"/>
                </a:lnSpc>
              </a:pPr>
              <a:r>
                <a:rPr lang="en-US" sz="4241" spc="-271">
                  <a:solidFill>
                    <a:srgbClr val="FFFFFF"/>
                  </a:solidFill>
                  <a:latin typeface="Bricolage Grotesque"/>
                  <a:ea typeface="Bricolage Grotesque"/>
                  <a:cs typeface="Bricolage Grotesque"/>
                  <a:sym typeface="Bricolage Grotesque"/>
                </a:rPr>
                <a:t>03</a:t>
              </a:r>
            </a:p>
          </p:txBody>
        </p:sp>
      </p:grpSp>
      <p:grpSp>
        <p:nvGrpSpPr>
          <p:cNvPr name="Group 24" id="24"/>
          <p:cNvGrpSpPr/>
          <p:nvPr/>
        </p:nvGrpSpPr>
        <p:grpSpPr>
          <a:xfrm rot="0">
            <a:off x="13309005" y="9608"/>
            <a:ext cx="1197405" cy="1196165"/>
            <a:chOff x="0" y="0"/>
            <a:chExt cx="1596540" cy="1594886"/>
          </a:xfrm>
        </p:grpSpPr>
        <p:grpSp>
          <p:nvGrpSpPr>
            <p:cNvPr name="Group 25" id="25"/>
            <p:cNvGrpSpPr/>
            <p:nvPr/>
          </p:nvGrpSpPr>
          <p:grpSpPr>
            <a:xfrm rot="0">
              <a:off x="0" y="0"/>
              <a:ext cx="1596540" cy="1594886"/>
              <a:chOff x="0" y="0"/>
              <a:chExt cx="787566" cy="786750"/>
            </a:xfrm>
          </p:grpSpPr>
          <p:sp>
            <p:nvSpPr>
              <p:cNvPr name="Freeform 26" id="26"/>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27" id="27"/>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8" id="28"/>
            <p:cNvSpPr txBox="true"/>
            <p:nvPr/>
          </p:nvSpPr>
          <p:spPr>
            <a:xfrm rot="0">
              <a:off x="206583" y="454809"/>
              <a:ext cx="1183375" cy="770992"/>
            </a:xfrm>
            <a:prstGeom prst="rect">
              <a:avLst/>
            </a:prstGeom>
          </p:spPr>
          <p:txBody>
            <a:bodyPr anchor="t" rtlCol="false" tIns="0" lIns="0" bIns="0" rIns="0">
              <a:spAutoFit/>
            </a:bodyPr>
            <a:lstStyle/>
            <a:p>
              <a:pPr algn="ctr" marL="0" indent="0" lvl="0">
                <a:lnSpc>
                  <a:spcPts val="4156"/>
                </a:lnSpc>
              </a:pPr>
              <a:r>
                <a:rPr lang="en-US" sz="4241" spc="-271">
                  <a:solidFill>
                    <a:srgbClr val="FFFFFF"/>
                  </a:solidFill>
                  <a:latin typeface="Bricolage Grotesque"/>
                  <a:ea typeface="Bricolage Grotesque"/>
                  <a:cs typeface="Bricolage Grotesque"/>
                  <a:sym typeface="Bricolage Grotesque"/>
                </a:rPr>
                <a:t>04</a:t>
              </a:r>
            </a:p>
          </p:txBody>
        </p:sp>
      </p:grpSp>
      <p:sp>
        <p:nvSpPr>
          <p:cNvPr name="Freeform 29" id="29"/>
          <p:cNvSpPr/>
          <p:nvPr/>
        </p:nvSpPr>
        <p:spPr>
          <a:xfrm flipH="false" flipV="false" rot="0">
            <a:off x="10652595" y="1821286"/>
            <a:ext cx="907556" cy="826770"/>
          </a:xfrm>
          <a:custGeom>
            <a:avLst/>
            <a:gdLst/>
            <a:ahLst/>
            <a:cxnLst/>
            <a:rect r="r" b="b" t="t" l="l"/>
            <a:pathLst>
              <a:path h="826770" w="907556">
                <a:moveTo>
                  <a:pt x="0" y="0"/>
                </a:moveTo>
                <a:lnTo>
                  <a:pt x="907556" y="0"/>
                </a:lnTo>
                <a:lnTo>
                  <a:pt x="907556" y="826769"/>
                </a:lnTo>
                <a:lnTo>
                  <a:pt x="0" y="826769"/>
                </a:lnTo>
                <a:lnTo>
                  <a:pt x="0" y="0"/>
                </a:lnTo>
                <a:close/>
              </a:path>
            </a:pathLst>
          </a:custGeom>
          <a:blipFill>
            <a:blip r:embed="rId2"/>
            <a:stretch>
              <a:fillRect l="0" t="0" r="0" b="0"/>
            </a:stretch>
          </a:blipFill>
        </p:spPr>
      </p:sp>
      <p:sp>
        <p:nvSpPr>
          <p:cNvPr name="Freeform 30" id="30"/>
          <p:cNvSpPr/>
          <p:nvPr/>
        </p:nvSpPr>
        <p:spPr>
          <a:xfrm flipH="false" flipV="false" rot="-5400000">
            <a:off x="15132887" y="1900975"/>
            <a:ext cx="813230" cy="808712"/>
          </a:xfrm>
          <a:custGeom>
            <a:avLst/>
            <a:gdLst/>
            <a:ahLst/>
            <a:cxnLst/>
            <a:rect r="r" b="b" t="t" l="l"/>
            <a:pathLst>
              <a:path h="808712" w="813230">
                <a:moveTo>
                  <a:pt x="0" y="0"/>
                </a:moveTo>
                <a:lnTo>
                  <a:pt x="813230" y="0"/>
                </a:lnTo>
                <a:lnTo>
                  <a:pt x="813230" y="808713"/>
                </a:lnTo>
                <a:lnTo>
                  <a:pt x="0" y="808713"/>
                </a:lnTo>
                <a:lnTo>
                  <a:pt x="0" y="0"/>
                </a:lnTo>
                <a:close/>
              </a:path>
            </a:pathLst>
          </a:custGeom>
          <a:blipFill>
            <a:blip r:embed="rId3"/>
            <a:stretch>
              <a:fillRect l="0" t="0" r="0" b="0"/>
            </a:stretch>
          </a:blipFill>
        </p:spPr>
      </p:sp>
      <p:sp>
        <p:nvSpPr>
          <p:cNvPr name="Freeform 31" id="31"/>
          <p:cNvSpPr/>
          <p:nvPr/>
        </p:nvSpPr>
        <p:spPr>
          <a:xfrm flipH="false" flipV="false" rot="0">
            <a:off x="1860828" y="2003451"/>
            <a:ext cx="758366" cy="681833"/>
          </a:xfrm>
          <a:custGeom>
            <a:avLst/>
            <a:gdLst/>
            <a:ahLst/>
            <a:cxnLst/>
            <a:rect r="r" b="b" t="t" l="l"/>
            <a:pathLst>
              <a:path h="681833" w="758366">
                <a:moveTo>
                  <a:pt x="0" y="0"/>
                </a:moveTo>
                <a:lnTo>
                  <a:pt x="758366" y="0"/>
                </a:lnTo>
                <a:lnTo>
                  <a:pt x="758366" y="681833"/>
                </a:lnTo>
                <a:lnTo>
                  <a:pt x="0" y="681833"/>
                </a:lnTo>
                <a:lnTo>
                  <a:pt x="0" y="0"/>
                </a:lnTo>
                <a:close/>
              </a:path>
            </a:pathLst>
          </a:custGeom>
          <a:blipFill>
            <a:blip r:embed="rId4"/>
            <a:stretch>
              <a:fillRect l="0" t="0" r="0" b="0"/>
            </a:stretch>
          </a:blipFill>
        </p:spPr>
      </p:sp>
      <p:grpSp>
        <p:nvGrpSpPr>
          <p:cNvPr name="Group 32" id="32"/>
          <p:cNvGrpSpPr/>
          <p:nvPr/>
        </p:nvGrpSpPr>
        <p:grpSpPr>
          <a:xfrm rot="0">
            <a:off x="1028700" y="8125800"/>
            <a:ext cx="22757" cy="975106"/>
            <a:chOff x="0" y="0"/>
            <a:chExt cx="12543" cy="537460"/>
          </a:xfrm>
        </p:grpSpPr>
        <p:sp>
          <p:nvSpPr>
            <p:cNvPr name="Freeform 33" id="3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34" id="3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5" id="35"/>
          <p:cNvGrpSpPr/>
          <p:nvPr/>
        </p:nvGrpSpPr>
        <p:grpSpPr>
          <a:xfrm rot="0">
            <a:off x="-9525" y="7173190"/>
            <a:ext cx="546689" cy="3113810"/>
            <a:chOff x="0" y="0"/>
            <a:chExt cx="143984" cy="820098"/>
          </a:xfrm>
        </p:grpSpPr>
        <p:sp>
          <p:nvSpPr>
            <p:cNvPr name="Freeform 36" id="36"/>
            <p:cNvSpPr/>
            <p:nvPr/>
          </p:nvSpPr>
          <p:spPr>
            <a:xfrm flipH="false" flipV="false" rot="0">
              <a:off x="0" y="0"/>
              <a:ext cx="143984" cy="820098"/>
            </a:xfrm>
            <a:custGeom>
              <a:avLst/>
              <a:gdLst/>
              <a:ahLst/>
              <a:cxnLst/>
              <a:rect r="r" b="b" t="t" l="l"/>
              <a:pathLst>
                <a:path h="820098" w="143984">
                  <a:moveTo>
                    <a:pt x="0" y="0"/>
                  </a:moveTo>
                  <a:lnTo>
                    <a:pt x="143984" y="0"/>
                  </a:lnTo>
                  <a:lnTo>
                    <a:pt x="143984" y="820098"/>
                  </a:lnTo>
                  <a:lnTo>
                    <a:pt x="0" y="820098"/>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37" id="37"/>
            <p:cNvSpPr txBox="true"/>
            <p:nvPr/>
          </p:nvSpPr>
          <p:spPr>
            <a:xfrm>
              <a:off x="0" y="-38100"/>
              <a:ext cx="143984" cy="85819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38" id="38"/>
          <p:cNvSpPr/>
          <p:nvPr/>
        </p:nvSpPr>
        <p:spPr>
          <a:xfrm flipH="false" flipV="false" rot="0">
            <a:off x="6117275" y="1934911"/>
            <a:ext cx="1155925" cy="805434"/>
          </a:xfrm>
          <a:custGeom>
            <a:avLst/>
            <a:gdLst/>
            <a:ahLst/>
            <a:cxnLst/>
            <a:rect r="r" b="b" t="t" l="l"/>
            <a:pathLst>
              <a:path h="805434" w="1155925">
                <a:moveTo>
                  <a:pt x="0" y="0"/>
                </a:moveTo>
                <a:lnTo>
                  <a:pt x="1155925" y="0"/>
                </a:lnTo>
                <a:lnTo>
                  <a:pt x="1155925" y="805434"/>
                </a:lnTo>
                <a:lnTo>
                  <a:pt x="0" y="805434"/>
                </a:lnTo>
                <a:lnTo>
                  <a:pt x="0" y="0"/>
                </a:lnTo>
                <a:close/>
              </a:path>
            </a:pathLst>
          </a:custGeom>
          <a:blipFill>
            <a:blip r:embed="rId5"/>
            <a:stretch>
              <a:fillRect l="0" t="0" r="0" b="0"/>
            </a:stretch>
          </a:blipFill>
        </p:spPr>
      </p:sp>
      <p:sp>
        <p:nvSpPr>
          <p:cNvPr name="TextBox 39" id="39"/>
          <p:cNvSpPr txBox="true"/>
          <p:nvPr/>
        </p:nvSpPr>
        <p:spPr>
          <a:xfrm rot="0">
            <a:off x="562973" y="4337812"/>
            <a:ext cx="3336787" cy="1980821"/>
          </a:xfrm>
          <a:prstGeom prst="rect">
            <a:avLst/>
          </a:prstGeom>
        </p:spPr>
        <p:txBody>
          <a:bodyPr anchor="t" rtlCol="false" tIns="0" lIns="0" bIns="0" rIns="0">
            <a:spAutoFit/>
          </a:bodyPr>
          <a:lstStyle/>
          <a:p>
            <a:pPr algn="just" marL="0" indent="0" lvl="0">
              <a:lnSpc>
                <a:spcPts val="1988"/>
              </a:lnSpc>
            </a:pPr>
            <a:r>
              <a:rPr lang="en-US" sz="1529" spc="-4">
                <a:solidFill>
                  <a:srgbClr val="3A58E4"/>
                </a:solidFill>
                <a:latin typeface="Poppins"/>
                <a:ea typeface="Poppins"/>
                <a:cs typeface="Poppins"/>
                <a:sym typeface="Poppins"/>
              </a:rPr>
              <a:t>Mobile network operators lack real-time, subscriber-level Quality of Experience (QoE) data. Existing tools measure network-side QoS but fail to capture the actual user experience, leaving a critical gap in network optimization and subscriber satisfaction.</a:t>
            </a:r>
          </a:p>
        </p:txBody>
      </p:sp>
      <p:sp>
        <p:nvSpPr>
          <p:cNvPr name="TextBox 40" id="40"/>
          <p:cNvSpPr txBox="true"/>
          <p:nvPr/>
        </p:nvSpPr>
        <p:spPr>
          <a:xfrm rot="0">
            <a:off x="4989081" y="4337812"/>
            <a:ext cx="3336787" cy="1980821"/>
          </a:xfrm>
          <a:prstGeom prst="rect">
            <a:avLst/>
          </a:prstGeom>
        </p:spPr>
        <p:txBody>
          <a:bodyPr anchor="t" rtlCol="false" tIns="0" lIns="0" bIns="0" rIns="0">
            <a:spAutoFit/>
          </a:bodyPr>
          <a:lstStyle/>
          <a:p>
            <a:pPr algn="just" marL="0" indent="0" lvl="0">
              <a:lnSpc>
                <a:spcPts val="1988"/>
              </a:lnSpc>
            </a:pPr>
            <a:r>
              <a:rPr lang="en-US" sz="1529" spc="-4">
                <a:solidFill>
                  <a:srgbClr val="3A58E4"/>
                </a:solidFill>
                <a:latin typeface="Poppins"/>
                <a:ea typeface="Poppins"/>
                <a:cs typeface="Poppins"/>
                <a:sym typeface="Poppins"/>
              </a:rPr>
              <a:t>To design and implement a cross-platform mobile application that collects, stores, and transmits objective QoS metrics and subjective QoE feedback from mobile network subscribers to support network analysis and improvement.</a:t>
            </a:r>
          </a:p>
        </p:txBody>
      </p:sp>
      <p:sp>
        <p:nvSpPr>
          <p:cNvPr name="TextBox 41" id="41"/>
          <p:cNvSpPr txBox="true"/>
          <p:nvPr/>
        </p:nvSpPr>
        <p:spPr>
          <a:xfrm rot="0">
            <a:off x="9415189" y="4585462"/>
            <a:ext cx="3336787" cy="1733171"/>
          </a:xfrm>
          <a:prstGeom prst="rect">
            <a:avLst/>
          </a:prstGeom>
        </p:spPr>
        <p:txBody>
          <a:bodyPr anchor="t" rtlCol="false" tIns="0" lIns="0" bIns="0" rIns="0">
            <a:spAutoFit/>
          </a:bodyPr>
          <a:lstStyle/>
          <a:p>
            <a:pPr algn="just" marL="0" indent="0" lvl="0">
              <a:lnSpc>
                <a:spcPts val="1988"/>
              </a:lnSpc>
            </a:pPr>
            <a:r>
              <a:rPr lang="en-US" sz="1529" spc="-4">
                <a:solidFill>
                  <a:srgbClr val="3A58E4"/>
                </a:solidFill>
                <a:latin typeface="Poppins"/>
                <a:ea typeface="Poppins"/>
                <a:cs typeface="Poppins"/>
                <a:sym typeface="Poppins"/>
              </a:rPr>
              <a:t>How can a mobile application effectively collect both objective QoS metrics (latency, jitter, packet loss, download/upload speed) and subjective QoE ratings from mobile network subscribers in real time?</a:t>
            </a:r>
          </a:p>
        </p:txBody>
      </p:sp>
      <p:sp>
        <p:nvSpPr>
          <p:cNvPr name="TextBox 42" id="42"/>
          <p:cNvSpPr txBox="true"/>
          <p:nvPr/>
        </p:nvSpPr>
        <p:spPr>
          <a:xfrm rot="0">
            <a:off x="13844769" y="4585462"/>
            <a:ext cx="3336787" cy="1733171"/>
          </a:xfrm>
          <a:prstGeom prst="rect">
            <a:avLst/>
          </a:prstGeom>
        </p:spPr>
        <p:txBody>
          <a:bodyPr anchor="t" rtlCol="false" tIns="0" lIns="0" bIns="0" rIns="0">
            <a:spAutoFit/>
          </a:bodyPr>
          <a:lstStyle/>
          <a:p>
            <a:pPr algn="just" marL="0" indent="0" lvl="0">
              <a:lnSpc>
                <a:spcPts val="1988"/>
              </a:lnSpc>
            </a:pPr>
            <a:r>
              <a:rPr lang="en-US" sz="1529" spc="-4">
                <a:solidFill>
                  <a:srgbClr val="3A58E4"/>
                </a:solidFill>
                <a:latin typeface="Poppins"/>
                <a:ea typeface="Poppins"/>
                <a:cs typeface="Poppins"/>
                <a:sym typeface="Poppins"/>
              </a:rPr>
              <a:t>How can collected data be stored locally for offline use and synchronized to a cloud database for admin analysis? How can a heatmap and dashboard enable operators to identify network problem zones geospatially?</a:t>
            </a:r>
          </a:p>
        </p:txBody>
      </p:sp>
      <p:sp>
        <p:nvSpPr>
          <p:cNvPr name="TextBox 43" id="43"/>
          <p:cNvSpPr txBox="true"/>
          <p:nvPr/>
        </p:nvSpPr>
        <p:spPr>
          <a:xfrm rot="0">
            <a:off x="1137678" y="8643191"/>
            <a:ext cx="2762082" cy="615109"/>
          </a:xfrm>
          <a:prstGeom prst="rect">
            <a:avLst/>
          </a:prstGeom>
        </p:spPr>
        <p:txBody>
          <a:bodyPr anchor="t" rtlCol="false" tIns="0" lIns="0" bIns="0" rIns="0">
            <a:spAutoFit/>
          </a:bodyPr>
          <a:lstStyle/>
          <a:p>
            <a:pPr algn="l" marL="0" indent="0" lvl="0">
              <a:lnSpc>
                <a:spcPts val="4588"/>
              </a:lnSpc>
            </a:pPr>
            <a:r>
              <a:rPr lang="en-US" sz="4682" spc="-299">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a:ea typeface="Bricolage Grotesque"/>
                <a:cs typeface="Bricolage Grotesque"/>
                <a:sym typeface="Bricolage Grotesque"/>
              </a:rPr>
              <a:t>Core Focus</a:t>
            </a:r>
          </a:p>
        </p:txBody>
      </p:sp>
      <p:sp>
        <p:nvSpPr>
          <p:cNvPr name="TextBox 44" id="44"/>
          <p:cNvSpPr txBox="true"/>
          <p:nvPr/>
        </p:nvSpPr>
        <p:spPr>
          <a:xfrm rot="0">
            <a:off x="4989081" y="8025141"/>
            <a:ext cx="7762895" cy="1075765"/>
          </a:xfrm>
          <a:prstGeom prst="rect">
            <a:avLst/>
          </a:prstGeom>
        </p:spPr>
        <p:txBody>
          <a:bodyPr anchor="t" rtlCol="false" tIns="0" lIns="0" bIns="0" rIns="0">
            <a:spAutoFit/>
          </a:bodyPr>
          <a:lstStyle/>
          <a:p>
            <a:pPr algn="just" marL="0" indent="0" lvl="0">
              <a:lnSpc>
                <a:spcPts val="2172"/>
              </a:lnSpc>
            </a:pPr>
            <a:r>
              <a:rPr lang="en-US" sz="1551" spc="-4">
                <a:solidFill>
                  <a:srgbClr val="3A58E4"/>
                </a:solidFill>
                <a:latin typeface="Poppins"/>
                <a:ea typeface="Poppins"/>
                <a:cs typeface="Poppins"/>
                <a:sym typeface="Poppins"/>
              </a:rPr>
              <a:t>This page defines the foundation of the KILObYTES project: the gap between network-side QoS and user-perceived QoE, the app's core purpose, and the three research questions guiding design and implementation decisions throughout the project.</a:t>
            </a:r>
          </a:p>
        </p:txBody>
      </p:sp>
      <p:sp>
        <p:nvSpPr>
          <p:cNvPr name="TextBox 45" id="45"/>
          <p:cNvSpPr txBox="true"/>
          <p:nvPr/>
        </p:nvSpPr>
        <p:spPr>
          <a:xfrm rot="0">
            <a:off x="512270" y="3090400"/>
            <a:ext cx="3438193" cy="825162"/>
          </a:xfrm>
          <a:prstGeom prst="rect">
            <a:avLst/>
          </a:prstGeom>
        </p:spPr>
        <p:txBody>
          <a:bodyPr anchor="t" rtlCol="false" tIns="0" lIns="0" bIns="0" rIns="0">
            <a:spAutoFit/>
          </a:bodyPr>
          <a:lstStyle/>
          <a:p>
            <a:pPr algn="ctr" marL="0" indent="0" lvl="0">
              <a:lnSpc>
                <a:spcPts val="3343"/>
              </a:lnSpc>
              <a:spcBef>
                <a:spcPct val="0"/>
              </a:spcBef>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PROBLEM</a:t>
            </a:r>
          </a:p>
          <a:p>
            <a:pPr algn="ctr" marL="0" indent="0" lvl="0">
              <a:lnSpc>
                <a:spcPts val="3343"/>
              </a:lnSpc>
              <a:spcBef>
                <a:spcPct val="0"/>
              </a:spcBef>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STATEMENT</a:t>
            </a:r>
          </a:p>
        </p:txBody>
      </p:sp>
      <p:sp>
        <p:nvSpPr>
          <p:cNvPr name="TextBox 46" id="46"/>
          <p:cNvSpPr txBox="true"/>
          <p:nvPr/>
        </p:nvSpPr>
        <p:spPr>
          <a:xfrm rot="0">
            <a:off x="4938378" y="3090400"/>
            <a:ext cx="3438193" cy="825162"/>
          </a:xfrm>
          <a:prstGeom prst="rect">
            <a:avLst/>
          </a:prstGeom>
        </p:spPr>
        <p:txBody>
          <a:bodyPr anchor="t" rtlCol="false" tIns="0" lIns="0" bIns="0" rIns="0">
            <a:spAutoFit/>
          </a:bodyPr>
          <a:lstStyle/>
          <a:p>
            <a:pPr algn="ctr" marL="0" indent="0" lvl="0">
              <a:lnSpc>
                <a:spcPts val="3343"/>
              </a:lnSpc>
              <a:spcBef>
                <a:spcPct val="0"/>
              </a:spcBef>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GENERAL</a:t>
            </a:r>
          </a:p>
          <a:p>
            <a:pPr algn="ctr" marL="0" indent="0" lvl="0">
              <a:lnSpc>
                <a:spcPts val="3343"/>
              </a:lnSpc>
              <a:spcBef>
                <a:spcPct val="0"/>
              </a:spcBef>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OBJECTIVE</a:t>
            </a:r>
          </a:p>
        </p:txBody>
      </p:sp>
      <p:sp>
        <p:nvSpPr>
          <p:cNvPr name="TextBox 47" id="47"/>
          <p:cNvSpPr txBox="true"/>
          <p:nvPr/>
        </p:nvSpPr>
        <p:spPr>
          <a:xfrm rot="0">
            <a:off x="9364486" y="3090400"/>
            <a:ext cx="3438193" cy="825162"/>
          </a:xfrm>
          <a:prstGeom prst="rect">
            <a:avLst/>
          </a:prstGeom>
        </p:spPr>
        <p:txBody>
          <a:bodyPr anchor="t" rtlCol="false" tIns="0" lIns="0" bIns="0" rIns="0">
            <a:spAutoFit/>
          </a:bodyPr>
          <a:lstStyle/>
          <a:p>
            <a:pPr algn="ctr" marL="0" indent="0" lvl="0">
              <a:lnSpc>
                <a:spcPts val="3343"/>
              </a:lnSpc>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RESEARCH</a:t>
            </a:r>
          </a:p>
          <a:p>
            <a:pPr algn="ctr" marL="0" indent="0" lvl="0">
              <a:lnSpc>
                <a:spcPts val="3343"/>
              </a:lnSpc>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QUESTION 1</a:t>
            </a:r>
          </a:p>
        </p:txBody>
      </p:sp>
      <p:sp>
        <p:nvSpPr>
          <p:cNvPr name="TextBox 48" id="48"/>
          <p:cNvSpPr txBox="true"/>
          <p:nvPr/>
        </p:nvSpPr>
        <p:spPr>
          <a:xfrm rot="0">
            <a:off x="13794066" y="3090400"/>
            <a:ext cx="3438193" cy="825162"/>
          </a:xfrm>
          <a:prstGeom prst="rect">
            <a:avLst/>
          </a:prstGeom>
        </p:spPr>
        <p:txBody>
          <a:bodyPr anchor="t" rtlCol="false" tIns="0" lIns="0" bIns="0" rIns="0">
            <a:spAutoFit/>
          </a:bodyPr>
          <a:lstStyle/>
          <a:p>
            <a:pPr algn="ctr" marL="0" indent="0" lvl="0">
              <a:lnSpc>
                <a:spcPts val="3343"/>
              </a:lnSpc>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RESEARCH</a:t>
            </a:r>
          </a:p>
          <a:p>
            <a:pPr algn="ctr" marL="0" indent="0" lvl="0">
              <a:lnSpc>
                <a:spcPts val="3343"/>
              </a:lnSpc>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Bold"/>
                <a:ea typeface="Bricolage Grotesque Bold"/>
                <a:cs typeface="Bricolage Grotesque Bold"/>
                <a:sym typeface="Bricolage Grotesque Bold"/>
              </a:rPr>
              <a:t>QUESTIONS 2–3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438046" y="350129"/>
            <a:ext cx="1849954" cy="1498037"/>
            <a:chOff x="0" y="0"/>
            <a:chExt cx="2466605" cy="1997382"/>
          </a:xfrm>
        </p:grpSpPr>
        <p:grpSp>
          <p:nvGrpSpPr>
            <p:cNvPr name="Group 3" id="3"/>
            <p:cNvGrpSpPr/>
            <p:nvPr/>
          </p:nvGrpSpPr>
          <p:grpSpPr>
            <a:xfrm rot="0">
              <a:off x="0" y="0"/>
              <a:ext cx="2466605" cy="1997382"/>
              <a:chOff x="0" y="0"/>
              <a:chExt cx="787566" cy="637747"/>
            </a:xfrm>
          </p:grpSpPr>
          <p:sp>
            <p:nvSpPr>
              <p:cNvPr name="Freeform 4" id="4"/>
              <p:cNvSpPr/>
              <p:nvPr/>
            </p:nvSpPr>
            <p:spPr>
              <a:xfrm flipH="false" flipV="false" rot="0">
                <a:off x="0" y="0"/>
                <a:ext cx="787566" cy="637747"/>
              </a:xfrm>
              <a:custGeom>
                <a:avLst/>
                <a:gdLst/>
                <a:ahLst/>
                <a:cxnLst/>
                <a:rect r="r" b="b" t="t" l="l"/>
                <a:pathLst>
                  <a:path h="637747" w="787566">
                    <a:moveTo>
                      <a:pt x="0" y="0"/>
                    </a:moveTo>
                    <a:lnTo>
                      <a:pt x="787566" y="0"/>
                    </a:lnTo>
                    <a:lnTo>
                      <a:pt x="787566" y="637747"/>
                    </a:lnTo>
                    <a:lnTo>
                      <a:pt x="0" y="637747"/>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5" id="5"/>
              <p:cNvSpPr txBox="true"/>
              <p:nvPr/>
            </p:nvSpPr>
            <p:spPr>
              <a:xfrm>
                <a:off x="0" y="-38100"/>
                <a:ext cx="787566" cy="67584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319164" y="655949"/>
              <a:ext cx="1828278" cy="771210"/>
            </a:xfrm>
            <a:prstGeom prst="rect">
              <a:avLst/>
            </a:prstGeom>
          </p:spPr>
          <p:txBody>
            <a:bodyPr anchor="t" rtlCol="false" tIns="0" lIns="0" bIns="0" rIns="0">
              <a:spAutoFit/>
            </a:bodyPr>
            <a:lstStyle/>
            <a:p>
              <a:pPr algn="ctr" marL="0" indent="0" lvl="0">
                <a:lnSpc>
                  <a:spcPts val="4167"/>
                </a:lnSpc>
              </a:pPr>
              <a:r>
                <a:rPr lang="en-US" sz="4252" spc="-272">
                  <a:solidFill>
                    <a:srgbClr val="FFFFFF"/>
                  </a:solidFill>
                  <a:latin typeface="Bricolage Grotesque"/>
                  <a:ea typeface="Bricolage Grotesque"/>
                  <a:cs typeface="Bricolage Grotesque"/>
                  <a:sym typeface="Bricolage Grotesque"/>
                </a:rPr>
                <a:t>05</a:t>
              </a:r>
            </a:p>
          </p:txBody>
        </p:sp>
      </p:grpSp>
      <p:grpSp>
        <p:nvGrpSpPr>
          <p:cNvPr name="Group 7" id="7"/>
          <p:cNvGrpSpPr/>
          <p:nvPr/>
        </p:nvGrpSpPr>
        <p:grpSpPr>
          <a:xfrm rot="0">
            <a:off x="5545788" y="3062727"/>
            <a:ext cx="7196424" cy="379246"/>
            <a:chOff x="0" y="0"/>
            <a:chExt cx="9595232" cy="505662"/>
          </a:xfrm>
        </p:grpSpPr>
        <p:sp>
          <p:nvSpPr>
            <p:cNvPr name="TextBox 8" id="8"/>
            <p:cNvSpPr txBox="true"/>
            <p:nvPr/>
          </p:nvSpPr>
          <p:spPr>
            <a:xfrm rot="0">
              <a:off x="0" y="164029"/>
              <a:ext cx="9378912" cy="341633"/>
            </a:xfrm>
            <a:prstGeom prst="rect">
              <a:avLst/>
            </a:prstGeom>
          </p:spPr>
          <p:txBody>
            <a:bodyPr anchor="t" rtlCol="false" tIns="0" lIns="0" bIns="0" rIns="0">
              <a:spAutoFit/>
            </a:bodyPr>
            <a:lstStyle/>
            <a:p>
              <a:pPr algn="l" marL="0" indent="0" lvl="0">
                <a:lnSpc>
                  <a:spcPts val="2152"/>
                </a:lnSpc>
              </a:pPr>
              <a:r>
                <a:rPr lang="en-US" b="true" sz="1537" spc="-38">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HOW THE PROJECT IS STRUCTURED, WHY IT MATTERS, AND HOW WE BUILT IT</a:t>
              </a:r>
            </a:p>
          </p:txBody>
        </p:sp>
        <p:sp>
          <p:nvSpPr>
            <p:cNvPr name="Freeform 9" id="9"/>
            <p:cNvSpPr/>
            <p:nvPr/>
          </p:nvSpPr>
          <p:spPr>
            <a:xfrm flipH="false" flipV="false" rot="-8687136">
              <a:off x="9278212"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0" id="10"/>
          <p:cNvGrpSpPr/>
          <p:nvPr/>
        </p:nvGrpSpPr>
        <p:grpSpPr>
          <a:xfrm rot="0">
            <a:off x="1463921" y="4926041"/>
            <a:ext cx="3746706" cy="374670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12" id="12"/>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3" id="13"/>
          <p:cNvGrpSpPr/>
          <p:nvPr/>
        </p:nvGrpSpPr>
        <p:grpSpPr>
          <a:xfrm rot="0">
            <a:off x="5334452" y="4926041"/>
            <a:ext cx="3746706" cy="374670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a:ln cap="sq">
              <a:noFill/>
              <a:prstDash val="solid"/>
              <a:miter/>
            </a:ln>
          </p:spPr>
        </p:sp>
        <p:sp>
          <p:nvSpPr>
            <p:cNvPr name="TextBox 15" id="15"/>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6" id="16"/>
          <p:cNvGrpSpPr/>
          <p:nvPr/>
        </p:nvGrpSpPr>
        <p:grpSpPr>
          <a:xfrm rot="0">
            <a:off x="9205912" y="4926041"/>
            <a:ext cx="3746706" cy="374670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18" id="18"/>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9" id="19"/>
          <p:cNvGrpSpPr/>
          <p:nvPr/>
        </p:nvGrpSpPr>
        <p:grpSpPr>
          <a:xfrm rot="0">
            <a:off x="13077373" y="4926041"/>
            <a:ext cx="3746706" cy="374670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21" id="21"/>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sp>
        <p:nvSpPr>
          <p:cNvPr name="TextBox 22" id="22"/>
          <p:cNvSpPr txBox="true"/>
          <p:nvPr/>
        </p:nvSpPr>
        <p:spPr>
          <a:xfrm rot="0">
            <a:off x="2345222" y="6326262"/>
            <a:ext cx="1984104" cy="233730"/>
          </a:xfrm>
          <a:prstGeom prst="rect">
            <a:avLst/>
          </a:prstGeom>
        </p:spPr>
        <p:txBody>
          <a:bodyPr anchor="t" rtlCol="false" tIns="0" lIns="0" bIns="0" rIns="0">
            <a:spAutoFit/>
          </a:bodyPr>
          <a:lstStyle/>
          <a:p>
            <a:pPr algn="ctr" marL="0" indent="0" lvl="0">
              <a:lnSpc>
                <a:spcPts val="1879"/>
              </a:lnSpc>
            </a:pPr>
            <a:r>
              <a:rPr lang="en-US" b="true" sz="1457" spc="-4">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PROJECT SCOPE</a:t>
            </a:r>
          </a:p>
        </p:txBody>
      </p:sp>
      <p:sp>
        <p:nvSpPr>
          <p:cNvPr name="TextBox 23" id="23"/>
          <p:cNvSpPr txBox="true"/>
          <p:nvPr/>
        </p:nvSpPr>
        <p:spPr>
          <a:xfrm rot="0">
            <a:off x="2124549" y="6765742"/>
            <a:ext cx="2425450" cy="842586"/>
          </a:xfrm>
          <a:prstGeom prst="rect">
            <a:avLst/>
          </a:prstGeom>
        </p:spPr>
        <p:txBody>
          <a:bodyPr anchor="t" rtlCol="false" tIns="0" lIns="0" bIns="0" rIns="0">
            <a:spAutoFit/>
          </a:bodyPr>
          <a:lstStyle/>
          <a:p>
            <a:pPr algn="ctr" marL="0" indent="0" lvl="0">
              <a:lnSpc>
                <a:spcPts val="1654"/>
              </a:lnSpc>
            </a:pPr>
            <a:r>
              <a:rPr lang="en-US" sz="1282" spc="-3">
                <a:solidFill>
                  <a:srgbClr val="3A58E4"/>
                </a:solidFill>
                <a:latin typeface="Poppins"/>
                <a:ea typeface="Poppins"/>
                <a:cs typeface="Poppins"/>
                <a:sym typeface="Poppins"/>
              </a:rPr>
              <a:t>Mobile client app, admin web interface, backend REST API, SQLite local DB &amp; MongoDB cloud DB</a:t>
            </a:r>
          </a:p>
        </p:txBody>
      </p:sp>
      <p:sp>
        <p:nvSpPr>
          <p:cNvPr name="TextBox 24" id="24"/>
          <p:cNvSpPr txBox="true"/>
          <p:nvPr/>
        </p:nvSpPr>
        <p:spPr>
          <a:xfrm rot="0">
            <a:off x="6215753" y="6326262"/>
            <a:ext cx="1984104" cy="233730"/>
          </a:xfrm>
          <a:prstGeom prst="rect">
            <a:avLst/>
          </a:prstGeom>
        </p:spPr>
        <p:txBody>
          <a:bodyPr anchor="t" rtlCol="false" tIns="0" lIns="0" bIns="0" rIns="0">
            <a:spAutoFit/>
          </a:bodyPr>
          <a:lstStyle/>
          <a:p>
            <a:pPr algn="ctr" marL="0" indent="0" lvl="0">
              <a:lnSpc>
                <a:spcPts val="1879"/>
              </a:lnSpc>
            </a:pPr>
            <a:r>
              <a:rPr lang="en-US" b="true" sz="1457" spc="-4">
                <a:solidFill>
                  <a:srgbClr val="FFFFFF"/>
                </a:solidFill>
                <a:latin typeface="Poppins Bold"/>
                <a:ea typeface="Poppins Bold"/>
                <a:cs typeface="Poppins Bold"/>
                <a:sym typeface="Poppins Bold"/>
              </a:rPr>
              <a:t>SIGNIFICANCE</a:t>
            </a:r>
          </a:p>
        </p:txBody>
      </p:sp>
      <p:sp>
        <p:nvSpPr>
          <p:cNvPr name="TextBox 25" id="25"/>
          <p:cNvSpPr txBox="true"/>
          <p:nvPr/>
        </p:nvSpPr>
        <p:spPr>
          <a:xfrm rot="0">
            <a:off x="5995080" y="6765742"/>
            <a:ext cx="2425450" cy="842586"/>
          </a:xfrm>
          <a:prstGeom prst="rect">
            <a:avLst/>
          </a:prstGeom>
        </p:spPr>
        <p:txBody>
          <a:bodyPr anchor="t" rtlCol="false" tIns="0" lIns="0" bIns="0" rIns="0">
            <a:spAutoFit/>
          </a:bodyPr>
          <a:lstStyle/>
          <a:p>
            <a:pPr algn="ctr" marL="0" indent="0" lvl="0">
              <a:lnSpc>
                <a:spcPts val="1654"/>
              </a:lnSpc>
            </a:pPr>
            <a:r>
              <a:rPr lang="en-US" sz="1282" spc="-3">
                <a:solidFill>
                  <a:srgbClr val="FFFFFF"/>
                </a:solidFill>
                <a:latin typeface="Poppins"/>
                <a:ea typeface="Poppins"/>
                <a:cs typeface="Poppins"/>
                <a:sym typeface="Poppins"/>
              </a:rPr>
              <a:t>Benefits network operators, researchers, regulators &amp; end users with real-time QoE insights</a:t>
            </a:r>
          </a:p>
        </p:txBody>
      </p:sp>
      <p:sp>
        <p:nvSpPr>
          <p:cNvPr name="TextBox 26" id="26"/>
          <p:cNvSpPr txBox="true"/>
          <p:nvPr/>
        </p:nvSpPr>
        <p:spPr>
          <a:xfrm rot="0">
            <a:off x="9901910" y="6326262"/>
            <a:ext cx="2354710" cy="233730"/>
          </a:xfrm>
          <a:prstGeom prst="rect">
            <a:avLst/>
          </a:prstGeom>
        </p:spPr>
        <p:txBody>
          <a:bodyPr anchor="t" rtlCol="false" tIns="0" lIns="0" bIns="0" rIns="0">
            <a:spAutoFit/>
          </a:bodyPr>
          <a:lstStyle/>
          <a:p>
            <a:pPr algn="ctr" marL="0" indent="0" lvl="0">
              <a:lnSpc>
                <a:spcPts val="1879"/>
              </a:lnSpc>
            </a:pPr>
            <a:r>
              <a:rPr lang="en-US" b="true" sz="1457" spc="-4">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METHODOLOGY</a:t>
            </a:r>
          </a:p>
        </p:txBody>
      </p:sp>
      <p:sp>
        <p:nvSpPr>
          <p:cNvPr name="TextBox 27" id="27"/>
          <p:cNvSpPr txBox="true"/>
          <p:nvPr/>
        </p:nvSpPr>
        <p:spPr>
          <a:xfrm rot="0">
            <a:off x="9866540" y="6975292"/>
            <a:ext cx="2425450" cy="633036"/>
          </a:xfrm>
          <a:prstGeom prst="rect">
            <a:avLst/>
          </a:prstGeom>
        </p:spPr>
        <p:txBody>
          <a:bodyPr anchor="t" rtlCol="false" tIns="0" lIns="0" bIns="0" rIns="0">
            <a:spAutoFit/>
          </a:bodyPr>
          <a:lstStyle/>
          <a:p>
            <a:pPr algn="ctr" marL="0" indent="0" lvl="0">
              <a:lnSpc>
                <a:spcPts val="1654"/>
              </a:lnSpc>
            </a:pPr>
            <a:r>
              <a:rPr lang="en-US" sz="1282" spc="-3">
                <a:solidFill>
                  <a:srgbClr val="3A58E4"/>
                </a:solidFill>
                <a:latin typeface="Poppins"/>
                <a:ea typeface="Poppins"/>
                <a:cs typeface="Poppins"/>
                <a:sym typeface="Poppins"/>
              </a:rPr>
              <a:t>6-step flow: Gather → Analyze → Model → Design → Implement → Test</a:t>
            </a:r>
          </a:p>
        </p:txBody>
      </p:sp>
      <p:sp>
        <p:nvSpPr>
          <p:cNvPr name="TextBox 28" id="28"/>
          <p:cNvSpPr txBox="true"/>
          <p:nvPr/>
        </p:nvSpPr>
        <p:spPr>
          <a:xfrm rot="0">
            <a:off x="13958674" y="6326262"/>
            <a:ext cx="1984104" cy="233730"/>
          </a:xfrm>
          <a:prstGeom prst="rect">
            <a:avLst/>
          </a:prstGeom>
        </p:spPr>
        <p:txBody>
          <a:bodyPr anchor="t" rtlCol="false" tIns="0" lIns="0" bIns="0" rIns="0">
            <a:spAutoFit/>
          </a:bodyPr>
          <a:lstStyle/>
          <a:p>
            <a:pPr algn="ctr" marL="0" indent="0" lvl="0">
              <a:lnSpc>
                <a:spcPts val="1879"/>
              </a:lnSpc>
            </a:pPr>
            <a:r>
              <a:rPr lang="en-US" b="true" sz="1457" spc="-4">
                <a:solidFill>
                  <a:srgbClr val="FFFFFF"/>
                </a:solidFill>
                <a:latin typeface="Poppins Bold"/>
                <a:ea typeface="Poppins Bold"/>
                <a:cs typeface="Poppins Bold"/>
                <a:sym typeface="Poppins Bold"/>
              </a:rPr>
              <a:t>KEY OUTCOMES</a:t>
            </a:r>
          </a:p>
        </p:txBody>
      </p:sp>
      <p:sp>
        <p:nvSpPr>
          <p:cNvPr name="TextBox 29" id="29"/>
          <p:cNvSpPr txBox="true"/>
          <p:nvPr/>
        </p:nvSpPr>
        <p:spPr>
          <a:xfrm rot="0">
            <a:off x="13738001" y="6765742"/>
            <a:ext cx="2425450" cy="842586"/>
          </a:xfrm>
          <a:prstGeom prst="rect">
            <a:avLst/>
          </a:prstGeom>
        </p:spPr>
        <p:txBody>
          <a:bodyPr anchor="t" rtlCol="false" tIns="0" lIns="0" bIns="0" rIns="0">
            <a:spAutoFit/>
          </a:bodyPr>
          <a:lstStyle/>
          <a:p>
            <a:pPr algn="ctr" marL="0" indent="0" lvl="0">
              <a:lnSpc>
                <a:spcPts val="1654"/>
              </a:lnSpc>
            </a:pPr>
            <a:r>
              <a:rPr lang="en-US" sz="1282" spc="-3">
                <a:solidFill>
                  <a:srgbClr val="FFFFFF"/>
                </a:solidFill>
                <a:latin typeface="Poppins"/>
                <a:ea typeface="Poppins"/>
                <a:cs typeface="Poppins"/>
                <a:sym typeface="Poppins"/>
              </a:rPr>
              <a:t>Cross-platform app, offline-first storage, heatmap visualization &amp; bilingual support</a:t>
            </a:r>
          </a:p>
        </p:txBody>
      </p:sp>
      <p:grpSp>
        <p:nvGrpSpPr>
          <p:cNvPr name="Group 30" id="30"/>
          <p:cNvGrpSpPr/>
          <p:nvPr/>
        </p:nvGrpSpPr>
        <p:grpSpPr>
          <a:xfrm rot="0">
            <a:off x="4176506" y="5050446"/>
            <a:ext cx="746986" cy="622581"/>
            <a:chOff x="0" y="0"/>
            <a:chExt cx="995981" cy="830108"/>
          </a:xfrm>
        </p:grpSpPr>
        <p:grpSp>
          <p:nvGrpSpPr>
            <p:cNvPr name="Group 31" id="31"/>
            <p:cNvGrpSpPr/>
            <p:nvPr/>
          </p:nvGrpSpPr>
          <p:grpSpPr>
            <a:xfrm rot="0">
              <a:off x="0" y="0"/>
              <a:ext cx="995981" cy="830108"/>
              <a:chOff x="0" y="0"/>
              <a:chExt cx="812800" cy="677434"/>
            </a:xfrm>
          </p:grpSpPr>
          <p:sp>
            <p:nvSpPr>
              <p:cNvPr name="Freeform 32" id="32"/>
              <p:cNvSpPr/>
              <p:nvPr/>
            </p:nvSpPr>
            <p:spPr>
              <a:xfrm flipH="false" flipV="false" rot="0">
                <a:off x="0" y="0"/>
                <a:ext cx="812800" cy="677434"/>
              </a:xfrm>
              <a:custGeom>
                <a:avLst/>
                <a:gdLst/>
                <a:ahLst/>
                <a:cxnLst/>
                <a:rect r="r" b="b" t="t" l="l"/>
                <a:pathLst>
                  <a:path h="677434" w="812800">
                    <a:moveTo>
                      <a:pt x="406400" y="0"/>
                    </a:moveTo>
                    <a:cubicBezTo>
                      <a:pt x="181951" y="0"/>
                      <a:pt x="0" y="151649"/>
                      <a:pt x="0" y="338717"/>
                    </a:cubicBezTo>
                    <a:cubicBezTo>
                      <a:pt x="0" y="525786"/>
                      <a:pt x="181951" y="677434"/>
                      <a:pt x="406400" y="677434"/>
                    </a:cubicBezTo>
                    <a:cubicBezTo>
                      <a:pt x="630849" y="677434"/>
                      <a:pt x="812800" y="525786"/>
                      <a:pt x="812800" y="338717"/>
                    </a:cubicBezTo>
                    <a:cubicBezTo>
                      <a:pt x="812800" y="151649"/>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33" id="33"/>
              <p:cNvSpPr txBox="true"/>
              <p:nvPr/>
            </p:nvSpPr>
            <p:spPr>
              <a:xfrm>
                <a:off x="76200" y="25409"/>
                <a:ext cx="660400" cy="588515"/>
              </a:xfrm>
              <a:prstGeom prst="rect">
                <a:avLst/>
              </a:prstGeom>
            </p:spPr>
            <p:txBody>
              <a:bodyPr anchor="ctr" rtlCol="false" tIns="50800" lIns="50800" bIns="50800" rIns="50800"/>
              <a:lstStyle/>
              <a:p>
                <a:pPr algn="ctr" marL="0" indent="0" lvl="0">
                  <a:lnSpc>
                    <a:spcPts val="2659"/>
                  </a:lnSpc>
                </a:pPr>
              </a:p>
            </p:txBody>
          </p:sp>
        </p:grpSp>
        <p:sp>
          <p:nvSpPr>
            <p:cNvPr name="TextBox 34" id="34"/>
            <p:cNvSpPr txBox="true"/>
            <p:nvPr/>
          </p:nvSpPr>
          <p:spPr>
            <a:xfrm rot="0">
              <a:off x="175623" y="254611"/>
              <a:ext cx="644736" cy="301836"/>
            </a:xfrm>
            <a:prstGeom prst="rect">
              <a:avLst/>
            </a:prstGeom>
          </p:spPr>
          <p:txBody>
            <a:bodyPr anchor="t" rtlCol="false" tIns="0" lIns="0" bIns="0" rIns="0">
              <a:spAutoFit/>
            </a:bodyPr>
            <a:lstStyle/>
            <a:p>
              <a:pPr algn="ctr" marL="0" indent="0" lvl="0">
                <a:lnSpc>
                  <a:spcPts val="1863"/>
                </a:lnSpc>
              </a:pPr>
              <a:r>
                <a:rPr lang="en-US" sz="1444" spc="-4">
                  <a:solidFill>
                    <a:srgbClr val="FFFFFF"/>
                  </a:solidFill>
                  <a:latin typeface="Poppins"/>
                  <a:ea typeface="Poppins"/>
                  <a:cs typeface="Poppins"/>
                  <a:sym typeface="Poppins"/>
                </a:rPr>
                <a:t>01</a:t>
              </a:r>
            </a:p>
          </p:txBody>
        </p:sp>
      </p:grpSp>
      <p:grpSp>
        <p:nvGrpSpPr>
          <p:cNvPr name="Group 35" id="35"/>
          <p:cNvGrpSpPr/>
          <p:nvPr/>
        </p:nvGrpSpPr>
        <p:grpSpPr>
          <a:xfrm rot="0">
            <a:off x="8047037" y="5050446"/>
            <a:ext cx="746986" cy="622581"/>
            <a:chOff x="0" y="0"/>
            <a:chExt cx="995981" cy="830108"/>
          </a:xfrm>
        </p:grpSpPr>
        <p:grpSp>
          <p:nvGrpSpPr>
            <p:cNvPr name="Group 36" id="36"/>
            <p:cNvGrpSpPr/>
            <p:nvPr/>
          </p:nvGrpSpPr>
          <p:grpSpPr>
            <a:xfrm rot="0">
              <a:off x="0" y="0"/>
              <a:ext cx="995981" cy="830108"/>
              <a:chOff x="0" y="0"/>
              <a:chExt cx="812800" cy="677434"/>
            </a:xfrm>
          </p:grpSpPr>
          <p:sp>
            <p:nvSpPr>
              <p:cNvPr name="Freeform 37" id="37"/>
              <p:cNvSpPr/>
              <p:nvPr/>
            </p:nvSpPr>
            <p:spPr>
              <a:xfrm flipH="false" flipV="false" rot="0">
                <a:off x="0" y="0"/>
                <a:ext cx="812800" cy="677434"/>
              </a:xfrm>
              <a:custGeom>
                <a:avLst/>
                <a:gdLst/>
                <a:ahLst/>
                <a:cxnLst/>
                <a:rect r="r" b="b" t="t" l="l"/>
                <a:pathLst>
                  <a:path h="677434" w="812800">
                    <a:moveTo>
                      <a:pt x="406400" y="0"/>
                    </a:moveTo>
                    <a:cubicBezTo>
                      <a:pt x="181951" y="0"/>
                      <a:pt x="0" y="151649"/>
                      <a:pt x="0" y="338717"/>
                    </a:cubicBezTo>
                    <a:cubicBezTo>
                      <a:pt x="0" y="525786"/>
                      <a:pt x="181951" y="677434"/>
                      <a:pt x="406400" y="677434"/>
                    </a:cubicBezTo>
                    <a:cubicBezTo>
                      <a:pt x="630849" y="677434"/>
                      <a:pt x="812800" y="525786"/>
                      <a:pt x="812800" y="338717"/>
                    </a:cubicBezTo>
                    <a:cubicBezTo>
                      <a:pt x="812800" y="151649"/>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38" id="38"/>
              <p:cNvSpPr txBox="true"/>
              <p:nvPr/>
            </p:nvSpPr>
            <p:spPr>
              <a:xfrm>
                <a:off x="76200" y="25409"/>
                <a:ext cx="660400" cy="588515"/>
              </a:xfrm>
              <a:prstGeom prst="rect">
                <a:avLst/>
              </a:prstGeom>
            </p:spPr>
            <p:txBody>
              <a:bodyPr anchor="ctr" rtlCol="false" tIns="50800" lIns="50800" bIns="50800" rIns="50800"/>
              <a:lstStyle/>
              <a:p>
                <a:pPr algn="ctr" marL="0" indent="0" lvl="0">
                  <a:lnSpc>
                    <a:spcPts val="2659"/>
                  </a:lnSpc>
                </a:pPr>
              </a:p>
            </p:txBody>
          </p:sp>
        </p:grpSp>
        <p:sp>
          <p:nvSpPr>
            <p:cNvPr name="TextBox 39" id="39"/>
            <p:cNvSpPr txBox="true"/>
            <p:nvPr/>
          </p:nvSpPr>
          <p:spPr>
            <a:xfrm rot="0">
              <a:off x="175623" y="254611"/>
              <a:ext cx="644736" cy="301836"/>
            </a:xfrm>
            <a:prstGeom prst="rect">
              <a:avLst/>
            </a:prstGeom>
          </p:spPr>
          <p:txBody>
            <a:bodyPr anchor="t" rtlCol="false" tIns="0" lIns="0" bIns="0" rIns="0">
              <a:spAutoFit/>
            </a:bodyPr>
            <a:lstStyle/>
            <a:p>
              <a:pPr algn="ctr" marL="0" indent="0" lvl="0">
                <a:lnSpc>
                  <a:spcPts val="1863"/>
                </a:lnSpc>
              </a:pPr>
              <a:r>
                <a:rPr lang="en-US" sz="1444" spc="-4">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02</a:t>
              </a:r>
            </a:p>
          </p:txBody>
        </p:sp>
      </p:grpSp>
      <p:grpSp>
        <p:nvGrpSpPr>
          <p:cNvPr name="Group 40" id="40"/>
          <p:cNvGrpSpPr/>
          <p:nvPr/>
        </p:nvGrpSpPr>
        <p:grpSpPr>
          <a:xfrm rot="0">
            <a:off x="11919608" y="5050446"/>
            <a:ext cx="746986" cy="622581"/>
            <a:chOff x="0" y="0"/>
            <a:chExt cx="995981" cy="830108"/>
          </a:xfrm>
        </p:grpSpPr>
        <p:grpSp>
          <p:nvGrpSpPr>
            <p:cNvPr name="Group 41" id="41"/>
            <p:cNvGrpSpPr/>
            <p:nvPr/>
          </p:nvGrpSpPr>
          <p:grpSpPr>
            <a:xfrm rot="0">
              <a:off x="0" y="0"/>
              <a:ext cx="995981" cy="830108"/>
              <a:chOff x="0" y="0"/>
              <a:chExt cx="812800" cy="677434"/>
            </a:xfrm>
          </p:grpSpPr>
          <p:sp>
            <p:nvSpPr>
              <p:cNvPr name="Freeform 42" id="42"/>
              <p:cNvSpPr/>
              <p:nvPr/>
            </p:nvSpPr>
            <p:spPr>
              <a:xfrm flipH="false" flipV="false" rot="0">
                <a:off x="0" y="0"/>
                <a:ext cx="812800" cy="677434"/>
              </a:xfrm>
              <a:custGeom>
                <a:avLst/>
                <a:gdLst/>
                <a:ahLst/>
                <a:cxnLst/>
                <a:rect r="r" b="b" t="t" l="l"/>
                <a:pathLst>
                  <a:path h="677434" w="812800">
                    <a:moveTo>
                      <a:pt x="406400" y="0"/>
                    </a:moveTo>
                    <a:cubicBezTo>
                      <a:pt x="181951" y="0"/>
                      <a:pt x="0" y="151649"/>
                      <a:pt x="0" y="338717"/>
                    </a:cubicBezTo>
                    <a:cubicBezTo>
                      <a:pt x="0" y="525786"/>
                      <a:pt x="181951" y="677434"/>
                      <a:pt x="406400" y="677434"/>
                    </a:cubicBezTo>
                    <a:cubicBezTo>
                      <a:pt x="630849" y="677434"/>
                      <a:pt x="812800" y="525786"/>
                      <a:pt x="812800" y="338717"/>
                    </a:cubicBezTo>
                    <a:cubicBezTo>
                      <a:pt x="812800" y="151649"/>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43" id="43"/>
              <p:cNvSpPr txBox="true"/>
              <p:nvPr/>
            </p:nvSpPr>
            <p:spPr>
              <a:xfrm>
                <a:off x="76200" y="25409"/>
                <a:ext cx="660400" cy="588515"/>
              </a:xfrm>
              <a:prstGeom prst="rect">
                <a:avLst/>
              </a:prstGeom>
            </p:spPr>
            <p:txBody>
              <a:bodyPr anchor="ctr" rtlCol="false" tIns="50800" lIns="50800" bIns="50800" rIns="50800"/>
              <a:lstStyle/>
              <a:p>
                <a:pPr algn="ctr" marL="0" indent="0" lvl="0">
                  <a:lnSpc>
                    <a:spcPts val="2659"/>
                  </a:lnSpc>
                </a:pPr>
              </a:p>
            </p:txBody>
          </p:sp>
        </p:grpSp>
        <p:sp>
          <p:nvSpPr>
            <p:cNvPr name="TextBox 44" id="44"/>
            <p:cNvSpPr txBox="true"/>
            <p:nvPr/>
          </p:nvSpPr>
          <p:spPr>
            <a:xfrm rot="0">
              <a:off x="175623" y="254611"/>
              <a:ext cx="644736" cy="301836"/>
            </a:xfrm>
            <a:prstGeom prst="rect">
              <a:avLst/>
            </a:prstGeom>
          </p:spPr>
          <p:txBody>
            <a:bodyPr anchor="t" rtlCol="false" tIns="0" lIns="0" bIns="0" rIns="0">
              <a:spAutoFit/>
            </a:bodyPr>
            <a:lstStyle/>
            <a:p>
              <a:pPr algn="ctr" marL="0" indent="0" lvl="0">
                <a:lnSpc>
                  <a:spcPts val="1863"/>
                </a:lnSpc>
              </a:pPr>
              <a:r>
                <a:rPr lang="en-US" sz="1444" spc="-4">
                  <a:solidFill>
                    <a:srgbClr val="FFFFFF"/>
                  </a:solidFill>
                  <a:latin typeface="Poppins"/>
                  <a:ea typeface="Poppins"/>
                  <a:cs typeface="Poppins"/>
                  <a:sym typeface="Poppins"/>
                </a:rPr>
                <a:t>03</a:t>
              </a:r>
            </a:p>
          </p:txBody>
        </p:sp>
      </p:grpSp>
      <p:grpSp>
        <p:nvGrpSpPr>
          <p:cNvPr name="Group 45" id="45"/>
          <p:cNvGrpSpPr/>
          <p:nvPr/>
        </p:nvGrpSpPr>
        <p:grpSpPr>
          <a:xfrm rot="0">
            <a:off x="15791068" y="5050446"/>
            <a:ext cx="746986" cy="622581"/>
            <a:chOff x="0" y="0"/>
            <a:chExt cx="995981" cy="830108"/>
          </a:xfrm>
        </p:grpSpPr>
        <p:grpSp>
          <p:nvGrpSpPr>
            <p:cNvPr name="Group 46" id="46"/>
            <p:cNvGrpSpPr/>
            <p:nvPr/>
          </p:nvGrpSpPr>
          <p:grpSpPr>
            <a:xfrm rot="0">
              <a:off x="0" y="0"/>
              <a:ext cx="995981" cy="830108"/>
              <a:chOff x="0" y="0"/>
              <a:chExt cx="812800" cy="677434"/>
            </a:xfrm>
          </p:grpSpPr>
          <p:sp>
            <p:nvSpPr>
              <p:cNvPr name="Freeform 47" id="47"/>
              <p:cNvSpPr/>
              <p:nvPr/>
            </p:nvSpPr>
            <p:spPr>
              <a:xfrm flipH="false" flipV="false" rot="0">
                <a:off x="0" y="0"/>
                <a:ext cx="812800" cy="677434"/>
              </a:xfrm>
              <a:custGeom>
                <a:avLst/>
                <a:gdLst/>
                <a:ahLst/>
                <a:cxnLst/>
                <a:rect r="r" b="b" t="t" l="l"/>
                <a:pathLst>
                  <a:path h="677434" w="812800">
                    <a:moveTo>
                      <a:pt x="406400" y="0"/>
                    </a:moveTo>
                    <a:cubicBezTo>
                      <a:pt x="181951" y="0"/>
                      <a:pt x="0" y="151649"/>
                      <a:pt x="0" y="338717"/>
                    </a:cubicBezTo>
                    <a:cubicBezTo>
                      <a:pt x="0" y="525786"/>
                      <a:pt x="181951" y="677434"/>
                      <a:pt x="406400" y="677434"/>
                    </a:cubicBezTo>
                    <a:cubicBezTo>
                      <a:pt x="630849" y="677434"/>
                      <a:pt x="812800" y="525786"/>
                      <a:pt x="812800" y="338717"/>
                    </a:cubicBezTo>
                    <a:cubicBezTo>
                      <a:pt x="812800" y="151649"/>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48" id="48"/>
              <p:cNvSpPr txBox="true"/>
              <p:nvPr/>
            </p:nvSpPr>
            <p:spPr>
              <a:xfrm>
                <a:off x="76200" y="25409"/>
                <a:ext cx="660400" cy="588515"/>
              </a:xfrm>
              <a:prstGeom prst="rect">
                <a:avLst/>
              </a:prstGeom>
            </p:spPr>
            <p:txBody>
              <a:bodyPr anchor="ctr" rtlCol="false" tIns="50800" lIns="50800" bIns="50800" rIns="50800"/>
              <a:lstStyle/>
              <a:p>
                <a:pPr algn="ctr" marL="0" indent="0" lvl="0">
                  <a:lnSpc>
                    <a:spcPts val="2659"/>
                  </a:lnSpc>
                </a:pPr>
              </a:p>
            </p:txBody>
          </p:sp>
        </p:grpSp>
        <p:sp>
          <p:nvSpPr>
            <p:cNvPr name="TextBox 49" id="49"/>
            <p:cNvSpPr txBox="true"/>
            <p:nvPr/>
          </p:nvSpPr>
          <p:spPr>
            <a:xfrm rot="0">
              <a:off x="175623" y="254611"/>
              <a:ext cx="644736" cy="301836"/>
            </a:xfrm>
            <a:prstGeom prst="rect">
              <a:avLst/>
            </a:prstGeom>
          </p:spPr>
          <p:txBody>
            <a:bodyPr anchor="t" rtlCol="false" tIns="0" lIns="0" bIns="0" rIns="0">
              <a:spAutoFit/>
            </a:bodyPr>
            <a:lstStyle/>
            <a:p>
              <a:pPr algn="ctr" marL="0" indent="0" lvl="0">
                <a:lnSpc>
                  <a:spcPts val="1863"/>
                </a:lnSpc>
              </a:pPr>
              <a:r>
                <a:rPr lang="en-US" sz="1444" spc="-4">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04</a:t>
              </a:r>
            </a:p>
          </p:txBody>
        </p:sp>
      </p:grpSp>
      <p:sp>
        <p:nvSpPr>
          <p:cNvPr name="TextBox 50" id="50"/>
          <p:cNvSpPr txBox="true"/>
          <p:nvPr/>
        </p:nvSpPr>
        <p:spPr>
          <a:xfrm rot="0">
            <a:off x="3363658" y="1179682"/>
            <a:ext cx="11560683" cy="1625377"/>
          </a:xfrm>
          <a:prstGeom prst="rect">
            <a:avLst/>
          </a:prstGeom>
        </p:spPr>
        <p:txBody>
          <a:bodyPr anchor="t" rtlCol="false" tIns="0" lIns="0" bIns="0" rIns="0">
            <a:spAutoFit/>
          </a:bodyPr>
          <a:lstStyle/>
          <a:p>
            <a:pPr algn="ctr" marL="0" indent="0" lvl="0">
              <a:lnSpc>
                <a:spcPts val="6228"/>
              </a:lnSpc>
            </a:pPr>
            <a:r>
              <a:rPr lang="en-US" sz="6355" spc="-40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Scope, Significance &amp; Methodology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438046" y="290997"/>
            <a:ext cx="1849954" cy="1557169"/>
            <a:chOff x="0" y="0"/>
            <a:chExt cx="2466605" cy="2076226"/>
          </a:xfrm>
        </p:grpSpPr>
        <p:grpSp>
          <p:nvGrpSpPr>
            <p:cNvPr name="Group 3" id="3"/>
            <p:cNvGrpSpPr/>
            <p:nvPr/>
          </p:nvGrpSpPr>
          <p:grpSpPr>
            <a:xfrm rot="0">
              <a:off x="0" y="0"/>
              <a:ext cx="2466605" cy="2076226"/>
              <a:chOff x="0" y="0"/>
              <a:chExt cx="787566" cy="662921"/>
            </a:xfrm>
          </p:grpSpPr>
          <p:sp>
            <p:nvSpPr>
              <p:cNvPr name="Freeform 4" id="4"/>
              <p:cNvSpPr/>
              <p:nvPr/>
            </p:nvSpPr>
            <p:spPr>
              <a:xfrm flipH="false" flipV="false" rot="0">
                <a:off x="0" y="0"/>
                <a:ext cx="787566" cy="662921"/>
              </a:xfrm>
              <a:custGeom>
                <a:avLst/>
                <a:gdLst/>
                <a:ahLst/>
                <a:cxnLst/>
                <a:rect r="r" b="b" t="t" l="l"/>
                <a:pathLst>
                  <a:path h="662921" w="787566">
                    <a:moveTo>
                      <a:pt x="0" y="0"/>
                    </a:moveTo>
                    <a:lnTo>
                      <a:pt x="787566" y="0"/>
                    </a:lnTo>
                    <a:lnTo>
                      <a:pt x="787566" y="662921"/>
                    </a:lnTo>
                    <a:lnTo>
                      <a:pt x="0" y="662921"/>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5" id="5"/>
              <p:cNvSpPr txBox="true"/>
              <p:nvPr/>
            </p:nvSpPr>
            <p:spPr>
              <a:xfrm>
                <a:off x="0" y="-38100"/>
                <a:ext cx="787566" cy="70102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319164" y="665474"/>
              <a:ext cx="1828278" cy="840528"/>
            </a:xfrm>
            <a:prstGeom prst="rect">
              <a:avLst/>
            </a:prstGeom>
          </p:spPr>
          <p:txBody>
            <a:bodyPr anchor="t" rtlCol="false" tIns="0" lIns="0" bIns="0" rIns="0">
              <a:spAutoFit/>
            </a:bodyPr>
            <a:lstStyle/>
            <a:p>
              <a:pPr algn="ctr" marL="0" indent="0" lvl="0">
                <a:lnSpc>
                  <a:spcPts val="4571"/>
                </a:lnSpc>
              </a:pPr>
              <a:r>
                <a:rPr lang="en-US" sz="4664" spc="-298">
                  <a:solidFill>
                    <a:srgbClr val="FFFFFF"/>
                  </a:solidFill>
                  <a:latin typeface="Bricolage Grotesque"/>
                  <a:ea typeface="Bricolage Grotesque"/>
                  <a:cs typeface="Bricolage Grotesque"/>
                  <a:sym typeface="Bricolage Grotesque"/>
                </a:rPr>
                <a:t>06</a:t>
              </a:r>
            </a:p>
          </p:txBody>
        </p:sp>
      </p:grpSp>
      <p:grpSp>
        <p:nvGrpSpPr>
          <p:cNvPr name="Group 7" id="7"/>
          <p:cNvGrpSpPr/>
          <p:nvPr/>
        </p:nvGrpSpPr>
        <p:grpSpPr>
          <a:xfrm rot="0">
            <a:off x="5536445" y="2779355"/>
            <a:ext cx="7215109" cy="379246"/>
            <a:chOff x="0" y="0"/>
            <a:chExt cx="9620146" cy="505662"/>
          </a:xfrm>
        </p:grpSpPr>
        <p:sp>
          <p:nvSpPr>
            <p:cNvPr name="TextBox 8" id="8"/>
            <p:cNvSpPr txBox="true"/>
            <p:nvPr/>
          </p:nvSpPr>
          <p:spPr>
            <a:xfrm rot="0">
              <a:off x="0" y="111921"/>
              <a:ext cx="9403826" cy="393740"/>
            </a:xfrm>
            <a:prstGeom prst="rect">
              <a:avLst/>
            </a:prstGeom>
          </p:spPr>
          <p:txBody>
            <a:bodyPr anchor="t" rtlCol="false" tIns="0" lIns="0" bIns="0" rIns="0">
              <a:spAutoFit/>
            </a:bodyPr>
            <a:lstStyle/>
            <a:p>
              <a:pPr algn="l" marL="0" indent="0" lvl="0">
                <a:lnSpc>
                  <a:spcPts val="2360"/>
                </a:lnSpc>
              </a:pPr>
              <a:r>
                <a:rPr lang="en-US" b="true" sz="1686" spc="-42">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FROM SUBSCRIBER REQUIREMENTS TO FINAL TECHNOLOGY DECISIONS</a:t>
              </a:r>
            </a:p>
          </p:txBody>
        </p:sp>
        <p:sp>
          <p:nvSpPr>
            <p:cNvPr name="Freeform 9" id="9"/>
            <p:cNvSpPr/>
            <p:nvPr/>
          </p:nvSpPr>
          <p:spPr>
            <a:xfrm flipH="false" flipV="false" rot="-8687136">
              <a:off x="9303126"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10" id="10"/>
          <p:cNvSpPr txBox="true"/>
          <p:nvPr/>
        </p:nvSpPr>
        <p:spPr>
          <a:xfrm rot="0">
            <a:off x="3363658" y="1455753"/>
            <a:ext cx="11560683" cy="1065935"/>
          </a:xfrm>
          <a:prstGeom prst="rect">
            <a:avLst/>
          </a:prstGeom>
        </p:spPr>
        <p:txBody>
          <a:bodyPr anchor="t" rtlCol="false" tIns="0" lIns="0" bIns="0" rIns="0">
            <a:spAutoFit/>
          </a:bodyPr>
          <a:lstStyle/>
          <a:p>
            <a:pPr algn="ctr" marL="0" indent="0" lvl="0">
              <a:lnSpc>
                <a:spcPts val="7987"/>
              </a:lnSpc>
            </a:pPr>
            <a:r>
              <a:rPr lang="en-US" sz="8150" spc="-521">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Technology Stack Selection</a:t>
            </a:r>
          </a:p>
        </p:txBody>
      </p:sp>
      <p:grpSp>
        <p:nvGrpSpPr>
          <p:cNvPr name="Group 11" id="11"/>
          <p:cNvGrpSpPr/>
          <p:nvPr/>
        </p:nvGrpSpPr>
        <p:grpSpPr>
          <a:xfrm rot="0">
            <a:off x="2731310" y="3878731"/>
            <a:ext cx="3213033" cy="5379569"/>
            <a:chOff x="0" y="0"/>
            <a:chExt cx="1387961" cy="2323857"/>
          </a:xfrm>
        </p:grpSpPr>
        <p:sp>
          <p:nvSpPr>
            <p:cNvPr name="Freeform 12" id="12"/>
            <p:cNvSpPr/>
            <p:nvPr/>
          </p:nvSpPr>
          <p:spPr>
            <a:xfrm flipH="false" flipV="false" rot="0">
              <a:off x="0" y="0"/>
              <a:ext cx="1387961" cy="2323857"/>
            </a:xfrm>
            <a:custGeom>
              <a:avLst/>
              <a:gdLst/>
              <a:ahLst/>
              <a:cxnLst/>
              <a:rect r="r" b="b" t="t" l="l"/>
              <a:pathLst>
                <a:path h="2323857" w="1387961">
                  <a:moveTo>
                    <a:pt x="0" y="0"/>
                  </a:moveTo>
                  <a:lnTo>
                    <a:pt x="1387961" y="0"/>
                  </a:lnTo>
                  <a:lnTo>
                    <a:pt x="1387961" y="2323857"/>
                  </a:lnTo>
                  <a:lnTo>
                    <a:pt x="0" y="2323857"/>
                  </a:lnTo>
                  <a:close/>
                </a:path>
              </a:pathLst>
            </a:custGeom>
            <a:solidFill>
              <a:srgbClr val="2B42A8"/>
            </a:solidFill>
          </p:spPr>
        </p:sp>
        <p:sp>
          <p:nvSpPr>
            <p:cNvPr name="TextBox 13" id="13"/>
            <p:cNvSpPr txBox="true"/>
            <p:nvPr/>
          </p:nvSpPr>
          <p:spPr>
            <a:xfrm>
              <a:off x="0" y="-38100"/>
              <a:ext cx="1387961" cy="2361957"/>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14" id="14"/>
          <p:cNvGrpSpPr/>
          <p:nvPr/>
        </p:nvGrpSpPr>
        <p:grpSpPr>
          <a:xfrm rot="0">
            <a:off x="5935426" y="3878731"/>
            <a:ext cx="3213033" cy="5379569"/>
            <a:chOff x="0" y="0"/>
            <a:chExt cx="1387961" cy="2323857"/>
          </a:xfrm>
        </p:grpSpPr>
        <p:sp>
          <p:nvSpPr>
            <p:cNvPr name="Freeform 15" id="15"/>
            <p:cNvSpPr/>
            <p:nvPr/>
          </p:nvSpPr>
          <p:spPr>
            <a:xfrm flipH="false" flipV="false" rot="0">
              <a:off x="0" y="0"/>
              <a:ext cx="1387961" cy="2323857"/>
            </a:xfrm>
            <a:custGeom>
              <a:avLst/>
              <a:gdLst/>
              <a:ahLst/>
              <a:cxnLst/>
              <a:rect r="r" b="b" t="t" l="l"/>
              <a:pathLst>
                <a:path h="2323857" w="1387961">
                  <a:moveTo>
                    <a:pt x="0" y="0"/>
                  </a:moveTo>
                  <a:lnTo>
                    <a:pt x="1387961" y="0"/>
                  </a:lnTo>
                  <a:lnTo>
                    <a:pt x="1387961" y="2323857"/>
                  </a:lnTo>
                  <a:lnTo>
                    <a:pt x="0" y="2323857"/>
                  </a:lnTo>
                  <a:close/>
                </a:path>
              </a:pathLst>
            </a:custGeom>
            <a:solidFill>
              <a:srgbClr val="3A58E4"/>
            </a:solidFill>
          </p:spPr>
        </p:sp>
        <p:sp>
          <p:nvSpPr>
            <p:cNvPr name="TextBox 16" id="16"/>
            <p:cNvSpPr txBox="true"/>
            <p:nvPr/>
          </p:nvSpPr>
          <p:spPr>
            <a:xfrm>
              <a:off x="0" y="-38100"/>
              <a:ext cx="1387961" cy="2361957"/>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17" id="17"/>
          <p:cNvGrpSpPr/>
          <p:nvPr/>
        </p:nvGrpSpPr>
        <p:grpSpPr>
          <a:xfrm rot="0">
            <a:off x="9139541" y="3878731"/>
            <a:ext cx="3213033" cy="5379569"/>
            <a:chOff x="0" y="0"/>
            <a:chExt cx="1387961" cy="2323857"/>
          </a:xfrm>
        </p:grpSpPr>
        <p:sp>
          <p:nvSpPr>
            <p:cNvPr name="Freeform 18" id="18"/>
            <p:cNvSpPr/>
            <p:nvPr/>
          </p:nvSpPr>
          <p:spPr>
            <a:xfrm flipH="false" flipV="false" rot="0">
              <a:off x="0" y="0"/>
              <a:ext cx="1387961" cy="2323857"/>
            </a:xfrm>
            <a:custGeom>
              <a:avLst/>
              <a:gdLst/>
              <a:ahLst/>
              <a:cxnLst/>
              <a:rect r="r" b="b" t="t" l="l"/>
              <a:pathLst>
                <a:path h="2323857" w="1387961">
                  <a:moveTo>
                    <a:pt x="0" y="0"/>
                  </a:moveTo>
                  <a:lnTo>
                    <a:pt x="1387961" y="0"/>
                  </a:lnTo>
                  <a:lnTo>
                    <a:pt x="1387961" y="2323857"/>
                  </a:lnTo>
                  <a:lnTo>
                    <a:pt x="0" y="2323857"/>
                  </a:lnTo>
                  <a:close/>
                </a:path>
              </a:pathLst>
            </a:custGeom>
            <a:solidFill>
              <a:srgbClr val="6984FE"/>
            </a:solidFill>
          </p:spPr>
        </p:sp>
        <p:sp>
          <p:nvSpPr>
            <p:cNvPr name="TextBox 19" id="19"/>
            <p:cNvSpPr txBox="true"/>
            <p:nvPr/>
          </p:nvSpPr>
          <p:spPr>
            <a:xfrm>
              <a:off x="0" y="-38100"/>
              <a:ext cx="1387961" cy="2361957"/>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0" id="20"/>
          <p:cNvGrpSpPr/>
          <p:nvPr/>
        </p:nvGrpSpPr>
        <p:grpSpPr>
          <a:xfrm rot="0">
            <a:off x="12343657" y="3878731"/>
            <a:ext cx="3213033" cy="5379569"/>
            <a:chOff x="0" y="0"/>
            <a:chExt cx="1387961" cy="2323857"/>
          </a:xfrm>
        </p:grpSpPr>
        <p:sp>
          <p:nvSpPr>
            <p:cNvPr name="Freeform 21" id="21"/>
            <p:cNvSpPr/>
            <p:nvPr/>
          </p:nvSpPr>
          <p:spPr>
            <a:xfrm flipH="false" flipV="false" rot="0">
              <a:off x="0" y="0"/>
              <a:ext cx="1387961" cy="2323857"/>
            </a:xfrm>
            <a:custGeom>
              <a:avLst/>
              <a:gdLst/>
              <a:ahLst/>
              <a:cxnLst/>
              <a:rect r="r" b="b" t="t" l="l"/>
              <a:pathLst>
                <a:path h="2323857" w="1387961">
                  <a:moveTo>
                    <a:pt x="0" y="0"/>
                  </a:moveTo>
                  <a:lnTo>
                    <a:pt x="1387961" y="0"/>
                  </a:lnTo>
                  <a:lnTo>
                    <a:pt x="1387961" y="2323857"/>
                  </a:lnTo>
                  <a:lnTo>
                    <a:pt x="0" y="2323857"/>
                  </a:lnTo>
                  <a:close/>
                </a:path>
              </a:pathLst>
            </a:custGeom>
            <a:solidFill>
              <a:srgbClr val="9AADFF"/>
            </a:solidFill>
          </p:spPr>
        </p:sp>
        <p:sp>
          <p:nvSpPr>
            <p:cNvPr name="TextBox 22" id="22"/>
            <p:cNvSpPr txBox="true"/>
            <p:nvPr/>
          </p:nvSpPr>
          <p:spPr>
            <a:xfrm>
              <a:off x="0" y="-38100"/>
              <a:ext cx="1387961" cy="2361957"/>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3" id="23"/>
          <p:cNvGrpSpPr/>
          <p:nvPr/>
        </p:nvGrpSpPr>
        <p:grpSpPr>
          <a:xfrm rot="5400000">
            <a:off x="2595745" y="7780405"/>
            <a:ext cx="622999" cy="351870"/>
            <a:chOff x="0" y="0"/>
            <a:chExt cx="1387983" cy="784032"/>
          </a:xfrm>
        </p:grpSpPr>
        <p:sp>
          <p:nvSpPr>
            <p:cNvPr name="Freeform 24" id="24"/>
            <p:cNvSpPr/>
            <p:nvPr/>
          </p:nvSpPr>
          <p:spPr>
            <a:xfrm flipH="false" flipV="false" rot="0">
              <a:off x="0" y="0"/>
              <a:ext cx="1387983" cy="782620"/>
            </a:xfrm>
            <a:custGeom>
              <a:avLst/>
              <a:gdLst/>
              <a:ahLst/>
              <a:cxnLst/>
              <a:rect r="r" b="b" t="t" l="l"/>
              <a:pathLst>
                <a:path h="782620" w="1387983">
                  <a:moveTo>
                    <a:pt x="693992" y="0"/>
                  </a:moveTo>
                  <a:lnTo>
                    <a:pt x="1387983" y="782620"/>
                  </a:lnTo>
                  <a:lnTo>
                    <a:pt x="0" y="782620"/>
                  </a:lnTo>
                  <a:close/>
                </a:path>
              </a:pathLst>
            </a:custGeom>
            <a:solidFill>
              <a:srgbClr val="AFBEFF"/>
            </a:solidFill>
          </p:spPr>
        </p:sp>
        <p:sp>
          <p:nvSpPr>
            <p:cNvPr name="TextBox 25" id="25"/>
            <p:cNvSpPr txBox="true"/>
            <p:nvPr/>
          </p:nvSpPr>
          <p:spPr>
            <a:xfrm>
              <a:off x="293871" y="292771"/>
              <a:ext cx="800241" cy="489849"/>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6" id="26"/>
          <p:cNvGrpSpPr/>
          <p:nvPr/>
        </p:nvGrpSpPr>
        <p:grpSpPr>
          <a:xfrm rot="5400000">
            <a:off x="5780811" y="5004756"/>
            <a:ext cx="622999" cy="351870"/>
            <a:chOff x="0" y="0"/>
            <a:chExt cx="1387983" cy="784032"/>
          </a:xfrm>
        </p:grpSpPr>
        <p:sp>
          <p:nvSpPr>
            <p:cNvPr name="Freeform 27" id="27"/>
            <p:cNvSpPr/>
            <p:nvPr/>
          </p:nvSpPr>
          <p:spPr>
            <a:xfrm flipH="false" flipV="false" rot="0">
              <a:off x="0" y="0"/>
              <a:ext cx="1387983" cy="782620"/>
            </a:xfrm>
            <a:custGeom>
              <a:avLst/>
              <a:gdLst/>
              <a:ahLst/>
              <a:cxnLst/>
              <a:rect r="r" b="b" t="t" l="l"/>
              <a:pathLst>
                <a:path h="782620" w="1387983">
                  <a:moveTo>
                    <a:pt x="693992" y="0"/>
                  </a:moveTo>
                  <a:lnTo>
                    <a:pt x="1387983" y="782620"/>
                  </a:lnTo>
                  <a:lnTo>
                    <a:pt x="0" y="782620"/>
                  </a:lnTo>
                  <a:close/>
                </a:path>
              </a:pathLst>
            </a:custGeom>
            <a:solidFill>
              <a:srgbClr val="2B42A8"/>
            </a:solidFill>
          </p:spPr>
        </p:sp>
        <p:sp>
          <p:nvSpPr>
            <p:cNvPr name="TextBox 28" id="28"/>
            <p:cNvSpPr txBox="true"/>
            <p:nvPr/>
          </p:nvSpPr>
          <p:spPr>
            <a:xfrm>
              <a:off x="293871" y="292771"/>
              <a:ext cx="800241" cy="489849"/>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9" id="29"/>
          <p:cNvGrpSpPr/>
          <p:nvPr/>
        </p:nvGrpSpPr>
        <p:grpSpPr>
          <a:xfrm rot="5400000">
            <a:off x="8984927" y="7780405"/>
            <a:ext cx="622999" cy="351870"/>
            <a:chOff x="0" y="0"/>
            <a:chExt cx="1387983" cy="784032"/>
          </a:xfrm>
        </p:grpSpPr>
        <p:sp>
          <p:nvSpPr>
            <p:cNvPr name="Freeform 30" id="30"/>
            <p:cNvSpPr/>
            <p:nvPr/>
          </p:nvSpPr>
          <p:spPr>
            <a:xfrm flipH="false" flipV="false" rot="0">
              <a:off x="0" y="0"/>
              <a:ext cx="1387983" cy="782620"/>
            </a:xfrm>
            <a:custGeom>
              <a:avLst/>
              <a:gdLst/>
              <a:ahLst/>
              <a:cxnLst/>
              <a:rect r="r" b="b" t="t" l="l"/>
              <a:pathLst>
                <a:path h="782620" w="1387983">
                  <a:moveTo>
                    <a:pt x="693992" y="0"/>
                  </a:moveTo>
                  <a:lnTo>
                    <a:pt x="1387983" y="782620"/>
                  </a:lnTo>
                  <a:lnTo>
                    <a:pt x="0" y="782620"/>
                  </a:lnTo>
                  <a:close/>
                </a:path>
              </a:pathLst>
            </a:custGeom>
            <a:solidFill>
              <a:srgbClr val="3A58E4"/>
            </a:solidFill>
          </p:spPr>
        </p:sp>
        <p:sp>
          <p:nvSpPr>
            <p:cNvPr name="TextBox 31" id="31"/>
            <p:cNvSpPr txBox="true"/>
            <p:nvPr/>
          </p:nvSpPr>
          <p:spPr>
            <a:xfrm>
              <a:off x="293871" y="292771"/>
              <a:ext cx="800241" cy="489849"/>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32" id="32"/>
          <p:cNvGrpSpPr/>
          <p:nvPr/>
        </p:nvGrpSpPr>
        <p:grpSpPr>
          <a:xfrm rot="5400000">
            <a:off x="12179518" y="5004756"/>
            <a:ext cx="622999" cy="351870"/>
            <a:chOff x="0" y="0"/>
            <a:chExt cx="1387983" cy="784032"/>
          </a:xfrm>
        </p:grpSpPr>
        <p:sp>
          <p:nvSpPr>
            <p:cNvPr name="Freeform 33" id="33"/>
            <p:cNvSpPr/>
            <p:nvPr/>
          </p:nvSpPr>
          <p:spPr>
            <a:xfrm flipH="false" flipV="false" rot="0">
              <a:off x="0" y="0"/>
              <a:ext cx="1387983" cy="782620"/>
            </a:xfrm>
            <a:custGeom>
              <a:avLst/>
              <a:gdLst/>
              <a:ahLst/>
              <a:cxnLst/>
              <a:rect r="r" b="b" t="t" l="l"/>
              <a:pathLst>
                <a:path h="782620" w="1387983">
                  <a:moveTo>
                    <a:pt x="693992" y="0"/>
                  </a:moveTo>
                  <a:lnTo>
                    <a:pt x="1387983" y="782620"/>
                  </a:lnTo>
                  <a:lnTo>
                    <a:pt x="0" y="782620"/>
                  </a:lnTo>
                  <a:close/>
                </a:path>
              </a:pathLst>
            </a:custGeom>
            <a:solidFill>
              <a:srgbClr val="6984FE"/>
            </a:solidFill>
          </p:spPr>
        </p:sp>
        <p:sp>
          <p:nvSpPr>
            <p:cNvPr name="TextBox 34" id="34"/>
            <p:cNvSpPr txBox="true"/>
            <p:nvPr/>
          </p:nvSpPr>
          <p:spPr>
            <a:xfrm>
              <a:off x="293871" y="292771"/>
              <a:ext cx="800241" cy="489849"/>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35" id="35"/>
          <p:cNvGrpSpPr/>
          <p:nvPr/>
        </p:nvGrpSpPr>
        <p:grpSpPr>
          <a:xfrm rot="0">
            <a:off x="3269864" y="4527055"/>
            <a:ext cx="2135924" cy="1757242"/>
            <a:chOff x="0" y="0"/>
            <a:chExt cx="2847898" cy="2342990"/>
          </a:xfrm>
        </p:grpSpPr>
        <p:sp>
          <p:nvSpPr>
            <p:cNvPr name="TextBox 36" id="36"/>
            <p:cNvSpPr txBox="true"/>
            <p:nvPr/>
          </p:nvSpPr>
          <p:spPr>
            <a:xfrm rot="0">
              <a:off x="0" y="-19050"/>
              <a:ext cx="2847898" cy="606524"/>
            </a:xfrm>
            <a:prstGeom prst="rect">
              <a:avLst/>
            </a:prstGeom>
          </p:spPr>
          <p:txBody>
            <a:bodyPr anchor="t" rtlCol="false" tIns="0" lIns="0" bIns="0" rIns="0">
              <a:spAutoFit/>
            </a:bodyPr>
            <a:lstStyle/>
            <a:p>
              <a:pPr algn="just" marL="0" indent="0" lvl="0">
                <a:lnSpc>
                  <a:spcPts val="1872"/>
                </a:lnSpc>
              </a:pPr>
              <a:r>
                <a:rPr lang="en-US" b="true" sz="1451" spc="-4">
                  <a:solidFill>
                    <a:srgbClr val="FFFFFF"/>
                  </a:solidFill>
                  <a:latin typeface="Poppins Bold"/>
                  <a:ea typeface="Poppins Bold"/>
                  <a:cs typeface="Poppins Bold"/>
                  <a:sym typeface="Poppins Bold"/>
                </a:rPr>
                <a:t>SUBSCRIBER</a:t>
              </a:r>
            </a:p>
            <a:p>
              <a:pPr algn="just" marL="0" indent="0" lvl="0">
                <a:lnSpc>
                  <a:spcPts val="1872"/>
                </a:lnSpc>
              </a:pPr>
              <a:r>
                <a:rPr lang="en-US" b="true" sz="1451" spc="-4">
                  <a:solidFill>
                    <a:srgbClr val="FFFFFF"/>
                  </a:solidFill>
                  <a:latin typeface="Poppins Bold"/>
                  <a:ea typeface="Poppins Bold"/>
                  <a:cs typeface="Poppins Bold"/>
                  <a:sym typeface="Poppins Bold"/>
                </a:rPr>
                <a:t>REQUIREMENTS</a:t>
              </a:r>
            </a:p>
          </p:txBody>
        </p:sp>
        <p:sp>
          <p:nvSpPr>
            <p:cNvPr name="TextBox 37" id="37"/>
            <p:cNvSpPr txBox="true"/>
            <p:nvPr/>
          </p:nvSpPr>
          <p:spPr>
            <a:xfrm rot="0">
              <a:off x="0" y="874845"/>
              <a:ext cx="2847898" cy="1468145"/>
            </a:xfrm>
            <a:prstGeom prst="rect">
              <a:avLst/>
            </a:prstGeom>
          </p:spPr>
          <p:txBody>
            <a:bodyPr anchor="t" rtlCol="false" tIns="0" lIns="0" bIns="0" rIns="0">
              <a:spAutoFit/>
            </a:bodyPr>
            <a:lstStyle/>
            <a:p>
              <a:pPr algn="just" marL="0" indent="0" lvl="0">
                <a:lnSpc>
                  <a:spcPts val="1771"/>
                </a:lnSpc>
              </a:pPr>
              <a:r>
                <a:rPr lang="en-US" sz="1373" spc="-4">
                  <a:solidFill>
                    <a:srgbClr val="FFFFFF"/>
                  </a:solidFill>
                  <a:latin typeface="Poppins"/>
                  <a:ea typeface="Poppins"/>
                  <a:cs typeface="Poppins"/>
                  <a:sym typeface="Poppins"/>
                </a:rPr>
                <a:t>Gather real-world needs: cross-platform, offline support, location, privacy, background tasks.</a:t>
              </a:r>
            </a:p>
          </p:txBody>
        </p:sp>
      </p:grpSp>
      <p:sp>
        <p:nvSpPr>
          <p:cNvPr name="TextBox 38" id="38"/>
          <p:cNvSpPr txBox="true"/>
          <p:nvPr/>
        </p:nvSpPr>
        <p:spPr>
          <a:xfrm rot="0">
            <a:off x="4470562" y="7744828"/>
            <a:ext cx="1445813" cy="1195607"/>
          </a:xfrm>
          <a:prstGeom prst="rect">
            <a:avLst/>
          </a:prstGeom>
        </p:spPr>
        <p:txBody>
          <a:bodyPr anchor="t" rtlCol="false" tIns="0" lIns="0" bIns="0" rIns="0">
            <a:spAutoFit/>
          </a:bodyPr>
          <a:lstStyle/>
          <a:p>
            <a:pPr algn="just" marL="0" indent="0" lvl="0">
              <a:lnSpc>
                <a:spcPts val="9603"/>
              </a:lnSpc>
            </a:pPr>
            <a:r>
              <a:rPr lang="en-US" sz="7444" spc="-22">
                <a:solidFill>
                  <a:srgbClr val="FFFFFF"/>
                </a:solidFill>
                <a:latin typeface="Bricolage Grotesque"/>
                <a:ea typeface="Bricolage Grotesque"/>
                <a:cs typeface="Bricolage Grotesque"/>
                <a:sym typeface="Bricolage Grotesque"/>
              </a:rPr>
              <a:t>01</a:t>
            </a:r>
          </a:p>
        </p:txBody>
      </p:sp>
      <p:grpSp>
        <p:nvGrpSpPr>
          <p:cNvPr name="Group 39" id="39"/>
          <p:cNvGrpSpPr/>
          <p:nvPr/>
        </p:nvGrpSpPr>
        <p:grpSpPr>
          <a:xfrm rot="0">
            <a:off x="6473980" y="6833498"/>
            <a:ext cx="2135924" cy="1757242"/>
            <a:chOff x="0" y="0"/>
            <a:chExt cx="2847898" cy="2342990"/>
          </a:xfrm>
        </p:grpSpPr>
        <p:sp>
          <p:nvSpPr>
            <p:cNvPr name="TextBox 40" id="40"/>
            <p:cNvSpPr txBox="true"/>
            <p:nvPr/>
          </p:nvSpPr>
          <p:spPr>
            <a:xfrm rot="0">
              <a:off x="0" y="-19050"/>
              <a:ext cx="2847898" cy="606524"/>
            </a:xfrm>
            <a:prstGeom prst="rect">
              <a:avLst/>
            </a:prstGeom>
          </p:spPr>
          <p:txBody>
            <a:bodyPr anchor="t" rtlCol="false" tIns="0" lIns="0" bIns="0" rIns="0">
              <a:spAutoFit/>
            </a:bodyPr>
            <a:lstStyle/>
            <a:p>
              <a:pPr algn="just" marL="0" indent="0" lvl="0">
                <a:lnSpc>
                  <a:spcPts val="1872"/>
                </a:lnSpc>
              </a:pPr>
              <a:r>
                <a:rPr lang="en-US" b="true" sz="1451" spc="-4">
                  <a:solidFill>
                    <a:srgbClr val="FFFFFF"/>
                  </a:solidFill>
                  <a:latin typeface="Poppins Bold"/>
                  <a:ea typeface="Poppins Bold"/>
                  <a:cs typeface="Poppins Bold"/>
                  <a:sym typeface="Poppins Bold"/>
                </a:rPr>
                <a:t>ANALYSIS &amp;</a:t>
              </a:r>
            </a:p>
            <a:p>
              <a:pPr algn="just" marL="0" indent="0" lvl="0">
                <a:lnSpc>
                  <a:spcPts val="1872"/>
                </a:lnSpc>
              </a:pPr>
              <a:r>
                <a:rPr lang="en-US" b="true" sz="1451" spc="-4">
                  <a:solidFill>
                    <a:srgbClr val="FFFFFF"/>
                  </a:solidFill>
                  <a:latin typeface="Poppins Bold"/>
                  <a:ea typeface="Poppins Bold"/>
                  <a:cs typeface="Poppins Bold"/>
                  <a:sym typeface="Poppins Bold"/>
                </a:rPr>
                <a:t>RESEARCH</a:t>
              </a:r>
            </a:p>
          </p:txBody>
        </p:sp>
        <p:sp>
          <p:nvSpPr>
            <p:cNvPr name="TextBox 41" id="41"/>
            <p:cNvSpPr txBox="true"/>
            <p:nvPr/>
          </p:nvSpPr>
          <p:spPr>
            <a:xfrm rot="0">
              <a:off x="0" y="874845"/>
              <a:ext cx="2847898" cy="1468145"/>
            </a:xfrm>
            <a:prstGeom prst="rect">
              <a:avLst/>
            </a:prstGeom>
          </p:spPr>
          <p:txBody>
            <a:bodyPr anchor="t" rtlCol="false" tIns="0" lIns="0" bIns="0" rIns="0">
              <a:spAutoFit/>
            </a:bodyPr>
            <a:lstStyle/>
            <a:p>
              <a:pPr algn="just" marL="0" indent="0" lvl="0">
                <a:lnSpc>
                  <a:spcPts val="1771"/>
                </a:lnSpc>
              </a:pPr>
              <a:r>
                <a:rPr lang="en-US" sz="1373" spc="-4">
                  <a:solidFill>
                    <a:srgbClr val="FFFFFF"/>
                  </a:solidFill>
                  <a:latin typeface="Poppins"/>
                  <a:ea typeface="Poppins"/>
                  <a:cs typeface="Poppins"/>
                  <a:sym typeface="Poppins"/>
                </a:rPr>
                <a:t>Evaluate frameworks and libraries against project constraints and performance benchmarks.</a:t>
              </a:r>
            </a:p>
          </p:txBody>
        </p:sp>
      </p:grpSp>
      <p:sp>
        <p:nvSpPr>
          <p:cNvPr name="TextBox 42" id="42"/>
          <p:cNvSpPr txBox="true"/>
          <p:nvPr/>
        </p:nvSpPr>
        <p:spPr>
          <a:xfrm rot="0">
            <a:off x="7425798" y="4296584"/>
            <a:ext cx="1578549" cy="1195607"/>
          </a:xfrm>
          <a:prstGeom prst="rect">
            <a:avLst/>
          </a:prstGeom>
        </p:spPr>
        <p:txBody>
          <a:bodyPr anchor="t" rtlCol="false" tIns="0" lIns="0" bIns="0" rIns="0">
            <a:spAutoFit/>
          </a:bodyPr>
          <a:lstStyle/>
          <a:p>
            <a:pPr algn="just" marL="0" indent="0" lvl="0">
              <a:lnSpc>
                <a:spcPts val="9603"/>
              </a:lnSpc>
            </a:pPr>
            <a:r>
              <a:rPr lang="en-US" sz="7444" spc="-22">
                <a:solidFill>
                  <a:srgbClr val="FFFFFF"/>
                </a:solidFill>
                <a:latin typeface="Bricolage Grotesque"/>
                <a:ea typeface="Bricolage Grotesque"/>
                <a:cs typeface="Bricolage Grotesque"/>
                <a:sym typeface="Bricolage Grotesque"/>
              </a:rPr>
              <a:t>02</a:t>
            </a:r>
          </a:p>
        </p:txBody>
      </p:sp>
      <p:grpSp>
        <p:nvGrpSpPr>
          <p:cNvPr name="Group 43" id="43"/>
          <p:cNvGrpSpPr/>
          <p:nvPr/>
        </p:nvGrpSpPr>
        <p:grpSpPr>
          <a:xfrm rot="0">
            <a:off x="9681912" y="4527055"/>
            <a:ext cx="2135924" cy="1757242"/>
            <a:chOff x="0" y="0"/>
            <a:chExt cx="2847898" cy="2342990"/>
          </a:xfrm>
        </p:grpSpPr>
        <p:sp>
          <p:nvSpPr>
            <p:cNvPr name="TextBox 44" id="44"/>
            <p:cNvSpPr txBox="true"/>
            <p:nvPr/>
          </p:nvSpPr>
          <p:spPr>
            <a:xfrm rot="0">
              <a:off x="0" y="-19050"/>
              <a:ext cx="2847898" cy="606524"/>
            </a:xfrm>
            <a:prstGeom prst="rect">
              <a:avLst/>
            </a:prstGeom>
          </p:spPr>
          <p:txBody>
            <a:bodyPr anchor="t" rtlCol="false" tIns="0" lIns="0" bIns="0" rIns="0">
              <a:spAutoFit/>
            </a:bodyPr>
            <a:lstStyle/>
            <a:p>
              <a:pPr algn="just" marL="0" indent="0" lvl="0">
                <a:lnSpc>
                  <a:spcPts val="1872"/>
                </a:lnSpc>
              </a:pPr>
              <a:r>
                <a:rPr lang="en-US" b="true" sz="1451" spc="-4">
                  <a:solidFill>
                    <a:srgbClr val="FFFFFF"/>
                  </a:solidFill>
                  <a:latin typeface="Poppins Bold"/>
                  <a:ea typeface="Poppins Bold"/>
                  <a:cs typeface="Poppins Bold"/>
                  <a:sym typeface="Poppins Bold"/>
                </a:rPr>
                <a:t>TECHNOLOGY</a:t>
              </a:r>
            </a:p>
            <a:p>
              <a:pPr algn="just" marL="0" indent="0" lvl="0">
                <a:lnSpc>
                  <a:spcPts val="1872"/>
                </a:lnSpc>
              </a:pPr>
              <a:r>
                <a:rPr lang="en-US" b="true" sz="1451" spc="-4">
                  <a:solidFill>
                    <a:srgbClr val="FFFFFF"/>
                  </a:solidFill>
                  <a:latin typeface="Poppins Bold"/>
                  <a:ea typeface="Poppins Bold"/>
                  <a:cs typeface="Poppins Bold"/>
                  <a:sym typeface="Poppins Bold"/>
                </a:rPr>
                <a:t>EVALUATION</a:t>
              </a:r>
            </a:p>
          </p:txBody>
        </p:sp>
        <p:sp>
          <p:nvSpPr>
            <p:cNvPr name="TextBox 45" id="45"/>
            <p:cNvSpPr txBox="true"/>
            <p:nvPr/>
          </p:nvSpPr>
          <p:spPr>
            <a:xfrm rot="0">
              <a:off x="0" y="874845"/>
              <a:ext cx="2847898" cy="1468145"/>
            </a:xfrm>
            <a:prstGeom prst="rect">
              <a:avLst/>
            </a:prstGeom>
          </p:spPr>
          <p:txBody>
            <a:bodyPr anchor="t" rtlCol="false" tIns="0" lIns="0" bIns="0" rIns="0">
              <a:spAutoFit/>
            </a:bodyPr>
            <a:lstStyle/>
            <a:p>
              <a:pPr algn="just" marL="0" indent="0" lvl="0">
                <a:lnSpc>
                  <a:spcPts val="1771"/>
                </a:lnSpc>
              </a:pPr>
              <a:r>
                <a:rPr lang="en-US" sz="1373" spc="-4">
                  <a:solidFill>
                    <a:srgbClr val="FFFFFF"/>
                  </a:solidFill>
                  <a:latin typeface="Poppins"/>
                  <a:ea typeface="Poppins"/>
                  <a:cs typeface="Poppins"/>
                  <a:sym typeface="Poppins"/>
                </a:rPr>
                <a:t>Compare React Native, Flutter, native iOS/Android on scalability, community, and API support.</a:t>
              </a:r>
            </a:p>
          </p:txBody>
        </p:sp>
      </p:grpSp>
      <p:sp>
        <p:nvSpPr>
          <p:cNvPr name="TextBox 46" id="46"/>
          <p:cNvSpPr txBox="true"/>
          <p:nvPr/>
        </p:nvSpPr>
        <p:spPr>
          <a:xfrm rot="0">
            <a:off x="10617138" y="7744828"/>
            <a:ext cx="1711285" cy="1195607"/>
          </a:xfrm>
          <a:prstGeom prst="rect">
            <a:avLst/>
          </a:prstGeom>
        </p:spPr>
        <p:txBody>
          <a:bodyPr anchor="t" rtlCol="false" tIns="0" lIns="0" bIns="0" rIns="0">
            <a:spAutoFit/>
          </a:bodyPr>
          <a:lstStyle/>
          <a:p>
            <a:pPr algn="just" marL="0" indent="0" lvl="0">
              <a:lnSpc>
                <a:spcPts val="9603"/>
              </a:lnSpc>
            </a:pPr>
            <a:r>
              <a:rPr lang="en-US" sz="7444" spc="-22">
                <a:solidFill>
                  <a:srgbClr val="FFFFFF"/>
                </a:solidFill>
                <a:latin typeface="Bricolage Grotesque"/>
                <a:ea typeface="Bricolage Grotesque"/>
                <a:cs typeface="Bricolage Grotesque"/>
                <a:sym typeface="Bricolage Grotesque"/>
              </a:rPr>
              <a:t>03</a:t>
            </a:r>
          </a:p>
        </p:txBody>
      </p:sp>
      <p:grpSp>
        <p:nvGrpSpPr>
          <p:cNvPr name="Group 47" id="47"/>
          <p:cNvGrpSpPr/>
          <p:nvPr/>
        </p:nvGrpSpPr>
        <p:grpSpPr>
          <a:xfrm rot="0">
            <a:off x="12886027" y="6833498"/>
            <a:ext cx="2135924" cy="1757242"/>
            <a:chOff x="0" y="0"/>
            <a:chExt cx="2847898" cy="2342990"/>
          </a:xfrm>
        </p:grpSpPr>
        <p:sp>
          <p:nvSpPr>
            <p:cNvPr name="TextBox 48" id="48"/>
            <p:cNvSpPr txBox="true"/>
            <p:nvPr/>
          </p:nvSpPr>
          <p:spPr>
            <a:xfrm rot="0">
              <a:off x="0" y="-19050"/>
              <a:ext cx="2847898" cy="606524"/>
            </a:xfrm>
            <a:prstGeom prst="rect">
              <a:avLst/>
            </a:prstGeom>
          </p:spPr>
          <p:txBody>
            <a:bodyPr anchor="t" rtlCol="false" tIns="0" lIns="0" bIns="0" rIns="0">
              <a:spAutoFit/>
            </a:bodyPr>
            <a:lstStyle/>
            <a:p>
              <a:pPr algn="just" marL="0" indent="0" lvl="0">
                <a:lnSpc>
                  <a:spcPts val="1872"/>
                </a:lnSpc>
              </a:pPr>
              <a:r>
                <a:rPr lang="en-US" b="true" sz="1451" spc="-4">
                  <a:solidFill>
                    <a:srgbClr val="FFFFFF"/>
                  </a:solidFill>
                  <a:latin typeface="Poppins Bold"/>
                  <a:ea typeface="Poppins Bold"/>
                  <a:cs typeface="Poppins Bold"/>
                  <a:sym typeface="Poppins Bold"/>
                </a:rPr>
                <a:t>FINAL</a:t>
              </a:r>
            </a:p>
            <a:p>
              <a:pPr algn="just" marL="0" indent="0" lvl="0">
                <a:lnSpc>
                  <a:spcPts val="1872"/>
                </a:lnSpc>
              </a:pPr>
              <a:r>
                <a:rPr lang="en-US" b="true" sz="1451" spc="-4">
                  <a:solidFill>
                    <a:srgbClr val="FFFFFF"/>
                  </a:solidFill>
                  <a:latin typeface="Poppins Bold"/>
                  <a:ea typeface="Poppins Bold"/>
                  <a:cs typeface="Poppins Bold"/>
                  <a:sym typeface="Poppins Bold"/>
                </a:rPr>
                <a:t>SELECTION</a:t>
              </a:r>
            </a:p>
          </p:txBody>
        </p:sp>
        <p:sp>
          <p:nvSpPr>
            <p:cNvPr name="TextBox 49" id="49"/>
            <p:cNvSpPr txBox="true"/>
            <p:nvPr/>
          </p:nvSpPr>
          <p:spPr>
            <a:xfrm rot="0">
              <a:off x="0" y="874845"/>
              <a:ext cx="2847898" cy="1468145"/>
            </a:xfrm>
            <a:prstGeom prst="rect">
              <a:avLst/>
            </a:prstGeom>
          </p:spPr>
          <p:txBody>
            <a:bodyPr anchor="t" rtlCol="false" tIns="0" lIns="0" bIns="0" rIns="0">
              <a:spAutoFit/>
            </a:bodyPr>
            <a:lstStyle/>
            <a:p>
              <a:pPr algn="just" marL="0" indent="0" lvl="0">
                <a:lnSpc>
                  <a:spcPts val="1771"/>
                </a:lnSpc>
              </a:pPr>
              <a:r>
                <a:rPr lang="en-US" sz="1373" spc="-4">
                  <a:solidFill>
                    <a:srgbClr val="FFFFFF"/>
                  </a:solidFill>
                  <a:latin typeface="Poppins"/>
                  <a:ea typeface="Poppins"/>
                  <a:cs typeface="Poppins"/>
                  <a:sym typeface="Poppins"/>
                </a:rPr>
                <a:t>React Native + Expo, SQLite, MongoDB, Node.js selected for optimal fit across all criteria.</a:t>
              </a:r>
            </a:p>
          </p:txBody>
        </p:sp>
      </p:grpSp>
      <p:sp>
        <p:nvSpPr>
          <p:cNvPr name="TextBox 50" id="50"/>
          <p:cNvSpPr txBox="true"/>
          <p:nvPr/>
        </p:nvSpPr>
        <p:spPr>
          <a:xfrm rot="0">
            <a:off x="13837845" y="4296584"/>
            <a:ext cx="1578549" cy="1195607"/>
          </a:xfrm>
          <a:prstGeom prst="rect">
            <a:avLst/>
          </a:prstGeom>
        </p:spPr>
        <p:txBody>
          <a:bodyPr anchor="t" rtlCol="false" tIns="0" lIns="0" bIns="0" rIns="0">
            <a:spAutoFit/>
          </a:bodyPr>
          <a:lstStyle/>
          <a:p>
            <a:pPr algn="just" marL="0" indent="0" lvl="0">
              <a:lnSpc>
                <a:spcPts val="9603"/>
              </a:lnSpc>
            </a:pPr>
            <a:r>
              <a:rPr lang="en-US" sz="7444" spc="-22">
                <a:solidFill>
                  <a:srgbClr val="FFFFFF"/>
                </a:solidFill>
                <a:latin typeface="Bricolage Grotesque"/>
                <a:ea typeface="Bricolage Grotesque"/>
                <a:cs typeface="Bricolage Grotesque"/>
                <a:sym typeface="Bricolage Grotesque"/>
              </a:rPr>
              <a:t>04</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438046" y="292915"/>
            <a:ext cx="1849954" cy="1555251"/>
            <a:chOff x="0" y="0"/>
            <a:chExt cx="2466605" cy="2073669"/>
          </a:xfrm>
        </p:grpSpPr>
        <p:grpSp>
          <p:nvGrpSpPr>
            <p:cNvPr name="Group 3" id="3"/>
            <p:cNvGrpSpPr/>
            <p:nvPr/>
          </p:nvGrpSpPr>
          <p:grpSpPr>
            <a:xfrm rot="0">
              <a:off x="0" y="0"/>
              <a:ext cx="2466605" cy="2073669"/>
              <a:chOff x="0" y="0"/>
              <a:chExt cx="787566" cy="662104"/>
            </a:xfrm>
          </p:grpSpPr>
          <p:sp>
            <p:nvSpPr>
              <p:cNvPr name="Freeform 4" id="4"/>
              <p:cNvSpPr/>
              <p:nvPr/>
            </p:nvSpPr>
            <p:spPr>
              <a:xfrm flipH="false" flipV="false" rot="0">
                <a:off x="0" y="0"/>
                <a:ext cx="787566" cy="662104"/>
              </a:xfrm>
              <a:custGeom>
                <a:avLst/>
                <a:gdLst/>
                <a:ahLst/>
                <a:cxnLst/>
                <a:rect r="r" b="b" t="t" l="l"/>
                <a:pathLst>
                  <a:path h="662104" w="787566">
                    <a:moveTo>
                      <a:pt x="0" y="0"/>
                    </a:moveTo>
                    <a:lnTo>
                      <a:pt x="787566" y="0"/>
                    </a:lnTo>
                    <a:lnTo>
                      <a:pt x="787566" y="662104"/>
                    </a:lnTo>
                    <a:lnTo>
                      <a:pt x="0" y="662104"/>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5" id="5"/>
              <p:cNvSpPr txBox="true"/>
              <p:nvPr/>
            </p:nvSpPr>
            <p:spPr>
              <a:xfrm>
                <a:off x="0" y="-38100"/>
                <a:ext cx="787566" cy="70020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319164" y="655949"/>
              <a:ext cx="1828278" cy="847496"/>
            </a:xfrm>
            <a:prstGeom prst="rect">
              <a:avLst/>
            </a:prstGeom>
          </p:spPr>
          <p:txBody>
            <a:bodyPr anchor="t" rtlCol="false" tIns="0" lIns="0" bIns="0" rIns="0">
              <a:spAutoFit/>
            </a:bodyPr>
            <a:lstStyle/>
            <a:p>
              <a:pPr algn="ctr" marL="0" indent="0" lvl="0">
                <a:lnSpc>
                  <a:spcPts val="4504"/>
                </a:lnSpc>
              </a:pPr>
              <a:r>
                <a:rPr lang="en-US" sz="4596" spc="-294">
                  <a:solidFill>
                    <a:srgbClr val="FFFFFF"/>
                  </a:solidFill>
                  <a:latin typeface="Bricolage Grotesque"/>
                  <a:ea typeface="Bricolage Grotesque"/>
                  <a:cs typeface="Bricolage Grotesque"/>
                  <a:sym typeface="Bricolage Grotesque"/>
                </a:rPr>
                <a:t>07</a:t>
              </a:r>
            </a:p>
          </p:txBody>
        </p:sp>
      </p:grpSp>
      <p:grpSp>
        <p:nvGrpSpPr>
          <p:cNvPr name="Group 7" id="7"/>
          <p:cNvGrpSpPr/>
          <p:nvPr/>
        </p:nvGrpSpPr>
        <p:grpSpPr>
          <a:xfrm rot="0">
            <a:off x="5545788" y="3062727"/>
            <a:ext cx="7196424" cy="379246"/>
            <a:chOff x="0" y="0"/>
            <a:chExt cx="9595232" cy="505662"/>
          </a:xfrm>
        </p:grpSpPr>
        <p:sp>
          <p:nvSpPr>
            <p:cNvPr name="TextBox 8" id="8"/>
            <p:cNvSpPr txBox="true"/>
            <p:nvPr/>
          </p:nvSpPr>
          <p:spPr>
            <a:xfrm rot="0">
              <a:off x="0" y="120606"/>
              <a:ext cx="9378912" cy="385056"/>
            </a:xfrm>
            <a:prstGeom prst="rect">
              <a:avLst/>
            </a:prstGeom>
          </p:spPr>
          <p:txBody>
            <a:bodyPr anchor="t" rtlCol="false" tIns="0" lIns="0" bIns="0" rIns="0">
              <a:spAutoFit/>
            </a:bodyPr>
            <a:lstStyle/>
            <a:p>
              <a:pPr algn="l" marL="0" indent="0" lvl="0">
                <a:lnSpc>
                  <a:spcPts val="2326"/>
                </a:lnSpc>
              </a:pPr>
              <a:r>
                <a:rPr lang="en-US" b="true" sz="1661" spc="-41">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THE FINAL SELECTION — TOOLS &amp; FRAMEWORKS POWERING KILOBYTES</a:t>
              </a:r>
            </a:p>
          </p:txBody>
        </p:sp>
        <p:sp>
          <p:nvSpPr>
            <p:cNvPr name="Freeform 9" id="9"/>
            <p:cNvSpPr/>
            <p:nvPr/>
          </p:nvSpPr>
          <p:spPr>
            <a:xfrm flipH="false" flipV="false" rot="-8687136">
              <a:off x="9278212"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0" id="10"/>
          <p:cNvGrpSpPr/>
          <p:nvPr/>
        </p:nvGrpSpPr>
        <p:grpSpPr>
          <a:xfrm rot="0">
            <a:off x="1463921" y="4926041"/>
            <a:ext cx="3746706" cy="374670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12" id="12"/>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3" id="13"/>
          <p:cNvGrpSpPr/>
          <p:nvPr/>
        </p:nvGrpSpPr>
        <p:grpSpPr>
          <a:xfrm rot="0">
            <a:off x="5334452" y="4926041"/>
            <a:ext cx="3746706" cy="374670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a:ln cap="sq">
              <a:noFill/>
              <a:prstDash val="solid"/>
              <a:miter/>
            </a:ln>
          </p:spPr>
        </p:sp>
        <p:sp>
          <p:nvSpPr>
            <p:cNvPr name="TextBox 15" id="15"/>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6" id="16"/>
          <p:cNvGrpSpPr/>
          <p:nvPr/>
        </p:nvGrpSpPr>
        <p:grpSpPr>
          <a:xfrm rot="0">
            <a:off x="9205912" y="4926041"/>
            <a:ext cx="3746706" cy="374670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18" id="18"/>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9" id="19"/>
          <p:cNvGrpSpPr/>
          <p:nvPr/>
        </p:nvGrpSpPr>
        <p:grpSpPr>
          <a:xfrm rot="0">
            <a:off x="13077373" y="4926041"/>
            <a:ext cx="3746706" cy="374670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21" id="21"/>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sp>
        <p:nvSpPr>
          <p:cNvPr name="TextBox 22" id="22"/>
          <p:cNvSpPr txBox="true"/>
          <p:nvPr/>
        </p:nvSpPr>
        <p:spPr>
          <a:xfrm rot="0">
            <a:off x="2345222" y="6298803"/>
            <a:ext cx="1984104" cy="261188"/>
          </a:xfrm>
          <a:prstGeom prst="rect">
            <a:avLst/>
          </a:prstGeom>
        </p:spPr>
        <p:txBody>
          <a:bodyPr anchor="t" rtlCol="false" tIns="0" lIns="0" bIns="0" rIns="0">
            <a:spAutoFit/>
          </a:bodyPr>
          <a:lstStyle/>
          <a:p>
            <a:pPr algn="ctr" marL="0" indent="0" lvl="0">
              <a:lnSpc>
                <a:spcPts val="2031"/>
              </a:lnSpc>
            </a:pPr>
            <a:r>
              <a:rPr lang="en-US" b="true" sz="1574" spc="-4">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FRONTEND</a:t>
            </a:r>
          </a:p>
        </p:txBody>
      </p:sp>
      <p:sp>
        <p:nvSpPr>
          <p:cNvPr name="TextBox 23" id="23"/>
          <p:cNvSpPr txBox="true"/>
          <p:nvPr/>
        </p:nvSpPr>
        <p:spPr>
          <a:xfrm rot="0">
            <a:off x="2124549" y="6938122"/>
            <a:ext cx="2425450" cy="670206"/>
          </a:xfrm>
          <a:prstGeom prst="rect">
            <a:avLst/>
          </a:prstGeom>
        </p:spPr>
        <p:txBody>
          <a:bodyPr anchor="t" rtlCol="false" tIns="0" lIns="0" bIns="0" rIns="0">
            <a:spAutoFit/>
          </a:bodyPr>
          <a:lstStyle/>
          <a:p>
            <a:pPr algn="ctr" marL="0" indent="0" lvl="0">
              <a:lnSpc>
                <a:spcPts val="1759"/>
              </a:lnSpc>
            </a:pPr>
            <a:r>
              <a:rPr lang="en-US" sz="1364" spc="-4">
                <a:solidFill>
                  <a:srgbClr val="3A58E4"/>
                </a:solidFill>
                <a:latin typeface="Poppins"/>
                <a:ea typeface="Poppins"/>
                <a:cs typeface="Poppins"/>
                <a:sym typeface="Poppins"/>
              </a:rPr>
              <a:t>React Native · Expo · JavaScript · Expo Location API · Expo Background Task</a:t>
            </a:r>
          </a:p>
        </p:txBody>
      </p:sp>
      <p:sp>
        <p:nvSpPr>
          <p:cNvPr name="TextBox 24" id="24"/>
          <p:cNvSpPr txBox="true"/>
          <p:nvPr/>
        </p:nvSpPr>
        <p:spPr>
          <a:xfrm rot="0">
            <a:off x="6215753" y="6298803"/>
            <a:ext cx="1984104" cy="261188"/>
          </a:xfrm>
          <a:prstGeom prst="rect">
            <a:avLst/>
          </a:prstGeom>
        </p:spPr>
        <p:txBody>
          <a:bodyPr anchor="t" rtlCol="false" tIns="0" lIns="0" bIns="0" rIns="0">
            <a:spAutoFit/>
          </a:bodyPr>
          <a:lstStyle/>
          <a:p>
            <a:pPr algn="ctr" marL="0" indent="0" lvl="0">
              <a:lnSpc>
                <a:spcPts val="2031"/>
              </a:lnSpc>
            </a:pPr>
            <a:r>
              <a:rPr lang="en-US" b="true" sz="1574" spc="-4">
                <a:solidFill>
                  <a:srgbClr val="FFFFFF"/>
                </a:solidFill>
                <a:latin typeface="Poppins Bold"/>
                <a:ea typeface="Poppins Bold"/>
                <a:cs typeface="Poppins Bold"/>
                <a:sym typeface="Poppins Bold"/>
              </a:rPr>
              <a:t>BACKEND</a:t>
            </a:r>
          </a:p>
        </p:txBody>
      </p:sp>
      <p:sp>
        <p:nvSpPr>
          <p:cNvPr name="TextBox 25" id="25"/>
          <p:cNvSpPr txBox="true"/>
          <p:nvPr/>
        </p:nvSpPr>
        <p:spPr>
          <a:xfrm rot="0">
            <a:off x="5995080" y="6938122"/>
            <a:ext cx="2425450" cy="670206"/>
          </a:xfrm>
          <a:prstGeom prst="rect">
            <a:avLst/>
          </a:prstGeom>
        </p:spPr>
        <p:txBody>
          <a:bodyPr anchor="t" rtlCol="false" tIns="0" lIns="0" bIns="0" rIns="0">
            <a:spAutoFit/>
          </a:bodyPr>
          <a:lstStyle/>
          <a:p>
            <a:pPr algn="ctr" marL="0" indent="0" lvl="0">
              <a:lnSpc>
                <a:spcPts val="1759"/>
              </a:lnSpc>
            </a:pPr>
            <a:r>
              <a:rPr lang="en-US" sz="1364" spc="-4">
                <a:solidFill>
                  <a:srgbClr val="FFFFFF"/>
                </a:solidFill>
                <a:latin typeface="Poppins"/>
                <a:ea typeface="Poppins"/>
                <a:cs typeface="Poppins"/>
                <a:sym typeface="Poppins"/>
              </a:rPr>
              <a:t>Node.js · Express.js · JWT Auth · bcryptjs · RESTful API Design</a:t>
            </a:r>
          </a:p>
        </p:txBody>
      </p:sp>
      <p:sp>
        <p:nvSpPr>
          <p:cNvPr name="TextBox 26" id="26"/>
          <p:cNvSpPr txBox="true"/>
          <p:nvPr/>
        </p:nvSpPr>
        <p:spPr>
          <a:xfrm rot="0">
            <a:off x="9901910" y="6298803"/>
            <a:ext cx="2354710" cy="261188"/>
          </a:xfrm>
          <a:prstGeom prst="rect">
            <a:avLst/>
          </a:prstGeom>
        </p:spPr>
        <p:txBody>
          <a:bodyPr anchor="t" rtlCol="false" tIns="0" lIns="0" bIns="0" rIns="0">
            <a:spAutoFit/>
          </a:bodyPr>
          <a:lstStyle/>
          <a:p>
            <a:pPr algn="ctr" marL="0" indent="0" lvl="0">
              <a:lnSpc>
                <a:spcPts val="2031"/>
              </a:lnSpc>
            </a:pPr>
            <a:r>
              <a:rPr lang="en-US" b="true" sz="1574" spc="-4">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DATABASE</a:t>
            </a:r>
          </a:p>
        </p:txBody>
      </p:sp>
      <p:sp>
        <p:nvSpPr>
          <p:cNvPr name="TextBox 27" id="27"/>
          <p:cNvSpPr txBox="true"/>
          <p:nvPr/>
        </p:nvSpPr>
        <p:spPr>
          <a:xfrm rot="0">
            <a:off x="9866540" y="6938122"/>
            <a:ext cx="2425450" cy="670206"/>
          </a:xfrm>
          <a:prstGeom prst="rect">
            <a:avLst/>
          </a:prstGeom>
        </p:spPr>
        <p:txBody>
          <a:bodyPr anchor="t" rtlCol="false" tIns="0" lIns="0" bIns="0" rIns="0">
            <a:spAutoFit/>
          </a:bodyPr>
          <a:lstStyle/>
          <a:p>
            <a:pPr algn="ctr" marL="0" indent="0" lvl="0">
              <a:lnSpc>
                <a:spcPts val="1759"/>
              </a:lnSpc>
            </a:pPr>
            <a:r>
              <a:rPr lang="en-US" sz="1364" spc="-4">
                <a:solidFill>
                  <a:srgbClr val="3A58E4"/>
                </a:solidFill>
                <a:latin typeface="Poppins"/>
                <a:ea typeface="Poppins"/>
                <a:cs typeface="Poppins"/>
                <a:sym typeface="Poppins"/>
              </a:rPr>
              <a:t>SQLite (local offline-first) · MongoDB + Mongoose (cloud analytics)</a:t>
            </a:r>
          </a:p>
        </p:txBody>
      </p:sp>
      <p:sp>
        <p:nvSpPr>
          <p:cNvPr name="TextBox 28" id="28"/>
          <p:cNvSpPr txBox="true"/>
          <p:nvPr/>
        </p:nvSpPr>
        <p:spPr>
          <a:xfrm rot="0">
            <a:off x="13958674" y="6298803"/>
            <a:ext cx="1984104" cy="261188"/>
          </a:xfrm>
          <a:prstGeom prst="rect">
            <a:avLst/>
          </a:prstGeom>
        </p:spPr>
        <p:txBody>
          <a:bodyPr anchor="t" rtlCol="false" tIns="0" lIns="0" bIns="0" rIns="0">
            <a:spAutoFit/>
          </a:bodyPr>
          <a:lstStyle/>
          <a:p>
            <a:pPr algn="ctr" marL="0" indent="0" lvl="0">
              <a:lnSpc>
                <a:spcPts val="2031"/>
              </a:lnSpc>
            </a:pPr>
            <a:r>
              <a:rPr lang="en-US" b="true" sz="1574" spc="-4">
                <a:solidFill>
                  <a:srgbClr val="FFFFFF"/>
                </a:solidFill>
                <a:latin typeface="Poppins Bold"/>
                <a:ea typeface="Poppins Bold"/>
                <a:cs typeface="Poppins Bold"/>
                <a:sym typeface="Poppins Bold"/>
              </a:rPr>
              <a:t>KEY APIS</a:t>
            </a:r>
          </a:p>
        </p:txBody>
      </p:sp>
      <p:sp>
        <p:nvSpPr>
          <p:cNvPr name="TextBox 29" id="29"/>
          <p:cNvSpPr txBox="true"/>
          <p:nvPr/>
        </p:nvSpPr>
        <p:spPr>
          <a:xfrm rot="0">
            <a:off x="13738001" y="6938122"/>
            <a:ext cx="2425450" cy="670206"/>
          </a:xfrm>
          <a:prstGeom prst="rect">
            <a:avLst/>
          </a:prstGeom>
        </p:spPr>
        <p:txBody>
          <a:bodyPr anchor="t" rtlCol="false" tIns="0" lIns="0" bIns="0" rIns="0">
            <a:spAutoFit/>
          </a:bodyPr>
          <a:lstStyle/>
          <a:p>
            <a:pPr algn="ctr" marL="0" indent="0" lvl="0">
              <a:lnSpc>
                <a:spcPts val="1759"/>
              </a:lnSpc>
            </a:pPr>
            <a:r>
              <a:rPr lang="en-US" sz="1364" spc="-4">
                <a:solidFill>
                  <a:srgbClr val="FFFFFF"/>
                </a:solidFill>
                <a:latin typeface="Poppins"/>
                <a:ea typeface="Poppins"/>
                <a:cs typeface="Poppins"/>
                <a:sym typeface="Poppins"/>
              </a:rPr>
              <a:t>AsyncStorage · Expo Location · Background Fetch · Geospatial 2dsphere Index</a:t>
            </a:r>
          </a:p>
        </p:txBody>
      </p:sp>
      <p:grpSp>
        <p:nvGrpSpPr>
          <p:cNvPr name="Group 30" id="30"/>
          <p:cNvGrpSpPr/>
          <p:nvPr/>
        </p:nvGrpSpPr>
        <p:grpSpPr>
          <a:xfrm rot="0">
            <a:off x="4176506" y="5032728"/>
            <a:ext cx="746986" cy="640299"/>
            <a:chOff x="0" y="0"/>
            <a:chExt cx="995981" cy="853731"/>
          </a:xfrm>
        </p:grpSpPr>
        <p:grpSp>
          <p:nvGrpSpPr>
            <p:cNvPr name="Group 31" id="31"/>
            <p:cNvGrpSpPr/>
            <p:nvPr/>
          </p:nvGrpSpPr>
          <p:grpSpPr>
            <a:xfrm rot="0">
              <a:off x="0" y="0"/>
              <a:ext cx="995981" cy="853731"/>
              <a:chOff x="0" y="0"/>
              <a:chExt cx="812800" cy="696713"/>
            </a:xfrm>
          </p:grpSpPr>
          <p:sp>
            <p:nvSpPr>
              <p:cNvPr name="Freeform 32" id="32"/>
              <p:cNvSpPr/>
              <p:nvPr/>
            </p:nvSpPr>
            <p:spPr>
              <a:xfrm flipH="false" flipV="false" rot="0">
                <a:off x="0" y="0"/>
                <a:ext cx="812800" cy="696713"/>
              </a:xfrm>
              <a:custGeom>
                <a:avLst/>
                <a:gdLst/>
                <a:ahLst/>
                <a:cxnLst/>
                <a:rect r="r" b="b" t="t" l="l"/>
                <a:pathLst>
                  <a:path h="696713" w="812800">
                    <a:moveTo>
                      <a:pt x="406400" y="0"/>
                    </a:moveTo>
                    <a:cubicBezTo>
                      <a:pt x="181951" y="0"/>
                      <a:pt x="0" y="155965"/>
                      <a:pt x="0" y="348357"/>
                    </a:cubicBezTo>
                    <a:cubicBezTo>
                      <a:pt x="0" y="540749"/>
                      <a:pt x="181951" y="696713"/>
                      <a:pt x="406400" y="696713"/>
                    </a:cubicBezTo>
                    <a:cubicBezTo>
                      <a:pt x="630849" y="696713"/>
                      <a:pt x="812800" y="540749"/>
                      <a:pt x="812800" y="348357"/>
                    </a:cubicBezTo>
                    <a:cubicBezTo>
                      <a:pt x="812800" y="155965"/>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33" id="33"/>
              <p:cNvSpPr txBox="true"/>
              <p:nvPr/>
            </p:nvSpPr>
            <p:spPr>
              <a:xfrm>
                <a:off x="76200" y="27217"/>
                <a:ext cx="660400" cy="604179"/>
              </a:xfrm>
              <a:prstGeom prst="rect">
                <a:avLst/>
              </a:prstGeom>
            </p:spPr>
            <p:txBody>
              <a:bodyPr anchor="ctr" rtlCol="false" tIns="50800" lIns="50800" bIns="50800" rIns="50800"/>
              <a:lstStyle/>
              <a:p>
                <a:pPr algn="ctr" marL="0" indent="0" lvl="0">
                  <a:lnSpc>
                    <a:spcPts val="2659"/>
                  </a:lnSpc>
                </a:pPr>
              </a:p>
            </p:txBody>
          </p:sp>
        </p:grpSp>
        <p:sp>
          <p:nvSpPr>
            <p:cNvPr name="TextBox 34" id="34"/>
            <p:cNvSpPr txBox="true"/>
            <p:nvPr/>
          </p:nvSpPr>
          <p:spPr>
            <a:xfrm rot="0">
              <a:off x="175623" y="245086"/>
              <a:ext cx="644736" cy="334984"/>
            </a:xfrm>
            <a:prstGeom prst="rect">
              <a:avLst/>
            </a:prstGeom>
          </p:spPr>
          <p:txBody>
            <a:bodyPr anchor="t" rtlCol="false" tIns="0" lIns="0" bIns="0" rIns="0">
              <a:spAutoFit/>
            </a:bodyPr>
            <a:lstStyle/>
            <a:p>
              <a:pPr algn="ctr" marL="0" indent="0" lvl="0">
                <a:lnSpc>
                  <a:spcPts val="2013"/>
                </a:lnSpc>
              </a:pPr>
              <a:r>
                <a:rPr lang="en-US" sz="1561" spc="-4">
                  <a:solidFill>
                    <a:srgbClr val="FFFFFF"/>
                  </a:solidFill>
                  <a:latin typeface="Poppins"/>
                  <a:ea typeface="Poppins"/>
                  <a:cs typeface="Poppins"/>
                  <a:sym typeface="Poppins"/>
                </a:rPr>
                <a:t>01</a:t>
              </a:r>
            </a:p>
          </p:txBody>
        </p:sp>
      </p:grpSp>
      <p:grpSp>
        <p:nvGrpSpPr>
          <p:cNvPr name="Group 35" id="35"/>
          <p:cNvGrpSpPr/>
          <p:nvPr/>
        </p:nvGrpSpPr>
        <p:grpSpPr>
          <a:xfrm rot="0">
            <a:off x="8047037" y="5032728"/>
            <a:ext cx="746986" cy="640299"/>
            <a:chOff x="0" y="0"/>
            <a:chExt cx="995981" cy="853731"/>
          </a:xfrm>
        </p:grpSpPr>
        <p:grpSp>
          <p:nvGrpSpPr>
            <p:cNvPr name="Group 36" id="36"/>
            <p:cNvGrpSpPr/>
            <p:nvPr/>
          </p:nvGrpSpPr>
          <p:grpSpPr>
            <a:xfrm rot="0">
              <a:off x="0" y="0"/>
              <a:ext cx="995981" cy="853731"/>
              <a:chOff x="0" y="0"/>
              <a:chExt cx="812800" cy="696713"/>
            </a:xfrm>
          </p:grpSpPr>
          <p:sp>
            <p:nvSpPr>
              <p:cNvPr name="Freeform 37" id="37"/>
              <p:cNvSpPr/>
              <p:nvPr/>
            </p:nvSpPr>
            <p:spPr>
              <a:xfrm flipH="false" flipV="false" rot="0">
                <a:off x="0" y="0"/>
                <a:ext cx="812800" cy="696713"/>
              </a:xfrm>
              <a:custGeom>
                <a:avLst/>
                <a:gdLst/>
                <a:ahLst/>
                <a:cxnLst/>
                <a:rect r="r" b="b" t="t" l="l"/>
                <a:pathLst>
                  <a:path h="696713" w="812800">
                    <a:moveTo>
                      <a:pt x="406400" y="0"/>
                    </a:moveTo>
                    <a:cubicBezTo>
                      <a:pt x="181951" y="0"/>
                      <a:pt x="0" y="155965"/>
                      <a:pt x="0" y="348357"/>
                    </a:cubicBezTo>
                    <a:cubicBezTo>
                      <a:pt x="0" y="540749"/>
                      <a:pt x="181951" y="696713"/>
                      <a:pt x="406400" y="696713"/>
                    </a:cubicBezTo>
                    <a:cubicBezTo>
                      <a:pt x="630849" y="696713"/>
                      <a:pt x="812800" y="540749"/>
                      <a:pt x="812800" y="348357"/>
                    </a:cubicBezTo>
                    <a:cubicBezTo>
                      <a:pt x="812800" y="155965"/>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38" id="38"/>
              <p:cNvSpPr txBox="true"/>
              <p:nvPr/>
            </p:nvSpPr>
            <p:spPr>
              <a:xfrm>
                <a:off x="76200" y="27217"/>
                <a:ext cx="660400" cy="604179"/>
              </a:xfrm>
              <a:prstGeom prst="rect">
                <a:avLst/>
              </a:prstGeom>
            </p:spPr>
            <p:txBody>
              <a:bodyPr anchor="ctr" rtlCol="false" tIns="50800" lIns="50800" bIns="50800" rIns="50800"/>
              <a:lstStyle/>
              <a:p>
                <a:pPr algn="ctr" marL="0" indent="0" lvl="0">
                  <a:lnSpc>
                    <a:spcPts val="2659"/>
                  </a:lnSpc>
                </a:pPr>
              </a:p>
            </p:txBody>
          </p:sp>
        </p:grpSp>
        <p:sp>
          <p:nvSpPr>
            <p:cNvPr name="TextBox 39" id="39"/>
            <p:cNvSpPr txBox="true"/>
            <p:nvPr/>
          </p:nvSpPr>
          <p:spPr>
            <a:xfrm rot="0">
              <a:off x="175623" y="245086"/>
              <a:ext cx="644736" cy="334984"/>
            </a:xfrm>
            <a:prstGeom prst="rect">
              <a:avLst/>
            </a:prstGeom>
          </p:spPr>
          <p:txBody>
            <a:bodyPr anchor="t" rtlCol="false" tIns="0" lIns="0" bIns="0" rIns="0">
              <a:spAutoFit/>
            </a:bodyPr>
            <a:lstStyle/>
            <a:p>
              <a:pPr algn="ctr" marL="0" indent="0" lvl="0">
                <a:lnSpc>
                  <a:spcPts val="2013"/>
                </a:lnSpc>
              </a:pPr>
              <a:r>
                <a:rPr lang="en-US" sz="1561" spc="-4">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02</a:t>
              </a:r>
            </a:p>
          </p:txBody>
        </p:sp>
      </p:grpSp>
      <p:grpSp>
        <p:nvGrpSpPr>
          <p:cNvPr name="Group 40" id="40"/>
          <p:cNvGrpSpPr/>
          <p:nvPr/>
        </p:nvGrpSpPr>
        <p:grpSpPr>
          <a:xfrm rot="0">
            <a:off x="11919608" y="5032728"/>
            <a:ext cx="746986" cy="640299"/>
            <a:chOff x="0" y="0"/>
            <a:chExt cx="995981" cy="853731"/>
          </a:xfrm>
        </p:grpSpPr>
        <p:grpSp>
          <p:nvGrpSpPr>
            <p:cNvPr name="Group 41" id="41"/>
            <p:cNvGrpSpPr/>
            <p:nvPr/>
          </p:nvGrpSpPr>
          <p:grpSpPr>
            <a:xfrm rot="0">
              <a:off x="0" y="0"/>
              <a:ext cx="995981" cy="853731"/>
              <a:chOff x="0" y="0"/>
              <a:chExt cx="812800" cy="696713"/>
            </a:xfrm>
          </p:grpSpPr>
          <p:sp>
            <p:nvSpPr>
              <p:cNvPr name="Freeform 42" id="42"/>
              <p:cNvSpPr/>
              <p:nvPr/>
            </p:nvSpPr>
            <p:spPr>
              <a:xfrm flipH="false" flipV="false" rot="0">
                <a:off x="0" y="0"/>
                <a:ext cx="812800" cy="696713"/>
              </a:xfrm>
              <a:custGeom>
                <a:avLst/>
                <a:gdLst/>
                <a:ahLst/>
                <a:cxnLst/>
                <a:rect r="r" b="b" t="t" l="l"/>
                <a:pathLst>
                  <a:path h="696713" w="812800">
                    <a:moveTo>
                      <a:pt x="406400" y="0"/>
                    </a:moveTo>
                    <a:cubicBezTo>
                      <a:pt x="181951" y="0"/>
                      <a:pt x="0" y="155965"/>
                      <a:pt x="0" y="348357"/>
                    </a:cubicBezTo>
                    <a:cubicBezTo>
                      <a:pt x="0" y="540749"/>
                      <a:pt x="181951" y="696713"/>
                      <a:pt x="406400" y="696713"/>
                    </a:cubicBezTo>
                    <a:cubicBezTo>
                      <a:pt x="630849" y="696713"/>
                      <a:pt x="812800" y="540749"/>
                      <a:pt x="812800" y="348357"/>
                    </a:cubicBezTo>
                    <a:cubicBezTo>
                      <a:pt x="812800" y="155965"/>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43" id="43"/>
              <p:cNvSpPr txBox="true"/>
              <p:nvPr/>
            </p:nvSpPr>
            <p:spPr>
              <a:xfrm>
                <a:off x="76200" y="27217"/>
                <a:ext cx="660400" cy="604179"/>
              </a:xfrm>
              <a:prstGeom prst="rect">
                <a:avLst/>
              </a:prstGeom>
            </p:spPr>
            <p:txBody>
              <a:bodyPr anchor="ctr" rtlCol="false" tIns="50800" lIns="50800" bIns="50800" rIns="50800"/>
              <a:lstStyle/>
              <a:p>
                <a:pPr algn="ctr" marL="0" indent="0" lvl="0">
                  <a:lnSpc>
                    <a:spcPts val="2659"/>
                  </a:lnSpc>
                </a:pPr>
              </a:p>
            </p:txBody>
          </p:sp>
        </p:grpSp>
        <p:sp>
          <p:nvSpPr>
            <p:cNvPr name="TextBox 44" id="44"/>
            <p:cNvSpPr txBox="true"/>
            <p:nvPr/>
          </p:nvSpPr>
          <p:spPr>
            <a:xfrm rot="0">
              <a:off x="175623" y="245086"/>
              <a:ext cx="644736" cy="334984"/>
            </a:xfrm>
            <a:prstGeom prst="rect">
              <a:avLst/>
            </a:prstGeom>
          </p:spPr>
          <p:txBody>
            <a:bodyPr anchor="t" rtlCol="false" tIns="0" lIns="0" bIns="0" rIns="0">
              <a:spAutoFit/>
            </a:bodyPr>
            <a:lstStyle/>
            <a:p>
              <a:pPr algn="ctr" marL="0" indent="0" lvl="0">
                <a:lnSpc>
                  <a:spcPts val="2013"/>
                </a:lnSpc>
              </a:pPr>
              <a:r>
                <a:rPr lang="en-US" sz="1561" spc="-4">
                  <a:solidFill>
                    <a:srgbClr val="FFFFFF"/>
                  </a:solidFill>
                  <a:latin typeface="Poppins"/>
                  <a:ea typeface="Poppins"/>
                  <a:cs typeface="Poppins"/>
                  <a:sym typeface="Poppins"/>
                </a:rPr>
                <a:t>03</a:t>
              </a:r>
            </a:p>
          </p:txBody>
        </p:sp>
      </p:grpSp>
      <p:grpSp>
        <p:nvGrpSpPr>
          <p:cNvPr name="Group 45" id="45"/>
          <p:cNvGrpSpPr/>
          <p:nvPr/>
        </p:nvGrpSpPr>
        <p:grpSpPr>
          <a:xfrm rot="0">
            <a:off x="15791068" y="5032728"/>
            <a:ext cx="746986" cy="640299"/>
            <a:chOff x="0" y="0"/>
            <a:chExt cx="995981" cy="853731"/>
          </a:xfrm>
        </p:grpSpPr>
        <p:grpSp>
          <p:nvGrpSpPr>
            <p:cNvPr name="Group 46" id="46"/>
            <p:cNvGrpSpPr/>
            <p:nvPr/>
          </p:nvGrpSpPr>
          <p:grpSpPr>
            <a:xfrm rot="0">
              <a:off x="0" y="0"/>
              <a:ext cx="995981" cy="853731"/>
              <a:chOff x="0" y="0"/>
              <a:chExt cx="812800" cy="696713"/>
            </a:xfrm>
          </p:grpSpPr>
          <p:sp>
            <p:nvSpPr>
              <p:cNvPr name="Freeform 47" id="47"/>
              <p:cNvSpPr/>
              <p:nvPr/>
            </p:nvSpPr>
            <p:spPr>
              <a:xfrm flipH="false" flipV="false" rot="0">
                <a:off x="0" y="0"/>
                <a:ext cx="812800" cy="696713"/>
              </a:xfrm>
              <a:custGeom>
                <a:avLst/>
                <a:gdLst/>
                <a:ahLst/>
                <a:cxnLst/>
                <a:rect r="r" b="b" t="t" l="l"/>
                <a:pathLst>
                  <a:path h="696713" w="812800">
                    <a:moveTo>
                      <a:pt x="406400" y="0"/>
                    </a:moveTo>
                    <a:cubicBezTo>
                      <a:pt x="181951" y="0"/>
                      <a:pt x="0" y="155965"/>
                      <a:pt x="0" y="348357"/>
                    </a:cubicBezTo>
                    <a:cubicBezTo>
                      <a:pt x="0" y="540749"/>
                      <a:pt x="181951" y="696713"/>
                      <a:pt x="406400" y="696713"/>
                    </a:cubicBezTo>
                    <a:cubicBezTo>
                      <a:pt x="630849" y="696713"/>
                      <a:pt x="812800" y="540749"/>
                      <a:pt x="812800" y="348357"/>
                    </a:cubicBezTo>
                    <a:cubicBezTo>
                      <a:pt x="812800" y="155965"/>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48" id="48"/>
              <p:cNvSpPr txBox="true"/>
              <p:nvPr/>
            </p:nvSpPr>
            <p:spPr>
              <a:xfrm>
                <a:off x="76200" y="27217"/>
                <a:ext cx="660400" cy="604179"/>
              </a:xfrm>
              <a:prstGeom prst="rect">
                <a:avLst/>
              </a:prstGeom>
            </p:spPr>
            <p:txBody>
              <a:bodyPr anchor="ctr" rtlCol="false" tIns="50800" lIns="50800" bIns="50800" rIns="50800"/>
              <a:lstStyle/>
              <a:p>
                <a:pPr algn="ctr" marL="0" indent="0" lvl="0">
                  <a:lnSpc>
                    <a:spcPts val="2659"/>
                  </a:lnSpc>
                </a:pPr>
              </a:p>
            </p:txBody>
          </p:sp>
        </p:grpSp>
        <p:sp>
          <p:nvSpPr>
            <p:cNvPr name="TextBox 49" id="49"/>
            <p:cNvSpPr txBox="true"/>
            <p:nvPr/>
          </p:nvSpPr>
          <p:spPr>
            <a:xfrm rot="0">
              <a:off x="175623" y="245086"/>
              <a:ext cx="644736" cy="334984"/>
            </a:xfrm>
            <a:prstGeom prst="rect">
              <a:avLst/>
            </a:prstGeom>
          </p:spPr>
          <p:txBody>
            <a:bodyPr anchor="t" rtlCol="false" tIns="0" lIns="0" bIns="0" rIns="0">
              <a:spAutoFit/>
            </a:bodyPr>
            <a:lstStyle/>
            <a:p>
              <a:pPr algn="ctr" marL="0" indent="0" lvl="0">
                <a:lnSpc>
                  <a:spcPts val="2013"/>
                </a:lnSpc>
              </a:pPr>
              <a:r>
                <a:rPr lang="en-US" sz="1561" spc="-4">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04</a:t>
              </a:r>
            </a:p>
          </p:txBody>
        </p:sp>
      </p:grpSp>
      <p:sp>
        <p:nvSpPr>
          <p:cNvPr name="TextBox 50" id="50"/>
          <p:cNvSpPr txBox="true"/>
          <p:nvPr/>
        </p:nvSpPr>
        <p:spPr>
          <a:xfrm rot="0">
            <a:off x="3363658" y="1531339"/>
            <a:ext cx="11560683" cy="1273720"/>
          </a:xfrm>
          <a:prstGeom prst="rect">
            <a:avLst/>
          </a:prstGeom>
        </p:spPr>
        <p:txBody>
          <a:bodyPr anchor="t" rtlCol="false" tIns="0" lIns="0" bIns="0" rIns="0">
            <a:spAutoFit/>
          </a:bodyPr>
          <a:lstStyle/>
          <a:p>
            <a:pPr algn="ctr" marL="0" indent="0" lvl="0">
              <a:lnSpc>
                <a:spcPts val="9596"/>
              </a:lnSpc>
            </a:pPr>
            <a:r>
              <a:rPr lang="en-US" sz="9792" spc="-62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Technology Stack</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828142" y="1358088"/>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7828142" y="4449725"/>
            <a:ext cx="9021242" cy="379246"/>
            <a:chOff x="0" y="0"/>
            <a:chExt cx="12028323" cy="505662"/>
          </a:xfrm>
        </p:grpSpPr>
        <p:sp>
          <p:nvSpPr>
            <p:cNvPr name="TextBox 6" id="6"/>
            <p:cNvSpPr txBox="true"/>
            <p:nvPr/>
          </p:nvSpPr>
          <p:spPr>
            <a:xfrm rot="0">
              <a:off x="0" y="-49117"/>
              <a:ext cx="11773903" cy="554779"/>
            </a:xfrm>
            <a:prstGeom prst="rect">
              <a:avLst/>
            </a:prstGeom>
          </p:spPr>
          <p:txBody>
            <a:bodyPr anchor="t" rtlCol="false" tIns="0" lIns="0" bIns="0" rIns="0">
              <a:spAutoFit/>
            </a:bodyPr>
            <a:lstStyle/>
            <a:p>
              <a:pPr algn="l" marL="0" indent="0" lvl="0">
                <a:lnSpc>
                  <a:spcPts val="3316"/>
                </a:lnSpc>
              </a:pPr>
              <a:r>
                <a:rPr lang="en-US" b="true" sz="2368" spc="-59">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KEY INSIGHTS FROM SUBSCRIBER SURVEY DATA</a:t>
              </a:r>
            </a:p>
          </p:txBody>
        </p:sp>
        <p:sp>
          <p:nvSpPr>
            <p:cNvPr name="Freeform 7" id="7"/>
            <p:cNvSpPr/>
            <p:nvPr/>
          </p:nvSpPr>
          <p:spPr>
            <a:xfrm flipH="false" flipV="false" rot="-8687136">
              <a:off x="11711303"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8" id="8"/>
          <p:cNvGrpSpPr/>
          <p:nvPr/>
        </p:nvGrpSpPr>
        <p:grpSpPr>
          <a:xfrm rot="0">
            <a:off x="16438046" y="129"/>
            <a:ext cx="1849954" cy="1848037"/>
            <a:chOff x="0" y="0"/>
            <a:chExt cx="2466605" cy="2464050"/>
          </a:xfrm>
        </p:grpSpPr>
        <p:grpSp>
          <p:nvGrpSpPr>
            <p:cNvPr name="Group 9" id="9"/>
            <p:cNvGrpSpPr/>
            <p:nvPr/>
          </p:nvGrpSpPr>
          <p:grpSpPr>
            <a:xfrm rot="0">
              <a:off x="0" y="0"/>
              <a:ext cx="2466605" cy="2464050"/>
              <a:chOff x="0" y="0"/>
              <a:chExt cx="787566" cy="786750"/>
            </a:xfrm>
          </p:grpSpPr>
          <p:sp>
            <p:nvSpPr>
              <p:cNvPr name="Freeform 10" id="10"/>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1" id="11"/>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319164" y="694049"/>
              <a:ext cx="1828278" cy="1199777"/>
            </a:xfrm>
            <a:prstGeom prst="rect">
              <a:avLst/>
            </a:prstGeom>
          </p:spPr>
          <p:txBody>
            <a:bodyPr anchor="t" rtlCol="false" tIns="0" lIns="0" bIns="0" rIns="0">
              <a:spAutoFit/>
            </a:bodyPr>
            <a:lstStyle/>
            <a:p>
              <a:pPr algn="ctr" marL="0" indent="0" lvl="0">
                <a:lnSpc>
                  <a:spcPts val="6421"/>
                </a:lnSpc>
              </a:pPr>
              <a:r>
                <a:rPr lang="en-US" sz="6552" spc="-419">
                  <a:solidFill>
                    <a:srgbClr val="FFFFFF"/>
                  </a:solidFill>
                  <a:latin typeface="Bricolage Grotesque"/>
                  <a:ea typeface="Bricolage Grotesque"/>
                  <a:cs typeface="Bricolage Grotesque"/>
                  <a:sym typeface="Bricolage Grotesque"/>
                </a:rPr>
                <a:t>08</a:t>
              </a:r>
            </a:p>
          </p:txBody>
        </p:sp>
      </p:grpSp>
      <p:sp>
        <p:nvSpPr>
          <p:cNvPr name="AutoShape 13" id="13"/>
          <p:cNvSpPr/>
          <p:nvPr/>
        </p:nvSpPr>
        <p:spPr>
          <a:xfrm flipH="true">
            <a:off x="6542795" y="0"/>
            <a:ext cx="0" cy="10287000"/>
          </a:xfrm>
          <a:prstGeom prst="line">
            <a:avLst/>
          </a:prstGeom>
          <a:ln cap="rnd" w="19050">
            <a:solidFill>
              <a:srgbClr val="3A58E4"/>
            </a:solidFill>
            <a:prstDash val="solid"/>
            <a:headEnd type="none" len="sm" w="sm"/>
            <a:tailEnd type="none" len="sm" w="sm"/>
          </a:ln>
        </p:spPr>
      </p:sp>
      <p:sp>
        <p:nvSpPr>
          <p:cNvPr name="AutoShape 14" id="14"/>
          <p:cNvSpPr/>
          <p:nvPr/>
        </p:nvSpPr>
        <p:spPr>
          <a:xfrm>
            <a:off x="0" y="5320770"/>
            <a:ext cx="6542795" cy="0"/>
          </a:xfrm>
          <a:prstGeom prst="line">
            <a:avLst/>
          </a:prstGeom>
          <a:ln cap="rnd" w="19050">
            <a:solidFill>
              <a:srgbClr val="3A58E4"/>
            </a:solidFill>
            <a:prstDash val="solid"/>
            <a:headEnd type="none" len="sm" w="sm"/>
            <a:tailEnd type="none" len="sm" w="sm"/>
          </a:ln>
        </p:spPr>
      </p:sp>
      <p:grpSp>
        <p:nvGrpSpPr>
          <p:cNvPr name="Group 15" id="15"/>
          <p:cNvGrpSpPr/>
          <p:nvPr/>
        </p:nvGrpSpPr>
        <p:grpSpPr>
          <a:xfrm rot="0">
            <a:off x="197452" y="174137"/>
            <a:ext cx="6165930" cy="4969363"/>
            <a:chOff x="0" y="0"/>
            <a:chExt cx="955264" cy="769884"/>
          </a:xfrm>
        </p:grpSpPr>
        <p:sp>
          <p:nvSpPr>
            <p:cNvPr name="Freeform 16" id="16"/>
            <p:cNvSpPr/>
            <p:nvPr/>
          </p:nvSpPr>
          <p:spPr>
            <a:xfrm flipH="false" flipV="false" rot="0">
              <a:off x="0" y="0"/>
              <a:ext cx="955264" cy="769884"/>
            </a:xfrm>
            <a:custGeom>
              <a:avLst/>
              <a:gdLst/>
              <a:ahLst/>
              <a:cxnLst/>
              <a:rect r="r" b="b" t="t" l="l"/>
              <a:pathLst>
                <a:path h="769884" w="955264">
                  <a:moveTo>
                    <a:pt x="0" y="0"/>
                  </a:moveTo>
                  <a:lnTo>
                    <a:pt x="955264" y="0"/>
                  </a:lnTo>
                  <a:lnTo>
                    <a:pt x="955264" y="769884"/>
                  </a:lnTo>
                  <a:lnTo>
                    <a:pt x="0" y="769884"/>
                  </a:lnTo>
                  <a:close/>
                </a:path>
              </a:pathLst>
            </a:custGeom>
            <a:blipFill>
              <a:blip r:embed="rId4"/>
              <a:stretch>
                <a:fillRect l="-58" t="0" r="-58" b="0"/>
              </a:stretch>
            </a:blipFill>
          </p:spPr>
        </p:sp>
      </p:grpSp>
      <p:sp>
        <p:nvSpPr>
          <p:cNvPr name="TextBox 17" id="17"/>
          <p:cNvSpPr txBox="true"/>
          <p:nvPr/>
        </p:nvSpPr>
        <p:spPr>
          <a:xfrm rot="0">
            <a:off x="8056208" y="1238443"/>
            <a:ext cx="7107541" cy="2489701"/>
          </a:xfrm>
          <a:prstGeom prst="rect">
            <a:avLst/>
          </a:prstGeom>
        </p:spPr>
        <p:txBody>
          <a:bodyPr anchor="t" rtlCol="false" tIns="0" lIns="0" bIns="0" rIns="0">
            <a:spAutoFit/>
          </a:bodyPr>
          <a:lstStyle/>
          <a:p>
            <a:pPr algn="l" marL="0" indent="0" lvl="0">
              <a:lnSpc>
                <a:spcPts val="9596"/>
              </a:lnSpc>
            </a:pPr>
            <a:r>
              <a:rPr lang="en-US" sz="9792" spc="-62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Survey</a:t>
            </a:r>
          </a:p>
          <a:p>
            <a:pPr algn="l" marL="0" indent="0" lvl="0">
              <a:lnSpc>
                <a:spcPts val="9596"/>
              </a:lnSpc>
            </a:pPr>
            <a:r>
              <a:rPr lang="en-US" sz="9792" spc="-62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Findings</a:t>
            </a:r>
          </a:p>
        </p:txBody>
      </p:sp>
      <p:sp>
        <p:nvSpPr>
          <p:cNvPr name="TextBox 18" id="18"/>
          <p:cNvSpPr txBox="true"/>
          <p:nvPr/>
        </p:nvSpPr>
        <p:spPr>
          <a:xfrm rot="0">
            <a:off x="7828142" y="5286254"/>
            <a:ext cx="9021242" cy="3779788"/>
          </a:xfrm>
          <a:prstGeom prst="rect">
            <a:avLst/>
          </a:prstGeom>
        </p:spPr>
        <p:txBody>
          <a:bodyPr anchor="t" rtlCol="false" tIns="0" lIns="0" bIns="0" rIns="0">
            <a:spAutoFit/>
          </a:bodyPr>
          <a:lstStyle/>
          <a:p>
            <a:pPr algn="just" marL="0" indent="0" lvl="0">
              <a:lnSpc>
                <a:spcPts val="2715"/>
              </a:lnSpc>
            </a:pPr>
            <a:r>
              <a:rPr lang="en-US" sz="1939" spc="-5">
                <a:solidFill>
                  <a:srgbClr val="3A58E4"/>
                </a:solidFill>
                <a:latin typeface="Poppins"/>
                <a:ea typeface="Poppins"/>
                <a:cs typeface="Poppins"/>
                <a:sym typeface="Poppins"/>
              </a:rPr>
              <a:t>49.1% of respondents prefer English as their app language, while 50.9% prefer French, highlighting the need for bilingual support.</a:t>
            </a:r>
          </a:p>
          <a:p>
            <a:pPr algn="just" marL="0" indent="0" lvl="0">
              <a:lnSpc>
                <a:spcPts val="2715"/>
              </a:lnSpc>
            </a:pPr>
            <a:r>
              <a:rPr lang="en-US" sz="1939" spc="-5">
                <a:solidFill>
                  <a:srgbClr val="3A58E4"/>
                </a:solidFill>
                <a:latin typeface="Poppins"/>
                <a:ea typeface="Poppins"/>
                <a:cs typeface="Poppins"/>
                <a:sym typeface="Poppins"/>
              </a:rPr>
              <a:t>Top reported network issues:</a:t>
            </a:r>
          </a:p>
          <a:p>
            <a:pPr algn="just" marL="0" indent="0" lvl="0">
              <a:lnSpc>
                <a:spcPts val="2715"/>
              </a:lnSpc>
            </a:pPr>
            <a:r>
              <a:rPr lang="en-US" sz="1939" spc="-5">
                <a:solidFill>
                  <a:srgbClr val="3A58E4"/>
                </a:solidFill>
                <a:latin typeface="Poppins"/>
                <a:ea typeface="Poppins"/>
                <a:cs typeface="Poppins"/>
                <a:sym typeface="Poppins"/>
              </a:rPr>
              <a:t>• Slow download/upload speed</a:t>
            </a:r>
          </a:p>
          <a:p>
            <a:pPr algn="just" marL="0" indent="0" lvl="0">
              <a:lnSpc>
                <a:spcPts val="2715"/>
              </a:lnSpc>
            </a:pPr>
            <a:r>
              <a:rPr lang="en-US" sz="1939" spc="-5">
                <a:solidFill>
                  <a:srgbClr val="3A58E4"/>
                </a:solidFill>
                <a:latin typeface="Poppins"/>
                <a:ea typeface="Poppins"/>
                <a:cs typeface="Poppins"/>
                <a:sym typeface="Poppins"/>
              </a:rPr>
              <a:t>• Weak or unstable signal</a:t>
            </a:r>
          </a:p>
          <a:p>
            <a:pPr algn="just" marL="0" indent="0" lvl="0">
              <a:lnSpc>
                <a:spcPts val="2715"/>
              </a:lnSpc>
            </a:pPr>
            <a:r>
              <a:rPr lang="en-US" sz="1939" spc="-5">
                <a:solidFill>
                  <a:srgbClr val="3A58E4"/>
                </a:solidFill>
                <a:latin typeface="Poppins"/>
                <a:ea typeface="Poppins"/>
                <a:cs typeface="Poppins"/>
                <a:sym typeface="Poppins"/>
              </a:rPr>
              <a:t>• Frequent connectivity drops</a:t>
            </a:r>
          </a:p>
          <a:p>
            <a:pPr algn="just" marL="0" indent="0" lvl="0">
              <a:lnSpc>
                <a:spcPts val="2715"/>
              </a:lnSpc>
            </a:pPr>
            <a:r>
              <a:rPr lang="en-US" sz="1939" spc="-5">
                <a:solidFill>
                  <a:srgbClr val="3A58E4"/>
                </a:solidFill>
                <a:latin typeface="Poppins"/>
                <a:ea typeface="Poppins"/>
                <a:cs typeface="Poppins"/>
                <a:sym typeface="Poppins"/>
              </a:rPr>
              <a:t>• High latency during peak hours</a:t>
            </a:r>
          </a:p>
          <a:p>
            <a:pPr algn="just" marL="0" indent="0" lvl="0">
              <a:lnSpc>
                <a:spcPts val="2715"/>
              </a:lnSpc>
            </a:pPr>
            <a:r>
              <a:rPr lang="en-US" sz="1939" spc="-5">
                <a:solidFill>
                  <a:srgbClr val="3A58E4"/>
                </a:solidFill>
                <a:latin typeface="Poppins"/>
                <a:ea typeface="Poppins"/>
                <a:cs typeface="Poppins"/>
                <a:sym typeface="Poppins"/>
              </a:rPr>
              <a:t>Privacy concerns: 68% of users expressed willingness to share anonymous network data. Only 14% had strong privacy objections, confirming broad acceptance of data collection with proper consent mechanisms in place.</a:t>
            </a:r>
          </a:p>
        </p:txBody>
      </p:sp>
      <p:sp>
        <p:nvSpPr>
          <p:cNvPr name="TextBox 19" id="19"/>
          <p:cNvSpPr txBox="true"/>
          <p:nvPr/>
        </p:nvSpPr>
        <p:spPr>
          <a:xfrm rot="0">
            <a:off x="1736067" y="8372354"/>
            <a:ext cx="3088700" cy="693688"/>
          </a:xfrm>
          <a:prstGeom prst="rect">
            <a:avLst/>
          </a:prstGeom>
        </p:spPr>
        <p:txBody>
          <a:bodyPr anchor="t" rtlCol="false" tIns="0" lIns="0" bIns="0" rIns="0">
            <a:spAutoFit/>
          </a:bodyPr>
          <a:lstStyle/>
          <a:p>
            <a:pPr algn="ctr" marL="0" indent="0" lvl="0">
              <a:lnSpc>
                <a:spcPts val="2715"/>
              </a:lnSpc>
            </a:pPr>
            <a:r>
              <a:rPr lang="en-US" sz="1939" spc="-5">
                <a:solidFill>
                  <a:srgbClr val="3A58E4"/>
                </a:solidFill>
                <a:latin typeface="Poppins"/>
                <a:ea typeface="Poppins"/>
                <a:cs typeface="Poppins"/>
                <a:sym typeface="Poppins"/>
              </a:rPr>
              <a:t>Android users among surveyed subscribers</a:t>
            </a:r>
          </a:p>
        </p:txBody>
      </p:sp>
      <p:sp>
        <p:nvSpPr>
          <p:cNvPr name="TextBox 20" id="20"/>
          <p:cNvSpPr txBox="true"/>
          <p:nvPr/>
        </p:nvSpPr>
        <p:spPr>
          <a:xfrm rot="0">
            <a:off x="722135" y="5598177"/>
            <a:ext cx="5116565" cy="2562494"/>
          </a:xfrm>
          <a:prstGeom prst="rect">
            <a:avLst/>
          </a:prstGeom>
        </p:spPr>
        <p:txBody>
          <a:bodyPr anchor="t" rtlCol="false" tIns="0" lIns="0" bIns="0" rIns="0">
            <a:spAutoFit/>
          </a:bodyPr>
          <a:lstStyle/>
          <a:p>
            <a:pPr algn="ctr" marL="0" indent="0" lvl="0">
              <a:lnSpc>
                <a:spcPts val="20985"/>
              </a:lnSpc>
              <a:spcBef>
                <a:spcPct val="0"/>
              </a:spcBef>
            </a:pPr>
            <a:r>
              <a:rPr lang="en-US" sz="14989" spc="-959">
                <a:gradFill>
                  <a:gsLst>
                    <a:gs pos="0">
                      <a:srgbClr val="3A58E4">
                        <a:alpha val="100000"/>
                      </a:srgbClr>
                    </a:gs>
                    <a:gs pos="100000">
                      <a:srgbClr val="293E9C">
                        <a:alpha val="100000"/>
                      </a:srgbClr>
                    </a:gs>
                  </a:gsLst>
                  <a:path path="circle">
                    <a:fillToRect l="0" r="100000" t="0" b="100000"/>
                  </a:path>
                  <a:tileRect r="0" l="-100000" b="0" t="-100000"/>
                </a:gradFill>
                <a:latin typeface="Bricolage Grotesque"/>
                <a:ea typeface="Bricolage Grotesque"/>
                <a:cs typeface="Bricolage Grotesque"/>
                <a:sym typeface="Bricolage Grotesque"/>
              </a:rPr>
              <a:t>75.9%</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56766" y="1232144"/>
            <a:ext cx="5217559" cy="2495999"/>
          </a:xfrm>
          <a:prstGeom prst="rect">
            <a:avLst/>
          </a:prstGeom>
        </p:spPr>
        <p:txBody>
          <a:bodyPr anchor="t" rtlCol="false" tIns="0" lIns="0" bIns="0" rIns="0">
            <a:spAutoFit/>
          </a:bodyPr>
          <a:lstStyle/>
          <a:p>
            <a:pPr algn="l" marL="0" indent="0" lvl="0">
              <a:lnSpc>
                <a:spcPts val="6429"/>
              </a:lnSpc>
            </a:pPr>
            <a:r>
              <a:rPr lang="en-US" sz="6560" spc="-419">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Functional &amp; Non-Functional Requirements</a:t>
            </a:r>
          </a:p>
        </p:txBody>
      </p:sp>
      <p:grpSp>
        <p:nvGrpSpPr>
          <p:cNvPr name="Group 3" id="3"/>
          <p:cNvGrpSpPr/>
          <p:nvPr/>
        </p:nvGrpSpPr>
        <p:grpSpPr>
          <a:xfrm rot="0">
            <a:off x="1028700" y="1358088"/>
            <a:ext cx="47625" cy="2040668"/>
            <a:chOff x="0" y="0"/>
            <a:chExt cx="12543" cy="537460"/>
          </a:xfrm>
        </p:grpSpPr>
        <p:sp>
          <p:nvSpPr>
            <p:cNvPr name="Freeform 4" id="4"/>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5" id="5"/>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1028700" y="4312874"/>
            <a:ext cx="8172450" cy="379246"/>
            <a:chOff x="0" y="0"/>
            <a:chExt cx="10896600" cy="505662"/>
          </a:xfrm>
        </p:grpSpPr>
        <p:sp>
          <p:nvSpPr>
            <p:cNvPr name="TextBox 7" id="7"/>
            <p:cNvSpPr txBox="true"/>
            <p:nvPr/>
          </p:nvSpPr>
          <p:spPr>
            <a:xfrm rot="0">
              <a:off x="0" y="-49117"/>
              <a:ext cx="10820400" cy="554779"/>
            </a:xfrm>
            <a:prstGeom prst="rect">
              <a:avLst/>
            </a:prstGeom>
          </p:spPr>
          <p:txBody>
            <a:bodyPr anchor="t" rtlCol="false" tIns="0" lIns="0" bIns="0" rIns="0">
              <a:spAutoFit/>
            </a:bodyPr>
            <a:lstStyle/>
            <a:p>
              <a:pPr algn="l" marL="0" indent="0" lvl="0">
                <a:lnSpc>
                  <a:spcPts val="3316"/>
                </a:lnSpc>
              </a:pPr>
              <a:r>
                <a:rPr lang="en-US" b="true" sz="2368" spc="-59">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SYSTEM REQUIREMENTS SPECIFICATION</a:t>
              </a:r>
            </a:p>
          </p:txBody>
        </p:sp>
        <p:sp>
          <p:nvSpPr>
            <p:cNvPr name="Freeform 8" id="8"/>
            <p:cNvSpPr/>
            <p:nvPr/>
          </p:nvSpPr>
          <p:spPr>
            <a:xfrm flipH="false" flipV="false" rot="-8687136">
              <a:off x="10579580"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9" id="9"/>
          <p:cNvGrpSpPr/>
          <p:nvPr/>
        </p:nvGrpSpPr>
        <p:grpSpPr>
          <a:xfrm rot="0">
            <a:off x="16438046" y="129"/>
            <a:ext cx="1849954" cy="1848037"/>
            <a:chOff x="0" y="0"/>
            <a:chExt cx="2466605" cy="2464050"/>
          </a:xfrm>
        </p:grpSpPr>
        <p:grpSp>
          <p:nvGrpSpPr>
            <p:cNvPr name="Group 10" id="10"/>
            <p:cNvGrpSpPr/>
            <p:nvPr/>
          </p:nvGrpSpPr>
          <p:grpSpPr>
            <a:xfrm rot="0">
              <a:off x="0" y="0"/>
              <a:ext cx="2466605" cy="2464050"/>
              <a:chOff x="0" y="0"/>
              <a:chExt cx="787566" cy="786750"/>
            </a:xfrm>
          </p:grpSpPr>
          <p:sp>
            <p:nvSpPr>
              <p:cNvPr name="Freeform 11" id="11"/>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2" id="12"/>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319164" y="694049"/>
              <a:ext cx="1828278" cy="1199777"/>
            </a:xfrm>
            <a:prstGeom prst="rect">
              <a:avLst/>
            </a:prstGeom>
          </p:spPr>
          <p:txBody>
            <a:bodyPr anchor="t" rtlCol="false" tIns="0" lIns="0" bIns="0" rIns="0">
              <a:spAutoFit/>
            </a:bodyPr>
            <a:lstStyle/>
            <a:p>
              <a:pPr algn="ctr" marL="0" indent="0" lvl="0">
                <a:lnSpc>
                  <a:spcPts val="6421"/>
                </a:lnSpc>
              </a:pPr>
              <a:r>
                <a:rPr lang="en-US" sz="6552" spc="-419">
                  <a:solidFill>
                    <a:srgbClr val="FFFFFF"/>
                  </a:solidFill>
                  <a:latin typeface="Bricolage Grotesque"/>
                  <a:ea typeface="Bricolage Grotesque"/>
                  <a:cs typeface="Bricolage Grotesque"/>
                  <a:sym typeface="Bricolage Grotesque"/>
                </a:rPr>
                <a:t>09</a:t>
              </a:r>
            </a:p>
          </p:txBody>
        </p:sp>
      </p:grpSp>
      <p:sp>
        <p:nvSpPr>
          <p:cNvPr name="Freeform 14" id="14"/>
          <p:cNvSpPr/>
          <p:nvPr/>
        </p:nvSpPr>
        <p:spPr>
          <a:xfrm flipH="false" flipV="false" rot="0">
            <a:off x="10057804" y="2739287"/>
            <a:ext cx="6629625" cy="6356153"/>
          </a:xfrm>
          <a:custGeom>
            <a:avLst/>
            <a:gdLst/>
            <a:ahLst/>
            <a:cxnLst/>
            <a:rect r="r" b="b" t="t" l="l"/>
            <a:pathLst>
              <a:path h="6356153" w="6629625">
                <a:moveTo>
                  <a:pt x="0" y="0"/>
                </a:moveTo>
                <a:lnTo>
                  <a:pt x="6629626" y="0"/>
                </a:lnTo>
                <a:lnTo>
                  <a:pt x="6629626" y="6356153"/>
                </a:lnTo>
                <a:lnTo>
                  <a:pt x="0" y="6356153"/>
                </a:lnTo>
                <a:lnTo>
                  <a:pt x="0" y="0"/>
                </a:lnTo>
                <a:close/>
              </a:path>
            </a:pathLst>
          </a:custGeom>
          <a:blipFill>
            <a:blip r:embed="rId4"/>
            <a:stretch>
              <a:fillRect l="0" t="0" r="0" b="0"/>
            </a:stretch>
          </a:blipFill>
        </p:spPr>
      </p:sp>
      <p:sp>
        <p:nvSpPr>
          <p:cNvPr name="TextBox 15" id="15"/>
          <p:cNvSpPr txBox="true"/>
          <p:nvPr/>
        </p:nvSpPr>
        <p:spPr>
          <a:xfrm rot="0">
            <a:off x="1870201" y="4527039"/>
            <a:ext cx="7273799" cy="1489747"/>
          </a:xfrm>
          <a:prstGeom prst="rect">
            <a:avLst/>
          </a:prstGeom>
        </p:spPr>
        <p:txBody>
          <a:bodyPr anchor="t" rtlCol="false" tIns="0" lIns="0" bIns="0" rIns="0">
            <a:spAutoFit/>
          </a:bodyPr>
          <a:lstStyle/>
          <a:p>
            <a:pPr algn="just" marL="0" indent="0" lvl="0">
              <a:lnSpc>
                <a:spcPts val="1679"/>
              </a:lnSpc>
            </a:pPr>
            <a:r>
              <a:rPr lang="en-US" sz="1199" spc="-29">
                <a:solidFill>
                  <a:srgbClr val="3A58E4"/>
                </a:solidFill>
                <a:latin typeface="Poppins"/>
                <a:ea typeface="Poppins"/>
                <a:cs typeface="Poppins"/>
                <a:sym typeface="Poppins"/>
              </a:rPr>
              <a:t>✔ User registration &amp; authentication</a:t>
            </a:r>
          </a:p>
          <a:p>
            <a:pPr algn="just" marL="0" indent="0" lvl="0">
              <a:lnSpc>
                <a:spcPts val="1679"/>
              </a:lnSpc>
            </a:pPr>
            <a:r>
              <a:rPr lang="en-US" sz="1199" spc="-29">
                <a:solidFill>
                  <a:srgbClr val="3A58E4"/>
                </a:solidFill>
                <a:latin typeface="Poppins"/>
                <a:ea typeface="Poppins"/>
                <a:cs typeface="Poppins"/>
                <a:sym typeface="Poppins"/>
              </a:rPr>
              <a:t>✔ Automated QoS data collection</a:t>
            </a:r>
          </a:p>
          <a:p>
            <a:pPr algn="just" marL="0" indent="0" lvl="0">
              <a:lnSpc>
                <a:spcPts val="1679"/>
              </a:lnSpc>
            </a:pPr>
            <a:r>
              <a:rPr lang="en-US" sz="1199" spc="-29">
                <a:solidFill>
                  <a:srgbClr val="3A58E4"/>
                </a:solidFill>
                <a:latin typeface="Poppins"/>
                <a:ea typeface="Poppins"/>
                <a:cs typeface="Poppins"/>
                <a:sym typeface="Poppins"/>
              </a:rPr>
              <a:t>✔ Local SQLite offline storage</a:t>
            </a:r>
          </a:p>
          <a:p>
            <a:pPr algn="just" marL="0" indent="0" lvl="0">
              <a:lnSpc>
                <a:spcPts val="1679"/>
              </a:lnSpc>
            </a:pPr>
            <a:r>
              <a:rPr lang="en-US" sz="1199" spc="-29">
                <a:solidFill>
                  <a:srgbClr val="3A58E4"/>
                </a:solidFill>
                <a:latin typeface="Poppins"/>
                <a:ea typeface="Poppins"/>
                <a:cs typeface="Poppins"/>
                <a:sym typeface="Poppins"/>
              </a:rPr>
              <a:t>✔ Cloud data upload &amp; sync</a:t>
            </a:r>
          </a:p>
          <a:p>
            <a:pPr algn="just" marL="0" indent="0" lvl="0">
              <a:lnSpc>
                <a:spcPts val="1679"/>
              </a:lnSpc>
            </a:pPr>
            <a:r>
              <a:rPr lang="en-US" sz="1199" spc="-29">
                <a:solidFill>
                  <a:srgbClr val="3A58E4"/>
                </a:solidFill>
                <a:latin typeface="Poppins"/>
                <a:ea typeface="Poppins"/>
                <a:cs typeface="Poppins"/>
                <a:sym typeface="Poppins"/>
              </a:rPr>
              <a:t>✔ Heatmap visualization</a:t>
            </a:r>
          </a:p>
          <a:p>
            <a:pPr algn="just" marL="0" indent="0" lvl="0">
              <a:lnSpc>
                <a:spcPts val="1679"/>
              </a:lnSpc>
            </a:pPr>
            <a:r>
              <a:rPr lang="en-US" sz="1199" spc="-29">
                <a:solidFill>
                  <a:srgbClr val="3A58E4"/>
                </a:solidFill>
                <a:latin typeface="Poppins"/>
                <a:ea typeface="Poppins"/>
                <a:cs typeface="Poppins"/>
                <a:sym typeface="Poppins"/>
              </a:rPr>
              <a:t>✔ Admin filters &amp; dashboard</a:t>
            </a:r>
          </a:p>
          <a:p>
            <a:pPr algn="just" marL="0" indent="0" lvl="0">
              <a:lnSpc>
                <a:spcPts val="1679"/>
              </a:lnSpc>
            </a:pPr>
            <a:r>
              <a:rPr lang="en-US" sz="1199" spc="-29">
                <a:solidFill>
                  <a:srgbClr val="3A58E4"/>
                </a:solidFill>
                <a:latin typeface="Poppins"/>
                <a:ea typeface="Poppins"/>
                <a:cs typeface="Poppins"/>
                <a:sym typeface="Poppins"/>
              </a:rPr>
              <a:t>✔ Bilingual (EN/FR) support</a:t>
            </a:r>
          </a:p>
        </p:txBody>
      </p:sp>
      <p:sp>
        <p:nvSpPr>
          <p:cNvPr name="TextBox 16" id="16"/>
          <p:cNvSpPr txBox="true"/>
          <p:nvPr/>
        </p:nvSpPr>
        <p:spPr>
          <a:xfrm rot="0">
            <a:off x="1870201" y="5731424"/>
            <a:ext cx="7273799" cy="1276654"/>
          </a:xfrm>
          <a:prstGeom prst="rect">
            <a:avLst/>
          </a:prstGeom>
        </p:spPr>
        <p:txBody>
          <a:bodyPr anchor="t" rtlCol="false" tIns="0" lIns="0" bIns="0" rIns="0">
            <a:spAutoFit/>
          </a:bodyPr>
          <a:lstStyle/>
          <a:p>
            <a:pPr algn="just" marL="0" indent="0" lvl="0">
              <a:lnSpc>
                <a:spcPts val="1679"/>
              </a:lnSpc>
            </a:pPr>
            <a:r>
              <a:rPr lang="en-US" sz="1199" spc="-29">
                <a:solidFill>
                  <a:srgbClr val="3A58E4"/>
                </a:solidFill>
                <a:latin typeface="Poppins"/>
                <a:ea typeface="Poppins"/>
                <a:cs typeface="Poppins"/>
                <a:sym typeface="Poppins"/>
              </a:rPr>
              <a:t>★ Security &amp; data privacy (JWT, bcrypt)</a:t>
            </a:r>
          </a:p>
          <a:p>
            <a:pPr algn="just" marL="0" indent="0" lvl="0">
              <a:lnSpc>
                <a:spcPts val="1679"/>
              </a:lnSpc>
            </a:pPr>
            <a:r>
              <a:rPr lang="en-US" sz="1199" spc="-29">
                <a:solidFill>
                  <a:srgbClr val="3A58E4"/>
                </a:solidFill>
                <a:latin typeface="Poppins"/>
                <a:ea typeface="Poppins"/>
                <a:cs typeface="Poppins"/>
                <a:sym typeface="Poppins"/>
              </a:rPr>
              <a:t>★ Offline-first capability</a:t>
            </a:r>
          </a:p>
          <a:p>
            <a:pPr algn="just" marL="0" indent="0" lvl="0">
              <a:lnSpc>
                <a:spcPts val="1679"/>
              </a:lnSpc>
            </a:pPr>
            <a:r>
              <a:rPr lang="en-US" sz="1199" spc="-29">
                <a:solidFill>
                  <a:srgbClr val="3A58E4"/>
                </a:solidFill>
                <a:latin typeface="Poppins"/>
                <a:ea typeface="Poppins"/>
                <a:cs typeface="Poppins"/>
                <a:sym typeface="Poppins"/>
              </a:rPr>
              <a:t>★ Battery &amp; data efficiency</a:t>
            </a:r>
          </a:p>
          <a:p>
            <a:pPr algn="just" marL="0" indent="0" lvl="0">
              <a:lnSpc>
                <a:spcPts val="1679"/>
              </a:lnSpc>
            </a:pPr>
            <a:r>
              <a:rPr lang="en-US" sz="1199" spc="-29">
                <a:solidFill>
                  <a:srgbClr val="3A58E4"/>
                </a:solidFill>
                <a:latin typeface="Poppins"/>
                <a:ea typeface="Poppins"/>
                <a:cs typeface="Poppins"/>
                <a:sym typeface="Poppins"/>
              </a:rPr>
              <a:t>★ Scalability &amp; maintainability</a:t>
            </a:r>
          </a:p>
          <a:p>
            <a:pPr algn="just" marL="0" indent="0" lvl="0">
              <a:lnSpc>
                <a:spcPts val="1679"/>
              </a:lnSpc>
            </a:pPr>
            <a:r>
              <a:rPr lang="en-US" sz="1199" spc="-29">
                <a:solidFill>
                  <a:srgbClr val="3A58E4"/>
                </a:solidFill>
                <a:latin typeface="Poppins"/>
                <a:ea typeface="Poppins"/>
                <a:cs typeface="Poppins"/>
                <a:sym typeface="Poppins"/>
              </a:rPr>
              <a:t>★ Responsiveness across devices</a:t>
            </a:r>
          </a:p>
          <a:p>
            <a:pPr algn="just" marL="0" indent="0" lvl="0">
              <a:lnSpc>
                <a:spcPts val="1679"/>
              </a:lnSpc>
            </a:pPr>
            <a:r>
              <a:rPr lang="en-US" sz="1199" spc="-29">
                <a:solidFill>
                  <a:srgbClr val="3A58E4"/>
                </a:solidFill>
                <a:latin typeface="Poppins"/>
                <a:ea typeface="Poppins"/>
                <a:cs typeface="Poppins"/>
                <a:sym typeface="Poppins"/>
              </a:rPr>
              <a:t>★ High performance &amp; reliability</a:t>
            </a:r>
          </a:p>
        </p:txBody>
      </p:sp>
      <p:sp>
        <p:nvSpPr>
          <p:cNvPr name="TextBox 17" id="17"/>
          <p:cNvSpPr txBox="true"/>
          <p:nvPr/>
        </p:nvSpPr>
        <p:spPr>
          <a:xfrm rot="0">
            <a:off x="1870201" y="7788181"/>
            <a:ext cx="7273799" cy="211188"/>
          </a:xfrm>
          <a:prstGeom prst="rect">
            <a:avLst/>
          </a:prstGeom>
        </p:spPr>
        <p:txBody>
          <a:bodyPr anchor="t" rtlCol="false" tIns="0" lIns="0" bIns="0" rIns="0">
            <a:spAutoFit/>
          </a:bodyPr>
          <a:lstStyle/>
          <a:p>
            <a:pPr algn="just" marL="0" indent="0" lvl="0">
              <a:lnSpc>
                <a:spcPts val="1679"/>
              </a:lnSpc>
            </a:pPr>
            <a:r>
              <a:rPr lang="en-US" sz="1199" spc="-29">
                <a:solidFill>
                  <a:srgbClr val="3A58E4"/>
                </a:solidFill>
                <a:latin typeface="Poppins"/>
                <a:ea typeface="Poppins"/>
                <a:cs typeface="Poppins"/>
                <a:sym typeface="Poppins"/>
              </a:rPr>
              <a:t>FUNCTIONAL REQUIREMENTS</a:t>
            </a:r>
          </a:p>
        </p:txBody>
      </p:sp>
      <p:sp>
        <p:nvSpPr>
          <p:cNvPr name="TextBox 18" id="18"/>
          <p:cNvSpPr txBox="true"/>
          <p:nvPr/>
        </p:nvSpPr>
        <p:spPr>
          <a:xfrm rot="0">
            <a:off x="1870201" y="8779473"/>
            <a:ext cx="7273799" cy="211188"/>
          </a:xfrm>
          <a:prstGeom prst="rect">
            <a:avLst/>
          </a:prstGeom>
        </p:spPr>
        <p:txBody>
          <a:bodyPr anchor="t" rtlCol="false" tIns="0" lIns="0" bIns="0" rIns="0">
            <a:spAutoFit/>
          </a:bodyPr>
          <a:lstStyle/>
          <a:p>
            <a:pPr algn="just" marL="0" indent="0" lvl="0">
              <a:lnSpc>
                <a:spcPts val="1679"/>
              </a:lnSpc>
            </a:pPr>
            <a:r>
              <a:rPr lang="en-US" sz="1199" spc="-29">
                <a:solidFill>
                  <a:srgbClr val="3A58E4"/>
                </a:solidFill>
                <a:latin typeface="Poppins"/>
                <a:ea typeface="Poppins"/>
                <a:cs typeface="Poppins"/>
                <a:sym typeface="Poppins"/>
              </a:rPr>
              <a:t>NON-FUNCTIONAL REQUIREMENTS</a:t>
            </a:r>
          </a:p>
        </p:txBody>
      </p:sp>
      <p:sp>
        <p:nvSpPr>
          <p:cNvPr name="Freeform 19" id="19"/>
          <p:cNvSpPr/>
          <p:nvPr/>
        </p:nvSpPr>
        <p:spPr>
          <a:xfrm flipH="false" flipV="false" rot="0">
            <a:off x="1052512" y="5400430"/>
            <a:ext cx="489071" cy="489071"/>
          </a:xfrm>
          <a:custGeom>
            <a:avLst/>
            <a:gdLst/>
            <a:ahLst/>
            <a:cxnLst/>
            <a:rect r="r" b="b" t="t" l="l"/>
            <a:pathLst>
              <a:path h="489071" w="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0" id="20"/>
          <p:cNvSpPr/>
          <p:nvPr/>
        </p:nvSpPr>
        <p:spPr>
          <a:xfrm flipH="false" flipV="false" rot="0">
            <a:off x="1052512" y="6391722"/>
            <a:ext cx="489071" cy="489071"/>
          </a:xfrm>
          <a:custGeom>
            <a:avLst/>
            <a:gdLst/>
            <a:ahLst/>
            <a:cxnLst/>
            <a:rect r="r" b="b" t="t" l="l"/>
            <a:pathLst>
              <a:path h="489071" w="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052512" y="7383013"/>
            <a:ext cx="489071" cy="489071"/>
          </a:xfrm>
          <a:custGeom>
            <a:avLst/>
            <a:gdLst/>
            <a:ahLst/>
            <a:cxnLst/>
            <a:rect r="r" b="b" t="t" l="l"/>
            <a:pathLst>
              <a:path h="489071" w="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2" id="22"/>
          <p:cNvSpPr/>
          <p:nvPr/>
        </p:nvSpPr>
        <p:spPr>
          <a:xfrm flipH="false" flipV="false" rot="0">
            <a:off x="1052512" y="8376909"/>
            <a:ext cx="489071" cy="489071"/>
          </a:xfrm>
          <a:custGeom>
            <a:avLst/>
            <a:gdLst/>
            <a:ahLst/>
            <a:cxnLst/>
            <a:rect r="r" b="b" t="t" l="l"/>
            <a:pathLst>
              <a:path h="489071" w="489071">
                <a:moveTo>
                  <a:pt x="0" y="0"/>
                </a:moveTo>
                <a:lnTo>
                  <a:pt x="489072" y="0"/>
                </a:lnTo>
                <a:lnTo>
                  <a:pt x="489072" y="489072"/>
                </a:lnTo>
                <a:lnTo>
                  <a:pt x="0" y="4890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666284"/>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6438046" y="129"/>
            <a:ext cx="1849954" cy="1848037"/>
            <a:chOff x="0" y="0"/>
            <a:chExt cx="2466605" cy="2464050"/>
          </a:xfrm>
        </p:grpSpPr>
        <p:grpSp>
          <p:nvGrpSpPr>
            <p:cNvPr name="Group 6" id="6"/>
            <p:cNvGrpSpPr/>
            <p:nvPr/>
          </p:nvGrpSpPr>
          <p:grpSpPr>
            <a:xfrm rot="0">
              <a:off x="0" y="0"/>
              <a:ext cx="2466605" cy="2464050"/>
              <a:chOff x="0" y="0"/>
              <a:chExt cx="787566" cy="786750"/>
            </a:xfrm>
          </p:grpSpPr>
          <p:sp>
            <p:nvSpPr>
              <p:cNvPr name="Freeform 7" id="7"/>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8" id="8"/>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9" id="9"/>
            <p:cNvSpPr txBox="true"/>
            <p:nvPr/>
          </p:nvSpPr>
          <p:spPr>
            <a:xfrm rot="0">
              <a:off x="319164" y="694049"/>
              <a:ext cx="1828278" cy="1199777"/>
            </a:xfrm>
            <a:prstGeom prst="rect">
              <a:avLst/>
            </a:prstGeom>
          </p:spPr>
          <p:txBody>
            <a:bodyPr anchor="t" rtlCol="false" tIns="0" lIns="0" bIns="0" rIns="0">
              <a:spAutoFit/>
            </a:bodyPr>
            <a:lstStyle/>
            <a:p>
              <a:pPr algn="ctr" marL="0" indent="0" lvl="0">
                <a:lnSpc>
                  <a:spcPts val="6421"/>
                </a:lnSpc>
              </a:pPr>
              <a:r>
                <a:rPr lang="en-US" sz="6552" spc="-419">
                  <a:solidFill>
                    <a:srgbClr val="FFFFFF"/>
                  </a:solidFill>
                  <a:latin typeface="Bricolage Grotesque"/>
                  <a:ea typeface="Bricolage Grotesque"/>
                  <a:cs typeface="Bricolage Grotesque"/>
                  <a:sym typeface="Bricolage Grotesque"/>
                </a:rPr>
                <a:t>10</a:t>
              </a:r>
            </a:p>
          </p:txBody>
        </p:sp>
      </p:grpSp>
      <p:sp>
        <p:nvSpPr>
          <p:cNvPr name="Freeform 10" id="10"/>
          <p:cNvSpPr/>
          <p:nvPr/>
        </p:nvSpPr>
        <p:spPr>
          <a:xfrm flipH="false" flipV="false" rot="0">
            <a:off x="9258191" y="1844436"/>
            <a:ext cx="8143514" cy="9073553"/>
          </a:xfrm>
          <a:custGeom>
            <a:avLst/>
            <a:gdLst/>
            <a:ahLst/>
            <a:cxnLst/>
            <a:rect r="r" b="b" t="t" l="l"/>
            <a:pathLst>
              <a:path h="9073553" w="8143514">
                <a:moveTo>
                  <a:pt x="0" y="0"/>
                </a:moveTo>
                <a:lnTo>
                  <a:pt x="8143514" y="0"/>
                </a:lnTo>
                <a:lnTo>
                  <a:pt x="8143514" y="9073553"/>
                </a:lnTo>
                <a:lnTo>
                  <a:pt x="0" y="9073553"/>
                </a:lnTo>
                <a:lnTo>
                  <a:pt x="0" y="0"/>
                </a:lnTo>
                <a:close/>
              </a:path>
            </a:pathLst>
          </a:custGeom>
          <a:blipFill>
            <a:blip r:embed="rId2"/>
            <a:stretch>
              <a:fillRect l="0" t="0" r="0" b="0"/>
            </a:stretch>
          </a:blipFill>
        </p:spPr>
      </p:sp>
      <p:grpSp>
        <p:nvGrpSpPr>
          <p:cNvPr name="Group 11" id="11"/>
          <p:cNvGrpSpPr/>
          <p:nvPr/>
        </p:nvGrpSpPr>
        <p:grpSpPr>
          <a:xfrm rot="0">
            <a:off x="1028700" y="4407668"/>
            <a:ext cx="6730921" cy="379246"/>
            <a:chOff x="0" y="0"/>
            <a:chExt cx="8974562" cy="505662"/>
          </a:xfrm>
        </p:grpSpPr>
        <p:sp>
          <p:nvSpPr>
            <p:cNvPr name="TextBox 12" id="12"/>
            <p:cNvSpPr txBox="true"/>
            <p:nvPr/>
          </p:nvSpPr>
          <p:spPr>
            <a:xfrm rot="0">
              <a:off x="0" y="-49117"/>
              <a:ext cx="8974562" cy="554779"/>
            </a:xfrm>
            <a:prstGeom prst="rect">
              <a:avLst/>
            </a:prstGeom>
          </p:spPr>
          <p:txBody>
            <a:bodyPr anchor="t" rtlCol="false" tIns="0" lIns="0" bIns="0" rIns="0">
              <a:spAutoFit/>
            </a:bodyPr>
            <a:lstStyle/>
            <a:p>
              <a:pPr algn="l" marL="0" indent="0" lvl="0">
                <a:lnSpc>
                  <a:spcPts val="3316"/>
                </a:lnSpc>
              </a:pPr>
              <a:r>
                <a:rPr lang="en-US" b="true" sz="2368" spc="-59">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SYSTEM ARCHITECTURE &amp; DIAGRAM OVERVIEW</a:t>
              </a:r>
            </a:p>
          </p:txBody>
        </p:sp>
        <p:sp>
          <p:nvSpPr>
            <p:cNvPr name="Freeform 13" id="13"/>
            <p:cNvSpPr/>
            <p:nvPr/>
          </p:nvSpPr>
          <p:spPr>
            <a:xfrm flipH="false" flipV="false" rot="-8687136">
              <a:off x="8443725"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TextBox 14" id="14"/>
          <p:cNvSpPr txBox="true"/>
          <p:nvPr/>
        </p:nvSpPr>
        <p:spPr>
          <a:xfrm rot="0">
            <a:off x="1256766" y="1197264"/>
            <a:ext cx="5412331" cy="2839076"/>
          </a:xfrm>
          <a:prstGeom prst="rect">
            <a:avLst/>
          </a:prstGeom>
        </p:spPr>
        <p:txBody>
          <a:bodyPr anchor="t" rtlCol="false" tIns="0" lIns="0" bIns="0" rIns="0">
            <a:spAutoFit/>
          </a:bodyPr>
          <a:lstStyle/>
          <a:p>
            <a:pPr algn="l" marL="0" indent="0" lvl="0">
              <a:lnSpc>
                <a:spcPts val="7334"/>
              </a:lnSpc>
            </a:pPr>
            <a:r>
              <a:rPr lang="en-US" sz="7484" spc="-478">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System Modelling Overview</a:t>
            </a:r>
          </a:p>
        </p:txBody>
      </p:sp>
      <p:sp>
        <p:nvSpPr>
          <p:cNvPr name="TextBox 15" id="15"/>
          <p:cNvSpPr txBox="true"/>
          <p:nvPr/>
        </p:nvSpPr>
        <p:spPr>
          <a:xfrm rot="0">
            <a:off x="1028700" y="5483836"/>
            <a:ext cx="6570559" cy="3466268"/>
          </a:xfrm>
          <a:prstGeom prst="rect">
            <a:avLst/>
          </a:prstGeom>
        </p:spPr>
        <p:txBody>
          <a:bodyPr anchor="t" rtlCol="false" tIns="0" lIns="0" bIns="0" rIns="0">
            <a:spAutoFit/>
          </a:bodyPr>
          <a:lstStyle/>
          <a:p>
            <a:pPr algn="just" marL="0" indent="0" lvl="0">
              <a:lnSpc>
                <a:spcPts val="2145"/>
              </a:lnSpc>
            </a:pPr>
            <a:r>
              <a:rPr lang="en-US" sz="1532" spc="-4">
                <a:solidFill>
                  <a:srgbClr val="3A58E4"/>
                </a:solidFill>
                <a:latin typeface="Poppins"/>
                <a:ea typeface="Poppins"/>
                <a:cs typeface="Poppins"/>
                <a:sym typeface="Poppins"/>
              </a:rPr>
              <a:t>Three core diagrams define the system architecture of the KILObYTES mobile app:</a:t>
            </a:r>
          </a:p>
          <a:p>
            <a:pPr algn="just" marL="0" indent="0" lvl="0">
              <a:lnSpc>
                <a:spcPts val="2145"/>
              </a:lnSpc>
            </a:pPr>
            <a:r>
              <a:rPr lang="en-US" sz="1532" spc="-4">
                <a:solidFill>
                  <a:srgbClr val="3A58E4"/>
                </a:solidFill>
                <a:latin typeface="Poppins"/>
                <a:ea typeface="Poppins"/>
                <a:cs typeface="Poppins"/>
                <a:sym typeface="Poppins"/>
              </a:rPr>
              <a:t>📌 Context Diagram — Illustrates the system boundary and how the mobile app interacts with external entities: subscribers, network infrastructure, the admin dashboard, and the cloud backend.</a:t>
            </a:r>
          </a:p>
          <a:p>
            <a:pPr algn="just" marL="0" indent="0" lvl="0">
              <a:lnSpc>
                <a:spcPts val="2145"/>
              </a:lnSpc>
            </a:pPr>
            <a:r>
              <a:rPr lang="en-US" sz="1532" spc="-4">
                <a:solidFill>
                  <a:srgbClr val="3A58E4"/>
                </a:solidFill>
                <a:latin typeface="Poppins"/>
                <a:ea typeface="Poppins"/>
                <a:cs typeface="Poppins"/>
                <a:sym typeface="Poppins"/>
              </a:rPr>
              <a:t>🔄 Data Flow Diagram (DFD) — Traces the movement of measurement data from collection on the mobile client, through local SQLite storage, to upload via the REST API, and final storage in MongoDB for admin analysis.</a:t>
            </a:r>
          </a:p>
          <a:p>
            <a:pPr algn="just" marL="0" indent="0" lvl="0">
              <a:lnSpc>
                <a:spcPts val="2145"/>
              </a:lnSpc>
            </a:pPr>
            <a:r>
              <a:rPr lang="en-US" sz="1532" spc="-4">
                <a:solidFill>
                  <a:srgbClr val="3A58E4"/>
                </a:solidFill>
                <a:latin typeface="Poppins"/>
                <a:ea typeface="Poppins"/>
                <a:cs typeface="Poppins"/>
                <a:sym typeface="Poppins"/>
              </a:rPr>
              <a:t>👤 Use Case Diagram — Captures the functional interactions between two primary actors (Subscriber and Admin) and the system, covering registration, data collection, heatmap viewing, background consent, and admin filtering.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492056" y="1525863"/>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8492056" y="4424761"/>
            <a:ext cx="7106119" cy="435134"/>
          </a:xfrm>
          <a:prstGeom prst="rect">
            <a:avLst/>
          </a:prstGeom>
        </p:spPr>
        <p:txBody>
          <a:bodyPr anchor="t" rtlCol="false" tIns="0" lIns="0" bIns="0" rIns="0">
            <a:spAutoFit/>
          </a:bodyPr>
          <a:lstStyle/>
          <a:p>
            <a:pPr algn="l" marL="0" indent="0" lvl="0">
              <a:lnSpc>
                <a:spcPts val="3316"/>
              </a:lnSpc>
            </a:pPr>
            <a:r>
              <a:rPr lang="en-US" b="true" sz="2368" spc="-59">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SYSTEM INTERACTION &amp; STRUCTURE MODELS</a:t>
            </a:r>
          </a:p>
        </p:txBody>
      </p:sp>
      <p:sp>
        <p:nvSpPr>
          <p:cNvPr name="Freeform 6" id="6"/>
          <p:cNvSpPr/>
          <p:nvPr/>
        </p:nvSpPr>
        <p:spPr>
          <a:xfrm flipH="false" flipV="false" rot="-8687136">
            <a:off x="15580115" y="4542838"/>
            <a:ext cx="189150" cy="228643"/>
          </a:xfrm>
          <a:custGeom>
            <a:avLst/>
            <a:gdLst/>
            <a:ahLst/>
            <a:cxnLst/>
            <a:rect r="r" b="b" t="t" l="l"/>
            <a:pathLst>
              <a:path h="228643" w="189150">
                <a:moveTo>
                  <a:pt x="0" y="0"/>
                </a:moveTo>
                <a:lnTo>
                  <a:pt x="189150" y="0"/>
                </a:lnTo>
                <a:lnTo>
                  <a:pt x="189150" y="228644"/>
                </a:lnTo>
                <a:lnTo>
                  <a:pt x="0" y="2286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0" y="0"/>
            <a:ext cx="6352295" cy="10287000"/>
            <a:chOff x="0" y="0"/>
            <a:chExt cx="984137" cy="1593725"/>
          </a:xfrm>
        </p:grpSpPr>
        <p:sp>
          <p:nvSpPr>
            <p:cNvPr name="Freeform 8" id="8"/>
            <p:cNvSpPr/>
            <p:nvPr/>
          </p:nvSpPr>
          <p:spPr>
            <a:xfrm flipH="false" flipV="false" rot="0">
              <a:off x="0" y="0"/>
              <a:ext cx="984137" cy="1593725"/>
            </a:xfrm>
            <a:custGeom>
              <a:avLst/>
              <a:gdLst/>
              <a:ahLst/>
              <a:cxnLst/>
              <a:rect r="r" b="b" t="t" l="l"/>
              <a:pathLst>
                <a:path h="1593725" w="984137">
                  <a:moveTo>
                    <a:pt x="0" y="0"/>
                  </a:moveTo>
                  <a:lnTo>
                    <a:pt x="984137" y="0"/>
                  </a:lnTo>
                  <a:lnTo>
                    <a:pt x="984137" y="1593725"/>
                  </a:lnTo>
                  <a:lnTo>
                    <a:pt x="0" y="1593725"/>
                  </a:lnTo>
                  <a:close/>
                </a:path>
              </a:pathLst>
            </a:custGeom>
            <a:blipFill>
              <a:blip r:embed="rId4"/>
              <a:stretch>
                <a:fillRect l="0" t="-306" r="0" b="-306"/>
              </a:stretch>
            </a:blipFill>
          </p:spPr>
        </p:sp>
      </p:grpSp>
      <p:grpSp>
        <p:nvGrpSpPr>
          <p:cNvPr name="Group 9" id="9"/>
          <p:cNvGrpSpPr/>
          <p:nvPr/>
        </p:nvGrpSpPr>
        <p:grpSpPr>
          <a:xfrm rot="0">
            <a:off x="16438046" y="129"/>
            <a:ext cx="1849954" cy="1848037"/>
            <a:chOff x="0" y="0"/>
            <a:chExt cx="2466605" cy="2464050"/>
          </a:xfrm>
        </p:grpSpPr>
        <p:grpSp>
          <p:nvGrpSpPr>
            <p:cNvPr name="Group 10" id="10"/>
            <p:cNvGrpSpPr/>
            <p:nvPr/>
          </p:nvGrpSpPr>
          <p:grpSpPr>
            <a:xfrm rot="0">
              <a:off x="0" y="0"/>
              <a:ext cx="2466605" cy="2464050"/>
              <a:chOff x="0" y="0"/>
              <a:chExt cx="787566" cy="786750"/>
            </a:xfrm>
          </p:grpSpPr>
          <p:sp>
            <p:nvSpPr>
              <p:cNvPr name="Freeform 11" id="11"/>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2" id="12"/>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319164" y="694049"/>
              <a:ext cx="1828278" cy="1199777"/>
            </a:xfrm>
            <a:prstGeom prst="rect">
              <a:avLst/>
            </a:prstGeom>
          </p:spPr>
          <p:txBody>
            <a:bodyPr anchor="t" rtlCol="false" tIns="0" lIns="0" bIns="0" rIns="0">
              <a:spAutoFit/>
            </a:bodyPr>
            <a:lstStyle/>
            <a:p>
              <a:pPr algn="ctr" marL="0" indent="0" lvl="0">
                <a:lnSpc>
                  <a:spcPts val="6421"/>
                </a:lnSpc>
              </a:pPr>
              <a:r>
                <a:rPr lang="en-US" sz="6552" spc="-419">
                  <a:solidFill>
                    <a:srgbClr val="FFFFFF"/>
                  </a:solidFill>
                  <a:latin typeface="Bricolage Grotesque"/>
                  <a:ea typeface="Bricolage Grotesque"/>
                  <a:cs typeface="Bricolage Grotesque"/>
                  <a:sym typeface="Bricolage Grotesque"/>
                </a:rPr>
                <a:t>11</a:t>
              </a:r>
            </a:p>
          </p:txBody>
        </p:sp>
      </p:grpSp>
      <p:sp>
        <p:nvSpPr>
          <p:cNvPr name="AutoShape 14" id="14"/>
          <p:cNvSpPr/>
          <p:nvPr/>
        </p:nvSpPr>
        <p:spPr>
          <a:xfrm flipH="true">
            <a:off x="6542795" y="0"/>
            <a:ext cx="0" cy="10287000"/>
          </a:xfrm>
          <a:prstGeom prst="line">
            <a:avLst/>
          </a:prstGeom>
          <a:ln cap="rnd" w="19050">
            <a:solidFill>
              <a:srgbClr val="3A58E4"/>
            </a:solidFill>
            <a:prstDash val="solid"/>
            <a:headEnd type="none" len="sm" w="sm"/>
            <a:tailEnd type="none" len="sm" w="sm"/>
          </a:ln>
        </p:spPr>
      </p:sp>
      <p:sp>
        <p:nvSpPr>
          <p:cNvPr name="Freeform 15" id="15"/>
          <p:cNvSpPr/>
          <p:nvPr/>
        </p:nvSpPr>
        <p:spPr>
          <a:xfrm flipH="false" flipV="false" rot="0">
            <a:off x="5177017" y="5870652"/>
            <a:ext cx="2350556" cy="457290"/>
          </a:xfrm>
          <a:custGeom>
            <a:avLst/>
            <a:gdLst/>
            <a:ahLst/>
            <a:cxnLst/>
            <a:rect r="r" b="b" t="t" l="l"/>
            <a:pathLst>
              <a:path h="457290" w="2350556">
                <a:moveTo>
                  <a:pt x="0" y="0"/>
                </a:moveTo>
                <a:lnTo>
                  <a:pt x="2350556" y="0"/>
                </a:lnTo>
                <a:lnTo>
                  <a:pt x="2350556" y="457290"/>
                </a:lnTo>
                <a:lnTo>
                  <a:pt x="0" y="457290"/>
                </a:lnTo>
                <a:lnTo>
                  <a:pt x="0" y="0"/>
                </a:lnTo>
                <a:close/>
              </a:path>
            </a:pathLst>
          </a:custGeom>
          <a:blipFill>
            <a:blip r:embed="rId5"/>
            <a:stretch>
              <a:fillRect l="0" t="0" r="0" b="0"/>
            </a:stretch>
          </a:blipFill>
        </p:spPr>
      </p:sp>
      <p:grpSp>
        <p:nvGrpSpPr>
          <p:cNvPr name="Group 16" id="16"/>
          <p:cNvGrpSpPr/>
          <p:nvPr/>
        </p:nvGrpSpPr>
        <p:grpSpPr>
          <a:xfrm rot="0">
            <a:off x="5262566" y="3959058"/>
            <a:ext cx="2152019" cy="2149322"/>
            <a:chOff x="0" y="0"/>
            <a:chExt cx="567580" cy="566868"/>
          </a:xfrm>
        </p:grpSpPr>
        <p:sp>
          <p:nvSpPr>
            <p:cNvPr name="Freeform 17" id="17"/>
            <p:cNvSpPr/>
            <p:nvPr/>
          </p:nvSpPr>
          <p:spPr>
            <a:xfrm flipH="false" flipV="false" rot="0">
              <a:off x="0" y="0"/>
              <a:ext cx="567580" cy="566868"/>
            </a:xfrm>
            <a:custGeom>
              <a:avLst/>
              <a:gdLst/>
              <a:ahLst/>
              <a:cxnLst/>
              <a:rect r="r" b="b" t="t" l="l"/>
              <a:pathLst>
                <a:path h="566868" w="567580">
                  <a:moveTo>
                    <a:pt x="161888" y="0"/>
                  </a:moveTo>
                  <a:lnTo>
                    <a:pt x="405691" y="0"/>
                  </a:lnTo>
                  <a:cubicBezTo>
                    <a:pt x="495100" y="0"/>
                    <a:pt x="567580" y="72480"/>
                    <a:pt x="567580" y="161888"/>
                  </a:cubicBezTo>
                  <a:lnTo>
                    <a:pt x="567580" y="404980"/>
                  </a:lnTo>
                  <a:cubicBezTo>
                    <a:pt x="567580" y="494389"/>
                    <a:pt x="495100" y="566868"/>
                    <a:pt x="405691" y="566868"/>
                  </a:cubicBezTo>
                  <a:lnTo>
                    <a:pt x="161888" y="566868"/>
                  </a:lnTo>
                  <a:cubicBezTo>
                    <a:pt x="72480" y="566868"/>
                    <a:pt x="0" y="494389"/>
                    <a:pt x="0" y="404980"/>
                  </a:cubicBezTo>
                  <a:lnTo>
                    <a:pt x="0" y="161888"/>
                  </a:lnTo>
                  <a:cubicBezTo>
                    <a:pt x="0" y="72480"/>
                    <a:pt x="72480" y="0"/>
                    <a:pt x="161888"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rnd">
              <a:noFill/>
              <a:prstDash val="solid"/>
              <a:round/>
            </a:ln>
          </p:spPr>
        </p:sp>
        <p:sp>
          <p:nvSpPr>
            <p:cNvPr name="TextBox 18" id="18"/>
            <p:cNvSpPr txBox="true"/>
            <p:nvPr/>
          </p:nvSpPr>
          <p:spPr>
            <a:xfrm>
              <a:off x="0" y="28575"/>
              <a:ext cx="567580" cy="538293"/>
            </a:xfrm>
            <a:prstGeom prst="rect">
              <a:avLst/>
            </a:prstGeom>
          </p:spPr>
          <p:txBody>
            <a:bodyPr anchor="ctr" rtlCol="false" tIns="48445" lIns="48445" bIns="48445" rIns="48445"/>
            <a:lstStyle/>
            <a:p>
              <a:pPr algn="ctr" marL="0" indent="0" lvl="0">
                <a:lnSpc>
                  <a:spcPts val="2460"/>
                </a:lnSpc>
              </a:pPr>
            </a:p>
          </p:txBody>
        </p:sp>
      </p:grpSp>
      <p:sp>
        <p:nvSpPr>
          <p:cNvPr name="TextBox 19" id="19"/>
          <p:cNvSpPr txBox="true"/>
          <p:nvPr/>
        </p:nvSpPr>
        <p:spPr>
          <a:xfrm rot="0">
            <a:off x="5602320" y="4444821"/>
            <a:ext cx="1499950" cy="486039"/>
          </a:xfrm>
          <a:prstGeom prst="rect">
            <a:avLst/>
          </a:prstGeom>
        </p:spPr>
        <p:txBody>
          <a:bodyPr anchor="t" rtlCol="false" tIns="0" lIns="0" bIns="0" rIns="0">
            <a:spAutoFit/>
          </a:bodyPr>
          <a:lstStyle/>
          <a:p>
            <a:pPr algn="ctr" marL="0" indent="0" lvl="0">
              <a:lnSpc>
                <a:spcPts val="3674"/>
              </a:lnSpc>
            </a:pPr>
            <a:r>
              <a:rPr lang="en-US" b="true" sz="3711" spc="-111">
                <a:solidFill>
                  <a:srgbClr val="FFFFFF"/>
                </a:solidFill>
                <a:latin typeface="Bricolage Grotesque Bold"/>
                <a:ea typeface="Bricolage Grotesque Bold"/>
                <a:cs typeface="Bricolage Grotesque Bold"/>
                <a:sym typeface="Bricolage Grotesque Bold"/>
              </a:rPr>
              <a:t>11</a:t>
            </a:r>
          </a:p>
        </p:txBody>
      </p:sp>
      <p:sp>
        <p:nvSpPr>
          <p:cNvPr name="TextBox 20" id="20"/>
          <p:cNvSpPr txBox="true"/>
          <p:nvPr/>
        </p:nvSpPr>
        <p:spPr>
          <a:xfrm rot="0">
            <a:off x="5746312" y="5064546"/>
            <a:ext cx="1211966" cy="626745"/>
          </a:xfrm>
          <a:prstGeom prst="rect">
            <a:avLst/>
          </a:prstGeom>
        </p:spPr>
        <p:txBody>
          <a:bodyPr anchor="t" rtlCol="false" tIns="0" lIns="0" bIns="0" rIns="0">
            <a:spAutoFit/>
          </a:bodyPr>
          <a:lstStyle/>
          <a:p>
            <a:pPr algn="ctr" marL="0" indent="0" lvl="0">
              <a:lnSpc>
                <a:spcPts val="1679"/>
              </a:lnSpc>
            </a:pPr>
            <a:r>
              <a:rPr lang="en-US" sz="1199" spc="-29">
                <a:solidFill>
                  <a:srgbClr val="FFFFFF"/>
                </a:solidFill>
                <a:latin typeface="Poppins"/>
                <a:ea typeface="Poppins"/>
                <a:cs typeface="Poppins"/>
                <a:sym typeface="Poppins"/>
              </a:rPr>
              <a:t>STEPS IN MEASUREMENT UPLOAD FLOW</a:t>
            </a:r>
          </a:p>
        </p:txBody>
      </p:sp>
      <p:sp>
        <p:nvSpPr>
          <p:cNvPr name="TextBox 21" id="21"/>
          <p:cNvSpPr txBox="true"/>
          <p:nvPr/>
        </p:nvSpPr>
        <p:spPr>
          <a:xfrm rot="0">
            <a:off x="8720122" y="2064908"/>
            <a:ext cx="5780387" cy="1831011"/>
          </a:xfrm>
          <a:prstGeom prst="rect">
            <a:avLst/>
          </a:prstGeom>
        </p:spPr>
        <p:txBody>
          <a:bodyPr anchor="t" rtlCol="false" tIns="0" lIns="0" bIns="0" rIns="0">
            <a:spAutoFit/>
          </a:bodyPr>
          <a:lstStyle/>
          <a:p>
            <a:pPr algn="l" marL="0" indent="0" lvl="0">
              <a:lnSpc>
                <a:spcPts val="7032"/>
              </a:lnSpc>
            </a:pPr>
            <a:r>
              <a:rPr lang="en-US" sz="7176" spc="-459">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Sequence &amp; Class Diagrams</a:t>
            </a:r>
          </a:p>
        </p:txBody>
      </p:sp>
      <p:sp>
        <p:nvSpPr>
          <p:cNvPr name="TextBox 22" id="22"/>
          <p:cNvSpPr txBox="true"/>
          <p:nvPr/>
        </p:nvSpPr>
        <p:spPr>
          <a:xfrm rot="0">
            <a:off x="8492056" y="5401068"/>
            <a:ext cx="7325824" cy="1574142"/>
          </a:xfrm>
          <a:prstGeom prst="rect">
            <a:avLst/>
          </a:prstGeom>
        </p:spPr>
        <p:txBody>
          <a:bodyPr anchor="t" rtlCol="false" tIns="0" lIns="0" bIns="0" rIns="0">
            <a:spAutoFit/>
          </a:bodyPr>
          <a:lstStyle/>
          <a:p>
            <a:pPr algn="just" marL="0" indent="0" lvl="0">
              <a:lnSpc>
                <a:spcPts val="2486"/>
              </a:lnSpc>
            </a:pPr>
            <a:r>
              <a:rPr lang="en-US" sz="1775" spc="-5">
                <a:solidFill>
                  <a:srgbClr val="3A58E4"/>
                </a:solidFill>
                <a:latin typeface="Poppins"/>
                <a:ea typeface="Poppins"/>
                <a:cs typeface="Poppins"/>
                <a:sym typeface="Poppins"/>
              </a:rPr>
              <a:t>The Sequence Diagram illustrates the 11-step measurement upload flow between the mobile client, local SQLite database, and cloud backend. The Class Diagram defines the core object model with key relationships and responsibilities across all system components.</a:t>
            </a:r>
          </a:p>
        </p:txBody>
      </p:sp>
      <p:sp>
        <p:nvSpPr>
          <p:cNvPr name="TextBox 23" id="23"/>
          <p:cNvSpPr txBox="true"/>
          <p:nvPr/>
        </p:nvSpPr>
        <p:spPr>
          <a:xfrm rot="0">
            <a:off x="8274055" y="-1913367"/>
            <a:ext cx="5481943" cy="11003892"/>
          </a:xfrm>
          <a:prstGeom prst="rect">
            <a:avLst/>
          </a:prstGeom>
        </p:spPr>
        <p:txBody>
          <a:bodyPr anchor="t" rtlCol="false" tIns="0" lIns="0" bIns="0" rIns="0">
            <a:spAutoFit/>
          </a:bodyPr>
          <a:lstStyle/>
          <a:p>
            <a:pPr algn="just" marL="0" indent="0" lvl="0">
              <a:lnSpc>
                <a:spcPts val="2486"/>
              </a:lnSpc>
            </a:pPr>
            <a:r>
              <a:rPr lang="en-US" sz="1775" spc="-5">
                <a:solidFill>
                  <a:srgbClr val="3A58E4"/>
                </a:solidFill>
                <a:latin typeface="Poppins"/>
                <a:ea typeface="Poppins"/>
                <a:cs typeface="Poppins"/>
                <a:sym typeface="Poppins"/>
              </a:rPr>
              <a:t>Sequence Diagram – 11-Step Upload Flow:</a:t>
            </a:r>
          </a:p>
          <a:p>
            <a:pPr algn="just" marL="383417" indent="-191709" lvl="1">
              <a:lnSpc>
                <a:spcPts val="2486"/>
              </a:lnSpc>
              <a:buAutoNum type="arabicPeriod" startAt="1"/>
            </a:pPr>
            <a:r>
              <a:rPr lang="en-US" sz="1775" spc="-5">
                <a:solidFill>
                  <a:srgbClr val="3A58E4"/>
                </a:solidFill>
                <a:latin typeface="Poppins"/>
                <a:ea typeface="Poppins"/>
                <a:cs typeface="Poppins"/>
                <a:sym typeface="Poppins"/>
              </a:rPr>
              <a:t>User triggers measurement collection</a:t>
            </a:r>
          </a:p>
          <a:p>
            <a:pPr algn="just" marL="383417" indent="-191709" lvl="1">
              <a:lnSpc>
                <a:spcPts val="2486"/>
              </a:lnSpc>
              <a:buAutoNum type="arabicPeriod" startAt="1"/>
            </a:pPr>
            <a:r>
              <a:rPr lang="en-US" sz="1775" spc="-5">
                <a:solidFill>
                  <a:srgbClr val="3A58E4"/>
                </a:solidFill>
                <a:latin typeface="Poppins"/>
                <a:ea typeface="Poppins"/>
                <a:cs typeface="Poppins"/>
                <a:sym typeface="Poppins"/>
              </a:rPr>
              <a:t>MetricsService runs QoS probes (ping, jitter, packet loss)</a:t>
            </a:r>
          </a:p>
          <a:p>
            <a:pPr algn="just" marL="383417" indent="-191709" lvl="1">
              <a:lnSpc>
                <a:spcPts val="2486"/>
              </a:lnSpc>
              <a:buAutoNum type="arabicPeriod" startAt="1"/>
            </a:pPr>
            <a:r>
              <a:rPr lang="en-US" sz="1775" spc="-5">
                <a:solidFill>
                  <a:srgbClr val="3A58E4"/>
                </a:solidFill>
                <a:latin typeface="Poppins"/>
                <a:ea typeface="Poppins"/>
                <a:cs typeface="Poppins"/>
                <a:sym typeface="Poppins"/>
              </a:rPr>
              <a:t>MetricsService records download/upload speed</a:t>
            </a:r>
          </a:p>
          <a:p>
            <a:pPr algn="just" marL="383417" indent="-191709" lvl="1">
              <a:lnSpc>
                <a:spcPts val="2486"/>
              </a:lnSpc>
              <a:buAutoNum type="arabicPeriod" startAt="1"/>
            </a:pPr>
            <a:r>
              <a:rPr lang="en-US" sz="1775" spc="-5">
                <a:solidFill>
                  <a:srgbClr val="3A58E4"/>
                </a:solidFill>
                <a:latin typeface="Poppins"/>
                <a:ea typeface="Poppins"/>
                <a:cs typeface="Poppins"/>
                <a:sym typeface="Poppins"/>
              </a:rPr>
              <a:t>User submits subjective QoE ratings (1–5 stars)</a:t>
            </a:r>
          </a:p>
          <a:p>
            <a:pPr algn="just" marL="383417" indent="-191709" lvl="1">
              <a:lnSpc>
                <a:spcPts val="2486"/>
              </a:lnSpc>
              <a:buAutoNum type="arabicPeriod" startAt="1"/>
            </a:pPr>
            <a:r>
              <a:rPr lang="en-US" sz="1775" spc="-5">
                <a:solidFill>
                  <a:srgbClr val="3A58E4"/>
                </a:solidFill>
                <a:latin typeface="Poppins"/>
                <a:ea typeface="Poppins"/>
                <a:cs typeface="Poppins"/>
                <a:sym typeface="Poppins"/>
              </a:rPr>
              <a:t>App captures environmental data (GPS, network type, ISP)</a:t>
            </a:r>
          </a:p>
          <a:p>
            <a:pPr algn="just" marL="383417" indent="-191709" lvl="1">
              <a:lnSpc>
                <a:spcPts val="2486"/>
              </a:lnSpc>
              <a:buAutoNum type="arabicPeriod" startAt="1"/>
            </a:pPr>
            <a:r>
              <a:rPr lang="en-US" sz="1775" spc="-5">
                <a:solidFill>
                  <a:srgbClr val="3A58E4"/>
                </a:solidFill>
                <a:latin typeface="Poppins"/>
                <a:ea typeface="Poppins"/>
                <a:cs typeface="Poppins"/>
                <a:sym typeface="Poppins"/>
              </a:rPr>
              <a:t>DatabaseService saves record locally to SQLite</a:t>
            </a:r>
          </a:p>
          <a:p>
            <a:pPr algn="just" marL="383417" indent="-191709" lvl="1">
              <a:lnSpc>
                <a:spcPts val="2486"/>
              </a:lnSpc>
              <a:buAutoNum type="arabicPeriod" startAt="1"/>
            </a:pPr>
            <a:r>
              <a:rPr lang="en-US" sz="1775" spc="-5">
                <a:solidFill>
                  <a:srgbClr val="3A58E4"/>
                </a:solidFill>
                <a:latin typeface="Poppins"/>
                <a:ea typeface="Poppins"/>
                <a:cs typeface="Poppins"/>
                <a:sym typeface="Poppins"/>
              </a:rPr>
              <a:t>App checks network connectivity status</a:t>
            </a:r>
          </a:p>
          <a:p>
            <a:pPr algn="just" marL="383417" indent="-191709" lvl="1">
              <a:lnSpc>
                <a:spcPts val="2486"/>
              </a:lnSpc>
              <a:buAutoNum type="arabicPeriod" startAt="1"/>
            </a:pPr>
            <a:r>
              <a:rPr lang="en-US" sz="1775" spc="-5">
                <a:solidFill>
                  <a:srgbClr val="3A58E4"/>
                </a:solidFill>
                <a:latin typeface="Poppins"/>
                <a:ea typeface="Poppins"/>
                <a:cs typeface="Poppins"/>
                <a:sym typeface="Poppins"/>
              </a:rPr>
              <a:t>If online: DatabaseService fetches unsynced records</a:t>
            </a:r>
          </a:p>
          <a:p>
            <a:pPr algn="just" marL="383417" indent="-191709" lvl="1">
              <a:lnSpc>
                <a:spcPts val="2486"/>
              </a:lnSpc>
              <a:buAutoNum type="arabicPeriod" startAt="1"/>
            </a:pPr>
            <a:r>
              <a:rPr lang="en-US" sz="1775" spc="-5">
                <a:solidFill>
                  <a:srgbClr val="3A58E4"/>
                </a:solidFill>
                <a:latin typeface="Poppins"/>
                <a:ea typeface="Poppins"/>
                <a:cs typeface="Poppins"/>
                <a:sym typeface="Poppins"/>
              </a:rPr>
              <a:t>App sends bulk upload request to backend API</a:t>
            </a:r>
          </a:p>
          <a:p>
            <a:pPr algn="just" marL="383417" indent="-191709" lvl="1">
              <a:lnSpc>
                <a:spcPts val="2486"/>
              </a:lnSpc>
              <a:buAutoNum type="arabicPeriod" startAt="1"/>
            </a:pPr>
            <a:r>
              <a:rPr lang="en-US" sz="1775" spc="-5">
                <a:solidFill>
                  <a:srgbClr val="3A58E4"/>
                </a:solidFill>
                <a:latin typeface="Poppins"/>
                <a:ea typeface="Poppins"/>
                <a:cs typeface="Poppins"/>
                <a:sym typeface="Poppins"/>
              </a:rPr>
              <a:t>Backend validates JWT and stores to MongoDB</a:t>
            </a:r>
          </a:p>
          <a:p>
            <a:pPr algn="just" marL="383417" indent="-191709" lvl="1">
              <a:lnSpc>
                <a:spcPts val="2486"/>
              </a:lnSpc>
              <a:buAutoNum type="arabicPeriod" startAt="1"/>
            </a:pPr>
            <a:r>
              <a:rPr lang="en-US" sz="1775" spc="-5">
                <a:solidFill>
                  <a:srgbClr val="3A58E4"/>
                </a:solidFill>
                <a:latin typeface="Poppins"/>
                <a:ea typeface="Poppins"/>
                <a:cs typeface="Poppins"/>
                <a:sym typeface="Poppins"/>
              </a:rPr>
              <a:t>DatabaseService marks records as uploaded (flag = true)</a:t>
            </a:r>
          </a:p>
          <a:p>
            <a:pPr algn="just" marL="0" indent="0" lvl="0">
              <a:lnSpc>
                <a:spcPts val="2486"/>
              </a:lnSpc>
            </a:pPr>
            <a:r>
              <a:rPr lang="en-US" sz="1775" spc="-5">
                <a:solidFill>
                  <a:srgbClr val="3A58E4"/>
                </a:solidFill>
                <a:latin typeface="Poppins"/>
                <a:ea typeface="Poppins"/>
                <a:cs typeface="Poppins"/>
                <a:sym typeface="Poppins"/>
              </a:rPr>
              <a:t>Class Diagram – Core Classes:</a:t>
            </a:r>
          </a:p>
          <a:p>
            <a:pPr algn="just" marL="0" indent="0" lvl="0">
              <a:lnSpc>
                <a:spcPts val="2486"/>
              </a:lnSpc>
            </a:pPr>
            <a:r>
              <a:rPr lang="en-US" sz="1775" spc="-5">
                <a:solidFill>
                  <a:srgbClr val="3A58E4"/>
                </a:solidFill>
                <a:latin typeface="Poppins"/>
                <a:ea typeface="Poppins"/>
                <a:cs typeface="Poppins"/>
                <a:sym typeface="Poppins"/>
              </a:rPr>
              <a:t>• User: id, email, passwordHash, language, createdAt</a:t>
            </a:r>
          </a:p>
          <a:p>
            <a:pPr algn="just" marL="0" indent="0" lvl="0">
              <a:lnSpc>
                <a:spcPts val="2486"/>
              </a:lnSpc>
            </a:pPr>
            <a:r>
              <a:rPr lang="en-US" sz="1775" spc="-5">
                <a:solidFill>
                  <a:srgbClr val="3A58E4"/>
                </a:solidFill>
                <a:latin typeface="Poppins"/>
                <a:ea typeface="Poppins"/>
                <a:cs typeface="Poppins"/>
                <a:sym typeface="Poppins"/>
              </a:rPr>
              <a:t>• Measurement: id, userId, latency, jitter, packetLoss, downloadSpeed, uploadSpeed, signalStability, browsingSpeed, streamingQuality, timestamp, uploaded</a:t>
            </a:r>
          </a:p>
          <a:p>
            <a:pPr algn="just" marL="0" indent="0" lvl="0">
              <a:lnSpc>
                <a:spcPts val="2486"/>
              </a:lnSpc>
            </a:pPr>
            <a:r>
              <a:rPr lang="en-US" sz="1775" spc="-5">
                <a:solidFill>
                  <a:srgbClr val="3A58E4"/>
                </a:solidFill>
                <a:latin typeface="Poppins"/>
                <a:ea typeface="Poppins"/>
                <a:cs typeface="Poppins"/>
                <a:sym typeface="Poppins"/>
              </a:rPr>
              <a:t>• NetworkCell: id, measurementId, networkType, connectionStatus, ipAddress, provider, latitude, longitude</a:t>
            </a:r>
          </a:p>
          <a:p>
            <a:pPr algn="just" marL="0" indent="0" lvl="0">
              <a:lnSpc>
                <a:spcPts val="2486"/>
              </a:lnSpc>
            </a:pPr>
            <a:r>
              <a:rPr lang="en-US" sz="1775" spc="-5">
                <a:solidFill>
                  <a:srgbClr val="3A58E4"/>
                </a:solidFill>
                <a:latin typeface="Poppins"/>
                <a:ea typeface="Poppins"/>
                <a:cs typeface="Poppins"/>
                <a:sym typeface="Poppins"/>
              </a:rPr>
              <a:t>• DatabaseService: initDB(), saveMeasurement(), getUnsynced(), markUploaded()</a:t>
            </a:r>
          </a:p>
          <a:p>
            <a:pPr algn="just" marL="0" indent="0" lvl="0">
              <a:lnSpc>
                <a:spcPts val="2486"/>
              </a:lnSpc>
            </a:pPr>
            <a:r>
              <a:rPr lang="en-US" sz="1775" spc="-5">
                <a:solidFill>
                  <a:srgbClr val="3A58E4"/>
                </a:solidFill>
                <a:latin typeface="Poppins"/>
                <a:ea typeface="Poppins"/>
                <a:cs typeface="Poppins"/>
                <a:sym typeface="Poppins"/>
              </a:rPr>
              <a:t>• MetricsService: runPing(), measureJitter(), measurePacketLoss(), measureSpeed()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784141" y="2469815"/>
            <a:ext cx="49740" cy="2131307"/>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8784141" y="5063141"/>
            <a:ext cx="5963604" cy="888792"/>
          </a:xfrm>
          <a:prstGeom prst="rect">
            <a:avLst/>
          </a:prstGeom>
        </p:spPr>
        <p:txBody>
          <a:bodyPr anchor="t" rtlCol="false" tIns="0" lIns="0" bIns="0" rIns="0">
            <a:spAutoFit/>
          </a:bodyPr>
          <a:lstStyle/>
          <a:p>
            <a:pPr algn="l" marL="0" indent="0" lvl="0">
              <a:lnSpc>
                <a:spcPts val="3463"/>
              </a:lnSpc>
            </a:pPr>
            <a:r>
              <a:rPr lang="en-US" b="true" sz="2473" spc="-61">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THREE CORE ENTITIES AND THEIR RELATIONSHIPS</a:t>
            </a:r>
          </a:p>
        </p:txBody>
      </p:sp>
      <p:sp>
        <p:nvSpPr>
          <p:cNvPr name="Freeform 6" id="6"/>
          <p:cNvSpPr/>
          <p:nvPr/>
        </p:nvSpPr>
        <p:spPr>
          <a:xfrm flipH="false" flipV="false" rot="-8687136">
            <a:off x="12136221" y="5582971"/>
            <a:ext cx="142794" cy="184715"/>
          </a:xfrm>
          <a:custGeom>
            <a:avLst/>
            <a:gdLst/>
            <a:ahLst/>
            <a:cxnLst/>
            <a:rect r="r" b="b" t="t" l="l"/>
            <a:pathLst>
              <a:path h="184715" w="142794">
                <a:moveTo>
                  <a:pt x="0" y="0"/>
                </a:moveTo>
                <a:lnTo>
                  <a:pt x="142794" y="0"/>
                </a:lnTo>
                <a:lnTo>
                  <a:pt x="142794" y="184716"/>
                </a:lnTo>
                <a:lnTo>
                  <a:pt x="0" y="184716"/>
                </a:lnTo>
                <a:lnTo>
                  <a:pt x="0" y="0"/>
                </a:lnTo>
                <a:close/>
              </a:path>
            </a:pathLst>
          </a:custGeom>
          <a:blipFill>
            <a:blip r:embed="rId2"/>
            <a:stretch>
              <a:fillRect l="0" t="0" r="0" b="0"/>
            </a:stretch>
          </a:blipFill>
        </p:spPr>
      </p:sp>
      <p:grpSp>
        <p:nvGrpSpPr>
          <p:cNvPr name="Group 7" id="7"/>
          <p:cNvGrpSpPr/>
          <p:nvPr/>
        </p:nvGrpSpPr>
        <p:grpSpPr>
          <a:xfrm rot="0">
            <a:off x="16438046" y="129"/>
            <a:ext cx="1849954" cy="1848037"/>
            <a:chOff x="0" y="0"/>
            <a:chExt cx="2466605" cy="2464050"/>
          </a:xfrm>
        </p:grpSpPr>
        <p:grpSp>
          <p:nvGrpSpPr>
            <p:cNvPr name="Group 8" id="8"/>
            <p:cNvGrpSpPr/>
            <p:nvPr/>
          </p:nvGrpSpPr>
          <p:grpSpPr>
            <a:xfrm rot="0">
              <a:off x="0" y="0"/>
              <a:ext cx="2466605" cy="2464050"/>
              <a:chOff x="0" y="0"/>
              <a:chExt cx="787566" cy="786750"/>
            </a:xfrm>
          </p:grpSpPr>
          <p:sp>
            <p:nvSpPr>
              <p:cNvPr name="Freeform 9" id="9"/>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0" id="10"/>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1" id="11"/>
            <p:cNvSpPr txBox="true"/>
            <p:nvPr/>
          </p:nvSpPr>
          <p:spPr>
            <a:xfrm rot="0">
              <a:off x="319164" y="694049"/>
              <a:ext cx="1828278" cy="1199777"/>
            </a:xfrm>
            <a:prstGeom prst="rect">
              <a:avLst/>
            </a:prstGeom>
          </p:spPr>
          <p:txBody>
            <a:bodyPr anchor="t" rtlCol="false" tIns="0" lIns="0" bIns="0" rIns="0">
              <a:spAutoFit/>
            </a:bodyPr>
            <a:lstStyle/>
            <a:p>
              <a:pPr algn="ctr" marL="0" indent="0" lvl="0">
                <a:lnSpc>
                  <a:spcPts val="6421"/>
                </a:lnSpc>
              </a:pPr>
              <a:r>
                <a:rPr lang="en-US" sz="6552" spc="-419">
                  <a:solidFill>
                    <a:srgbClr val="FFFFFF"/>
                  </a:solidFill>
                  <a:latin typeface="Bricolage Grotesque"/>
                  <a:ea typeface="Bricolage Grotesque"/>
                  <a:cs typeface="Bricolage Grotesque"/>
                  <a:sym typeface="Bricolage Grotesque"/>
                </a:rPr>
                <a:t>12</a:t>
              </a:r>
            </a:p>
          </p:txBody>
        </p:sp>
      </p:grpSp>
      <p:sp>
        <p:nvSpPr>
          <p:cNvPr name="Freeform 12" id="12"/>
          <p:cNvSpPr/>
          <p:nvPr/>
        </p:nvSpPr>
        <p:spPr>
          <a:xfrm flipH="false" flipV="false" rot="0">
            <a:off x="-1459398" y="2368602"/>
            <a:ext cx="12273781" cy="5676624"/>
          </a:xfrm>
          <a:custGeom>
            <a:avLst/>
            <a:gdLst/>
            <a:ahLst/>
            <a:cxnLst/>
            <a:rect r="r" b="b" t="t" l="l"/>
            <a:pathLst>
              <a:path h="5676624" w="12273781">
                <a:moveTo>
                  <a:pt x="0" y="0"/>
                </a:moveTo>
                <a:lnTo>
                  <a:pt x="12273781" y="0"/>
                </a:lnTo>
                <a:lnTo>
                  <a:pt x="12273781" y="5676624"/>
                </a:lnTo>
                <a:lnTo>
                  <a:pt x="0" y="5676624"/>
                </a:lnTo>
                <a:lnTo>
                  <a:pt x="0" y="0"/>
                </a:lnTo>
                <a:close/>
              </a:path>
            </a:pathLst>
          </a:custGeom>
          <a:blipFill>
            <a:blip r:embed="rId3"/>
            <a:stretch>
              <a:fillRect l="0" t="0" r="0" b="0"/>
            </a:stretch>
          </a:blipFill>
        </p:spPr>
      </p:sp>
      <p:sp>
        <p:nvSpPr>
          <p:cNvPr name="TextBox 13" id="13"/>
          <p:cNvSpPr txBox="true"/>
          <p:nvPr/>
        </p:nvSpPr>
        <p:spPr>
          <a:xfrm rot="0">
            <a:off x="9022336" y="2590881"/>
            <a:ext cx="6037131" cy="2354260"/>
          </a:xfrm>
          <a:prstGeom prst="rect">
            <a:avLst/>
          </a:prstGeom>
        </p:spPr>
        <p:txBody>
          <a:bodyPr anchor="t" rtlCol="false" tIns="0" lIns="0" bIns="0" rIns="0">
            <a:spAutoFit/>
          </a:bodyPr>
          <a:lstStyle/>
          <a:p>
            <a:pPr algn="l" marL="0" indent="0" lvl="0">
              <a:lnSpc>
                <a:spcPts val="9025"/>
              </a:lnSpc>
            </a:pPr>
            <a:r>
              <a:rPr lang="en-US" sz="9209" spc="-589">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Database Design - ERD</a:t>
            </a:r>
          </a:p>
        </p:txBody>
      </p:sp>
      <p:sp>
        <p:nvSpPr>
          <p:cNvPr name="TextBox 14" id="14"/>
          <p:cNvSpPr txBox="true"/>
          <p:nvPr/>
        </p:nvSpPr>
        <p:spPr>
          <a:xfrm rot="0">
            <a:off x="8784141" y="6784149"/>
            <a:ext cx="7651211" cy="1377053"/>
          </a:xfrm>
          <a:prstGeom prst="rect">
            <a:avLst/>
          </a:prstGeom>
        </p:spPr>
        <p:txBody>
          <a:bodyPr anchor="t" rtlCol="false" tIns="0" lIns="0" bIns="0" rIns="0">
            <a:spAutoFit/>
          </a:bodyPr>
          <a:lstStyle/>
          <a:p>
            <a:pPr algn="just" marL="0" indent="0" lvl="0">
              <a:lnSpc>
                <a:spcPts val="1867"/>
              </a:lnSpc>
            </a:pPr>
            <a:r>
              <a:rPr lang="en-US" sz="1333" spc="-4">
                <a:solidFill>
                  <a:srgbClr val="3A58E4"/>
                </a:solidFill>
                <a:latin typeface="Poppins"/>
                <a:ea typeface="Poppins"/>
                <a:cs typeface="Poppins"/>
                <a:sym typeface="Poppins"/>
              </a:rPr>
              <a:t>The database schema is built around three main entities: User (stores account credentials and profile data), Measurement (captures QoS/QoE metrics per session), and NetworkCell (records geospatial and network cell data). Relationships are one-to-many: one User can have many Measurements, and each Measurement is linked to one NetworkCell entry. Geospatial fields (latitude, longitude) use 2dsphere indexing in MongoDB for heatmap queries, while SQLite mirrors the schema locally for offline-first sync.</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438046" y="395901"/>
            <a:ext cx="1849954" cy="1452265"/>
            <a:chOff x="0" y="0"/>
            <a:chExt cx="2466605" cy="1936353"/>
          </a:xfrm>
        </p:grpSpPr>
        <p:grpSp>
          <p:nvGrpSpPr>
            <p:cNvPr name="Group 3" id="3"/>
            <p:cNvGrpSpPr/>
            <p:nvPr/>
          </p:nvGrpSpPr>
          <p:grpSpPr>
            <a:xfrm rot="0">
              <a:off x="0" y="0"/>
              <a:ext cx="2466605" cy="1936353"/>
              <a:chOff x="0" y="0"/>
              <a:chExt cx="787566" cy="618261"/>
            </a:xfrm>
          </p:grpSpPr>
          <p:sp>
            <p:nvSpPr>
              <p:cNvPr name="Freeform 4" id="4"/>
              <p:cNvSpPr/>
              <p:nvPr/>
            </p:nvSpPr>
            <p:spPr>
              <a:xfrm flipH="false" flipV="false" rot="0">
                <a:off x="0" y="0"/>
                <a:ext cx="787566" cy="618261"/>
              </a:xfrm>
              <a:custGeom>
                <a:avLst/>
                <a:gdLst/>
                <a:ahLst/>
                <a:cxnLst/>
                <a:rect r="r" b="b" t="t" l="l"/>
                <a:pathLst>
                  <a:path h="618261" w="787566">
                    <a:moveTo>
                      <a:pt x="0" y="0"/>
                    </a:moveTo>
                    <a:lnTo>
                      <a:pt x="787566" y="0"/>
                    </a:lnTo>
                    <a:lnTo>
                      <a:pt x="787566" y="618261"/>
                    </a:lnTo>
                    <a:lnTo>
                      <a:pt x="0" y="618261"/>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5" id="5"/>
              <p:cNvSpPr txBox="true"/>
              <p:nvPr/>
            </p:nvSpPr>
            <p:spPr>
              <a:xfrm>
                <a:off x="0" y="-38100"/>
                <a:ext cx="787566" cy="65636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319164" y="646424"/>
              <a:ext cx="1828278" cy="719705"/>
            </a:xfrm>
            <a:prstGeom prst="rect">
              <a:avLst/>
            </a:prstGeom>
          </p:spPr>
          <p:txBody>
            <a:bodyPr anchor="t" rtlCol="false" tIns="0" lIns="0" bIns="0" rIns="0">
              <a:spAutoFit/>
            </a:bodyPr>
            <a:lstStyle/>
            <a:p>
              <a:pPr algn="ctr" marL="0" indent="0" lvl="0">
                <a:lnSpc>
                  <a:spcPts val="3898"/>
                </a:lnSpc>
              </a:pPr>
              <a:r>
                <a:rPr lang="en-US" sz="3978" spc="-254">
                  <a:solidFill>
                    <a:srgbClr val="FFFFFF"/>
                  </a:solidFill>
                  <a:latin typeface="Bricolage Grotesque"/>
                  <a:ea typeface="Bricolage Grotesque"/>
                  <a:cs typeface="Bricolage Grotesque"/>
                  <a:sym typeface="Bricolage Grotesque"/>
                </a:rPr>
                <a:t>13</a:t>
              </a:r>
            </a:p>
          </p:txBody>
        </p:sp>
      </p:grpSp>
      <p:sp>
        <p:nvSpPr>
          <p:cNvPr name="TextBox 7" id="7"/>
          <p:cNvSpPr txBox="true"/>
          <p:nvPr/>
        </p:nvSpPr>
        <p:spPr>
          <a:xfrm rot="0">
            <a:off x="9144000" y="5871212"/>
            <a:ext cx="6563388" cy="2911536"/>
          </a:xfrm>
          <a:prstGeom prst="rect">
            <a:avLst/>
          </a:prstGeom>
        </p:spPr>
        <p:txBody>
          <a:bodyPr anchor="t" rtlCol="false" tIns="0" lIns="0" bIns="0" rIns="0">
            <a:spAutoFit/>
          </a:bodyPr>
          <a:lstStyle/>
          <a:p>
            <a:pPr algn="just" marL="0" indent="0" lvl="0">
              <a:lnSpc>
                <a:spcPts val="2147"/>
              </a:lnSpc>
            </a:pPr>
            <a:r>
              <a:rPr lang="en-US" sz="1534" spc="-4">
                <a:solidFill>
                  <a:srgbClr val="3A58E4"/>
                </a:solidFill>
                <a:latin typeface="Poppins"/>
                <a:ea typeface="Poppins"/>
                <a:cs typeface="Poppins"/>
                <a:sym typeface="Poppins"/>
              </a:rPr>
              <a:t>Each measurement session captures four key QoS indicators using automated probing techniques. Latency is measured via multiple ICMP ping probes with the average response time recorded in milliseconds. Jitter quantifies network instability as the standard deviation of successive latency values. Packet Loss is computed as the ratio of failed probes to total probes, expressed as a percentage. Download and Upload Speed are derived by dividing the transferred file size by elapsed time, reported in Mbps. Together, these metrics provide an objective, reproducible snapshot of the subscriber's real-time network quality, enabling meaningful comparisons across locations, times, and operators.</a:t>
            </a:r>
          </a:p>
        </p:txBody>
      </p:sp>
      <p:grpSp>
        <p:nvGrpSpPr>
          <p:cNvPr name="Group 8" id="8"/>
          <p:cNvGrpSpPr/>
          <p:nvPr/>
        </p:nvGrpSpPr>
        <p:grpSpPr>
          <a:xfrm rot="0">
            <a:off x="9144000" y="1783947"/>
            <a:ext cx="40440" cy="1732806"/>
            <a:chOff x="0" y="0"/>
            <a:chExt cx="12543" cy="537460"/>
          </a:xfrm>
        </p:grpSpPr>
        <p:sp>
          <p:nvSpPr>
            <p:cNvPr name="Freeform 9" id="9"/>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10" id="10"/>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9144000" y="4074029"/>
            <a:ext cx="6563388" cy="360869"/>
            <a:chOff x="0" y="0"/>
            <a:chExt cx="8751183" cy="481159"/>
          </a:xfrm>
        </p:grpSpPr>
        <p:sp>
          <p:nvSpPr>
            <p:cNvPr name="TextBox 12" id="12"/>
            <p:cNvSpPr txBox="true"/>
            <p:nvPr/>
          </p:nvSpPr>
          <p:spPr>
            <a:xfrm rot="0">
              <a:off x="0" y="204032"/>
              <a:ext cx="8507297" cy="277127"/>
            </a:xfrm>
            <a:prstGeom prst="rect">
              <a:avLst/>
            </a:prstGeom>
          </p:spPr>
          <p:txBody>
            <a:bodyPr anchor="t" rtlCol="false" tIns="0" lIns="0" bIns="0" rIns="0">
              <a:spAutoFit/>
            </a:bodyPr>
            <a:lstStyle/>
            <a:p>
              <a:pPr algn="just" marL="0" indent="0" lvl="0">
                <a:lnSpc>
                  <a:spcPts val="1709"/>
                </a:lnSpc>
              </a:pPr>
              <a:r>
                <a:rPr lang="en-US" b="true" sz="1221" spc="-30">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CORE NETWORK PERFORMANCE INDICATORS COLLECTED PER MEASUREMENT SESSION</a:t>
              </a:r>
            </a:p>
          </p:txBody>
        </p:sp>
        <p:sp>
          <p:nvSpPr>
            <p:cNvPr name="Freeform 13" id="13"/>
            <p:cNvSpPr/>
            <p:nvPr/>
          </p:nvSpPr>
          <p:spPr>
            <a:xfrm flipH="false" flipV="false" rot="-8687136">
              <a:off x="8481990" y="38058"/>
              <a:ext cx="214153" cy="258866"/>
            </a:xfrm>
            <a:custGeom>
              <a:avLst/>
              <a:gdLst/>
              <a:ahLst/>
              <a:cxnLst/>
              <a:rect r="r" b="b" t="t" l="l"/>
              <a:pathLst>
                <a:path h="258866" w="214153">
                  <a:moveTo>
                    <a:pt x="0" y="0"/>
                  </a:moveTo>
                  <a:lnTo>
                    <a:pt x="214153" y="0"/>
                  </a:lnTo>
                  <a:lnTo>
                    <a:pt x="214153" y="258866"/>
                  </a:lnTo>
                  <a:lnTo>
                    <a:pt x="0" y="2588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14" id="14"/>
          <p:cNvSpPr txBox="true"/>
          <p:nvPr/>
        </p:nvSpPr>
        <p:spPr>
          <a:xfrm rot="0">
            <a:off x="9337659" y="1808095"/>
            <a:ext cx="4908339" cy="1988353"/>
          </a:xfrm>
          <a:prstGeom prst="rect">
            <a:avLst/>
          </a:prstGeom>
        </p:spPr>
        <p:txBody>
          <a:bodyPr anchor="t" rtlCol="false" tIns="0" lIns="0" bIns="0" rIns="0">
            <a:spAutoFit/>
          </a:bodyPr>
          <a:lstStyle/>
          <a:p>
            <a:pPr algn="l" marL="0" indent="0" lvl="0">
              <a:lnSpc>
                <a:spcPts val="5118"/>
              </a:lnSpc>
            </a:pPr>
            <a:r>
              <a:rPr lang="en-US" sz="5222" spc="-334">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How We Measure: Technical QoS Metrics</a:t>
            </a:r>
          </a:p>
        </p:txBody>
      </p:sp>
      <p:grpSp>
        <p:nvGrpSpPr>
          <p:cNvPr name="Group 15" id="15"/>
          <p:cNvGrpSpPr/>
          <p:nvPr/>
        </p:nvGrpSpPr>
        <p:grpSpPr>
          <a:xfrm rot="0">
            <a:off x="1664564" y="1504251"/>
            <a:ext cx="6376039" cy="1593100"/>
            <a:chOff x="0" y="0"/>
            <a:chExt cx="2754311" cy="688185"/>
          </a:xfrm>
        </p:grpSpPr>
        <p:sp>
          <p:nvSpPr>
            <p:cNvPr name="Freeform 16" id="16"/>
            <p:cNvSpPr/>
            <p:nvPr/>
          </p:nvSpPr>
          <p:spPr>
            <a:xfrm flipH="false" flipV="false" rot="0">
              <a:off x="0" y="0"/>
              <a:ext cx="2754311" cy="688185"/>
            </a:xfrm>
            <a:custGeom>
              <a:avLst/>
              <a:gdLst/>
              <a:ahLst/>
              <a:cxnLst/>
              <a:rect r="r" b="b" t="t" l="l"/>
              <a:pathLst>
                <a:path h="688185" w="2754311">
                  <a:moveTo>
                    <a:pt x="52211" y="0"/>
                  </a:moveTo>
                  <a:lnTo>
                    <a:pt x="2702100" y="0"/>
                  </a:lnTo>
                  <a:cubicBezTo>
                    <a:pt x="2715947" y="0"/>
                    <a:pt x="2729227" y="5501"/>
                    <a:pt x="2739019" y="15292"/>
                  </a:cubicBezTo>
                  <a:cubicBezTo>
                    <a:pt x="2748810" y="25084"/>
                    <a:pt x="2754311" y="38364"/>
                    <a:pt x="2754311" y="52211"/>
                  </a:cubicBezTo>
                  <a:lnTo>
                    <a:pt x="2754311" y="635973"/>
                  </a:lnTo>
                  <a:cubicBezTo>
                    <a:pt x="2754311" y="649820"/>
                    <a:pt x="2748810" y="663101"/>
                    <a:pt x="2739019" y="672892"/>
                  </a:cubicBezTo>
                  <a:cubicBezTo>
                    <a:pt x="2729227" y="682684"/>
                    <a:pt x="2715947" y="688185"/>
                    <a:pt x="2702100" y="688185"/>
                  </a:cubicBezTo>
                  <a:lnTo>
                    <a:pt x="52211" y="688185"/>
                  </a:lnTo>
                  <a:cubicBezTo>
                    <a:pt x="38364" y="688185"/>
                    <a:pt x="25084" y="682684"/>
                    <a:pt x="15292" y="672892"/>
                  </a:cubicBezTo>
                  <a:cubicBezTo>
                    <a:pt x="5501" y="663101"/>
                    <a:pt x="0" y="649820"/>
                    <a:pt x="0" y="635973"/>
                  </a:cubicBezTo>
                  <a:lnTo>
                    <a:pt x="0" y="52211"/>
                  </a:lnTo>
                  <a:cubicBezTo>
                    <a:pt x="0" y="38364"/>
                    <a:pt x="5501" y="25084"/>
                    <a:pt x="15292" y="15292"/>
                  </a:cubicBezTo>
                  <a:cubicBezTo>
                    <a:pt x="25084" y="5501"/>
                    <a:pt x="38364" y="0"/>
                    <a:pt x="52211"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7" id="17"/>
            <p:cNvSpPr txBox="true"/>
            <p:nvPr/>
          </p:nvSpPr>
          <p:spPr>
            <a:xfrm>
              <a:off x="0" y="-38100"/>
              <a:ext cx="2754311" cy="726285"/>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18" id="18"/>
          <p:cNvGrpSpPr/>
          <p:nvPr/>
        </p:nvGrpSpPr>
        <p:grpSpPr>
          <a:xfrm rot="0">
            <a:off x="2288087" y="1821243"/>
            <a:ext cx="5128994" cy="820612"/>
            <a:chOff x="0" y="0"/>
            <a:chExt cx="6838659" cy="1094149"/>
          </a:xfrm>
        </p:grpSpPr>
        <p:sp>
          <p:nvSpPr>
            <p:cNvPr name="TextBox 19" id="19"/>
            <p:cNvSpPr txBox="true"/>
            <p:nvPr/>
          </p:nvSpPr>
          <p:spPr>
            <a:xfrm rot="0">
              <a:off x="1589864" y="-57150"/>
              <a:ext cx="4202931" cy="325851"/>
            </a:xfrm>
            <a:prstGeom prst="rect">
              <a:avLst/>
            </a:prstGeom>
          </p:spPr>
          <p:txBody>
            <a:bodyPr anchor="t" rtlCol="false" tIns="0" lIns="0" bIns="0" rIns="0">
              <a:spAutoFit/>
            </a:bodyPr>
            <a:lstStyle/>
            <a:p>
              <a:pPr algn="just" marL="0" indent="0" lvl="0">
                <a:lnSpc>
                  <a:spcPts val="2060"/>
                </a:lnSpc>
              </a:pPr>
              <a:r>
                <a:rPr lang="en-US" b="true" sz="1355">
                  <a:solidFill>
                    <a:srgbClr val="FFFFFF"/>
                  </a:solidFill>
                  <a:latin typeface="Poppins Bold"/>
                  <a:ea typeface="Poppins Bold"/>
                  <a:cs typeface="Poppins Bold"/>
                  <a:sym typeface="Poppins Bold"/>
                </a:rPr>
                <a:t>Latency (Ping)</a:t>
              </a:r>
            </a:p>
          </p:txBody>
        </p:sp>
        <p:sp>
          <p:nvSpPr>
            <p:cNvPr name="TextBox 20" id="20"/>
            <p:cNvSpPr txBox="true"/>
            <p:nvPr/>
          </p:nvSpPr>
          <p:spPr>
            <a:xfrm rot="0">
              <a:off x="1589864" y="544130"/>
              <a:ext cx="5248795" cy="550019"/>
            </a:xfrm>
            <a:prstGeom prst="rect">
              <a:avLst/>
            </a:prstGeom>
          </p:spPr>
          <p:txBody>
            <a:bodyPr anchor="t" rtlCol="false" tIns="0" lIns="0" bIns="0" rIns="0">
              <a:spAutoFit/>
            </a:bodyPr>
            <a:lstStyle/>
            <a:p>
              <a:pPr algn="just" marL="0" indent="0" lvl="0">
                <a:lnSpc>
                  <a:spcPts val="1679"/>
                </a:lnSpc>
              </a:pPr>
              <a:r>
                <a:rPr lang="en-US" sz="1199">
                  <a:solidFill>
                    <a:srgbClr val="FFFFFF"/>
                  </a:solidFill>
                  <a:latin typeface="Poppins"/>
                  <a:ea typeface="Poppins"/>
                  <a:cs typeface="Poppins"/>
                  <a:sym typeface="Poppins"/>
                </a:rPr>
                <a:t>Multiple ICMP probes sent per session; average round-trip time recorded in milliseconds (ms).</a:t>
              </a:r>
            </a:p>
          </p:txBody>
        </p:sp>
        <p:sp>
          <p:nvSpPr>
            <p:cNvPr name="TextBox 21" id="21"/>
            <p:cNvSpPr txBox="true"/>
            <p:nvPr/>
          </p:nvSpPr>
          <p:spPr>
            <a:xfrm rot="0">
              <a:off x="0" y="168565"/>
              <a:ext cx="1165955" cy="581382"/>
            </a:xfrm>
            <a:prstGeom prst="rect">
              <a:avLst/>
            </a:prstGeom>
          </p:spPr>
          <p:txBody>
            <a:bodyPr anchor="t" rtlCol="false" tIns="0" lIns="0" bIns="0" rIns="0">
              <a:spAutoFit/>
            </a:bodyPr>
            <a:lstStyle/>
            <a:p>
              <a:pPr algn="l" marL="0" indent="0" lvl="0">
                <a:lnSpc>
                  <a:spcPts val="2818"/>
                </a:lnSpc>
              </a:pPr>
              <a:r>
                <a:rPr lang="en-US" sz="3132" spc="-93">
                  <a:solidFill>
                    <a:srgbClr val="FFFFFF"/>
                  </a:solidFill>
                  <a:latin typeface="Poppins"/>
                  <a:ea typeface="Poppins"/>
                  <a:cs typeface="Poppins"/>
                  <a:sym typeface="Poppins"/>
                </a:rPr>
                <a:t>01</a:t>
              </a:r>
            </a:p>
          </p:txBody>
        </p:sp>
      </p:grpSp>
      <p:grpSp>
        <p:nvGrpSpPr>
          <p:cNvPr name="Group 22" id="22"/>
          <p:cNvGrpSpPr/>
          <p:nvPr/>
        </p:nvGrpSpPr>
        <p:grpSpPr>
          <a:xfrm rot="0">
            <a:off x="1664564" y="3400724"/>
            <a:ext cx="6376039" cy="1593100"/>
            <a:chOff x="0" y="0"/>
            <a:chExt cx="2754311" cy="688185"/>
          </a:xfrm>
        </p:grpSpPr>
        <p:sp>
          <p:nvSpPr>
            <p:cNvPr name="Freeform 23" id="23"/>
            <p:cNvSpPr/>
            <p:nvPr/>
          </p:nvSpPr>
          <p:spPr>
            <a:xfrm flipH="false" flipV="false" rot="0">
              <a:off x="0" y="0"/>
              <a:ext cx="2754311" cy="688185"/>
            </a:xfrm>
            <a:custGeom>
              <a:avLst/>
              <a:gdLst/>
              <a:ahLst/>
              <a:cxnLst/>
              <a:rect r="r" b="b" t="t" l="l"/>
              <a:pathLst>
                <a:path h="688185" w="2754311">
                  <a:moveTo>
                    <a:pt x="52211" y="0"/>
                  </a:moveTo>
                  <a:lnTo>
                    <a:pt x="2702100" y="0"/>
                  </a:lnTo>
                  <a:cubicBezTo>
                    <a:pt x="2715947" y="0"/>
                    <a:pt x="2729227" y="5501"/>
                    <a:pt x="2739019" y="15292"/>
                  </a:cubicBezTo>
                  <a:cubicBezTo>
                    <a:pt x="2748810" y="25084"/>
                    <a:pt x="2754311" y="38364"/>
                    <a:pt x="2754311" y="52211"/>
                  </a:cubicBezTo>
                  <a:lnTo>
                    <a:pt x="2754311" y="635973"/>
                  </a:lnTo>
                  <a:cubicBezTo>
                    <a:pt x="2754311" y="649820"/>
                    <a:pt x="2748810" y="663101"/>
                    <a:pt x="2739019" y="672892"/>
                  </a:cubicBezTo>
                  <a:cubicBezTo>
                    <a:pt x="2729227" y="682684"/>
                    <a:pt x="2715947" y="688185"/>
                    <a:pt x="2702100" y="688185"/>
                  </a:cubicBezTo>
                  <a:lnTo>
                    <a:pt x="52211" y="688185"/>
                  </a:lnTo>
                  <a:cubicBezTo>
                    <a:pt x="38364" y="688185"/>
                    <a:pt x="25084" y="682684"/>
                    <a:pt x="15292" y="672892"/>
                  </a:cubicBezTo>
                  <a:cubicBezTo>
                    <a:pt x="5501" y="663101"/>
                    <a:pt x="0" y="649820"/>
                    <a:pt x="0" y="635973"/>
                  </a:cubicBezTo>
                  <a:lnTo>
                    <a:pt x="0" y="52211"/>
                  </a:lnTo>
                  <a:cubicBezTo>
                    <a:pt x="0" y="38364"/>
                    <a:pt x="5501" y="25084"/>
                    <a:pt x="15292" y="15292"/>
                  </a:cubicBezTo>
                  <a:cubicBezTo>
                    <a:pt x="25084" y="5501"/>
                    <a:pt x="38364" y="0"/>
                    <a:pt x="52211" y="0"/>
                  </a:cubicBezTo>
                  <a:close/>
                </a:path>
              </a:pathLst>
            </a:custGeom>
            <a:ln w="38100" cap="rnd">
              <a:gradFill>
                <a:gsLst>
                  <a:gs pos="0">
                    <a:srgbClr val="3A58E4">
                      <a:alpha val="100000"/>
                    </a:srgbClr>
                  </a:gs>
                  <a:gs pos="100000">
                    <a:srgbClr val="293E9C">
                      <a:alpha val="100000"/>
                    </a:srgbClr>
                  </a:gs>
                </a:gsLst>
                <a:path path="circle">
                  <a:fillToRect l="0" r="100000" t="0" b="100000"/>
                </a:path>
                <a:tileRect r="0" l="-100000" b="0" t="-100000"/>
              </a:gradFill>
              <a:prstDash val="solid"/>
              <a:round/>
            </a:ln>
          </p:spPr>
        </p:sp>
        <p:sp>
          <p:nvSpPr>
            <p:cNvPr name="TextBox 24" id="24"/>
            <p:cNvSpPr txBox="true"/>
            <p:nvPr/>
          </p:nvSpPr>
          <p:spPr>
            <a:xfrm>
              <a:off x="0" y="-38100"/>
              <a:ext cx="2754311" cy="726285"/>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25" id="25"/>
          <p:cNvGrpSpPr/>
          <p:nvPr/>
        </p:nvGrpSpPr>
        <p:grpSpPr>
          <a:xfrm rot="0">
            <a:off x="2288087" y="3734859"/>
            <a:ext cx="5128994" cy="1027513"/>
            <a:chOff x="0" y="0"/>
            <a:chExt cx="6838659" cy="1370018"/>
          </a:xfrm>
        </p:grpSpPr>
        <p:sp>
          <p:nvSpPr>
            <p:cNvPr name="TextBox 26" id="26"/>
            <p:cNvSpPr txBox="true"/>
            <p:nvPr/>
          </p:nvSpPr>
          <p:spPr>
            <a:xfrm rot="0">
              <a:off x="1589864" y="-57150"/>
              <a:ext cx="4202931" cy="325851"/>
            </a:xfrm>
            <a:prstGeom prst="rect">
              <a:avLst/>
            </a:prstGeom>
          </p:spPr>
          <p:txBody>
            <a:bodyPr anchor="t" rtlCol="false" tIns="0" lIns="0" bIns="0" rIns="0">
              <a:spAutoFit/>
            </a:bodyPr>
            <a:lstStyle/>
            <a:p>
              <a:pPr algn="just" marL="0" indent="0" lvl="0">
                <a:lnSpc>
                  <a:spcPts val="2060"/>
                </a:lnSpc>
              </a:pPr>
              <a:r>
                <a:rPr lang="en-US" b="true" sz="1355">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Jitter</a:t>
              </a:r>
            </a:p>
          </p:txBody>
        </p:sp>
        <p:sp>
          <p:nvSpPr>
            <p:cNvPr name="TextBox 27" id="27"/>
            <p:cNvSpPr txBox="true"/>
            <p:nvPr/>
          </p:nvSpPr>
          <p:spPr>
            <a:xfrm rot="0">
              <a:off x="1589864" y="544130"/>
              <a:ext cx="5248795" cy="825888"/>
            </a:xfrm>
            <a:prstGeom prst="rect">
              <a:avLst/>
            </a:prstGeom>
          </p:spPr>
          <p:txBody>
            <a:bodyPr anchor="t" rtlCol="false" tIns="0" lIns="0" bIns="0" rIns="0">
              <a:spAutoFit/>
            </a:bodyPr>
            <a:lstStyle/>
            <a:p>
              <a:pPr algn="just" marL="0" indent="0" lvl="0">
                <a:lnSpc>
                  <a:spcPts val="1690"/>
                </a:lnSpc>
              </a:pPr>
              <a:r>
                <a:rPr lang="en-US" sz="1207">
                  <a:gradFill>
                    <a:gsLst>
                      <a:gs pos="0">
                        <a:srgbClr val="3A58E4">
                          <a:alpha val="100000"/>
                        </a:srgbClr>
                      </a:gs>
                      <a:gs pos="100000">
                        <a:srgbClr val="293E9C">
                          <a:alpha val="100000"/>
                        </a:srgbClr>
                      </a:gs>
                    </a:gsLst>
                    <a:path path="circle">
                      <a:fillToRect l="0" r="100000" t="0" b="100000"/>
                    </a:path>
                    <a:tileRect r="0" l="-100000" b="0" t="-100000"/>
                  </a:gradFill>
                  <a:latin typeface="Poppins"/>
                  <a:ea typeface="Poppins"/>
                  <a:cs typeface="Poppins"/>
                  <a:sym typeface="Poppins"/>
                </a:rPr>
                <a:t>Standard deviation of successive latency samples; higher jitter indicates unstable network conditions (ms).</a:t>
              </a:r>
            </a:p>
          </p:txBody>
        </p:sp>
        <p:sp>
          <p:nvSpPr>
            <p:cNvPr name="TextBox 28" id="28"/>
            <p:cNvSpPr txBox="true"/>
            <p:nvPr/>
          </p:nvSpPr>
          <p:spPr>
            <a:xfrm rot="0">
              <a:off x="0" y="132399"/>
              <a:ext cx="1165955" cy="581382"/>
            </a:xfrm>
            <a:prstGeom prst="rect">
              <a:avLst/>
            </a:prstGeom>
          </p:spPr>
          <p:txBody>
            <a:bodyPr anchor="t" rtlCol="false" tIns="0" lIns="0" bIns="0" rIns="0">
              <a:spAutoFit/>
            </a:bodyPr>
            <a:lstStyle/>
            <a:p>
              <a:pPr algn="l" marL="0" indent="0" lvl="0">
                <a:lnSpc>
                  <a:spcPts val="2818"/>
                </a:lnSpc>
              </a:pPr>
              <a:r>
                <a:rPr lang="en-US" sz="3132" spc="-93">
                  <a:gradFill>
                    <a:gsLst>
                      <a:gs pos="0">
                        <a:srgbClr val="3A58E4">
                          <a:alpha val="100000"/>
                        </a:srgbClr>
                      </a:gs>
                      <a:gs pos="100000">
                        <a:srgbClr val="293E9C">
                          <a:alpha val="100000"/>
                        </a:srgbClr>
                      </a:gs>
                    </a:gsLst>
                    <a:path path="circle">
                      <a:fillToRect l="0" r="100000" t="0" b="100000"/>
                    </a:path>
                    <a:tileRect r="0" l="-100000" b="0" t="-100000"/>
                  </a:gradFill>
                  <a:latin typeface="Poppins"/>
                  <a:ea typeface="Poppins"/>
                  <a:cs typeface="Poppins"/>
                  <a:sym typeface="Poppins"/>
                </a:rPr>
                <a:t>02</a:t>
              </a:r>
            </a:p>
          </p:txBody>
        </p:sp>
      </p:grpSp>
      <p:grpSp>
        <p:nvGrpSpPr>
          <p:cNvPr name="Group 29" id="29"/>
          <p:cNvGrpSpPr/>
          <p:nvPr/>
        </p:nvGrpSpPr>
        <p:grpSpPr>
          <a:xfrm rot="0">
            <a:off x="1664564" y="5293177"/>
            <a:ext cx="6376039" cy="1593100"/>
            <a:chOff x="0" y="0"/>
            <a:chExt cx="2754311" cy="688185"/>
          </a:xfrm>
        </p:grpSpPr>
        <p:sp>
          <p:nvSpPr>
            <p:cNvPr name="Freeform 30" id="30"/>
            <p:cNvSpPr/>
            <p:nvPr/>
          </p:nvSpPr>
          <p:spPr>
            <a:xfrm flipH="false" flipV="false" rot="0">
              <a:off x="0" y="0"/>
              <a:ext cx="2754311" cy="688185"/>
            </a:xfrm>
            <a:custGeom>
              <a:avLst/>
              <a:gdLst/>
              <a:ahLst/>
              <a:cxnLst/>
              <a:rect r="r" b="b" t="t" l="l"/>
              <a:pathLst>
                <a:path h="688185" w="2754311">
                  <a:moveTo>
                    <a:pt x="52211" y="0"/>
                  </a:moveTo>
                  <a:lnTo>
                    <a:pt x="2702100" y="0"/>
                  </a:lnTo>
                  <a:cubicBezTo>
                    <a:pt x="2715947" y="0"/>
                    <a:pt x="2729227" y="5501"/>
                    <a:pt x="2739019" y="15292"/>
                  </a:cubicBezTo>
                  <a:cubicBezTo>
                    <a:pt x="2748810" y="25084"/>
                    <a:pt x="2754311" y="38364"/>
                    <a:pt x="2754311" y="52211"/>
                  </a:cubicBezTo>
                  <a:lnTo>
                    <a:pt x="2754311" y="635973"/>
                  </a:lnTo>
                  <a:cubicBezTo>
                    <a:pt x="2754311" y="649820"/>
                    <a:pt x="2748810" y="663101"/>
                    <a:pt x="2739019" y="672892"/>
                  </a:cubicBezTo>
                  <a:cubicBezTo>
                    <a:pt x="2729227" y="682684"/>
                    <a:pt x="2715947" y="688185"/>
                    <a:pt x="2702100" y="688185"/>
                  </a:cubicBezTo>
                  <a:lnTo>
                    <a:pt x="52211" y="688185"/>
                  </a:lnTo>
                  <a:cubicBezTo>
                    <a:pt x="38364" y="688185"/>
                    <a:pt x="25084" y="682684"/>
                    <a:pt x="15292" y="672892"/>
                  </a:cubicBezTo>
                  <a:cubicBezTo>
                    <a:pt x="5501" y="663101"/>
                    <a:pt x="0" y="649820"/>
                    <a:pt x="0" y="635973"/>
                  </a:cubicBezTo>
                  <a:lnTo>
                    <a:pt x="0" y="52211"/>
                  </a:lnTo>
                  <a:cubicBezTo>
                    <a:pt x="0" y="38364"/>
                    <a:pt x="5501" y="25084"/>
                    <a:pt x="15292" y="15292"/>
                  </a:cubicBezTo>
                  <a:cubicBezTo>
                    <a:pt x="25084" y="5501"/>
                    <a:pt x="38364" y="0"/>
                    <a:pt x="52211"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31" id="31"/>
            <p:cNvSpPr txBox="true"/>
            <p:nvPr/>
          </p:nvSpPr>
          <p:spPr>
            <a:xfrm>
              <a:off x="0" y="-38100"/>
              <a:ext cx="2754311" cy="726285"/>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32" id="32"/>
          <p:cNvGrpSpPr/>
          <p:nvPr/>
        </p:nvGrpSpPr>
        <p:grpSpPr>
          <a:xfrm rot="0">
            <a:off x="2288087" y="5639303"/>
            <a:ext cx="5128994" cy="820612"/>
            <a:chOff x="0" y="0"/>
            <a:chExt cx="6838659" cy="1094149"/>
          </a:xfrm>
        </p:grpSpPr>
        <p:sp>
          <p:nvSpPr>
            <p:cNvPr name="TextBox 33" id="33"/>
            <p:cNvSpPr txBox="true"/>
            <p:nvPr/>
          </p:nvSpPr>
          <p:spPr>
            <a:xfrm rot="0">
              <a:off x="1589864" y="-57150"/>
              <a:ext cx="4202931" cy="325851"/>
            </a:xfrm>
            <a:prstGeom prst="rect">
              <a:avLst/>
            </a:prstGeom>
          </p:spPr>
          <p:txBody>
            <a:bodyPr anchor="t" rtlCol="false" tIns="0" lIns="0" bIns="0" rIns="0">
              <a:spAutoFit/>
            </a:bodyPr>
            <a:lstStyle/>
            <a:p>
              <a:pPr algn="just" marL="0" indent="0" lvl="0">
                <a:lnSpc>
                  <a:spcPts val="2060"/>
                </a:lnSpc>
              </a:pPr>
              <a:r>
                <a:rPr lang="en-US" b="true" sz="1355">
                  <a:solidFill>
                    <a:srgbClr val="FFFFFF"/>
                  </a:solidFill>
                  <a:latin typeface="Poppins Bold"/>
                  <a:ea typeface="Poppins Bold"/>
                  <a:cs typeface="Poppins Bold"/>
                  <a:sym typeface="Poppins Bold"/>
                </a:rPr>
                <a:t>Packet Loss</a:t>
              </a:r>
            </a:p>
          </p:txBody>
        </p:sp>
        <p:sp>
          <p:nvSpPr>
            <p:cNvPr name="TextBox 34" id="34"/>
            <p:cNvSpPr txBox="true"/>
            <p:nvPr/>
          </p:nvSpPr>
          <p:spPr>
            <a:xfrm rot="0">
              <a:off x="1589864" y="544130"/>
              <a:ext cx="5248795" cy="550019"/>
            </a:xfrm>
            <a:prstGeom prst="rect">
              <a:avLst/>
            </a:prstGeom>
          </p:spPr>
          <p:txBody>
            <a:bodyPr anchor="t" rtlCol="false" tIns="0" lIns="0" bIns="0" rIns="0">
              <a:spAutoFit/>
            </a:bodyPr>
            <a:lstStyle/>
            <a:p>
              <a:pPr algn="just" marL="0" indent="0" lvl="0">
                <a:lnSpc>
                  <a:spcPts val="1679"/>
                </a:lnSpc>
              </a:pPr>
              <a:r>
                <a:rPr lang="en-US" sz="1199">
                  <a:solidFill>
                    <a:srgbClr val="FFFFFF"/>
                  </a:solidFill>
                  <a:latin typeface="Poppins"/>
                  <a:ea typeface="Poppins"/>
                  <a:cs typeface="Poppins"/>
                  <a:sym typeface="Poppins"/>
                </a:rPr>
                <a:t>Calculated as: (Failed Probes ÷ Total Probes) × 100%. Indicates link reliability and congestion level.</a:t>
              </a:r>
            </a:p>
          </p:txBody>
        </p:sp>
        <p:sp>
          <p:nvSpPr>
            <p:cNvPr name="TextBox 35" id="35"/>
            <p:cNvSpPr txBox="true"/>
            <p:nvPr/>
          </p:nvSpPr>
          <p:spPr>
            <a:xfrm rot="0">
              <a:off x="0" y="174625"/>
              <a:ext cx="1165955" cy="581382"/>
            </a:xfrm>
            <a:prstGeom prst="rect">
              <a:avLst/>
            </a:prstGeom>
          </p:spPr>
          <p:txBody>
            <a:bodyPr anchor="t" rtlCol="false" tIns="0" lIns="0" bIns="0" rIns="0">
              <a:spAutoFit/>
            </a:bodyPr>
            <a:lstStyle/>
            <a:p>
              <a:pPr algn="l" marL="0" indent="0" lvl="0">
                <a:lnSpc>
                  <a:spcPts val="2818"/>
                </a:lnSpc>
              </a:pPr>
              <a:r>
                <a:rPr lang="en-US" sz="3132" spc="-93">
                  <a:solidFill>
                    <a:srgbClr val="FFFFFF"/>
                  </a:solidFill>
                  <a:latin typeface="Poppins"/>
                  <a:ea typeface="Poppins"/>
                  <a:cs typeface="Poppins"/>
                  <a:sym typeface="Poppins"/>
                </a:rPr>
                <a:t>03</a:t>
              </a:r>
            </a:p>
          </p:txBody>
        </p:sp>
      </p:grpSp>
      <p:grpSp>
        <p:nvGrpSpPr>
          <p:cNvPr name="Group 36" id="36"/>
          <p:cNvGrpSpPr/>
          <p:nvPr/>
        </p:nvGrpSpPr>
        <p:grpSpPr>
          <a:xfrm rot="0">
            <a:off x="1664564" y="7189649"/>
            <a:ext cx="6376039" cy="1593100"/>
            <a:chOff x="0" y="0"/>
            <a:chExt cx="2754311" cy="688185"/>
          </a:xfrm>
        </p:grpSpPr>
        <p:sp>
          <p:nvSpPr>
            <p:cNvPr name="Freeform 37" id="37"/>
            <p:cNvSpPr/>
            <p:nvPr/>
          </p:nvSpPr>
          <p:spPr>
            <a:xfrm flipH="false" flipV="false" rot="0">
              <a:off x="0" y="0"/>
              <a:ext cx="2754311" cy="688185"/>
            </a:xfrm>
            <a:custGeom>
              <a:avLst/>
              <a:gdLst/>
              <a:ahLst/>
              <a:cxnLst/>
              <a:rect r="r" b="b" t="t" l="l"/>
              <a:pathLst>
                <a:path h="688185" w="2754311">
                  <a:moveTo>
                    <a:pt x="52211" y="0"/>
                  </a:moveTo>
                  <a:lnTo>
                    <a:pt x="2702100" y="0"/>
                  </a:lnTo>
                  <a:cubicBezTo>
                    <a:pt x="2715947" y="0"/>
                    <a:pt x="2729227" y="5501"/>
                    <a:pt x="2739019" y="15292"/>
                  </a:cubicBezTo>
                  <a:cubicBezTo>
                    <a:pt x="2748810" y="25084"/>
                    <a:pt x="2754311" y="38364"/>
                    <a:pt x="2754311" y="52211"/>
                  </a:cubicBezTo>
                  <a:lnTo>
                    <a:pt x="2754311" y="635973"/>
                  </a:lnTo>
                  <a:cubicBezTo>
                    <a:pt x="2754311" y="649820"/>
                    <a:pt x="2748810" y="663101"/>
                    <a:pt x="2739019" y="672892"/>
                  </a:cubicBezTo>
                  <a:cubicBezTo>
                    <a:pt x="2729227" y="682684"/>
                    <a:pt x="2715947" y="688185"/>
                    <a:pt x="2702100" y="688185"/>
                  </a:cubicBezTo>
                  <a:lnTo>
                    <a:pt x="52211" y="688185"/>
                  </a:lnTo>
                  <a:cubicBezTo>
                    <a:pt x="38364" y="688185"/>
                    <a:pt x="25084" y="682684"/>
                    <a:pt x="15292" y="672892"/>
                  </a:cubicBezTo>
                  <a:cubicBezTo>
                    <a:pt x="5501" y="663101"/>
                    <a:pt x="0" y="649820"/>
                    <a:pt x="0" y="635973"/>
                  </a:cubicBezTo>
                  <a:lnTo>
                    <a:pt x="0" y="52211"/>
                  </a:lnTo>
                  <a:cubicBezTo>
                    <a:pt x="0" y="38364"/>
                    <a:pt x="5501" y="25084"/>
                    <a:pt x="15292" y="15292"/>
                  </a:cubicBezTo>
                  <a:cubicBezTo>
                    <a:pt x="25084" y="5501"/>
                    <a:pt x="38364" y="0"/>
                    <a:pt x="52211" y="0"/>
                  </a:cubicBezTo>
                  <a:close/>
                </a:path>
              </a:pathLst>
            </a:custGeom>
            <a:ln w="38100" cap="rnd">
              <a:gradFill>
                <a:gsLst>
                  <a:gs pos="0">
                    <a:srgbClr val="3A58E4">
                      <a:alpha val="100000"/>
                    </a:srgbClr>
                  </a:gs>
                  <a:gs pos="100000">
                    <a:srgbClr val="293E9C">
                      <a:alpha val="100000"/>
                    </a:srgbClr>
                  </a:gs>
                </a:gsLst>
                <a:path path="circle">
                  <a:fillToRect l="0" r="100000" t="0" b="100000"/>
                </a:path>
                <a:tileRect r="0" l="-100000" b="0" t="-100000"/>
              </a:gradFill>
              <a:prstDash val="solid"/>
              <a:round/>
            </a:ln>
          </p:spPr>
        </p:sp>
        <p:sp>
          <p:nvSpPr>
            <p:cNvPr name="TextBox 38" id="38"/>
            <p:cNvSpPr txBox="true"/>
            <p:nvPr/>
          </p:nvSpPr>
          <p:spPr>
            <a:xfrm>
              <a:off x="0" y="-38100"/>
              <a:ext cx="2754311" cy="726285"/>
            </a:xfrm>
            <a:prstGeom prst="rect">
              <a:avLst/>
            </a:prstGeom>
          </p:spPr>
          <p:txBody>
            <a:bodyPr anchor="ctr" rtlCol="false" tIns="33379" lIns="33379" bIns="33379" rIns="33379"/>
            <a:lstStyle/>
            <a:p>
              <a:pPr algn="ctr" marL="0" indent="0" lvl="0">
                <a:lnSpc>
                  <a:spcPts val="2660"/>
                </a:lnSpc>
                <a:spcBef>
                  <a:spcPct val="0"/>
                </a:spcBef>
              </a:pPr>
            </a:p>
          </p:txBody>
        </p:sp>
      </p:grpSp>
      <p:grpSp>
        <p:nvGrpSpPr>
          <p:cNvPr name="Group 39" id="39"/>
          <p:cNvGrpSpPr/>
          <p:nvPr/>
        </p:nvGrpSpPr>
        <p:grpSpPr>
          <a:xfrm rot="0">
            <a:off x="2288087" y="7532526"/>
            <a:ext cx="5128994" cy="820612"/>
            <a:chOff x="0" y="0"/>
            <a:chExt cx="6838659" cy="1094149"/>
          </a:xfrm>
        </p:grpSpPr>
        <p:sp>
          <p:nvSpPr>
            <p:cNvPr name="TextBox 40" id="40"/>
            <p:cNvSpPr txBox="true"/>
            <p:nvPr/>
          </p:nvSpPr>
          <p:spPr>
            <a:xfrm rot="0">
              <a:off x="1589864" y="-57150"/>
              <a:ext cx="4202931" cy="325851"/>
            </a:xfrm>
            <a:prstGeom prst="rect">
              <a:avLst/>
            </a:prstGeom>
          </p:spPr>
          <p:txBody>
            <a:bodyPr anchor="t" rtlCol="false" tIns="0" lIns="0" bIns="0" rIns="0">
              <a:spAutoFit/>
            </a:bodyPr>
            <a:lstStyle/>
            <a:p>
              <a:pPr algn="just" marL="0" indent="0" lvl="0">
                <a:lnSpc>
                  <a:spcPts val="2060"/>
                </a:lnSpc>
              </a:pPr>
              <a:r>
                <a:rPr lang="en-US" b="true" sz="1355">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Download / Upload Speed</a:t>
              </a:r>
            </a:p>
          </p:txBody>
        </p:sp>
        <p:sp>
          <p:nvSpPr>
            <p:cNvPr name="TextBox 41" id="41"/>
            <p:cNvSpPr txBox="true"/>
            <p:nvPr/>
          </p:nvSpPr>
          <p:spPr>
            <a:xfrm rot="0">
              <a:off x="1589864" y="544130"/>
              <a:ext cx="5248795" cy="550019"/>
            </a:xfrm>
            <a:prstGeom prst="rect">
              <a:avLst/>
            </a:prstGeom>
          </p:spPr>
          <p:txBody>
            <a:bodyPr anchor="t" rtlCol="false" tIns="0" lIns="0" bIns="0" rIns="0">
              <a:spAutoFit/>
            </a:bodyPr>
            <a:lstStyle/>
            <a:p>
              <a:pPr algn="just" marL="0" indent="0" lvl="0">
                <a:lnSpc>
                  <a:spcPts val="1679"/>
                </a:lnSpc>
              </a:pPr>
              <a:r>
                <a:rPr lang="en-US" sz="1199">
                  <a:gradFill>
                    <a:gsLst>
                      <a:gs pos="0">
                        <a:srgbClr val="3A58E4">
                          <a:alpha val="100000"/>
                        </a:srgbClr>
                      </a:gs>
                      <a:gs pos="100000">
                        <a:srgbClr val="293E9C">
                          <a:alpha val="100000"/>
                        </a:srgbClr>
                      </a:gs>
                    </a:gsLst>
                    <a:path path="circle">
                      <a:fillToRect l="0" r="100000" t="0" b="100000"/>
                    </a:path>
                    <a:tileRect r="0" l="-100000" b="0" t="-100000"/>
                  </a:gradFill>
                  <a:latin typeface="Poppins"/>
                  <a:ea typeface="Poppins"/>
                  <a:cs typeface="Poppins"/>
                  <a:sym typeface="Poppins"/>
                </a:rPr>
                <a:t>File size divided by transfer time; both directions measured independently and reported in Mbps.</a:t>
              </a:r>
            </a:p>
          </p:txBody>
        </p:sp>
        <p:sp>
          <p:nvSpPr>
            <p:cNvPr name="TextBox 42" id="42"/>
            <p:cNvSpPr txBox="true"/>
            <p:nvPr/>
          </p:nvSpPr>
          <p:spPr>
            <a:xfrm rot="0">
              <a:off x="0" y="138459"/>
              <a:ext cx="1165955" cy="581382"/>
            </a:xfrm>
            <a:prstGeom prst="rect">
              <a:avLst/>
            </a:prstGeom>
          </p:spPr>
          <p:txBody>
            <a:bodyPr anchor="t" rtlCol="false" tIns="0" lIns="0" bIns="0" rIns="0">
              <a:spAutoFit/>
            </a:bodyPr>
            <a:lstStyle/>
            <a:p>
              <a:pPr algn="l" marL="0" indent="0" lvl="0">
                <a:lnSpc>
                  <a:spcPts val="2818"/>
                </a:lnSpc>
              </a:pPr>
              <a:r>
                <a:rPr lang="en-US" sz="3132" spc="-93">
                  <a:gradFill>
                    <a:gsLst>
                      <a:gs pos="0">
                        <a:srgbClr val="3A58E4">
                          <a:alpha val="100000"/>
                        </a:srgbClr>
                      </a:gs>
                      <a:gs pos="100000">
                        <a:srgbClr val="293E9C">
                          <a:alpha val="100000"/>
                        </a:srgbClr>
                      </a:gs>
                    </a:gsLst>
                    <a:path path="circle">
                      <a:fillToRect l="0" r="100000" t="0" b="100000"/>
                    </a:path>
                    <a:tileRect r="0" l="-100000" b="0" t="-100000"/>
                  </a:gradFill>
                  <a:latin typeface="Poppins"/>
                  <a:ea typeface="Poppins"/>
                  <a:cs typeface="Poppins"/>
                  <a:sym typeface="Poppins"/>
                </a:rPr>
                <a:t>04</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938179" cy="10287000"/>
            <a:chOff x="0" y="0"/>
            <a:chExt cx="1827339" cy="2709333"/>
          </a:xfrm>
        </p:grpSpPr>
        <p:sp>
          <p:nvSpPr>
            <p:cNvPr name="Freeform 3" id="3"/>
            <p:cNvSpPr/>
            <p:nvPr/>
          </p:nvSpPr>
          <p:spPr>
            <a:xfrm flipH="false" flipV="false" rot="0">
              <a:off x="0" y="0"/>
              <a:ext cx="1827339" cy="2709333"/>
            </a:xfrm>
            <a:custGeom>
              <a:avLst/>
              <a:gdLst/>
              <a:ahLst/>
              <a:cxnLst/>
              <a:rect r="r" b="b" t="t" l="l"/>
              <a:pathLst>
                <a:path h="2709333" w="1827339">
                  <a:moveTo>
                    <a:pt x="0" y="0"/>
                  </a:moveTo>
                  <a:lnTo>
                    <a:pt x="1827339" y="0"/>
                  </a:lnTo>
                  <a:lnTo>
                    <a:pt x="1827339" y="2709333"/>
                  </a:lnTo>
                  <a:lnTo>
                    <a:pt x="0" y="2709333"/>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4" id="4"/>
            <p:cNvSpPr txBox="true"/>
            <p:nvPr/>
          </p:nvSpPr>
          <p:spPr>
            <a:xfrm>
              <a:off x="0" y="-38100"/>
              <a:ext cx="1827339"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31157663" y="3952828"/>
            <a:ext cx="114837092" cy="1004825"/>
          </a:xfrm>
          <a:custGeom>
            <a:avLst/>
            <a:gdLst/>
            <a:ahLst/>
            <a:cxnLst/>
            <a:rect r="r" b="b" t="t" l="l"/>
            <a:pathLst>
              <a:path h="1004825" w="114837092">
                <a:moveTo>
                  <a:pt x="0" y="0"/>
                </a:moveTo>
                <a:lnTo>
                  <a:pt x="114837092" y="0"/>
                </a:lnTo>
                <a:lnTo>
                  <a:pt x="114837092" y="1004824"/>
                </a:lnTo>
                <a:lnTo>
                  <a:pt x="0" y="1004824"/>
                </a:lnTo>
                <a:lnTo>
                  <a:pt x="0" y="0"/>
                </a:lnTo>
                <a:close/>
              </a:path>
            </a:pathLst>
          </a:custGeom>
          <a:blipFill>
            <a:blip r:embed="rId2"/>
            <a:stretch>
              <a:fillRect l="0" t="0" r="0" b="0"/>
            </a:stretch>
          </a:blipFill>
        </p:spPr>
      </p:sp>
      <p:grpSp>
        <p:nvGrpSpPr>
          <p:cNvPr name="Group 6" id="6"/>
          <p:cNvGrpSpPr/>
          <p:nvPr/>
        </p:nvGrpSpPr>
        <p:grpSpPr>
          <a:xfrm rot="0">
            <a:off x="5459316" y="1438329"/>
            <a:ext cx="2920486" cy="2916826"/>
            <a:chOff x="0" y="0"/>
            <a:chExt cx="567580" cy="566868"/>
          </a:xfrm>
        </p:grpSpPr>
        <p:sp>
          <p:nvSpPr>
            <p:cNvPr name="Freeform 7" id="7"/>
            <p:cNvSpPr/>
            <p:nvPr/>
          </p:nvSpPr>
          <p:spPr>
            <a:xfrm flipH="false" flipV="false" rot="0">
              <a:off x="0" y="0"/>
              <a:ext cx="567580" cy="566868"/>
            </a:xfrm>
            <a:custGeom>
              <a:avLst/>
              <a:gdLst/>
              <a:ahLst/>
              <a:cxnLst/>
              <a:rect r="r" b="b" t="t" l="l"/>
              <a:pathLst>
                <a:path h="566868" w="567580">
                  <a:moveTo>
                    <a:pt x="119291" y="0"/>
                  </a:moveTo>
                  <a:lnTo>
                    <a:pt x="448289" y="0"/>
                  </a:lnTo>
                  <a:cubicBezTo>
                    <a:pt x="514171" y="0"/>
                    <a:pt x="567580" y="53408"/>
                    <a:pt x="567580" y="119291"/>
                  </a:cubicBezTo>
                  <a:lnTo>
                    <a:pt x="567580" y="447578"/>
                  </a:lnTo>
                  <a:cubicBezTo>
                    <a:pt x="567580" y="479216"/>
                    <a:pt x="555012" y="509558"/>
                    <a:pt x="532640" y="531929"/>
                  </a:cubicBezTo>
                  <a:cubicBezTo>
                    <a:pt x="510269" y="554300"/>
                    <a:pt x="479927" y="566868"/>
                    <a:pt x="448289" y="566868"/>
                  </a:cubicBezTo>
                  <a:lnTo>
                    <a:pt x="119291" y="566868"/>
                  </a:lnTo>
                  <a:cubicBezTo>
                    <a:pt x="87653" y="566868"/>
                    <a:pt x="57311" y="554300"/>
                    <a:pt x="34939" y="531929"/>
                  </a:cubicBezTo>
                  <a:cubicBezTo>
                    <a:pt x="12568" y="509558"/>
                    <a:pt x="0" y="479216"/>
                    <a:pt x="0" y="447578"/>
                  </a:cubicBezTo>
                  <a:lnTo>
                    <a:pt x="0" y="119291"/>
                  </a:lnTo>
                  <a:cubicBezTo>
                    <a:pt x="0" y="53408"/>
                    <a:pt x="53408" y="0"/>
                    <a:pt x="119291"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rnd">
              <a:noFill/>
              <a:prstDash val="solid"/>
              <a:round/>
            </a:ln>
          </p:spPr>
        </p:sp>
        <p:sp>
          <p:nvSpPr>
            <p:cNvPr name="TextBox 8" id="8"/>
            <p:cNvSpPr txBox="true"/>
            <p:nvPr/>
          </p:nvSpPr>
          <p:spPr>
            <a:xfrm>
              <a:off x="0" y="28575"/>
              <a:ext cx="567580" cy="538293"/>
            </a:xfrm>
            <a:prstGeom prst="rect">
              <a:avLst/>
            </a:prstGeom>
          </p:spPr>
          <p:txBody>
            <a:bodyPr anchor="ctr" rtlCol="false" tIns="65745" lIns="65745" bIns="65745" rIns="65745"/>
            <a:lstStyle/>
            <a:p>
              <a:pPr algn="ctr" marL="0" indent="0" lvl="0">
                <a:lnSpc>
                  <a:spcPts val="2460"/>
                </a:lnSpc>
              </a:pPr>
            </a:p>
          </p:txBody>
        </p:sp>
      </p:grpSp>
      <p:sp>
        <p:nvSpPr>
          <p:cNvPr name="TextBox 9" id="9"/>
          <p:cNvSpPr txBox="true"/>
          <p:nvPr/>
        </p:nvSpPr>
        <p:spPr>
          <a:xfrm rot="0">
            <a:off x="5708475" y="2199673"/>
            <a:ext cx="2459408" cy="807581"/>
          </a:xfrm>
          <a:prstGeom prst="rect">
            <a:avLst/>
          </a:prstGeom>
        </p:spPr>
        <p:txBody>
          <a:bodyPr anchor="t" rtlCol="false" tIns="0" lIns="0" bIns="0" rIns="0">
            <a:spAutoFit/>
          </a:bodyPr>
          <a:lstStyle/>
          <a:p>
            <a:pPr algn="ctr" marL="0" indent="0" lvl="0">
              <a:lnSpc>
                <a:spcPts val="6024"/>
              </a:lnSpc>
            </a:pPr>
            <a:r>
              <a:rPr lang="en-US" b="true" sz="6085" spc="-182">
                <a:solidFill>
                  <a:srgbClr val="FFFFFF"/>
                </a:solidFill>
                <a:latin typeface="Bricolage Grotesque Bold"/>
                <a:ea typeface="Bricolage Grotesque Bold"/>
                <a:cs typeface="Bricolage Grotesque Bold"/>
                <a:sym typeface="Bricolage Grotesque Bold"/>
              </a:rPr>
              <a:t>1–5</a:t>
            </a:r>
          </a:p>
        </p:txBody>
      </p:sp>
      <p:sp>
        <p:nvSpPr>
          <p:cNvPr name="TextBox 10" id="10"/>
          <p:cNvSpPr txBox="true"/>
          <p:nvPr/>
        </p:nvSpPr>
        <p:spPr>
          <a:xfrm rot="0">
            <a:off x="5940959" y="3437507"/>
            <a:ext cx="1957200" cy="270604"/>
          </a:xfrm>
          <a:prstGeom prst="rect">
            <a:avLst/>
          </a:prstGeom>
        </p:spPr>
        <p:txBody>
          <a:bodyPr anchor="t" rtlCol="false" tIns="0" lIns="0" bIns="0" rIns="0">
            <a:spAutoFit/>
          </a:bodyPr>
          <a:lstStyle/>
          <a:p>
            <a:pPr algn="ctr" marL="0" indent="0" lvl="0">
              <a:lnSpc>
                <a:spcPts val="2146"/>
              </a:lnSpc>
            </a:pPr>
            <a:r>
              <a:rPr lang="en-US" sz="1533" spc="-38">
                <a:solidFill>
                  <a:srgbClr val="FFFFFF"/>
                </a:solidFill>
                <a:latin typeface="Poppins"/>
                <a:ea typeface="Poppins"/>
                <a:cs typeface="Poppins"/>
                <a:sym typeface="Poppins"/>
              </a:rPr>
              <a:t>STAR RATING SCALE</a:t>
            </a:r>
          </a:p>
        </p:txBody>
      </p:sp>
      <p:sp>
        <p:nvSpPr>
          <p:cNvPr name="Freeform 11" id="11"/>
          <p:cNvSpPr/>
          <p:nvPr/>
        </p:nvSpPr>
        <p:spPr>
          <a:xfrm flipH="false" flipV="false" rot="0">
            <a:off x="1009367" y="4127647"/>
            <a:ext cx="1041684" cy="891942"/>
          </a:xfrm>
          <a:custGeom>
            <a:avLst/>
            <a:gdLst/>
            <a:ahLst/>
            <a:cxnLst/>
            <a:rect r="r" b="b" t="t" l="l"/>
            <a:pathLst>
              <a:path h="891942" w="1041684">
                <a:moveTo>
                  <a:pt x="0" y="0"/>
                </a:moveTo>
                <a:lnTo>
                  <a:pt x="1041684" y="0"/>
                </a:lnTo>
                <a:lnTo>
                  <a:pt x="1041684" y="891942"/>
                </a:lnTo>
                <a:lnTo>
                  <a:pt x="0" y="891942"/>
                </a:lnTo>
                <a:lnTo>
                  <a:pt x="0" y="0"/>
                </a:lnTo>
                <a:close/>
              </a:path>
            </a:pathLst>
          </a:custGeom>
          <a:blipFill>
            <a:blip r:embed="rId3"/>
            <a:stretch>
              <a:fillRect l="0" t="0" r="0" b="0"/>
            </a:stretch>
          </a:blipFill>
        </p:spPr>
      </p:sp>
      <p:sp>
        <p:nvSpPr>
          <p:cNvPr name="TextBox 12" id="12"/>
          <p:cNvSpPr txBox="true"/>
          <p:nvPr/>
        </p:nvSpPr>
        <p:spPr>
          <a:xfrm rot="0">
            <a:off x="1028700" y="5613790"/>
            <a:ext cx="4378886" cy="402399"/>
          </a:xfrm>
          <a:prstGeom prst="rect">
            <a:avLst/>
          </a:prstGeom>
        </p:spPr>
        <p:txBody>
          <a:bodyPr anchor="t" rtlCol="false" tIns="0" lIns="0" bIns="0" rIns="0">
            <a:spAutoFit/>
          </a:bodyPr>
          <a:lstStyle/>
          <a:p>
            <a:pPr algn="l" marL="0" indent="0" lvl="0">
              <a:lnSpc>
                <a:spcPts val="3462"/>
              </a:lnSpc>
            </a:pPr>
            <a:r>
              <a:rPr lang="en-US" b="true" sz="1602">
                <a:solidFill>
                  <a:srgbClr val="FFFFFF"/>
                </a:solidFill>
                <a:latin typeface="Poppins Bold"/>
                <a:ea typeface="Poppins Bold"/>
                <a:cs typeface="Poppins Bold"/>
                <a:sym typeface="Poppins Bold"/>
              </a:rPr>
              <a:t>SUBJECTIVE FEEDBACK</a:t>
            </a:r>
          </a:p>
        </p:txBody>
      </p:sp>
      <p:sp>
        <p:nvSpPr>
          <p:cNvPr name="TextBox 13" id="13"/>
          <p:cNvSpPr txBox="true"/>
          <p:nvPr/>
        </p:nvSpPr>
        <p:spPr>
          <a:xfrm rot="0">
            <a:off x="1028700" y="6215346"/>
            <a:ext cx="4378886" cy="426814"/>
          </a:xfrm>
          <a:prstGeom prst="rect">
            <a:avLst/>
          </a:prstGeom>
        </p:spPr>
        <p:txBody>
          <a:bodyPr anchor="t" rtlCol="false" tIns="0" lIns="0" bIns="0" rIns="0">
            <a:spAutoFit/>
          </a:bodyPr>
          <a:lstStyle/>
          <a:p>
            <a:pPr algn="just" marL="0" indent="0" lvl="0">
              <a:lnSpc>
                <a:spcPts val="1663"/>
              </a:lnSpc>
            </a:pPr>
            <a:r>
              <a:rPr lang="en-US" sz="1363">
                <a:solidFill>
                  <a:srgbClr val="FFFFFF"/>
                </a:solidFill>
                <a:latin typeface="Poppins"/>
                <a:ea typeface="Poppins"/>
                <a:cs typeface="Poppins"/>
                <a:sym typeface="Poppins"/>
              </a:rPr>
              <a:t>Users rate their experience on a 1–5 star scale across three key dimensions of network quality.</a:t>
            </a:r>
          </a:p>
        </p:txBody>
      </p:sp>
      <p:grpSp>
        <p:nvGrpSpPr>
          <p:cNvPr name="Group 14" id="14"/>
          <p:cNvGrpSpPr/>
          <p:nvPr/>
        </p:nvGrpSpPr>
        <p:grpSpPr>
          <a:xfrm rot="0">
            <a:off x="1028700" y="7229173"/>
            <a:ext cx="4378886" cy="719537"/>
            <a:chOff x="0" y="0"/>
            <a:chExt cx="5838515" cy="959383"/>
          </a:xfrm>
        </p:grpSpPr>
        <p:sp>
          <p:nvSpPr>
            <p:cNvPr name="TextBox 15" id="15"/>
            <p:cNvSpPr txBox="true"/>
            <p:nvPr/>
          </p:nvSpPr>
          <p:spPr>
            <a:xfrm rot="0">
              <a:off x="0" y="-161925"/>
              <a:ext cx="5838515" cy="482557"/>
            </a:xfrm>
            <a:prstGeom prst="rect">
              <a:avLst/>
            </a:prstGeom>
          </p:spPr>
          <p:txBody>
            <a:bodyPr anchor="t" rtlCol="false" tIns="0" lIns="0" bIns="0" rIns="0">
              <a:spAutoFit/>
            </a:bodyPr>
            <a:lstStyle/>
            <a:p>
              <a:pPr algn="l" marL="0" indent="0" lvl="0">
                <a:lnSpc>
                  <a:spcPts val="3462"/>
                </a:lnSpc>
              </a:pPr>
              <a:r>
                <a:rPr lang="en-US" b="true" sz="1602">
                  <a:solidFill>
                    <a:srgbClr val="FFFFFF"/>
                  </a:solidFill>
                  <a:latin typeface="Poppins Bold"/>
                  <a:ea typeface="Poppins Bold"/>
                  <a:cs typeface="Poppins Bold"/>
                  <a:sym typeface="Poppins Bold"/>
                </a:rPr>
                <a:t>SIGNAL STABILITY</a:t>
              </a:r>
            </a:p>
          </p:txBody>
        </p:sp>
        <p:sp>
          <p:nvSpPr>
            <p:cNvPr name="TextBox 16" id="16"/>
            <p:cNvSpPr txBox="true"/>
            <p:nvPr/>
          </p:nvSpPr>
          <p:spPr>
            <a:xfrm rot="0">
              <a:off x="0" y="396648"/>
              <a:ext cx="5838515" cy="562735"/>
            </a:xfrm>
            <a:prstGeom prst="rect">
              <a:avLst/>
            </a:prstGeom>
          </p:spPr>
          <p:txBody>
            <a:bodyPr anchor="t" rtlCol="false" tIns="0" lIns="0" bIns="0" rIns="0">
              <a:spAutoFit/>
            </a:bodyPr>
            <a:lstStyle/>
            <a:p>
              <a:pPr algn="just" marL="0" indent="0" lvl="0">
                <a:lnSpc>
                  <a:spcPts val="1663"/>
                </a:lnSpc>
              </a:pPr>
              <a:r>
                <a:rPr lang="en-US" sz="1363">
                  <a:solidFill>
                    <a:srgbClr val="FFFFFF"/>
                  </a:solidFill>
                  <a:latin typeface="Poppins"/>
                  <a:ea typeface="Poppins"/>
                  <a:cs typeface="Poppins"/>
                  <a:sym typeface="Poppins"/>
                </a:rPr>
                <a:t>★★★★☆  Rate how stable your signal remains during use (1 = very unstable, 5 = perfectly stable).</a:t>
              </a:r>
            </a:p>
          </p:txBody>
        </p:sp>
      </p:grpSp>
      <p:grpSp>
        <p:nvGrpSpPr>
          <p:cNvPr name="Group 17" id="17"/>
          <p:cNvGrpSpPr/>
          <p:nvPr/>
        </p:nvGrpSpPr>
        <p:grpSpPr>
          <a:xfrm rot="0">
            <a:off x="1028700" y="8538763"/>
            <a:ext cx="4378886" cy="719537"/>
            <a:chOff x="0" y="0"/>
            <a:chExt cx="5838515" cy="959383"/>
          </a:xfrm>
        </p:grpSpPr>
        <p:sp>
          <p:nvSpPr>
            <p:cNvPr name="TextBox 18" id="18"/>
            <p:cNvSpPr txBox="true"/>
            <p:nvPr/>
          </p:nvSpPr>
          <p:spPr>
            <a:xfrm rot="0">
              <a:off x="0" y="-161925"/>
              <a:ext cx="5838515" cy="482557"/>
            </a:xfrm>
            <a:prstGeom prst="rect">
              <a:avLst/>
            </a:prstGeom>
          </p:spPr>
          <p:txBody>
            <a:bodyPr anchor="t" rtlCol="false" tIns="0" lIns="0" bIns="0" rIns="0">
              <a:spAutoFit/>
            </a:bodyPr>
            <a:lstStyle/>
            <a:p>
              <a:pPr algn="l" marL="0" indent="0" lvl="0">
                <a:lnSpc>
                  <a:spcPts val="3462"/>
                </a:lnSpc>
              </a:pPr>
              <a:r>
                <a:rPr lang="en-US" b="true" sz="1602">
                  <a:solidFill>
                    <a:srgbClr val="FFFFFF"/>
                  </a:solidFill>
                  <a:latin typeface="Poppins Bold"/>
                  <a:ea typeface="Poppins Bold"/>
                  <a:cs typeface="Poppins Bold"/>
                  <a:sym typeface="Poppins Bold"/>
                </a:rPr>
                <a:t>BROWSING SPEED</a:t>
              </a:r>
            </a:p>
          </p:txBody>
        </p:sp>
        <p:sp>
          <p:nvSpPr>
            <p:cNvPr name="TextBox 19" id="19"/>
            <p:cNvSpPr txBox="true"/>
            <p:nvPr/>
          </p:nvSpPr>
          <p:spPr>
            <a:xfrm rot="0">
              <a:off x="0" y="396648"/>
              <a:ext cx="5838515" cy="562735"/>
            </a:xfrm>
            <a:prstGeom prst="rect">
              <a:avLst/>
            </a:prstGeom>
          </p:spPr>
          <p:txBody>
            <a:bodyPr anchor="t" rtlCol="false" tIns="0" lIns="0" bIns="0" rIns="0">
              <a:spAutoFit/>
            </a:bodyPr>
            <a:lstStyle/>
            <a:p>
              <a:pPr algn="just" marL="0" indent="0" lvl="0">
                <a:lnSpc>
                  <a:spcPts val="1663"/>
                </a:lnSpc>
              </a:pPr>
              <a:r>
                <a:rPr lang="en-US" sz="1363">
                  <a:solidFill>
                    <a:srgbClr val="FFFFFF"/>
                  </a:solidFill>
                  <a:latin typeface="Poppins"/>
                  <a:ea typeface="Poppins"/>
                  <a:cs typeface="Poppins"/>
                  <a:sym typeface="Poppins"/>
                </a:rPr>
                <a:t>★★★★☆  Rate how fast pages and content load during browsing (1 = very slow, 5 = very fast).</a:t>
              </a:r>
            </a:p>
          </p:txBody>
        </p:sp>
      </p:grpSp>
      <p:grpSp>
        <p:nvGrpSpPr>
          <p:cNvPr name="Group 20" id="20"/>
          <p:cNvGrpSpPr/>
          <p:nvPr/>
        </p:nvGrpSpPr>
        <p:grpSpPr>
          <a:xfrm rot="0">
            <a:off x="9345491" y="1450265"/>
            <a:ext cx="7522404" cy="7477037"/>
            <a:chOff x="0" y="0"/>
            <a:chExt cx="10029872" cy="9969383"/>
          </a:xfrm>
        </p:grpSpPr>
        <p:sp>
          <p:nvSpPr>
            <p:cNvPr name="TextBox 21" id="21"/>
            <p:cNvSpPr txBox="true"/>
            <p:nvPr/>
          </p:nvSpPr>
          <p:spPr>
            <a:xfrm rot="0">
              <a:off x="1033544" y="-57150"/>
              <a:ext cx="7126880" cy="393009"/>
            </a:xfrm>
            <a:prstGeom prst="rect">
              <a:avLst/>
            </a:prstGeom>
          </p:spPr>
          <p:txBody>
            <a:bodyPr anchor="t" rtlCol="false" tIns="0" lIns="0" bIns="0" rIns="0">
              <a:spAutoFit/>
            </a:bodyPr>
            <a:lstStyle/>
            <a:p>
              <a:pPr algn="just" marL="0" indent="0" lvl="0">
                <a:lnSpc>
                  <a:spcPts val="2391"/>
                </a:lnSpc>
              </a:pPr>
              <a:r>
                <a:rPr lang="en-US" b="true" sz="1707" spc="-42">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ENVIRONMENTAL DATA</a:t>
              </a:r>
            </a:p>
          </p:txBody>
        </p:sp>
        <p:sp>
          <p:nvSpPr>
            <p:cNvPr name="TextBox 22" id="22"/>
            <p:cNvSpPr txBox="true"/>
            <p:nvPr/>
          </p:nvSpPr>
          <p:spPr>
            <a:xfrm rot="0">
              <a:off x="1033544" y="1794552"/>
              <a:ext cx="8996329" cy="1090261"/>
            </a:xfrm>
            <a:prstGeom prst="rect">
              <a:avLst/>
            </a:prstGeom>
          </p:spPr>
          <p:txBody>
            <a:bodyPr anchor="t" rtlCol="false" tIns="0" lIns="0" bIns="0" rIns="0">
              <a:spAutoFit/>
            </a:bodyPr>
            <a:lstStyle/>
            <a:p>
              <a:pPr algn="just" marL="0" indent="0" lvl="0">
                <a:lnSpc>
                  <a:spcPts val="2180"/>
                </a:lnSpc>
              </a:pPr>
              <a:r>
                <a:rPr lang="en-US" sz="1557" spc="-38">
                  <a:solidFill>
                    <a:srgbClr val="3A58E4"/>
                  </a:solidFill>
                  <a:latin typeface="Poppins"/>
                  <a:ea typeface="Poppins"/>
                  <a:cs typeface="Poppins"/>
                  <a:sym typeface="Poppins"/>
                </a:rPr>
                <a:t>Streaming Quality</a:t>
              </a:r>
            </a:p>
            <a:p>
              <a:pPr algn="just" marL="0" indent="0" lvl="0">
                <a:lnSpc>
                  <a:spcPts val="2180"/>
                </a:lnSpc>
              </a:pPr>
              <a:r>
                <a:rPr lang="en-US" sz="1557" spc="-38">
                  <a:solidFill>
                    <a:srgbClr val="3A58E4"/>
                  </a:solidFill>
                  <a:latin typeface="Poppins"/>
                  <a:ea typeface="Poppins"/>
                  <a:cs typeface="Poppins"/>
                  <a:sym typeface="Poppins"/>
                </a:rPr>
                <a:t>★★★★☆  Rate the quality of video and audio streaming (1 = very poor, 5 = excellent quality).</a:t>
              </a:r>
            </a:p>
          </p:txBody>
        </p:sp>
        <p:sp>
          <p:nvSpPr>
            <p:cNvPr name="TextBox 23" id="23"/>
            <p:cNvSpPr txBox="true"/>
            <p:nvPr/>
          </p:nvSpPr>
          <p:spPr>
            <a:xfrm rot="0">
              <a:off x="1033544" y="3485135"/>
              <a:ext cx="7126880" cy="393009"/>
            </a:xfrm>
            <a:prstGeom prst="rect">
              <a:avLst/>
            </a:prstGeom>
          </p:spPr>
          <p:txBody>
            <a:bodyPr anchor="t" rtlCol="false" tIns="0" lIns="0" bIns="0" rIns="0">
              <a:spAutoFit/>
            </a:bodyPr>
            <a:lstStyle/>
            <a:p>
              <a:pPr algn="just" marL="0" indent="0" lvl="0">
                <a:lnSpc>
                  <a:spcPts val="2391"/>
                </a:lnSpc>
              </a:pPr>
              <a:r>
                <a:rPr lang="en-US" b="true" sz="1707" spc="-42">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AUTOMATICALLY CAPTURED</a:t>
              </a:r>
            </a:p>
          </p:txBody>
        </p:sp>
        <p:sp>
          <p:nvSpPr>
            <p:cNvPr name="TextBox 24" id="24"/>
            <p:cNvSpPr txBox="true"/>
            <p:nvPr/>
          </p:nvSpPr>
          <p:spPr>
            <a:xfrm rot="0">
              <a:off x="1033544" y="4968537"/>
              <a:ext cx="8996329" cy="1458561"/>
            </a:xfrm>
            <a:prstGeom prst="rect">
              <a:avLst/>
            </a:prstGeom>
          </p:spPr>
          <p:txBody>
            <a:bodyPr anchor="t" rtlCol="false" tIns="0" lIns="0" bIns="0" rIns="0">
              <a:spAutoFit/>
            </a:bodyPr>
            <a:lstStyle/>
            <a:p>
              <a:pPr algn="just" marL="0" indent="0" lvl="0">
                <a:lnSpc>
                  <a:spcPts val="2180"/>
                </a:lnSpc>
              </a:pPr>
              <a:r>
                <a:rPr lang="en-US" sz="1557" spc="-38">
                  <a:solidFill>
                    <a:srgbClr val="3A58E4"/>
                  </a:solidFill>
                  <a:latin typeface="Poppins"/>
                  <a:ea typeface="Poppins"/>
                  <a:cs typeface="Poppins"/>
                  <a:sym typeface="Poppins"/>
                </a:rPr>
                <a:t>📅 Timestamp — Date and time of each measurement session recorded automatically.</a:t>
              </a:r>
            </a:p>
            <a:p>
              <a:pPr algn="just" marL="0" indent="0" lvl="0">
                <a:lnSpc>
                  <a:spcPts val="2180"/>
                </a:lnSpc>
              </a:pPr>
              <a:r>
                <a:rPr lang="en-US" sz="1557" spc="-38">
                  <a:solidFill>
                    <a:srgbClr val="3A58E4"/>
                  </a:solidFill>
                  <a:latin typeface="Poppins"/>
                  <a:ea typeface="Poppins"/>
                  <a:cs typeface="Poppins"/>
                  <a:sym typeface="Poppins"/>
                </a:rPr>
                <a:t>📶 Network Type — Detects current connection: WiFi, 4G LTE, 3G, or 2G.</a:t>
              </a:r>
            </a:p>
            <a:p>
              <a:pPr algn="just" marL="0" indent="0" lvl="0">
                <a:lnSpc>
                  <a:spcPts val="2180"/>
                </a:lnSpc>
              </a:pPr>
              <a:r>
                <a:rPr lang="en-US" sz="1557" spc="-38">
                  <a:solidFill>
                    <a:srgbClr val="3A58E4"/>
                  </a:solidFill>
                  <a:latin typeface="Poppins"/>
                  <a:ea typeface="Poppins"/>
                  <a:cs typeface="Poppins"/>
                  <a:sym typeface="Poppins"/>
                </a:rPr>
                <a:t>🔗 Connection Status — Online or offline state at time of data collection.</a:t>
              </a:r>
            </a:p>
          </p:txBody>
        </p:sp>
        <p:sp>
          <p:nvSpPr>
            <p:cNvPr name="TextBox 25" id="25"/>
            <p:cNvSpPr txBox="true"/>
            <p:nvPr/>
          </p:nvSpPr>
          <p:spPr>
            <a:xfrm rot="0">
              <a:off x="1033544" y="7027419"/>
              <a:ext cx="7126880" cy="393009"/>
            </a:xfrm>
            <a:prstGeom prst="rect">
              <a:avLst/>
            </a:prstGeom>
          </p:spPr>
          <p:txBody>
            <a:bodyPr anchor="t" rtlCol="false" tIns="0" lIns="0" bIns="0" rIns="0">
              <a:spAutoFit/>
            </a:bodyPr>
            <a:lstStyle/>
            <a:p>
              <a:pPr algn="just" marL="0" indent="0" lvl="0">
                <a:lnSpc>
                  <a:spcPts val="2391"/>
                </a:lnSpc>
              </a:pPr>
              <a:r>
                <a:rPr lang="en-US" b="true" sz="1707" spc="-42">
                  <a:gradFill>
                    <a:gsLst>
                      <a:gs pos="0">
                        <a:srgbClr val="293E9C">
                          <a:alpha val="100000"/>
                        </a:srgbClr>
                      </a:gs>
                      <a:gs pos="100000">
                        <a:srgbClr val="3A58E4">
                          <a:alpha val="100000"/>
                        </a:srgbClr>
                      </a:gs>
                    </a:gsLst>
                    <a:path path="circle">
                      <a:fillToRect l="0" r="100000" t="0" b="100000"/>
                    </a:path>
                    <a:tileRect r="0" l="-100000" b="0" t="-100000"/>
                  </a:gradFill>
                  <a:latin typeface="Poppins Bold"/>
                  <a:ea typeface="Poppins Bold"/>
                  <a:cs typeface="Poppins Bold"/>
                  <a:sym typeface="Poppins Bold"/>
                </a:rPr>
                <a:t>LOCATION &amp; IDENTITY</a:t>
              </a:r>
            </a:p>
          </p:txBody>
        </p:sp>
        <p:sp>
          <p:nvSpPr>
            <p:cNvPr name="TextBox 26" id="26"/>
            <p:cNvSpPr txBox="true"/>
            <p:nvPr/>
          </p:nvSpPr>
          <p:spPr>
            <a:xfrm rot="0">
              <a:off x="1033544" y="7037621"/>
              <a:ext cx="8996329" cy="2931761"/>
            </a:xfrm>
            <a:prstGeom prst="rect">
              <a:avLst/>
            </a:prstGeom>
          </p:spPr>
          <p:txBody>
            <a:bodyPr anchor="t" rtlCol="false" tIns="0" lIns="0" bIns="0" rIns="0">
              <a:spAutoFit/>
            </a:bodyPr>
            <a:lstStyle/>
            <a:p>
              <a:pPr algn="just" marL="0" indent="0" lvl="0">
                <a:lnSpc>
                  <a:spcPts val="2180"/>
                </a:lnSpc>
              </a:pPr>
              <a:r>
                <a:rPr lang="en-US" sz="1557" spc="-38">
                  <a:solidFill>
                    <a:srgbClr val="3A58E4"/>
                  </a:solidFill>
                  <a:latin typeface="Poppins"/>
                  <a:ea typeface="Poppins"/>
                  <a:cs typeface="Poppins"/>
                  <a:sym typeface="Poppins"/>
                </a:rPr>
                <a:t>🌐 IP Address — Captured to identify network session and provider context.</a:t>
              </a:r>
            </a:p>
            <a:p>
              <a:pPr algn="just" marL="0" indent="0" lvl="0">
                <a:lnSpc>
                  <a:spcPts val="2180"/>
                </a:lnSpc>
              </a:pPr>
              <a:r>
                <a:rPr lang="en-US" sz="1557" spc="-38">
                  <a:solidFill>
                    <a:srgbClr val="3A58E4"/>
                  </a:solidFill>
                  <a:latin typeface="Poppins"/>
                  <a:ea typeface="Poppins"/>
                  <a:cs typeface="Poppins"/>
                  <a:sym typeface="Poppins"/>
                </a:rPr>
                <a:t>🏢 ISP / Provider — Identifies the subscriber's network operator automatically.</a:t>
              </a:r>
            </a:p>
            <a:p>
              <a:pPr algn="just" marL="0" indent="0" lvl="0">
                <a:lnSpc>
                  <a:spcPts val="2180"/>
                </a:lnSpc>
              </a:pPr>
              <a:r>
                <a:rPr lang="en-US" sz="1557" spc="-38">
                  <a:solidFill>
                    <a:srgbClr val="3A58E4"/>
                  </a:solidFill>
                  <a:latin typeface="Poppins"/>
                  <a:ea typeface="Poppins"/>
                  <a:cs typeface="Poppins"/>
                  <a:sym typeface="Poppins"/>
                </a:rPr>
                <a:t>📍 GPS Location — Precise coordinates via Expo Location API for geospatial mapping.</a:t>
              </a:r>
            </a:p>
            <a:p>
              <a:pPr algn="just" marL="0" indent="0" lvl="0">
                <a:lnSpc>
                  <a:spcPts val="2180"/>
                </a:lnSpc>
              </a:pPr>
              <a:r>
                <a:rPr lang="en-US" sz="1557" spc="-38">
                  <a:solidFill>
                    <a:srgbClr val="3A58E4"/>
                  </a:solidFill>
                  <a:latin typeface="Poppins"/>
                  <a:ea typeface="Poppins"/>
                  <a:cs typeface="Poppins"/>
                  <a:sym typeface="Poppins"/>
                </a:rPr>
                <a:t>🗺️ Reverse Geocoding — Converts GPS coordinates into human-readable address details.</a:t>
              </a:r>
            </a:p>
          </p:txBody>
        </p:sp>
        <p:sp>
          <p:nvSpPr>
            <p:cNvPr name="TextBox 27" id="27"/>
            <p:cNvSpPr txBox="true"/>
            <p:nvPr/>
          </p:nvSpPr>
          <p:spPr>
            <a:xfrm rot="0">
              <a:off x="0" y="1225068"/>
              <a:ext cx="643052" cy="249946"/>
            </a:xfrm>
            <a:prstGeom prst="rect">
              <a:avLst/>
            </a:prstGeom>
          </p:spPr>
          <p:txBody>
            <a:bodyPr anchor="t" rtlCol="false" tIns="0" lIns="0" bIns="0" rIns="0">
              <a:spAutoFit/>
            </a:bodyPr>
            <a:lstStyle/>
            <a:p>
              <a:pPr algn="l" marL="0" indent="0" lvl="0">
                <a:lnSpc>
                  <a:spcPts val="1389"/>
                </a:lnSpc>
              </a:pPr>
              <a:r>
                <a:rPr lang="en-US" sz="1403" spc="-42">
                  <a:solidFill>
                    <a:srgbClr val="3A58E4"/>
                  </a:solidFill>
                  <a:latin typeface="Bricolage Grotesque"/>
                  <a:ea typeface="Bricolage Grotesque"/>
                  <a:cs typeface="Bricolage Grotesque"/>
                  <a:sym typeface="Bricolage Grotesque"/>
                </a:rPr>
                <a:t>01</a:t>
              </a:r>
            </a:p>
          </p:txBody>
        </p:sp>
        <p:sp>
          <p:nvSpPr>
            <p:cNvPr name="TextBox 28" id="28"/>
            <p:cNvSpPr txBox="true"/>
            <p:nvPr/>
          </p:nvSpPr>
          <p:spPr>
            <a:xfrm rot="0">
              <a:off x="0" y="4767352"/>
              <a:ext cx="643052" cy="249946"/>
            </a:xfrm>
            <a:prstGeom prst="rect">
              <a:avLst/>
            </a:prstGeom>
          </p:spPr>
          <p:txBody>
            <a:bodyPr anchor="t" rtlCol="false" tIns="0" lIns="0" bIns="0" rIns="0">
              <a:spAutoFit/>
            </a:bodyPr>
            <a:lstStyle/>
            <a:p>
              <a:pPr algn="l" marL="0" indent="0" lvl="0">
                <a:lnSpc>
                  <a:spcPts val="1389"/>
                </a:lnSpc>
              </a:pPr>
              <a:r>
                <a:rPr lang="en-US" sz="1403" spc="-42">
                  <a:solidFill>
                    <a:srgbClr val="3A58E4"/>
                  </a:solidFill>
                  <a:latin typeface="Bricolage Grotesque"/>
                  <a:ea typeface="Bricolage Grotesque"/>
                  <a:cs typeface="Bricolage Grotesque"/>
                  <a:sym typeface="Bricolage Grotesque"/>
                </a:rPr>
                <a:t>02</a:t>
              </a:r>
            </a:p>
          </p:txBody>
        </p:sp>
        <p:sp>
          <p:nvSpPr>
            <p:cNvPr name="TextBox 29" id="29"/>
            <p:cNvSpPr txBox="true"/>
            <p:nvPr/>
          </p:nvSpPr>
          <p:spPr>
            <a:xfrm rot="0">
              <a:off x="0" y="8309637"/>
              <a:ext cx="643052" cy="249946"/>
            </a:xfrm>
            <a:prstGeom prst="rect">
              <a:avLst/>
            </a:prstGeom>
          </p:spPr>
          <p:txBody>
            <a:bodyPr anchor="t" rtlCol="false" tIns="0" lIns="0" bIns="0" rIns="0">
              <a:spAutoFit/>
            </a:bodyPr>
            <a:lstStyle/>
            <a:p>
              <a:pPr algn="l" marL="0" indent="0" lvl="0">
                <a:lnSpc>
                  <a:spcPts val="1389"/>
                </a:lnSpc>
              </a:pPr>
              <a:r>
                <a:rPr lang="en-US" sz="1403" spc="-42">
                  <a:solidFill>
                    <a:srgbClr val="3A58E4"/>
                  </a:solidFill>
                  <a:latin typeface="Bricolage Grotesque"/>
                  <a:ea typeface="Bricolage Grotesque"/>
                  <a:cs typeface="Bricolage Grotesque"/>
                  <a:sym typeface="Bricolage Grotesque"/>
                </a:rPr>
                <a:t>14</a:t>
              </a:r>
            </a:p>
          </p:txBody>
        </p:sp>
      </p:grpSp>
      <p:grpSp>
        <p:nvGrpSpPr>
          <p:cNvPr name="Group 30" id="30"/>
          <p:cNvGrpSpPr/>
          <p:nvPr/>
        </p:nvGrpSpPr>
        <p:grpSpPr>
          <a:xfrm rot="0">
            <a:off x="1028700" y="1196251"/>
            <a:ext cx="24226" cy="1038034"/>
            <a:chOff x="0" y="0"/>
            <a:chExt cx="12543" cy="537460"/>
          </a:xfrm>
        </p:grpSpPr>
        <p:sp>
          <p:nvSpPr>
            <p:cNvPr name="Freeform 31" id="31"/>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FFFFFF"/>
            </a:solidFill>
          </p:spPr>
        </p:sp>
        <p:sp>
          <p:nvSpPr>
            <p:cNvPr name="TextBox 32" id="32"/>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33" id="33"/>
          <p:cNvSpPr txBox="true"/>
          <p:nvPr/>
        </p:nvSpPr>
        <p:spPr>
          <a:xfrm rot="0">
            <a:off x="1144711" y="1372295"/>
            <a:ext cx="2753109" cy="1029541"/>
          </a:xfrm>
          <a:prstGeom prst="rect">
            <a:avLst/>
          </a:prstGeom>
        </p:spPr>
        <p:txBody>
          <a:bodyPr anchor="t" rtlCol="false" tIns="0" lIns="0" bIns="0" rIns="0">
            <a:spAutoFit/>
          </a:bodyPr>
          <a:lstStyle/>
          <a:p>
            <a:pPr algn="l" marL="0" indent="0" lvl="0">
              <a:lnSpc>
                <a:spcPts val="2656"/>
              </a:lnSpc>
            </a:pPr>
            <a:r>
              <a:rPr lang="en-US" sz="2711" spc="-173">
                <a:solidFill>
                  <a:srgbClr val="FFFFFF"/>
                </a:solidFill>
                <a:latin typeface="Bricolage Grotesque"/>
                <a:ea typeface="Bricolage Grotesque"/>
                <a:cs typeface="Bricolage Grotesque"/>
                <a:sym typeface="Bricolage Grotesque"/>
              </a:rPr>
              <a:t>How We Measure: Subjective QoE &amp; Environmental Data</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492056" y="1525863"/>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8492056" y="4424761"/>
            <a:ext cx="7106119" cy="435134"/>
          </a:xfrm>
          <a:prstGeom prst="rect">
            <a:avLst/>
          </a:prstGeom>
        </p:spPr>
        <p:txBody>
          <a:bodyPr anchor="t" rtlCol="false" tIns="0" lIns="0" bIns="0" rIns="0">
            <a:spAutoFit/>
          </a:bodyPr>
          <a:lstStyle/>
          <a:p>
            <a:pPr algn="l" marL="0" indent="0" lvl="0">
              <a:lnSpc>
                <a:spcPts val="3316"/>
              </a:lnSpc>
            </a:pPr>
            <a:r>
              <a:rPr lang="en-US" b="true" sz="2368" spc="-59">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OFFLINE-FIRST ARCHITECTURE &amp; SCHEMA DESIGN</a:t>
            </a:r>
          </a:p>
        </p:txBody>
      </p:sp>
      <p:sp>
        <p:nvSpPr>
          <p:cNvPr name="Freeform 6" id="6"/>
          <p:cNvSpPr/>
          <p:nvPr/>
        </p:nvSpPr>
        <p:spPr>
          <a:xfrm flipH="false" flipV="false" rot="-8687136">
            <a:off x="15580115" y="4542838"/>
            <a:ext cx="189150" cy="228643"/>
          </a:xfrm>
          <a:custGeom>
            <a:avLst/>
            <a:gdLst/>
            <a:ahLst/>
            <a:cxnLst/>
            <a:rect r="r" b="b" t="t" l="l"/>
            <a:pathLst>
              <a:path h="228643" w="189150">
                <a:moveTo>
                  <a:pt x="0" y="0"/>
                </a:moveTo>
                <a:lnTo>
                  <a:pt x="189150" y="0"/>
                </a:lnTo>
                <a:lnTo>
                  <a:pt x="189150" y="228644"/>
                </a:lnTo>
                <a:lnTo>
                  <a:pt x="0" y="2286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0" y="0"/>
            <a:ext cx="6352295" cy="10287000"/>
            <a:chOff x="0" y="0"/>
            <a:chExt cx="984137" cy="1593725"/>
          </a:xfrm>
        </p:grpSpPr>
        <p:sp>
          <p:nvSpPr>
            <p:cNvPr name="Freeform 8" id="8"/>
            <p:cNvSpPr/>
            <p:nvPr/>
          </p:nvSpPr>
          <p:spPr>
            <a:xfrm flipH="false" flipV="false" rot="0">
              <a:off x="0" y="0"/>
              <a:ext cx="984137" cy="1593725"/>
            </a:xfrm>
            <a:custGeom>
              <a:avLst/>
              <a:gdLst/>
              <a:ahLst/>
              <a:cxnLst/>
              <a:rect r="r" b="b" t="t" l="l"/>
              <a:pathLst>
                <a:path h="1593725" w="984137">
                  <a:moveTo>
                    <a:pt x="0" y="0"/>
                  </a:moveTo>
                  <a:lnTo>
                    <a:pt x="984137" y="0"/>
                  </a:lnTo>
                  <a:lnTo>
                    <a:pt x="984137" y="1593725"/>
                  </a:lnTo>
                  <a:lnTo>
                    <a:pt x="0" y="1593725"/>
                  </a:lnTo>
                  <a:close/>
                </a:path>
              </a:pathLst>
            </a:custGeom>
            <a:blipFill>
              <a:blip r:embed="rId4"/>
              <a:stretch>
                <a:fillRect l="0" t="-306" r="0" b="-306"/>
              </a:stretch>
            </a:blipFill>
          </p:spPr>
        </p:sp>
      </p:grpSp>
      <p:grpSp>
        <p:nvGrpSpPr>
          <p:cNvPr name="Group 9" id="9"/>
          <p:cNvGrpSpPr/>
          <p:nvPr/>
        </p:nvGrpSpPr>
        <p:grpSpPr>
          <a:xfrm rot="0">
            <a:off x="16438046" y="129"/>
            <a:ext cx="1849954" cy="1848037"/>
            <a:chOff x="0" y="0"/>
            <a:chExt cx="2466605" cy="2464050"/>
          </a:xfrm>
        </p:grpSpPr>
        <p:grpSp>
          <p:nvGrpSpPr>
            <p:cNvPr name="Group 10" id="10"/>
            <p:cNvGrpSpPr/>
            <p:nvPr/>
          </p:nvGrpSpPr>
          <p:grpSpPr>
            <a:xfrm rot="0">
              <a:off x="0" y="0"/>
              <a:ext cx="2466605" cy="2464050"/>
              <a:chOff x="0" y="0"/>
              <a:chExt cx="787566" cy="786750"/>
            </a:xfrm>
          </p:grpSpPr>
          <p:sp>
            <p:nvSpPr>
              <p:cNvPr name="Freeform 11" id="11"/>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2" id="12"/>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319164" y="694049"/>
              <a:ext cx="1828278" cy="1199777"/>
            </a:xfrm>
            <a:prstGeom prst="rect">
              <a:avLst/>
            </a:prstGeom>
          </p:spPr>
          <p:txBody>
            <a:bodyPr anchor="t" rtlCol="false" tIns="0" lIns="0" bIns="0" rIns="0">
              <a:spAutoFit/>
            </a:bodyPr>
            <a:lstStyle/>
            <a:p>
              <a:pPr algn="ctr" marL="0" indent="0" lvl="0">
                <a:lnSpc>
                  <a:spcPts val="6421"/>
                </a:lnSpc>
              </a:pPr>
              <a:r>
                <a:rPr lang="en-US" sz="6552" spc="-419">
                  <a:solidFill>
                    <a:srgbClr val="FFFFFF"/>
                  </a:solidFill>
                  <a:latin typeface="Bricolage Grotesque"/>
                  <a:ea typeface="Bricolage Grotesque"/>
                  <a:cs typeface="Bricolage Grotesque"/>
                  <a:sym typeface="Bricolage Grotesque"/>
                </a:rPr>
                <a:t>15</a:t>
              </a:r>
            </a:p>
          </p:txBody>
        </p:sp>
      </p:grpSp>
      <p:sp>
        <p:nvSpPr>
          <p:cNvPr name="AutoShape 14" id="14"/>
          <p:cNvSpPr/>
          <p:nvPr/>
        </p:nvSpPr>
        <p:spPr>
          <a:xfrm flipH="true">
            <a:off x="6542795" y="0"/>
            <a:ext cx="0" cy="10287000"/>
          </a:xfrm>
          <a:prstGeom prst="line">
            <a:avLst/>
          </a:prstGeom>
          <a:ln cap="rnd" w="19050">
            <a:solidFill>
              <a:srgbClr val="3A58E4"/>
            </a:solidFill>
            <a:prstDash val="solid"/>
            <a:headEnd type="none" len="sm" w="sm"/>
            <a:tailEnd type="none" len="sm" w="sm"/>
          </a:ln>
        </p:spPr>
      </p:sp>
      <p:sp>
        <p:nvSpPr>
          <p:cNvPr name="Freeform 15" id="15"/>
          <p:cNvSpPr/>
          <p:nvPr/>
        </p:nvSpPr>
        <p:spPr>
          <a:xfrm flipH="false" flipV="false" rot="0">
            <a:off x="5177017" y="5870652"/>
            <a:ext cx="2350556" cy="457290"/>
          </a:xfrm>
          <a:custGeom>
            <a:avLst/>
            <a:gdLst/>
            <a:ahLst/>
            <a:cxnLst/>
            <a:rect r="r" b="b" t="t" l="l"/>
            <a:pathLst>
              <a:path h="457290" w="2350556">
                <a:moveTo>
                  <a:pt x="0" y="0"/>
                </a:moveTo>
                <a:lnTo>
                  <a:pt x="2350556" y="0"/>
                </a:lnTo>
                <a:lnTo>
                  <a:pt x="2350556" y="457290"/>
                </a:lnTo>
                <a:lnTo>
                  <a:pt x="0" y="457290"/>
                </a:lnTo>
                <a:lnTo>
                  <a:pt x="0" y="0"/>
                </a:lnTo>
                <a:close/>
              </a:path>
            </a:pathLst>
          </a:custGeom>
          <a:blipFill>
            <a:blip r:embed="rId5"/>
            <a:stretch>
              <a:fillRect l="0" t="0" r="0" b="0"/>
            </a:stretch>
          </a:blipFill>
        </p:spPr>
      </p:sp>
      <p:grpSp>
        <p:nvGrpSpPr>
          <p:cNvPr name="Group 16" id="16"/>
          <p:cNvGrpSpPr/>
          <p:nvPr/>
        </p:nvGrpSpPr>
        <p:grpSpPr>
          <a:xfrm rot="0">
            <a:off x="5262566" y="3959058"/>
            <a:ext cx="2152019" cy="2149322"/>
            <a:chOff x="0" y="0"/>
            <a:chExt cx="567580" cy="566868"/>
          </a:xfrm>
        </p:grpSpPr>
        <p:sp>
          <p:nvSpPr>
            <p:cNvPr name="Freeform 17" id="17"/>
            <p:cNvSpPr/>
            <p:nvPr/>
          </p:nvSpPr>
          <p:spPr>
            <a:xfrm flipH="false" flipV="false" rot="0">
              <a:off x="0" y="0"/>
              <a:ext cx="567580" cy="566868"/>
            </a:xfrm>
            <a:custGeom>
              <a:avLst/>
              <a:gdLst/>
              <a:ahLst/>
              <a:cxnLst/>
              <a:rect r="r" b="b" t="t" l="l"/>
              <a:pathLst>
                <a:path h="566868" w="567580">
                  <a:moveTo>
                    <a:pt x="161888" y="0"/>
                  </a:moveTo>
                  <a:lnTo>
                    <a:pt x="405691" y="0"/>
                  </a:lnTo>
                  <a:cubicBezTo>
                    <a:pt x="495100" y="0"/>
                    <a:pt x="567580" y="72480"/>
                    <a:pt x="567580" y="161888"/>
                  </a:cubicBezTo>
                  <a:lnTo>
                    <a:pt x="567580" y="404980"/>
                  </a:lnTo>
                  <a:cubicBezTo>
                    <a:pt x="567580" y="494389"/>
                    <a:pt x="495100" y="566868"/>
                    <a:pt x="405691" y="566868"/>
                  </a:cubicBezTo>
                  <a:lnTo>
                    <a:pt x="161888" y="566868"/>
                  </a:lnTo>
                  <a:cubicBezTo>
                    <a:pt x="72480" y="566868"/>
                    <a:pt x="0" y="494389"/>
                    <a:pt x="0" y="404980"/>
                  </a:cubicBezTo>
                  <a:lnTo>
                    <a:pt x="0" y="161888"/>
                  </a:lnTo>
                  <a:cubicBezTo>
                    <a:pt x="0" y="72480"/>
                    <a:pt x="72480" y="0"/>
                    <a:pt x="161888"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rnd">
              <a:noFill/>
              <a:prstDash val="solid"/>
              <a:round/>
            </a:ln>
          </p:spPr>
        </p:sp>
        <p:sp>
          <p:nvSpPr>
            <p:cNvPr name="TextBox 18" id="18"/>
            <p:cNvSpPr txBox="true"/>
            <p:nvPr/>
          </p:nvSpPr>
          <p:spPr>
            <a:xfrm>
              <a:off x="0" y="28575"/>
              <a:ext cx="567580" cy="538293"/>
            </a:xfrm>
            <a:prstGeom prst="rect">
              <a:avLst/>
            </a:prstGeom>
          </p:spPr>
          <p:txBody>
            <a:bodyPr anchor="ctr" rtlCol="false" tIns="48445" lIns="48445" bIns="48445" rIns="48445"/>
            <a:lstStyle/>
            <a:p>
              <a:pPr algn="ctr" marL="0" indent="0" lvl="0">
                <a:lnSpc>
                  <a:spcPts val="2460"/>
                </a:lnSpc>
              </a:pPr>
            </a:p>
          </p:txBody>
        </p:sp>
      </p:grpSp>
      <p:sp>
        <p:nvSpPr>
          <p:cNvPr name="TextBox 19" id="19"/>
          <p:cNvSpPr txBox="true"/>
          <p:nvPr/>
        </p:nvSpPr>
        <p:spPr>
          <a:xfrm rot="0">
            <a:off x="5602320" y="4444821"/>
            <a:ext cx="1499950" cy="486039"/>
          </a:xfrm>
          <a:prstGeom prst="rect">
            <a:avLst/>
          </a:prstGeom>
        </p:spPr>
        <p:txBody>
          <a:bodyPr anchor="t" rtlCol="false" tIns="0" lIns="0" bIns="0" rIns="0">
            <a:spAutoFit/>
          </a:bodyPr>
          <a:lstStyle/>
          <a:p>
            <a:pPr algn="ctr" marL="0" indent="0" lvl="0">
              <a:lnSpc>
                <a:spcPts val="3674"/>
              </a:lnSpc>
            </a:pPr>
            <a:r>
              <a:rPr lang="en-US" b="true" sz="3711" spc="-111">
                <a:solidFill>
                  <a:srgbClr val="FFFFFF"/>
                </a:solidFill>
                <a:latin typeface="Bricolage Grotesque Bold"/>
                <a:ea typeface="Bricolage Grotesque Bold"/>
                <a:cs typeface="Bricolage Grotesque Bold"/>
                <a:sym typeface="Bricolage Grotesque Bold"/>
              </a:rPr>
              <a:t>SQLite</a:t>
            </a:r>
          </a:p>
        </p:txBody>
      </p:sp>
      <p:sp>
        <p:nvSpPr>
          <p:cNvPr name="TextBox 20" id="20"/>
          <p:cNvSpPr txBox="true"/>
          <p:nvPr/>
        </p:nvSpPr>
        <p:spPr>
          <a:xfrm rot="0">
            <a:off x="5746312" y="5274096"/>
            <a:ext cx="1211966" cy="417195"/>
          </a:xfrm>
          <a:prstGeom prst="rect">
            <a:avLst/>
          </a:prstGeom>
        </p:spPr>
        <p:txBody>
          <a:bodyPr anchor="t" rtlCol="false" tIns="0" lIns="0" bIns="0" rIns="0">
            <a:spAutoFit/>
          </a:bodyPr>
          <a:lstStyle/>
          <a:p>
            <a:pPr algn="ctr" marL="0" indent="0" lvl="0">
              <a:lnSpc>
                <a:spcPts val="1679"/>
              </a:lnSpc>
            </a:pPr>
            <a:r>
              <a:rPr lang="en-US" sz="1199" spc="-29">
                <a:solidFill>
                  <a:srgbClr val="FFFFFF"/>
                </a:solidFill>
                <a:latin typeface="Poppins"/>
                <a:ea typeface="Poppins"/>
                <a:cs typeface="Poppins"/>
                <a:sym typeface="Poppins"/>
              </a:rPr>
              <a:t>LOCAL DB ENGINE</a:t>
            </a:r>
          </a:p>
        </p:txBody>
      </p:sp>
      <p:sp>
        <p:nvSpPr>
          <p:cNvPr name="TextBox 21" id="21"/>
          <p:cNvSpPr txBox="true"/>
          <p:nvPr/>
        </p:nvSpPr>
        <p:spPr>
          <a:xfrm rot="0">
            <a:off x="8720122" y="1799832"/>
            <a:ext cx="5780387" cy="2096086"/>
          </a:xfrm>
          <a:prstGeom prst="rect">
            <a:avLst/>
          </a:prstGeom>
        </p:spPr>
        <p:txBody>
          <a:bodyPr anchor="t" rtlCol="false" tIns="0" lIns="0" bIns="0" rIns="0">
            <a:spAutoFit/>
          </a:bodyPr>
          <a:lstStyle/>
          <a:p>
            <a:pPr algn="l" marL="0" indent="0" lvl="0">
              <a:lnSpc>
                <a:spcPts val="8038"/>
              </a:lnSpc>
            </a:pPr>
            <a:r>
              <a:rPr lang="en-US" sz="8202" spc="-524">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Local Storage</a:t>
            </a:r>
          </a:p>
          <a:p>
            <a:pPr algn="l" marL="0" indent="0" lvl="0">
              <a:lnSpc>
                <a:spcPts val="8038"/>
              </a:lnSpc>
            </a:pPr>
            <a:r>
              <a:rPr lang="en-US" sz="8202" spc="-524">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(SQLite)</a:t>
            </a:r>
          </a:p>
        </p:txBody>
      </p:sp>
      <p:sp>
        <p:nvSpPr>
          <p:cNvPr name="TextBox 22" id="22"/>
          <p:cNvSpPr txBox="true"/>
          <p:nvPr/>
        </p:nvSpPr>
        <p:spPr>
          <a:xfrm rot="0">
            <a:off x="8492056" y="5401068"/>
            <a:ext cx="7325824" cy="1574142"/>
          </a:xfrm>
          <a:prstGeom prst="rect">
            <a:avLst/>
          </a:prstGeom>
        </p:spPr>
        <p:txBody>
          <a:bodyPr anchor="t" rtlCol="false" tIns="0" lIns="0" bIns="0" rIns="0">
            <a:spAutoFit/>
          </a:bodyPr>
          <a:lstStyle/>
          <a:p>
            <a:pPr algn="just" marL="0" indent="0" lvl="0">
              <a:lnSpc>
                <a:spcPts val="2486"/>
              </a:lnSpc>
            </a:pPr>
            <a:r>
              <a:rPr lang="en-US" sz="1775" spc="-5">
                <a:solidFill>
                  <a:srgbClr val="3A58E4"/>
                </a:solidFill>
                <a:latin typeface="Poppins"/>
                <a:ea typeface="Poppins"/>
                <a:cs typeface="Poppins"/>
                <a:sym typeface="Poppins"/>
              </a:rPr>
              <a:t>SQLite was chosen as the local database engine to support an offline-first approach. It stores measurement data directly on the device, ensuring the app functions reliably even without internet connectivity. Data is synced to the cloud once a connection is restored, using the "uploaded" flag to track sync status.</a:t>
            </a:r>
          </a:p>
        </p:txBody>
      </p:sp>
      <p:sp>
        <p:nvSpPr>
          <p:cNvPr name="TextBox 23" id="23"/>
          <p:cNvSpPr txBox="true"/>
          <p:nvPr/>
        </p:nvSpPr>
        <p:spPr>
          <a:xfrm rot="0">
            <a:off x="8274055" y="6887733"/>
            <a:ext cx="5481943" cy="2202792"/>
          </a:xfrm>
          <a:prstGeom prst="rect">
            <a:avLst/>
          </a:prstGeom>
        </p:spPr>
        <p:txBody>
          <a:bodyPr anchor="t" rtlCol="false" tIns="0" lIns="0" bIns="0" rIns="0">
            <a:spAutoFit/>
          </a:bodyPr>
          <a:lstStyle/>
          <a:p>
            <a:pPr algn="just" marL="0" indent="0" lvl="0">
              <a:lnSpc>
                <a:spcPts val="2486"/>
              </a:lnSpc>
            </a:pPr>
            <a:r>
              <a:rPr lang="en-US" sz="1775" spc="-5">
                <a:solidFill>
                  <a:srgbClr val="3A58E4"/>
                </a:solidFill>
                <a:latin typeface="Poppins"/>
                <a:ea typeface="Poppins"/>
                <a:cs typeface="Poppins"/>
                <a:sym typeface="Poppins"/>
              </a:rPr>
              <a:t>id — Unique record identifier</a:t>
            </a:r>
          </a:p>
          <a:p>
            <a:pPr algn="just" marL="0" indent="0" lvl="0">
              <a:lnSpc>
                <a:spcPts val="2486"/>
              </a:lnSpc>
            </a:pPr>
            <a:r>
              <a:rPr lang="en-US" sz="1775" spc="-5">
                <a:solidFill>
                  <a:srgbClr val="3A58E4"/>
                </a:solidFill>
                <a:latin typeface="Poppins"/>
                <a:ea typeface="Poppins"/>
                <a:cs typeface="Poppins"/>
                <a:sym typeface="Poppins"/>
              </a:rPr>
              <a:t>localId — Device-side local reference</a:t>
            </a:r>
          </a:p>
          <a:p>
            <a:pPr algn="just" marL="0" indent="0" lvl="0">
              <a:lnSpc>
                <a:spcPts val="2486"/>
              </a:lnSpc>
            </a:pPr>
            <a:r>
              <a:rPr lang="en-US" sz="1775" spc="-5">
                <a:solidFill>
                  <a:srgbClr val="3A58E4"/>
                </a:solidFill>
                <a:latin typeface="Poppins"/>
                <a:ea typeface="Poppins"/>
                <a:cs typeface="Poppins"/>
                <a:sym typeface="Poppins"/>
              </a:rPr>
              <a:t>latitude / longitude — GPS coordinates</a:t>
            </a:r>
          </a:p>
          <a:p>
            <a:pPr algn="just" marL="0" indent="0" lvl="0">
              <a:lnSpc>
                <a:spcPts val="2486"/>
              </a:lnSpc>
            </a:pPr>
            <a:r>
              <a:rPr lang="en-US" sz="1775" spc="-5">
                <a:solidFill>
                  <a:srgbClr val="3A58E4"/>
                </a:solidFill>
                <a:latin typeface="Poppins"/>
                <a:ea typeface="Poppins"/>
                <a:cs typeface="Poppins"/>
                <a:sym typeface="Poppins"/>
              </a:rPr>
              <a:t>latency — Measured ping in ms</a:t>
            </a:r>
          </a:p>
          <a:p>
            <a:pPr algn="just" marL="0" indent="0" lvl="0">
              <a:lnSpc>
                <a:spcPts val="2486"/>
              </a:lnSpc>
            </a:pPr>
            <a:r>
              <a:rPr lang="en-US" sz="1775" spc="-5">
                <a:solidFill>
                  <a:srgbClr val="3A58E4"/>
                </a:solidFill>
                <a:latin typeface="Poppins"/>
                <a:ea typeface="Poppins"/>
                <a:cs typeface="Poppins"/>
                <a:sym typeface="Poppins"/>
              </a:rPr>
              <a:t>downloadSpeed — Speed in Mbps</a:t>
            </a:r>
          </a:p>
          <a:p>
            <a:pPr algn="just" marL="0" indent="0" lvl="0">
              <a:lnSpc>
                <a:spcPts val="2486"/>
              </a:lnSpc>
            </a:pPr>
            <a:r>
              <a:rPr lang="en-US" sz="1775" spc="-5">
                <a:solidFill>
                  <a:srgbClr val="3A58E4"/>
                </a:solidFill>
                <a:latin typeface="Poppins"/>
                <a:ea typeface="Poppins"/>
                <a:cs typeface="Poppins"/>
                <a:sym typeface="Poppins"/>
              </a:rPr>
              <a:t>signalStability — User rating (1–5)</a:t>
            </a:r>
          </a:p>
          <a:p>
            <a:pPr algn="just" marL="0" indent="0" lvl="0">
              <a:lnSpc>
                <a:spcPts val="2486"/>
              </a:lnSpc>
            </a:pPr>
            <a:r>
              <a:rPr lang="en-US" sz="1775" spc="-5">
                <a:solidFill>
                  <a:srgbClr val="3A58E4"/>
                </a:solidFill>
                <a:latin typeface="Poppins"/>
                <a:ea typeface="Poppins"/>
                <a:cs typeface="Poppins"/>
                <a:sym typeface="Poppins"/>
              </a:rPr>
              <a:t>uploaded — Sync flag (0 = pending, 1 = synced)</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666284"/>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6438046" y="36375"/>
            <a:ext cx="1849954" cy="1811791"/>
            <a:chOff x="0" y="0"/>
            <a:chExt cx="2466605" cy="2415721"/>
          </a:xfrm>
        </p:grpSpPr>
        <p:grpSp>
          <p:nvGrpSpPr>
            <p:cNvPr name="Group 6" id="6"/>
            <p:cNvGrpSpPr/>
            <p:nvPr/>
          </p:nvGrpSpPr>
          <p:grpSpPr>
            <a:xfrm rot="0">
              <a:off x="0" y="0"/>
              <a:ext cx="2466605" cy="2415721"/>
              <a:chOff x="0" y="0"/>
              <a:chExt cx="787566" cy="771319"/>
            </a:xfrm>
          </p:grpSpPr>
          <p:sp>
            <p:nvSpPr>
              <p:cNvPr name="Freeform 7" id="7"/>
              <p:cNvSpPr/>
              <p:nvPr/>
            </p:nvSpPr>
            <p:spPr>
              <a:xfrm flipH="false" flipV="false" rot="0">
                <a:off x="0" y="0"/>
                <a:ext cx="787566" cy="771319"/>
              </a:xfrm>
              <a:custGeom>
                <a:avLst/>
                <a:gdLst/>
                <a:ahLst/>
                <a:cxnLst/>
                <a:rect r="r" b="b" t="t" l="l"/>
                <a:pathLst>
                  <a:path h="771319" w="787566">
                    <a:moveTo>
                      <a:pt x="0" y="0"/>
                    </a:moveTo>
                    <a:lnTo>
                      <a:pt x="787566" y="0"/>
                    </a:lnTo>
                    <a:lnTo>
                      <a:pt x="787566" y="771319"/>
                    </a:lnTo>
                    <a:lnTo>
                      <a:pt x="0" y="771319"/>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8" id="8"/>
              <p:cNvSpPr txBox="true"/>
              <p:nvPr/>
            </p:nvSpPr>
            <p:spPr>
              <a:xfrm>
                <a:off x="0" y="-38100"/>
                <a:ext cx="787566" cy="809419"/>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9" id="9"/>
            <p:cNvSpPr txBox="true"/>
            <p:nvPr/>
          </p:nvSpPr>
          <p:spPr>
            <a:xfrm rot="0">
              <a:off x="319164" y="694049"/>
              <a:ext cx="1828278" cy="1151448"/>
            </a:xfrm>
            <a:prstGeom prst="rect">
              <a:avLst/>
            </a:prstGeom>
          </p:spPr>
          <p:txBody>
            <a:bodyPr anchor="t" rtlCol="false" tIns="0" lIns="0" bIns="0" rIns="0">
              <a:spAutoFit/>
            </a:bodyPr>
            <a:lstStyle/>
            <a:p>
              <a:pPr algn="ctr" marL="0" indent="0" lvl="0">
                <a:lnSpc>
                  <a:spcPts val="6152"/>
                </a:lnSpc>
              </a:pPr>
              <a:r>
                <a:rPr lang="en-US" sz="6277" spc="-401">
                  <a:solidFill>
                    <a:srgbClr val="FFFFFF"/>
                  </a:solidFill>
                  <a:latin typeface="Bricolage Grotesque"/>
                  <a:ea typeface="Bricolage Grotesque"/>
                  <a:cs typeface="Bricolage Grotesque"/>
                  <a:sym typeface="Bricolage Grotesque"/>
                </a:rPr>
                <a:t>16</a:t>
              </a:r>
            </a:p>
          </p:txBody>
        </p:sp>
      </p:grpSp>
      <p:sp>
        <p:nvSpPr>
          <p:cNvPr name="Freeform 10" id="10"/>
          <p:cNvSpPr/>
          <p:nvPr/>
        </p:nvSpPr>
        <p:spPr>
          <a:xfrm flipH="false" flipV="false" rot="0">
            <a:off x="8586054" y="2822604"/>
            <a:ext cx="9306315" cy="6467889"/>
          </a:xfrm>
          <a:custGeom>
            <a:avLst/>
            <a:gdLst/>
            <a:ahLst/>
            <a:cxnLst/>
            <a:rect r="r" b="b" t="t" l="l"/>
            <a:pathLst>
              <a:path h="6467889" w="9306315">
                <a:moveTo>
                  <a:pt x="0" y="0"/>
                </a:moveTo>
                <a:lnTo>
                  <a:pt x="9306315" y="0"/>
                </a:lnTo>
                <a:lnTo>
                  <a:pt x="9306315" y="6467889"/>
                </a:lnTo>
                <a:lnTo>
                  <a:pt x="0" y="6467889"/>
                </a:lnTo>
                <a:lnTo>
                  <a:pt x="0" y="0"/>
                </a:lnTo>
                <a:close/>
              </a:path>
            </a:pathLst>
          </a:custGeom>
          <a:blipFill>
            <a:blip r:embed="rId2"/>
            <a:stretch>
              <a:fillRect l="0" t="0" r="0" b="0"/>
            </a:stretch>
          </a:blipFill>
        </p:spPr>
      </p:sp>
      <p:grpSp>
        <p:nvGrpSpPr>
          <p:cNvPr name="Group 11" id="11"/>
          <p:cNvGrpSpPr/>
          <p:nvPr/>
        </p:nvGrpSpPr>
        <p:grpSpPr>
          <a:xfrm rot="0">
            <a:off x="1028700" y="4407668"/>
            <a:ext cx="6730921" cy="379246"/>
            <a:chOff x="0" y="0"/>
            <a:chExt cx="8974562" cy="505662"/>
          </a:xfrm>
        </p:grpSpPr>
        <p:sp>
          <p:nvSpPr>
            <p:cNvPr name="TextBox 12" id="12"/>
            <p:cNvSpPr txBox="true"/>
            <p:nvPr/>
          </p:nvSpPr>
          <p:spPr>
            <a:xfrm rot="0">
              <a:off x="0" y="-17554"/>
              <a:ext cx="8974562" cy="523216"/>
            </a:xfrm>
            <a:prstGeom prst="rect">
              <a:avLst/>
            </a:prstGeom>
          </p:spPr>
          <p:txBody>
            <a:bodyPr anchor="t" rtlCol="false" tIns="0" lIns="0" bIns="0" rIns="0">
              <a:spAutoFit/>
            </a:bodyPr>
            <a:lstStyle/>
            <a:p>
              <a:pPr algn="l" marL="0" indent="0" lvl="0">
                <a:lnSpc>
                  <a:spcPts val="3177"/>
                </a:lnSpc>
              </a:pPr>
              <a:r>
                <a:rPr lang="en-US" b="true" sz="2269" spc="-56">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ANALYTICS &amp; ADMIN ACCESS – WHY MONGODB?</a:t>
              </a:r>
            </a:p>
          </p:txBody>
        </p:sp>
        <p:sp>
          <p:nvSpPr>
            <p:cNvPr name="Freeform 13" id="13"/>
            <p:cNvSpPr/>
            <p:nvPr/>
          </p:nvSpPr>
          <p:spPr>
            <a:xfrm flipH="false" flipV="false" rot="-8687136">
              <a:off x="8443725"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TextBox 14" id="14"/>
          <p:cNvSpPr txBox="true"/>
          <p:nvPr/>
        </p:nvSpPr>
        <p:spPr>
          <a:xfrm rot="0">
            <a:off x="1256766" y="1197264"/>
            <a:ext cx="5412331" cy="2839076"/>
          </a:xfrm>
          <a:prstGeom prst="rect">
            <a:avLst/>
          </a:prstGeom>
        </p:spPr>
        <p:txBody>
          <a:bodyPr anchor="t" rtlCol="false" tIns="0" lIns="0" bIns="0" rIns="0">
            <a:spAutoFit/>
          </a:bodyPr>
          <a:lstStyle/>
          <a:p>
            <a:pPr algn="l" marL="0" indent="0" lvl="0">
              <a:lnSpc>
                <a:spcPts val="7334"/>
              </a:lnSpc>
            </a:pPr>
            <a:r>
              <a:rPr lang="en-US" sz="7484" spc="-478">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Cloud Database</a:t>
            </a:r>
          </a:p>
          <a:p>
            <a:pPr algn="l" marL="0" indent="0" lvl="0">
              <a:lnSpc>
                <a:spcPts val="7334"/>
              </a:lnSpc>
            </a:pPr>
            <a:r>
              <a:rPr lang="en-US" sz="7484" spc="-478">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(MongoDB)</a:t>
            </a:r>
          </a:p>
        </p:txBody>
      </p:sp>
      <p:sp>
        <p:nvSpPr>
          <p:cNvPr name="TextBox 15" id="15"/>
          <p:cNvSpPr txBox="true"/>
          <p:nvPr/>
        </p:nvSpPr>
        <p:spPr>
          <a:xfrm rot="0">
            <a:off x="1028700" y="5352257"/>
            <a:ext cx="6570559" cy="3597847"/>
          </a:xfrm>
          <a:prstGeom prst="rect">
            <a:avLst/>
          </a:prstGeom>
        </p:spPr>
        <p:txBody>
          <a:bodyPr anchor="t" rtlCol="false" tIns="0" lIns="0" bIns="0" rIns="0">
            <a:spAutoFit/>
          </a:bodyPr>
          <a:lstStyle/>
          <a:p>
            <a:pPr algn="just" marL="0" indent="0" lvl="0">
              <a:lnSpc>
                <a:spcPts val="2243"/>
              </a:lnSpc>
            </a:pPr>
            <a:r>
              <a:rPr lang="en-US" sz="1602" spc="-4">
                <a:solidFill>
                  <a:srgbClr val="3A58E4"/>
                </a:solidFill>
                <a:latin typeface="Poppins"/>
                <a:ea typeface="Poppins"/>
                <a:cs typeface="Poppins"/>
                <a:sym typeface="Poppins"/>
              </a:rPr>
              <a:t>MongoDB powers the cloud layer of KILObYTES, offering key advantages for network data analytics:</a:t>
            </a:r>
          </a:p>
          <a:p>
            <a:pPr algn="just" marL="0" indent="0" lvl="0">
              <a:lnSpc>
                <a:spcPts val="2243"/>
              </a:lnSpc>
            </a:pPr>
            <a:r>
              <a:rPr lang="en-US" sz="1602" spc="-4">
                <a:solidFill>
                  <a:srgbClr val="3A58E4"/>
                </a:solidFill>
                <a:latin typeface="Poppins"/>
                <a:ea typeface="Poppins"/>
                <a:cs typeface="Poppins"/>
                <a:sym typeface="Poppins"/>
              </a:rPr>
              <a:t>● Flexible Schema – Easily adapts to evolving measurement fields without migrations</a:t>
            </a:r>
          </a:p>
          <a:p>
            <a:pPr algn="just" marL="0" indent="0" lvl="0">
              <a:lnSpc>
                <a:spcPts val="2243"/>
              </a:lnSpc>
            </a:pPr>
            <a:r>
              <a:rPr lang="en-US" sz="1602" spc="-4">
                <a:solidFill>
                  <a:srgbClr val="3A58E4"/>
                </a:solidFill>
                <a:latin typeface="Poppins"/>
                <a:ea typeface="Poppins"/>
                <a:cs typeface="Poppins"/>
                <a:sym typeface="Poppins"/>
              </a:rPr>
              <a:t>● Geospatial Support – Native 2dsphere index enables location-based heatmap queries</a:t>
            </a:r>
          </a:p>
          <a:p>
            <a:pPr algn="just" marL="0" indent="0" lvl="0">
              <a:lnSpc>
                <a:spcPts val="2243"/>
              </a:lnSpc>
            </a:pPr>
            <a:r>
              <a:rPr lang="en-US" sz="1602" spc="-4">
                <a:solidFill>
                  <a:srgbClr val="3A58E4"/>
                </a:solidFill>
                <a:latin typeface="Poppins"/>
                <a:ea typeface="Poppins"/>
                <a:cs typeface="Poppins"/>
                <a:sym typeface="Poppins"/>
              </a:rPr>
              <a:t>● Scalable – Handles large volumes of subscriber measurement documents efficiently</a:t>
            </a:r>
          </a:p>
          <a:p>
            <a:pPr algn="just" marL="0" indent="0" lvl="0">
              <a:lnSpc>
                <a:spcPts val="2243"/>
              </a:lnSpc>
            </a:pPr>
            <a:r>
              <a:rPr lang="en-US" sz="1602" spc="-4">
                <a:solidFill>
                  <a:srgbClr val="3A58E4"/>
                </a:solidFill>
                <a:latin typeface="Poppins"/>
                <a:ea typeface="Poppins"/>
                <a:cs typeface="Poppins"/>
                <a:sym typeface="Poppins"/>
              </a:rPr>
              <a:t>● JSON-like Documents – Seamless integration with Node.js/Express.js backend</a:t>
            </a:r>
          </a:p>
          <a:p>
            <a:pPr algn="just" marL="0" indent="0" lvl="0">
              <a:lnSpc>
                <a:spcPts val="2243"/>
              </a:lnSpc>
            </a:pPr>
            <a:r>
              <a:rPr lang="en-US" sz="1602" spc="-4">
                <a:solidFill>
                  <a:srgbClr val="3A58E4"/>
                </a:solidFill>
                <a:latin typeface="Poppins"/>
                <a:ea typeface="Poppins"/>
                <a:cs typeface="Poppins"/>
                <a:sym typeface="Poppins"/>
              </a:rPr>
              <a:t>Collections: User · Measurement · NetworkCell</a:t>
            </a:r>
          </a:p>
          <a:p>
            <a:pPr algn="just" marL="0" indent="0" lvl="0">
              <a:lnSpc>
                <a:spcPts val="2243"/>
              </a:lnSpc>
            </a:pPr>
            <a:r>
              <a:rPr lang="en-US" sz="1602" spc="-4">
                <a:solidFill>
                  <a:srgbClr val="3A58E4"/>
                </a:solidFill>
                <a:latin typeface="Poppins"/>
                <a:ea typeface="Poppins"/>
                <a:cs typeface="Poppins"/>
                <a:sym typeface="Poppins"/>
              </a:rPr>
              <a:t>Key fields: qualityCategory, 2dsphere index, uploaded flag for sync</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56766" y="1228725"/>
            <a:ext cx="5217559" cy="2499419"/>
          </a:xfrm>
          <a:prstGeom prst="rect">
            <a:avLst/>
          </a:prstGeom>
        </p:spPr>
        <p:txBody>
          <a:bodyPr anchor="t" rtlCol="false" tIns="0" lIns="0" bIns="0" rIns="0">
            <a:spAutoFit/>
          </a:bodyPr>
          <a:lstStyle/>
          <a:p>
            <a:pPr algn="l" marL="0" indent="0" lvl="0">
              <a:lnSpc>
                <a:spcPts val="9603"/>
              </a:lnSpc>
            </a:pPr>
            <a:r>
              <a:rPr lang="en-US" sz="9799" spc="-627">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Mobile App UI</a:t>
            </a:r>
          </a:p>
        </p:txBody>
      </p:sp>
      <p:grpSp>
        <p:nvGrpSpPr>
          <p:cNvPr name="Group 3" id="3"/>
          <p:cNvGrpSpPr/>
          <p:nvPr/>
        </p:nvGrpSpPr>
        <p:grpSpPr>
          <a:xfrm rot="0">
            <a:off x="1028700" y="1358088"/>
            <a:ext cx="47625" cy="2040668"/>
            <a:chOff x="0" y="0"/>
            <a:chExt cx="12543" cy="537460"/>
          </a:xfrm>
        </p:grpSpPr>
        <p:sp>
          <p:nvSpPr>
            <p:cNvPr name="Freeform 4" id="4"/>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5" id="5"/>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1028700" y="4312874"/>
            <a:ext cx="8172450" cy="379246"/>
            <a:chOff x="0" y="0"/>
            <a:chExt cx="10896600" cy="505662"/>
          </a:xfrm>
        </p:grpSpPr>
        <p:sp>
          <p:nvSpPr>
            <p:cNvPr name="TextBox 7" id="7"/>
            <p:cNvSpPr txBox="true"/>
            <p:nvPr/>
          </p:nvSpPr>
          <p:spPr>
            <a:xfrm rot="0">
              <a:off x="0" y="-49061"/>
              <a:ext cx="10820400" cy="554723"/>
            </a:xfrm>
            <a:prstGeom prst="rect">
              <a:avLst/>
            </a:prstGeom>
          </p:spPr>
          <p:txBody>
            <a:bodyPr anchor="t" rtlCol="false" tIns="0" lIns="0" bIns="0" rIns="0">
              <a:spAutoFit/>
            </a:bodyPr>
            <a:lstStyle/>
            <a:p>
              <a:pPr algn="l" marL="0" indent="0" lvl="0">
                <a:lnSpc>
                  <a:spcPts val="3318"/>
                </a:lnSpc>
              </a:pPr>
              <a:r>
                <a:rPr lang="en-US" b="true" sz="2370" spc="-59">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KILOBYTES IN ACTION – APP SCREEN WALKTHROUGH</a:t>
              </a:r>
            </a:p>
          </p:txBody>
        </p:sp>
        <p:sp>
          <p:nvSpPr>
            <p:cNvPr name="Freeform 8" id="8"/>
            <p:cNvSpPr/>
            <p:nvPr/>
          </p:nvSpPr>
          <p:spPr>
            <a:xfrm flipH="false" flipV="false" rot="-8687136">
              <a:off x="10579580"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9" id="9"/>
          <p:cNvGrpSpPr/>
          <p:nvPr/>
        </p:nvGrpSpPr>
        <p:grpSpPr>
          <a:xfrm rot="0">
            <a:off x="16438046" y="0"/>
            <a:ext cx="1849954" cy="1848166"/>
            <a:chOff x="0" y="0"/>
            <a:chExt cx="2466605" cy="2464222"/>
          </a:xfrm>
        </p:grpSpPr>
        <p:grpSp>
          <p:nvGrpSpPr>
            <p:cNvPr name="Group 10" id="10"/>
            <p:cNvGrpSpPr/>
            <p:nvPr/>
          </p:nvGrpSpPr>
          <p:grpSpPr>
            <a:xfrm rot="0">
              <a:off x="0" y="0"/>
              <a:ext cx="2466605" cy="2464222"/>
              <a:chOff x="0" y="0"/>
              <a:chExt cx="787566" cy="786805"/>
            </a:xfrm>
          </p:grpSpPr>
          <p:sp>
            <p:nvSpPr>
              <p:cNvPr name="Freeform 11" id="11"/>
              <p:cNvSpPr/>
              <p:nvPr/>
            </p:nvSpPr>
            <p:spPr>
              <a:xfrm flipH="false" flipV="false" rot="0">
                <a:off x="0" y="0"/>
                <a:ext cx="787566" cy="786805"/>
              </a:xfrm>
              <a:custGeom>
                <a:avLst/>
                <a:gdLst/>
                <a:ahLst/>
                <a:cxnLst/>
                <a:rect r="r" b="b" t="t" l="l"/>
                <a:pathLst>
                  <a:path h="786805" w="787566">
                    <a:moveTo>
                      <a:pt x="0" y="0"/>
                    </a:moveTo>
                    <a:lnTo>
                      <a:pt x="787566" y="0"/>
                    </a:lnTo>
                    <a:lnTo>
                      <a:pt x="787566" y="786805"/>
                    </a:lnTo>
                    <a:lnTo>
                      <a:pt x="0" y="786805"/>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2" id="12"/>
              <p:cNvSpPr txBox="true"/>
              <p:nvPr/>
            </p:nvSpPr>
            <p:spPr>
              <a:xfrm>
                <a:off x="0" y="-38100"/>
                <a:ext cx="787566" cy="82490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319164" y="694049"/>
              <a:ext cx="1828278" cy="1199949"/>
            </a:xfrm>
            <a:prstGeom prst="rect">
              <a:avLst/>
            </a:prstGeom>
          </p:spPr>
          <p:txBody>
            <a:bodyPr anchor="t" rtlCol="false" tIns="0" lIns="0" bIns="0" rIns="0">
              <a:spAutoFit/>
            </a:bodyPr>
            <a:lstStyle/>
            <a:p>
              <a:pPr algn="ctr" marL="0" indent="0" lvl="0">
                <a:lnSpc>
                  <a:spcPts val="6425"/>
                </a:lnSpc>
              </a:pPr>
              <a:r>
                <a:rPr lang="en-US" sz="6557" spc="-419">
                  <a:solidFill>
                    <a:srgbClr val="FFFFFF"/>
                  </a:solidFill>
                  <a:latin typeface="Bricolage Grotesque"/>
                  <a:ea typeface="Bricolage Grotesque"/>
                  <a:cs typeface="Bricolage Grotesque"/>
                  <a:sym typeface="Bricolage Grotesque"/>
                </a:rPr>
                <a:t>17</a:t>
              </a:r>
            </a:p>
          </p:txBody>
        </p:sp>
      </p:grpSp>
      <p:sp>
        <p:nvSpPr>
          <p:cNvPr name="Freeform 14" id="14"/>
          <p:cNvSpPr/>
          <p:nvPr/>
        </p:nvSpPr>
        <p:spPr>
          <a:xfrm flipH="false" flipV="false" rot="0">
            <a:off x="10898610" y="1009838"/>
            <a:ext cx="4933260" cy="9878977"/>
          </a:xfrm>
          <a:custGeom>
            <a:avLst/>
            <a:gdLst/>
            <a:ahLst/>
            <a:cxnLst/>
            <a:rect r="r" b="b" t="t" l="l"/>
            <a:pathLst>
              <a:path h="9878977" w="4933260">
                <a:moveTo>
                  <a:pt x="0" y="0"/>
                </a:moveTo>
                <a:lnTo>
                  <a:pt x="4933260" y="0"/>
                </a:lnTo>
                <a:lnTo>
                  <a:pt x="4933260" y="9878977"/>
                </a:lnTo>
                <a:lnTo>
                  <a:pt x="0" y="9878977"/>
                </a:lnTo>
                <a:lnTo>
                  <a:pt x="0" y="0"/>
                </a:lnTo>
                <a:close/>
              </a:path>
            </a:pathLst>
          </a:custGeom>
          <a:blipFill>
            <a:blip r:embed="rId4"/>
            <a:stretch>
              <a:fillRect l="0" t="0" r="0" b="0"/>
            </a:stretch>
          </a:blipFill>
        </p:spPr>
      </p:sp>
      <p:sp>
        <p:nvSpPr>
          <p:cNvPr name="TextBox 15" id="15"/>
          <p:cNvSpPr txBox="true"/>
          <p:nvPr/>
        </p:nvSpPr>
        <p:spPr>
          <a:xfrm rot="0">
            <a:off x="1870201" y="5206470"/>
            <a:ext cx="7273799" cy="810317"/>
          </a:xfrm>
          <a:prstGeom prst="rect">
            <a:avLst/>
          </a:prstGeom>
        </p:spPr>
        <p:txBody>
          <a:bodyPr anchor="t" rtlCol="false" tIns="0" lIns="0" bIns="0" rIns="0">
            <a:spAutoFit/>
          </a:bodyPr>
          <a:lstStyle/>
          <a:p>
            <a:pPr algn="just" marL="0" indent="0" lvl="0">
              <a:lnSpc>
                <a:spcPts val="3174"/>
              </a:lnSpc>
            </a:pPr>
            <a:r>
              <a:rPr lang="en-US" sz="2267" spc="-56">
                <a:solidFill>
                  <a:srgbClr val="3A58E4"/>
                </a:solidFill>
                <a:latin typeface="Poppins"/>
                <a:ea typeface="Poppins"/>
                <a:cs typeface="Poppins"/>
                <a:sym typeface="Poppins"/>
              </a:rPr>
              <a:t>Auth Screen – Secure login and registration with bilingual support and consent flow.</a:t>
            </a:r>
          </a:p>
        </p:txBody>
      </p:sp>
      <p:sp>
        <p:nvSpPr>
          <p:cNvPr name="TextBox 16" id="16"/>
          <p:cNvSpPr txBox="true"/>
          <p:nvPr/>
        </p:nvSpPr>
        <p:spPr>
          <a:xfrm rot="0">
            <a:off x="1870201" y="6197762"/>
            <a:ext cx="7273799" cy="810317"/>
          </a:xfrm>
          <a:prstGeom prst="rect">
            <a:avLst/>
          </a:prstGeom>
        </p:spPr>
        <p:txBody>
          <a:bodyPr anchor="t" rtlCol="false" tIns="0" lIns="0" bIns="0" rIns="0">
            <a:spAutoFit/>
          </a:bodyPr>
          <a:lstStyle/>
          <a:p>
            <a:pPr algn="just" marL="0" indent="0" lvl="0">
              <a:lnSpc>
                <a:spcPts val="3174"/>
              </a:lnSpc>
            </a:pPr>
            <a:r>
              <a:rPr lang="en-US" sz="2267" spc="-56">
                <a:solidFill>
                  <a:srgbClr val="3A58E4"/>
                </a:solidFill>
                <a:latin typeface="Poppins"/>
                <a:ea typeface="Poppins"/>
                <a:cs typeface="Poppins"/>
                <a:sym typeface="Poppins"/>
              </a:rPr>
              <a:t>Collect Screen – Dashboard to trigger QoS measurements and view real-time metrics.</a:t>
            </a:r>
          </a:p>
        </p:txBody>
      </p:sp>
      <p:sp>
        <p:nvSpPr>
          <p:cNvPr name="TextBox 17" id="17"/>
          <p:cNvSpPr txBox="true"/>
          <p:nvPr/>
        </p:nvSpPr>
        <p:spPr>
          <a:xfrm rot="0">
            <a:off x="1870201" y="7189053"/>
            <a:ext cx="7273799" cy="810317"/>
          </a:xfrm>
          <a:prstGeom prst="rect">
            <a:avLst/>
          </a:prstGeom>
        </p:spPr>
        <p:txBody>
          <a:bodyPr anchor="t" rtlCol="false" tIns="0" lIns="0" bIns="0" rIns="0">
            <a:spAutoFit/>
          </a:bodyPr>
          <a:lstStyle/>
          <a:p>
            <a:pPr algn="just" marL="0" indent="0" lvl="0">
              <a:lnSpc>
                <a:spcPts val="3174"/>
              </a:lnSpc>
            </a:pPr>
            <a:r>
              <a:rPr lang="en-US" sz="2267" spc="-56">
                <a:solidFill>
                  <a:srgbClr val="3A58E4"/>
                </a:solidFill>
                <a:latin typeface="Poppins"/>
                <a:ea typeface="Poppins"/>
                <a:cs typeface="Poppins"/>
                <a:sym typeface="Poppins"/>
              </a:rPr>
              <a:t>Heatmap Screen – Geospatial visualization of network quality across locations.</a:t>
            </a:r>
          </a:p>
        </p:txBody>
      </p:sp>
      <p:sp>
        <p:nvSpPr>
          <p:cNvPr name="TextBox 18" id="18"/>
          <p:cNvSpPr txBox="true"/>
          <p:nvPr/>
        </p:nvSpPr>
        <p:spPr>
          <a:xfrm rot="0">
            <a:off x="1870201" y="8180345"/>
            <a:ext cx="7273799" cy="810317"/>
          </a:xfrm>
          <a:prstGeom prst="rect">
            <a:avLst/>
          </a:prstGeom>
        </p:spPr>
        <p:txBody>
          <a:bodyPr anchor="t" rtlCol="false" tIns="0" lIns="0" bIns="0" rIns="0">
            <a:spAutoFit/>
          </a:bodyPr>
          <a:lstStyle/>
          <a:p>
            <a:pPr algn="just" marL="0" indent="0" lvl="0">
              <a:lnSpc>
                <a:spcPts val="3174"/>
              </a:lnSpc>
            </a:pPr>
            <a:r>
              <a:rPr lang="en-US" sz="2267" spc="-56">
                <a:solidFill>
                  <a:srgbClr val="3A58E4"/>
                </a:solidFill>
                <a:latin typeface="Poppins"/>
                <a:ea typeface="Poppins"/>
                <a:cs typeface="Poppins"/>
                <a:sym typeface="Poppins"/>
              </a:rPr>
              <a:t>Settings &amp; Consent – Manage background data collection permissions and preferences.</a:t>
            </a:r>
          </a:p>
        </p:txBody>
      </p:sp>
      <p:sp>
        <p:nvSpPr>
          <p:cNvPr name="Freeform 19" id="19"/>
          <p:cNvSpPr/>
          <p:nvPr/>
        </p:nvSpPr>
        <p:spPr>
          <a:xfrm flipH="false" flipV="false" rot="0">
            <a:off x="1052512" y="5400430"/>
            <a:ext cx="489071" cy="489071"/>
          </a:xfrm>
          <a:custGeom>
            <a:avLst/>
            <a:gdLst/>
            <a:ahLst/>
            <a:cxnLst/>
            <a:rect r="r" b="b" t="t" l="l"/>
            <a:pathLst>
              <a:path h="489071" w="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0" id="20"/>
          <p:cNvSpPr/>
          <p:nvPr/>
        </p:nvSpPr>
        <p:spPr>
          <a:xfrm flipH="false" flipV="false" rot="0">
            <a:off x="1052512" y="6391722"/>
            <a:ext cx="489071" cy="489071"/>
          </a:xfrm>
          <a:custGeom>
            <a:avLst/>
            <a:gdLst/>
            <a:ahLst/>
            <a:cxnLst/>
            <a:rect r="r" b="b" t="t" l="l"/>
            <a:pathLst>
              <a:path h="489071" w="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052512" y="7383013"/>
            <a:ext cx="489071" cy="489071"/>
          </a:xfrm>
          <a:custGeom>
            <a:avLst/>
            <a:gdLst/>
            <a:ahLst/>
            <a:cxnLst/>
            <a:rect r="r" b="b" t="t" l="l"/>
            <a:pathLst>
              <a:path h="489071" w="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2" id="22"/>
          <p:cNvSpPr/>
          <p:nvPr/>
        </p:nvSpPr>
        <p:spPr>
          <a:xfrm flipH="false" flipV="false" rot="0">
            <a:off x="1052512" y="8376909"/>
            <a:ext cx="489071" cy="489071"/>
          </a:xfrm>
          <a:custGeom>
            <a:avLst/>
            <a:gdLst/>
            <a:ahLst/>
            <a:cxnLst/>
            <a:rect r="r" b="b" t="t" l="l"/>
            <a:pathLst>
              <a:path h="489071" w="489071">
                <a:moveTo>
                  <a:pt x="0" y="0"/>
                </a:moveTo>
                <a:lnTo>
                  <a:pt x="489072" y="0"/>
                </a:lnTo>
                <a:lnTo>
                  <a:pt x="489072" y="489072"/>
                </a:lnTo>
                <a:lnTo>
                  <a:pt x="0" y="4890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438046" y="409262"/>
            <a:ext cx="1849954" cy="1438904"/>
            <a:chOff x="0" y="0"/>
            <a:chExt cx="2466605" cy="1918539"/>
          </a:xfrm>
        </p:grpSpPr>
        <p:grpSp>
          <p:nvGrpSpPr>
            <p:cNvPr name="Group 3" id="3"/>
            <p:cNvGrpSpPr/>
            <p:nvPr/>
          </p:nvGrpSpPr>
          <p:grpSpPr>
            <a:xfrm rot="0">
              <a:off x="0" y="0"/>
              <a:ext cx="2466605" cy="1918539"/>
              <a:chOff x="0" y="0"/>
              <a:chExt cx="787566" cy="612573"/>
            </a:xfrm>
          </p:grpSpPr>
          <p:sp>
            <p:nvSpPr>
              <p:cNvPr name="Freeform 4" id="4"/>
              <p:cNvSpPr/>
              <p:nvPr/>
            </p:nvSpPr>
            <p:spPr>
              <a:xfrm flipH="false" flipV="false" rot="0">
                <a:off x="0" y="0"/>
                <a:ext cx="787566" cy="612573"/>
              </a:xfrm>
              <a:custGeom>
                <a:avLst/>
                <a:gdLst/>
                <a:ahLst/>
                <a:cxnLst/>
                <a:rect r="r" b="b" t="t" l="l"/>
                <a:pathLst>
                  <a:path h="612573" w="787566">
                    <a:moveTo>
                      <a:pt x="0" y="0"/>
                    </a:moveTo>
                    <a:lnTo>
                      <a:pt x="787566" y="0"/>
                    </a:lnTo>
                    <a:lnTo>
                      <a:pt x="787566" y="612573"/>
                    </a:lnTo>
                    <a:lnTo>
                      <a:pt x="0" y="612573"/>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5" id="5"/>
              <p:cNvSpPr txBox="true"/>
              <p:nvPr/>
            </p:nvSpPr>
            <p:spPr>
              <a:xfrm>
                <a:off x="0" y="-38100"/>
                <a:ext cx="787566" cy="65067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319164" y="646424"/>
              <a:ext cx="1828278" cy="701891"/>
            </a:xfrm>
            <a:prstGeom prst="rect">
              <a:avLst/>
            </a:prstGeom>
          </p:spPr>
          <p:txBody>
            <a:bodyPr anchor="t" rtlCol="false" tIns="0" lIns="0" bIns="0" rIns="0">
              <a:spAutoFit/>
            </a:bodyPr>
            <a:lstStyle/>
            <a:p>
              <a:pPr algn="ctr" marL="0" indent="0" lvl="0">
                <a:lnSpc>
                  <a:spcPts val="3764"/>
                </a:lnSpc>
              </a:pPr>
              <a:r>
                <a:rPr lang="en-US" sz="3841" spc="-245">
                  <a:solidFill>
                    <a:srgbClr val="FFFFFF"/>
                  </a:solidFill>
                  <a:latin typeface="Bricolage Grotesque"/>
                  <a:ea typeface="Bricolage Grotesque"/>
                  <a:cs typeface="Bricolage Grotesque"/>
                  <a:sym typeface="Bricolage Grotesque"/>
                </a:rPr>
                <a:t>18</a:t>
              </a:r>
            </a:p>
          </p:txBody>
        </p:sp>
      </p:grpSp>
      <p:grpSp>
        <p:nvGrpSpPr>
          <p:cNvPr name="Group 7" id="7"/>
          <p:cNvGrpSpPr/>
          <p:nvPr/>
        </p:nvGrpSpPr>
        <p:grpSpPr>
          <a:xfrm rot="0">
            <a:off x="5545788" y="3062727"/>
            <a:ext cx="7196424" cy="379246"/>
            <a:chOff x="0" y="0"/>
            <a:chExt cx="9595232" cy="505662"/>
          </a:xfrm>
        </p:grpSpPr>
        <p:sp>
          <p:nvSpPr>
            <p:cNvPr name="TextBox 8" id="8"/>
            <p:cNvSpPr txBox="true"/>
            <p:nvPr/>
          </p:nvSpPr>
          <p:spPr>
            <a:xfrm rot="0">
              <a:off x="0" y="187562"/>
              <a:ext cx="9378912" cy="318100"/>
            </a:xfrm>
            <a:prstGeom prst="rect">
              <a:avLst/>
            </a:prstGeom>
          </p:spPr>
          <p:txBody>
            <a:bodyPr anchor="t" rtlCol="false" tIns="0" lIns="0" bIns="0" rIns="0">
              <a:spAutoFit/>
            </a:bodyPr>
            <a:lstStyle/>
            <a:p>
              <a:pPr algn="l" marL="0" indent="0" lvl="0">
                <a:lnSpc>
                  <a:spcPts val="1943"/>
                </a:lnSpc>
              </a:pPr>
              <a:r>
                <a:rPr lang="en-US" b="true" sz="1388" spc="-34">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ADMIN INTERFACE FOR MONITORING SUBSCRIBER DATA AND NETWORK ANALYTICS</a:t>
              </a:r>
            </a:p>
          </p:txBody>
        </p:sp>
        <p:sp>
          <p:nvSpPr>
            <p:cNvPr name="Freeform 9" id="9"/>
            <p:cNvSpPr/>
            <p:nvPr/>
          </p:nvSpPr>
          <p:spPr>
            <a:xfrm flipH="false" flipV="false" rot="-8687136">
              <a:off x="9278212"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0" id="10"/>
          <p:cNvGrpSpPr/>
          <p:nvPr/>
        </p:nvGrpSpPr>
        <p:grpSpPr>
          <a:xfrm rot="0">
            <a:off x="1463921" y="4926041"/>
            <a:ext cx="3746706" cy="374670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12" id="12"/>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3" id="13"/>
          <p:cNvGrpSpPr/>
          <p:nvPr/>
        </p:nvGrpSpPr>
        <p:grpSpPr>
          <a:xfrm rot="0">
            <a:off x="5334452" y="4926041"/>
            <a:ext cx="3746706" cy="374670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a:ln cap="sq">
              <a:noFill/>
              <a:prstDash val="solid"/>
              <a:miter/>
            </a:ln>
          </p:spPr>
        </p:sp>
        <p:sp>
          <p:nvSpPr>
            <p:cNvPr name="TextBox 15" id="15"/>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6" id="16"/>
          <p:cNvGrpSpPr/>
          <p:nvPr/>
        </p:nvGrpSpPr>
        <p:grpSpPr>
          <a:xfrm rot="0">
            <a:off x="9205912" y="4926041"/>
            <a:ext cx="3746706" cy="374670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18" id="18"/>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grpSp>
        <p:nvGrpSpPr>
          <p:cNvPr name="Group 19" id="19"/>
          <p:cNvGrpSpPr/>
          <p:nvPr/>
        </p:nvGrpSpPr>
        <p:grpSpPr>
          <a:xfrm rot="0">
            <a:off x="13077373" y="4926041"/>
            <a:ext cx="3746706" cy="374670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21" id="21"/>
            <p:cNvSpPr txBox="true"/>
            <p:nvPr/>
          </p:nvSpPr>
          <p:spPr>
            <a:xfrm>
              <a:off x="76200" y="38100"/>
              <a:ext cx="660400" cy="698500"/>
            </a:xfrm>
            <a:prstGeom prst="rect">
              <a:avLst/>
            </a:prstGeom>
          </p:spPr>
          <p:txBody>
            <a:bodyPr anchor="ctr" rtlCol="false" tIns="40108" lIns="40108" bIns="40108" rIns="40108"/>
            <a:lstStyle/>
            <a:p>
              <a:pPr algn="ctr" marL="0" indent="0" lvl="0">
                <a:lnSpc>
                  <a:spcPts val="2659"/>
                </a:lnSpc>
              </a:pPr>
            </a:p>
          </p:txBody>
        </p:sp>
      </p:grpSp>
      <p:sp>
        <p:nvSpPr>
          <p:cNvPr name="TextBox 22" id="22"/>
          <p:cNvSpPr txBox="true"/>
          <p:nvPr/>
        </p:nvSpPr>
        <p:spPr>
          <a:xfrm rot="0">
            <a:off x="2345222" y="6343927"/>
            <a:ext cx="1984104" cy="216065"/>
          </a:xfrm>
          <a:prstGeom prst="rect">
            <a:avLst/>
          </a:prstGeom>
        </p:spPr>
        <p:txBody>
          <a:bodyPr anchor="t" rtlCol="false" tIns="0" lIns="0" bIns="0" rIns="0">
            <a:spAutoFit/>
          </a:bodyPr>
          <a:lstStyle/>
          <a:p>
            <a:pPr algn="ctr" marL="0" indent="0" lvl="0">
              <a:lnSpc>
                <a:spcPts val="1697"/>
              </a:lnSpc>
            </a:pPr>
            <a:r>
              <a:rPr lang="en-US" b="true" sz="1315" spc="-3">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SUBSCRIBER RECORDS</a:t>
            </a:r>
          </a:p>
        </p:txBody>
      </p:sp>
      <p:sp>
        <p:nvSpPr>
          <p:cNvPr name="TextBox 23" id="23"/>
          <p:cNvSpPr txBox="true"/>
          <p:nvPr/>
        </p:nvSpPr>
        <p:spPr>
          <a:xfrm rot="0">
            <a:off x="2124549" y="6765742"/>
            <a:ext cx="2425450" cy="842586"/>
          </a:xfrm>
          <a:prstGeom prst="rect">
            <a:avLst/>
          </a:prstGeom>
        </p:spPr>
        <p:txBody>
          <a:bodyPr anchor="t" rtlCol="false" tIns="0" lIns="0" bIns="0" rIns="0">
            <a:spAutoFit/>
          </a:bodyPr>
          <a:lstStyle/>
          <a:p>
            <a:pPr algn="ctr" marL="0" indent="0" lvl="0">
              <a:lnSpc>
                <a:spcPts val="1654"/>
              </a:lnSpc>
            </a:pPr>
            <a:r>
              <a:rPr lang="en-US" sz="1282" spc="-3">
                <a:solidFill>
                  <a:srgbClr val="3A58E4"/>
                </a:solidFill>
                <a:latin typeface="Poppins"/>
                <a:ea typeface="Poppins"/>
                <a:cs typeface="Poppins"/>
                <a:sym typeface="Poppins"/>
              </a:rPr>
              <a:t>Expandable cards showing per-user measurement history with timestamps and QoS scores</a:t>
            </a:r>
          </a:p>
        </p:txBody>
      </p:sp>
      <p:sp>
        <p:nvSpPr>
          <p:cNvPr name="TextBox 24" id="24"/>
          <p:cNvSpPr txBox="true"/>
          <p:nvPr/>
        </p:nvSpPr>
        <p:spPr>
          <a:xfrm rot="0">
            <a:off x="6215753" y="6343927"/>
            <a:ext cx="1984104" cy="216065"/>
          </a:xfrm>
          <a:prstGeom prst="rect">
            <a:avLst/>
          </a:prstGeom>
        </p:spPr>
        <p:txBody>
          <a:bodyPr anchor="t" rtlCol="false" tIns="0" lIns="0" bIns="0" rIns="0">
            <a:spAutoFit/>
          </a:bodyPr>
          <a:lstStyle/>
          <a:p>
            <a:pPr algn="ctr" marL="0" indent="0" lvl="0">
              <a:lnSpc>
                <a:spcPts val="1697"/>
              </a:lnSpc>
            </a:pPr>
            <a:r>
              <a:rPr lang="en-US" b="true" sz="1315" spc="-3">
                <a:solidFill>
                  <a:srgbClr val="FFFFFF"/>
                </a:solidFill>
                <a:latin typeface="Poppins Bold"/>
                <a:ea typeface="Poppins Bold"/>
                <a:cs typeface="Poppins Bold"/>
                <a:sym typeface="Poppins Bold"/>
              </a:rPr>
              <a:t>ADMIN DASHBOARD</a:t>
            </a:r>
          </a:p>
        </p:txBody>
      </p:sp>
      <p:sp>
        <p:nvSpPr>
          <p:cNvPr name="TextBox 25" id="25"/>
          <p:cNvSpPr txBox="true"/>
          <p:nvPr/>
        </p:nvSpPr>
        <p:spPr>
          <a:xfrm rot="0">
            <a:off x="5995080" y="6975292"/>
            <a:ext cx="2425450" cy="633036"/>
          </a:xfrm>
          <a:prstGeom prst="rect">
            <a:avLst/>
          </a:prstGeom>
        </p:spPr>
        <p:txBody>
          <a:bodyPr anchor="t" rtlCol="false" tIns="0" lIns="0" bIns="0" rIns="0">
            <a:spAutoFit/>
          </a:bodyPr>
          <a:lstStyle/>
          <a:p>
            <a:pPr algn="ctr" marL="0" indent="0" lvl="0">
              <a:lnSpc>
                <a:spcPts val="1654"/>
              </a:lnSpc>
            </a:pPr>
            <a:r>
              <a:rPr lang="en-US" sz="1282" spc="-3">
                <a:solidFill>
                  <a:srgbClr val="FFFFFF"/>
                </a:solidFill>
                <a:latin typeface="Poppins"/>
                <a:ea typeface="Poppins"/>
                <a:cs typeface="Poppins"/>
                <a:sym typeface="Poppins"/>
              </a:rPr>
              <a:t>Metrics overview with filters by date, region, network type, and subscriber segment</a:t>
            </a:r>
          </a:p>
        </p:txBody>
      </p:sp>
      <p:sp>
        <p:nvSpPr>
          <p:cNvPr name="TextBox 26" id="26"/>
          <p:cNvSpPr txBox="true"/>
          <p:nvPr/>
        </p:nvSpPr>
        <p:spPr>
          <a:xfrm rot="0">
            <a:off x="9901910" y="6343927"/>
            <a:ext cx="2354710" cy="216065"/>
          </a:xfrm>
          <a:prstGeom prst="rect">
            <a:avLst/>
          </a:prstGeom>
        </p:spPr>
        <p:txBody>
          <a:bodyPr anchor="t" rtlCol="false" tIns="0" lIns="0" bIns="0" rIns="0">
            <a:spAutoFit/>
          </a:bodyPr>
          <a:lstStyle/>
          <a:p>
            <a:pPr algn="ctr" marL="0" indent="0" lvl="0">
              <a:lnSpc>
                <a:spcPts val="1697"/>
              </a:lnSpc>
            </a:pPr>
            <a:r>
              <a:rPr lang="en-US" b="true" sz="1315" spc="-3">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ADMIN HEATMAP</a:t>
            </a:r>
          </a:p>
        </p:txBody>
      </p:sp>
      <p:sp>
        <p:nvSpPr>
          <p:cNvPr name="TextBox 27" id="27"/>
          <p:cNvSpPr txBox="true"/>
          <p:nvPr/>
        </p:nvSpPr>
        <p:spPr>
          <a:xfrm rot="0">
            <a:off x="9866540" y="6765742"/>
            <a:ext cx="2425450" cy="842586"/>
          </a:xfrm>
          <a:prstGeom prst="rect">
            <a:avLst/>
          </a:prstGeom>
        </p:spPr>
        <p:txBody>
          <a:bodyPr anchor="t" rtlCol="false" tIns="0" lIns="0" bIns="0" rIns="0">
            <a:spAutoFit/>
          </a:bodyPr>
          <a:lstStyle/>
          <a:p>
            <a:pPr algn="ctr" marL="0" indent="0" lvl="0">
              <a:lnSpc>
                <a:spcPts val="1654"/>
              </a:lnSpc>
            </a:pPr>
            <a:r>
              <a:rPr lang="en-US" sz="1282" spc="-3">
                <a:solidFill>
                  <a:srgbClr val="3A58E4"/>
                </a:solidFill>
                <a:latin typeface="Poppins"/>
                <a:ea typeface="Poppins"/>
                <a:cs typeface="Poppins"/>
                <a:sym typeface="Poppins"/>
              </a:rPr>
              <a:t>Geospatial heatmap visualizing signal quality and latency hotspots across regions</a:t>
            </a:r>
          </a:p>
        </p:txBody>
      </p:sp>
      <p:sp>
        <p:nvSpPr>
          <p:cNvPr name="TextBox 28" id="28"/>
          <p:cNvSpPr txBox="true"/>
          <p:nvPr/>
        </p:nvSpPr>
        <p:spPr>
          <a:xfrm rot="0">
            <a:off x="13958674" y="6343927"/>
            <a:ext cx="1984104" cy="216065"/>
          </a:xfrm>
          <a:prstGeom prst="rect">
            <a:avLst/>
          </a:prstGeom>
        </p:spPr>
        <p:txBody>
          <a:bodyPr anchor="t" rtlCol="false" tIns="0" lIns="0" bIns="0" rIns="0">
            <a:spAutoFit/>
          </a:bodyPr>
          <a:lstStyle/>
          <a:p>
            <a:pPr algn="ctr" marL="0" indent="0" lvl="0">
              <a:lnSpc>
                <a:spcPts val="1697"/>
              </a:lnSpc>
            </a:pPr>
            <a:r>
              <a:rPr lang="en-US" b="true" sz="1315" spc="-3">
                <a:solidFill>
                  <a:srgbClr val="FFFFFF"/>
                </a:solidFill>
                <a:latin typeface="Poppins Bold"/>
                <a:ea typeface="Poppins Bold"/>
                <a:cs typeface="Poppins Bold"/>
                <a:sym typeface="Poppins Bold"/>
              </a:rPr>
              <a:t>DATA MANAGEMENT</a:t>
            </a:r>
          </a:p>
        </p:txBody>
      </p:sp>
      <p:sp>
        <p:nvSpPr>
          <p:cNvPr name="TextBox 29" id="29"/>
          <p:cNvSpPr txBox="true"/>
          <p:nvPr/>
        </p:nvSpPr>
        <p:spPr>
          <a:xfrm rot="0">
            <a:off x="13738001" y="6975292"/>
            <a:ext cx="2425450" cy="633036"/>
          </a:xfrm>
          <a:prstGeom prst="rect">
            <a:avLst/>
          </a:prstGeom>
        </p:spPr>
        <p:txBody>
          <a:bodyPr anchor="t" rtlCol="false" tIns="0" lIns="0" bIns="0" rIns="0">
            <a:spAutoFit/>
          </a:bodyPr>
          <a:lstStyle/>
          <a:p>
            <a:pPr algn="ctr" marL="0" indent="0" lvl="0">
              <a:lnSpc>
                <a:spcPts val="1654"/>
              </a:lnSpc>
            </a:pPr>
            <a:r>
              <a:rPr lang="en-US" sz="1282" spc="-3">
                <a:solidFill>
                  <a:srgbClr val="FFFFFF"/>
                </a:solidFill>
                <a:latin typeface="Poppins"/>
                <a:ea typeface="Poppins"/>
                <a:cs typeface="Poppins"/>
                <a:sym typeface="Poppins"/>
              </a:rPr>
              <a:t>Bulk export, sync status tracking, and uploaded flag monitoring for offline records</a:t>
            </a:r>
          </a:p>
        </p:txBody>
      </p:sp>
      <p:grpSp>
        <p:nvGrpSpPr>
          <p:cNvPr name="Group 30" id="30"/>
          <p:cNvGrpSpPr/>
          <p:nvPr/>
        </p:nvGrpSpPr>
        <p:grpSpPr>
          <a:xfrm rot="0">
            <a:off x="4176506" y="4926023"/>
            <a:ext cx="746986" cy="747004"/>
            <a:chOff x="0" y="0"/>
            <a:chExt cx="995981" cy="996005"/>
          </a:xfrm>
        </p:grpSpPr>
        <p:grpSp>
          <p:nvGrpSpPr>
            <p:cNvPr name="Group 31" id="31"/>
            <p:cNvGrpSpPr/>
            <p:nvPr/>
          </p:nvGrpSpPr>
          <p:grpSpPr>
            <a:xfrm rot="0">
              <a:off x="0" y="0"/>
              <a:ext cx="995981" cy="996005"/>
              <a:chOff x="0" y="0"/>
              <a:chExt cx="812800" cy="812819"/>
            </a:xfrm>
          </p:grpSpPr>
          <p:sp>
            <p:nvSpPr>
              <p:cNvPr name="Freeform 32" id="32"/>
              <p:cNvSpPr/>
              <p:nvPr/>
            </p:nvSpPr>
            <p:spPr>
              <a:xfrm flipH="false" flipV="false" rot="0">
                <a:off x="0" y="0"/>
                <a:ext cx="812800" cy="812819"/>
              </a:xfrm>
              <a:custGeom>
                <a:avLst/>
                <a:gdLst/>
                <a:ahLst/>
                <a:cxnLst/>
                <a:rect r="r" b="b" t="t" l="l"/>
                <a:pathLst>
                  <a:path h="812819" w="812800">
                    <a:moveTo>
                      <a:pt x="406400" y="0"/>
                    </a:moveTo>
                    <a:cubicBezTo>
                      <a:pt x="181951" y="0"/>
                      <a:pt x="0" y="181956"/>
                      <a:pt x="0" y="406410"/>
                    </a:cubicBezTo>
                    <a:cubicBezTo>
                      <a:pt x="0" y="630864"/>
                      <a:pt x="181951" y="812819"/>
                      <a:pt x="406400" y="812819"/>
                    </a:cubicBezTo>
                    <a:cubicBezTo>
                      <a:pt x="630849" y="812819"/>
                      <a:pt x="812800" y="630864"/>
                      <a:pt x="812800" y="406410"/>
                    </a:cubicBezTo>
                    <a:cubicBezTo>
                      <a:pt x="812800" y="181956"/>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33" id="33"/>
              <p:cNvSpPr txBox="true"/>
              <p:nvPr/>
            </p:nvSpPr>
            <p:spPr>
              <a:xfrm>
                <a:off x="76200" y="38102"/>
                <a:ext cx="660400" cy="698516"/>
              </a:xfrm>
              <a:prstGeom prst="rect">
                <a:avLst/>
              </a:prstGeom>
            </p:spPr>
            <p:txBody>
              <a:bodyPr anchor="ctr" rtlCol="false" tIns="50800" lIns="50800" bIns="50800" rIns="50800"/>
              <a:lstStyle/>
              <a:p>
                <a:pPr algn="ctr" marL="0" indent="0" lvl="0">
                  <a:lnSpc>
                    <a:spcPts val="2659"/>
                  </a:lnSpc>
                </a:pPr>
              </a:p>
            </p:txBody>
          </p:sp>
        </p:grpSp>
        <p:sp>
          <p:nvSpPr>
            <p:cNvPr name="TextBox 34" id="34"/>
            <p:cNvSpPr txBox="true"/>
            <p:nvPr/>
          </p:nvSpPr>
          <p:spPr>
            <a:xfrm rot="0">
              <a:off x="175623" y="235561"/>
              <a:ext cx="644736" cy="486783"/>
            </a:xfrm>
            <a:prstGeom prst="rect">
              <a:avLst/>
            </a:prstGeom>
          </p:spPr>
          <p:txBody>
            <a:bodyPr anchor="t" rtlCol="false" tIns="0" lIns="0" bIns="0" rIns="0">
              <a:spAutoFit/>
            </a:bodyPr>
            <a:lstStyle/>
            <a:p>
              <a:pPr algn="ctr" marL="0" indent="0" lvl="0">
                <a:lnSpc>
                  <a:spcPts val="2870"/>
                </a:lnSpc>
              </a:pPr>
              <a:r>
                <a:rPr lang="en-US" sz="2225" spc="-6">
                  <a:solidFill>
                    <a:srgbClr val="FFFFFF"/>
                  </a:solidFill>
                  <a:latin typeface="Poppins"/>
                  <a:ea typeface="Poppins"/>
                  <a:cs typeface="Poppins"/>
                  <a:sym typeface="Poppins"/>
                </a:rPr>
                <a:t>01</a:t>
              </a:r>
            </a:p>
          </p:txBody>
        </p:sp>
      </p:grpSp>
      <p:grpSp>
        <p:nvGrpSpPr>
          <p:cNvPr name="Group 35" id="35"/>
          <p:cNvGrpSpPr/>
          <p:nvPr/>
        </p:nvGrpSpPr>
        <p:grpSpPr>
          <a:xfrm rot="0">
            <a:off x="8047037" y="4926023"/>
            <a:ext cx="746986" cy="747004"/>
            <a:chOff x="0" y="0"/>
            <a:chExt cx="995981" cy="996005"/>
          </a:xfrm>
        </p:grpSpPr>
        <p:grpSp>
          <p:nvGrpSpPr>
            <p:cNvPr name="Group 36" id="36"/>
            <p:cNvGrpSpPr/>
            <p:nvPr/>
          </p:nvGrpSpPr>
          <p:grpSpPr>
            <a:xfrm rot="0">
              <a:off x="0" y="0"/>
              <a:ext cx="995981" cy="996005"/>
              <a:chOff x="0" y="0"/>
              <a:chExt cx="812800" cy="812819"/>
            </a:xfrm>
          </p:grpSpPr>
          <p:sp>
            <p:nvSpPr>
              <p:cNvPr name="Freeform 37" id="37"/>
              <p:cNvSpPr/>
              <p:nvPr/>
            </p:nvSpPr>
            <p:spPr>
              <a:xfrm flipH="false" flipV="false" rot="0">
                <a:off x="0" y="0"/>
                <a:ext cx="812800" cy="812819"/>
              </a:xfrm>
              <a:custGeom>
                <a:avLst/>
                <a:gdLst/>
                <a:ahLst/>
                <a:cxnLst/>
                <a:rect r="r" b="b" t="t" l="l"/>
                <a:pathLst>
                  <a:path h="812819" w="812800">
                    <a:moveTo>
                      <a:pt x="406400" y="0"/>
                    </a:moveTo>
                    <a:cubicBezTo>
                      <a:pt x="181951" y="0"/>
                      <a:pt x="0" y="181956"/>
                      <a:pt x="0" y="406410"/>
                    </a:cubicBezTo>
                    <a:cubicBezTo>
                      <a:pt x="0" y="630864"/>
                      <a:pt x="181951" y="812819"/>
                      <a:pt x="406400" y="812819"/>
                    </a:cubicBezTo>
                    <a:cubicBezTo>
                      <a:pt x="630849" y="812819"/>
                      <a:pt x="812800" y="630864"/>
                      <a:pt x="812800" y="406410"/>
                    </a:cubicBezTo>
                    <a:cubicBezTo>
                      <a:pt x="812800" y="181956"/>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38" id="38"/>
              <p:cNvSpPr txBox="true"/>
              <p:nvPr/>
            </p:nvSpPr>
            <p:spPr>
              <a:xfrm>
                <a:off x="76200" y="38102"/>
                <a:ext cx="660400" cy="698516"/>
              </a:xfrm>
              <a:prstGeom prst="rect">
                <a:avLst/>
              </a:prstGeom>
            </p:spPr>
            <p:txBody>
              <a:bodyPr anchor="ctr" rtlCol="false" tIns="50800" lIns="50800" bIns="50800" rIns="50800"/>
              <a:lstStyle/>
              <a:p>
                <a:pPr algn="ctr" marL="0" indent="0" lvl="0">
                  <a:lnSpc>
                    <a:spcPts val="2659"/>
                  </a:lnSpc>
                </a:pPr>
              </a:p>
            </p:txBody>
          </p:sp>
        </p:grpSp>
        <p:sp>
          <p:nvSpPr>
            <p:cNvPr name="TextBox 39" id="39"/>
            <p:cNvSpPr txBox="true"/>
            <p:nvPr/>
          </p:nvSpPr>
          <p:spPr>
            <a:xfrm rot="0">
              <a:off x="175623" y="235561"/>
              <a:ext cx="644736" cy="486783"/>
            </a:xfrm>
            <a:prstGeom prst="rect">
              <a:avLst/>
            </a:prstGeom>
          </p:spPr>
          <p:txBody>
            <a:bodyPr anchor="t" rtlCol="false" tIns="0" lIns="0" bIns="0" rIns="0">
              <a:spAutoFit/>
            </a:bodyPr>
            <a:lstStyle/>
            <a:p>
              <a:pPr algn="ctr" marL="0" indent="0" lvl="0">
                <a:lnSpc>
                  <a:spcPts val="2870"/>
                </a:lnSpc>
              </a:pPr>
              <a:r>
                <a:rPr lang="en-US" sz="2225" spc="-6">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02</a:t>
              </a:r>
            </a:p>
          </p:txBody>
        </p:sp>
      </p:grpSp>
      <p:grpSp>
        <p:nvGrpSpPr>
          <p:cNvPr name="Group 40" id="40"/>
          <p:cNvGrpSpPr/>
          <p:nvPr/>
        </p:nvGrpSpPr>
        <p:grpSpPr>
          <a:xfrm rot="0">
            <a:off x="11919608" y="4926023"/>
            <a:ext cx="746986" cy="747004"/>
            <a:chOff x="0" y="0"/>
            <a:chExt cx="995981" cy="996005"/>
          </a:xfrm>
        </p:grpSpPr>
        <p:grpSp>
          <p:nvGrpSpPr>
            <p:cNvPr name="Group 41" id="41"/>
            <p:cNvGrpSpPr/>
            <p:nvPr/>
          </p:nvGrpSpPr>
          <p:grpSpPr>
            <a:xfrm rot="0">
              <a:off x="0" y="0"/>
              <a:ext cx="995981" cy="996005"/>
              <a:chOff x="0" y="0"/>
              <a:chExt cx="812800" cy="812819"/>
            </a:xfrm>
          </p:grpSpPr>
          <p:sp>
            <p:nvSpPr>
              <p:cNvPr name="Freeform 42" id="42"/>
              <p:cNvSpPr/>
              <p:nvPr/>
            </p:nvSpPr>
            <p:spPr>
              <a:xfrm flipH="false" flipV="false" rot="0">
                <a:off x="0" y="0"/>
                <a:ext cx="812800" cy="812819"/>
              </a:xfrm>
              <a:custGeom>
                <a:avLst/>
                <a:gdLst/>
                <a:ahLst/>
                <a:cxnLst/>
                <a:rect r="r" b="b" t="t" l="l"/>
                <a:pathLst>
                  <a:path h="812819" w="812800">
                    <a:moveTo>
                      <a:pt x="406400" y="0"/>
                    </a:moveTo>
                    <a:cubicBezTo>
                      <a:pt x="181951" y="0"/>
                      <a:pt x="0" y="181956"/>
                      <a:pt x="0" y="406410"/>
                    </a:cubicBezTo>
                    <a:cubicBezTo>
                      <a:pt x="0" y="630864"/>
                      <a:pt x="181951" y="812819"/>
                      <a:pt x="406400" y="812819"/>
                    </a:cubicBezTo>
                    <a:cubicBezTo>
                      <a:pt x="630849" y="812819"/>
                      <a:pt x="812800" y="630864"/>
                      <a:pt x="812800" y="406410"/>
                    </a:cubicBezTo>
                    <a:cubicBezTo>
                      <a:pt x="812800" y="181956"/>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sq">
                <a:noFill/>
                <a:prstDash val="solid"/>
                <a:miter/>
              </a:ln>
            </p:spPr>
          </p:sp>
          <p:sp>
            <p:nvSpPr>
              <p:cNvPr name="TextBox 43" id="43"/>
              <p:cNvSpPr txBox="true"/>
              <p:nvPr/>
            </p:nvSpPr>
            <p:spPr>
              <a:xfrm>
                <a:off x="76200" y="38102"/>
                <a:ext cx="660400" cy="698516"/>
              </a:xfrm>
              <a:prstGeom prst="rect">
                <a:avLst/>
              </a:prstGeom>
            </p:spPr>
            <p:txBody>
              <a:bodyPr anchor="ctr" rtlCol="false" tIns="50800" lIns="50800" bIns="50800" rIns="50800"/>
              <a:lstStyle/>
              <a:p>
                <a:pPr algn="ctr" marL="0" indent="0" lvl="0">
                  <a:lnSpc>
                    <a:spcPts val="2659"/>
                  </a:lnSpc>
                </a:pPr>
              </a:p>
            </p:txBody>
          </p:sp>
        </p:grpSp>
        <p:sp>
          <p:nvSpPr>
            <p:cNvPr name="TextBox 44" id="44"/>
            <p:cNvSpPr txBox="true"/>
            <p:nvPr/>
          </p:nvSpPr>
          <p:spPr>
            <a:xfrm rot="0">
              <a:off x="175623" y="235561"/>
              <a:ext cx="644736" cy="486783"/>
            </a:xfrm>
            <a:prstGeom prst="rect">
              <a:avLst/>
            </a:prstGeom>
          </p:spPr>
          <p:txBody>
            <a:bodyPr anchor="t" rtlCol="false" tIns="0" lIns="0" bIns="0" rIns="0">
              <a:spAutoFit/>
            </a:bodyPr>
            <a:lstStyle/>
            <a:p>
              <a:pPr algn="ctr" marL="0" indent="0" lvl="0">
                <a:lnSpc>
                  <a:spcPts val="2870"/>
                </a:lnSpc>
              </a:pPr>
              <a:r>
                <a:rPr lang="en-US" sz="2225" spc="-6">
                  <a:solidFill>
                    <a:srgbClr val="FFFFFF"/>
                  </a:solidFill>
                  <a:latin typeface="Poppins"/>
                  <a:ea typeface="Poppins"/>
                  <a:cs typeface="Poppins"/>
                  <a:sym typeface="Poppins"/>
                </a:rPr>
                <a:t>03</a:t>
              </a:r>
            </a:p>
          </p:txBody>
        </p:sp>
      </p:grpSp>
      <p:grpSp>
        <p:nvGrpSpPr>
          <p:cNvPr name="Group 45" id="45"/>
          <p:cNvGrpSpPr/>
          <p:nvPr/>
        </p:nvGrpSpPr>
        <p:grpSpPr>
          <a:xfrm rot="0">
            <a:off x="15791068" y="4926023"/>
            <a:ext cx="746986" cy="747004"/>
            <a:chOff x="0" y="0"/>
            <a:chExt cx="995981" cy="996005"/>
          </a:xfrm>
        </p:grpSpPr>
        <p:grpSp>
          <p:nvGrpSpPr>
            <p:cNvPr name="Group 46" id="46"/>
            <p:cNvGrpSpPr/>
            <p:nvPr/>
          </p:nvGrpSpPr>
          <p:grpSpPr>
            <a:xfrm rot="0">
              <a:off x="0" y="0"/>
              <a:ext cx="995981" cy="996005"/>
              <a:chOff x="0" y="0"/>
              <a:chExt cx="812800" cy="812819"/>
            </a:xfrm>
          </p:grpSpPr>
          <p:sp>
            <p:nvSpPr>
              <p:cNvPr name="Freeform 47" id="47"/>
              <p:cNvSpPr/>
              <p:nvPr/>
            </p:nvSpPr>
            <p:spPr>
              <a:xfrm flipH="false" flipV="false" rot="0">
                <a:off x="0" y="0"/>
                <a:ext cx="812800" cy="812819"/>
              </a:xfrm>
              <a:custGeom>
                <a:avLst/>
                <a:gdLst/>
                <a:ahLst/>
                <a:cxnLst/>
                <a:rect r="r" b="b" t="t" l="l"/>
                <a:pathLst>
                  <a:path h="812819" w="812800">
                    <a:moveTo>
                      <a:pt x="406400" y="0"/>
                    </a:moveTo>
                    <a:cubicBezTo>
                      <a:pt x="181951" y="0"/>
                      <a:pt x="0" y="181956"/>
                      <a:pt x="0" y="406410"/>
                    </a:cubicBezTo>
                    <a:cubicBezTo>
                      <a:pt x="0" y="630864"/>
                      <a:pt x="181951" y="812819"/>
                      <a:pt x="406400" y="812819"/>
                    </a:cubicBezTo>
                    <a:cubicBezTo>
                      <a:pt x="630849" y="812819"/>
                      <a:pt x="812800" y="630864"/>
                      <a:pt x="812800" y="406410"/>
                    </a:cubicBezTo>
                    <a:cubicBezTo>
                      <a:pt x="812800" y="181956"/>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l="0" r="100000" t="0" b="100000"/>
                  </a:path>
                  <a:tileRect r="0" l="-100000" b="0" t="-100000"/>
                </a:gradFill>
                <a:prstDash val="solid"/>
                <a:miter/>
              </a:ln>
            </p:spPr>
          </p:sp>
          <p:sp>
            <p:nvSpPr>
              <p:cNvPr name="TextBox 48" id="48"/>
              <p:cNvSpPr txBox="true"/>
              <p:nvPr/>
            </p:nvSpPr>
            <p:spPr>
              <a:xfrm>
                <a:off x="76200" y="38102"/>
                <a:ext cx="660400" cy="698516"/>
              </a:xfrm>
              <a:prstGeom prst="rect">
                <a:avLst/>
              </a:prstGeom>
            </p:spPr>
            <p:txBody>
              <a:bodyPr anchor="ctr" rtlCol="false" tIns="50800" lIns="50800" bIns="50800" rIns="50800"/>
              <a:lstStyle/>
              <a:p>
                <a:pPr algn="ctr" marL="0" indent="0" lvl="0">
                  <a:lnSpc>
                    <a:spcPts val="2659"/>
                  </a:lnSpc>
                </a:pPr>
              </a:p>
            </p:txBody>
          </p:sp>
        </p:grpSp>
        <p:sp>
          <p:nvSpPr>
            <p:cNvPr name="TextBox 49" id="49"/>
            <p:cNvSpPr txBox="true"/>
            <p:nvPr/>
          </p:nvSpPr>
          <p:spPr>
            <a:xfrm rot="0">
              <a:off x="175623" y="235561"/>
              <a:ext cx="644736" cy="486783"/>
            </a:xfrm>
            <a:prstGeom prst="rect">
              <a:avLst/>
            </a:prstGeom>
          </p:spPr>
          <p:txBody>
            <a:bodyPr anchor="t" rtlCol="false" tIns="0" lIns="0" bIns="0" rIns="0">
              <a:spAutoFit/>
            </a:bodyPr>
            <a:lstStyle/>
            <a:p>
              <a:pPr algn="ctr" marL="0" indent="0" lvl="0">
                <a:lnSpc>
                  <a:spcPts val="2870"/>
                </a:lnSpc>
              </a:pPr>
              <a:r>
                <a:rPr lang="en-US" sz="2225" spc="-6">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04</a:t>
              </a:r>
            </a:p>
          </p:txBody>
        </p:sp>
      </p:grpSp>
      <p:sp>
        <p:nvSpPr>
          <p:cNvPr name="TextBox 50" id="50"/>
          <p:cNvSpPr txBox="true"/>
          <p:nvPr/>
        </p:nvSpPr>
        <p:spPr>
          <a:xfrm rot="0">
            <a:off x="3363658" y="1957866"/>
            <a:ext cx="11560683" cy="847193"/>
          </a:xfrm>
          <a:prstGeom prst="rect">
            <a:avLst/>
          </a:prstGeom>
        </p:spPr>
        <p:txBody>
          <a:bodyPr anchor="t" rtlCol="false" tIns="0" lIns="0" bIns="0" rIns="0">
            <a:spAutoFit/>
          </a:bodyPr>
          <a:lstStyle/>
          <a:p>
            <a:pPr algn="ctr" marL="0" indent="0" lvl="0">
              <a:lnSpc>
                <a:spcPts val="6329"/>
              </a:lnSpc>
            </a:pPr>
            <a:r>
              <a:rPr lang="en-US" sz="6458" spc="-413">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Records View &amp; Admin Dashboard</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33665" y="4840814"/>
            <a:ext cx="3625123" cy="3738500"/>
          </a:xfrm>
          <a:prstGeom prst="rect">
            <a:avLst/>
          </a:prstGeom>
        </p:spPr>
        <p:txBody>
          <a:bodyPr anchor="t" rtlCol="false" tIns="0" lIns="0" bIns="0" rIns="0">
            <a:spAutoFit/>
          </a:bodyPr>
          <a:lstStyle/>
          <a:p>
            <a:pPr algn="l" marL="0" indent="0" lvl="0">
              <a:lnSpc>
                <a:spcPts val="3743"/>
              </a:lnSpc>
            </a:pPr>
            <a:r>
              <a:rPr lang="en-US" sz="1497" spc="-95">
                <a:solidFill>
                  <a:srgbClr val="3A58E4"/>
                </a:solidFill>
                <a:latin typeface="Poppins"/>
                <a:ea typeface="Poppins"/>
                <a:cs typeface="Poppins"/>
                <a:sym typeface="Poppins"/>
              </a:rPr>
              <a:t>ENDPOINT</a:t>
            </a:r>
          </a:p>
          <a:p>
            <a:pPr algn="l" marL="0" indent="0" lvl="0">
              <a:lnSpc>
                <a:spcPts val="3743"/>
              </a:lnSpc>
            </a:pPr>
            <a:r>
              <a:rPr lang="en-US" sz="1497" spc="-95">
                <a:solidFill>
                  <a:srgbClr val="3A58E4"/>
                </a:solidFill>
                <a:latin typeface="Poppins"/>
                <a:ea typeface="Poppins"/>
                <a:cs typeface="Poppins"/>
                <a:sym typeface="Poppins"/>
              </a:rPr>
              <a:t>/api/auth/login</a:t>
            </a:r>
          </a:p>
          <a:p>
            <a:pPr algn="l" marL="0" indent="0" lvl="0">
              <a:lnSpc>
                <a:spcPts val="3743"/>
              </a:lnSpc>
            </a:pPr>
            <a:r>
              <a:rPr lang="en-US" sz="1497" spc="-95">
                <a:solidFill>
                  <a:srgbClr val="3A58E4"/>
                </a:solidFill>
                <a:latin typeface="Poppins"/>
                <a:ea typeface="Poppins"/>
                <a:cs typeface="Poppins"/>
                <a:sym typeface="Poppins"/>
              </a:rPr>
              <a:t>/api/auth/register</a:t>
            </a:r>
          </a:p>
          <a:p>
            <a:pPr algn="l" marL="0" indent="0" lvl="0">
              <a:lnSpc>
                <a:spcPts val="3743"/>
              </a:lnSpc>
            </a:pPr>
            <a:r>
              <a:rPr lang="en-US" sz="1497" spc="-95">
                <a:solidFill>
                  <a:srgbClr val="3A58E4"/>
                </a:solidFill>
                <a:latin typeface="Poppins"/>
                <a:ea typeface="Poppins"/>
                <a:cs typeface="Poppins"/>
                <a:sym typeface="Poppins"/>
              </a:rPr>
              <a:t>/api/measurements/bulk</a:t>
            </a:r>
          </a:p>
          <a:p>
            <a:pPr algn="l" marL="0" indent="0" lvl="0">
              <a:lnSpc>
                <a:spcPts val="3743"/>
              </a:lnSpc>
            </a:pPr>
            <a:r>
              <a:rPr lang="en-US" sz="1497" spc="-95">
                <a:solidFill>
                  <a:srgbClr val="3A58E4"/>
                </a:solidFill>
                <a:latin typeface="Poppins"/>
                <a:ea typeface="Poppins"/>
                <a:cs typeface="Poppins"/>
                <a:sym typeface="Poppins"/>
              </a:rPr>
              <a:t>/api/measurements/user</a:t>
            </a:r>
          </a:p>
          <a:p>
            <a:pPr algn="l" marL="0" indent="0" lvl="0">
              <a:lnSpc>
                <a:spcPts val="3743"/>
              </a:lnSpc>
            </a:pPr>
            <a:r>
              <a:rPr lang="en-US" sz="1497" spc="-95">
                <a:solidFill>
                  <a:srgbClr val="3A58E4"/>
                </a:solidFill>
                <a:latin typeface="Poppins"/>
                <a:ea typeface="Poppins"/>
                <a:cs typeface="Poppins"/>
                <a:sym typeface="Poppins"/>
              </a:rPr>
              <a:t>/api/admin/measurements</a:t>
            </a:r>
          </a:p>
          <a:p>
            <a:pPr algn="l" marL="0" indent="0" lvl="0">
              <a:lnSpc>
                <a:spcPts val="3743"/>
              </a:lnSpc>
            </a:pPr>
            <a:r>
              <a:rPr lang="en-US" sz="1497" spc="-95">
                <a:solidFill>
                  <a:srgbClr val="3A58E4"/>
                </a:solidFill>
                <a:latin typeface="Poppins"/>
                <a:ea typeface="Poppins"/>
                <a:cs typeface="Poppins"/>
                <a:sym typeface="Poppins"/>
              </a:rPr>
              <a:t>/api/admin/heatmap</a:t>
            </a:r>
          </a:p>
          <a:p>
            <a:pPr algn="l" marL="0" indent="0" lvl="0">
              <a:lnSpc>
                <a:spcPts val="3743"/>
              </a:lnSpc>
            </a:pPr>
            <a:r>
              <a:rPr lang="en-US" sz="1497" spc="-95">
                <a:solidFill>
                  <a:srgbClr val="3A58E4"/>
                </a:solidFill>
                <a:latin typeface="Poppins"/>
                <a:ea typeface="Poppins"/>
                <a:cs typeface="Poppins"/>
                <a:sym typeface="Poppins"/>
              </a:rPr>
              <a:t>/api/admin/stats</a:t>
            </a:r>
          </a:p>
        </p:txBody>
      </p:sp>
      <p:sp>
        <p:nvSpPr>
          <p:cNvPr name="AutoShape 3" id="3"/>
          <p:cNvSpPr/>
          <p:nvPr/>
        </p:nvSpPr>
        <p:spPr>
          <a:xfrm>
            <a:off x="4188847" y="5233301"/>
            <a:ext cx="3866216" cy="0"/>
          </a:xfrm>
          <a:prstGeom prst="line">
            <a:avLst/>
          </a:prstGeom>
          <a:ln cap="rnd" w="9525">
            <a:solidFill>
              <a:srgbClr val="3A58E4"/>
            </a:solidFill>
            <a:prstDash val="solid"/>
            <a:headEnd type="none" len="sm" w="sm"/>
            <a:tailEnd type="none" len="sm" w="sm"/>
          </a:ln>
        </p:spPr>
      </p:sp>
      <p:sp>
        <p:nvSpPr>
          <p:cNvPr name="AutoShape 4" id="4"/>
          <p:cNvSpPr/>
          <p:nvPr/>
        </p:nvSpPr>
        <p:spPr>
          <a:xfrm>
            <a:off x="4188847" y="6026742"/>
            <a:ext cx="3866216" cy="0"/>
          </a:xfrm>
          <a:prstGeom prst="line">
            <a:avLst/>
          </a:prstGeom>
          <a:ln cap="rnd" w="9525">
            <a:solidFill>
              <a:srgbClr val="3A58E4"/>
            </a:solidFill>
            <a:prstDash val="solid"/>
            <a:headEnd type="none" len="sm" w="sm"/>
            <a:tailEnd type="none" len="sm" w="sm"/>
          </a:ln>
        </p:spPr>
      </p:sp>
      <p:sp>
        <p:nvSpPr>
          <p:cNvPr name="AutoShape 5" id="5"/>
          <p:cNvSpPr/>
          <p:nvPr/>
        </p:nvSpPr>
        <p:spPr>
          <a:xfrm>
            <a:off x="3875499" y="6820183"/>
            <a:ext cx="4179564" cy="0"/>
          </a:xfrm>
          <a:prstGeom prst="line">
            <a:avLst/>
          </a:prstGeom>
          <a:ln cap="rnd" w="9525">
            <a:solidFill>
              <a:srgbClr val="3A58E4"/>
            </a:solidFill>
            <a:prstDash val="solid"/>
            <a:headEnd type="none" len="sm" w="sm"/>
            <a:tailEnd type="none" len="sm" w="sm"/>
          </a:ln>
        </p:spPr>
      </p:sp>
      <p:sp>
        <p:nvSpPr>
          <p:cNvPr name="AutoShape 6" id="6"/>
          <p:cNvSpPr/>
          <p:nvPr/>
        </p:nvSpPr>
        <p:spPr>
          <a:xfrm>
            <a:off x="4355079" y="7611677"/>
            <a:ext cx="3699984" cy="0"/>
          </a:xfrm>
          <a:prstGeom prst="line">
            <a:avLst/>
          </a:prstGeom>
          <a:ln cap="rnd" w="9525">
            <a:solidFill>
              <a:srgbClr val="3A58E4"/>
            </a:solidFill>
            <a:prstDash val="solid"/>
            <a:headEnd type="none" len="sm" w="sm"/>
            <a:tailEnd type="none" len="sm" w="sm"/>
          </a:ln>
        </p:spPr>
      </p:sp>
      <p:sp>
        <p:nvSpPr>
          <p:cNvPr name="AutoShape 7" id="7"/>
          <p:cNvSpPr/>
          <p:nvPr/>
        </p:nvSpPr>
        <p:spPr>
          <a:xfrm>
            <a:off x="4883376" y="8403541"/>
            <a:ext cx="3171687" cy="0"/>
          </a:xfrm>
          <a:prstGeom prst="line">
            <a:avLst/>
          </a:prstGeom>
          <a:ln cap="rnd" w="9525">
            <a:solidFill>
              <a:srgbClr val="3A58E4"/>
            </a:solidFill>
            <a:prstDash val="solid"/>
            <a:headEnd type="none" len="sm" w="sm"/>
            <a:tailEnd type="none" len="sm" w="sm"/>
          </a:ln>
        </p:spPr>
      </p:sp>
      <p:sp>
        <p:nvSpPr>
          <p:cNvPr name="TextBox 8" id="8"/>
          <p:cNvSpPr txBox="true"/>
          <p:nvPr/>
        </p:nvSpPr>
        <p:spPr>
          <a:xfrm rot="0">
            <a:off x="8275007" y="4367604"/>
            <a:ext cx="504523" cy="4211710"/>
          </a:xfrm>
          <a:prstGeom prst="rect">
            <a:avLst/>
          </a:prstGeom>
        </p:spPr>
        <p:txBody>
          <a:bodyPr anchor="t" rtlCol="false" tIns="0" lIns="0" bIns="0" rIns="0">
            <a:spAutoFit/>
          </a:bodyPr>
          <a:lstStyle/>
          <a:p>
            <a:pPr algn="l" marL="0" indent="0" lvl="0">
              <a:lnSpc>
                <a:spcPts val="3743"/>
              </a:lnSpc>
            </a:pPr>
            <a:r>
              <a:rPr lang="en-US" sz="1497" spc="-95">
                <a:solidFill>
                  <a:srgbClr val="3A58E4"/>
                </a:solidFill>
                <a:latin typeface="Poppins"/>
                <a:ea typeface="Poppins"/>
                <a:cs typeface="Poppins"/>
                <a:sym typeface="Poppins"/>
              </a:rPr>
              <a:t>METHOD</a:t>
            </a:r>
          </a:p>
          <a:p>
            <a:pPr algn="l" marL="0" indent="0" lvl="0">
              <a:lnSpc>
                <a:spcPts val="3743"/>
              </a:lnSpc>
            </a:pPr>
            <a:r>
              <a:rPr lang="en-US" sz="1497" spc="-95">
                <a:solidFill>
                  <a:srgbClr val="3A58E4"/>
                </a:solidFill>
                <a:latin typeface="Poppins"/>
                <a:ea typeface="Poppins"/>
                <a:cs typeface="Poppins"/>
                <a:sym typeface="Poppins"/>
              </a:rPr>
              <a:t>POST</a:t>
            </a:r>
          </a:p>
          <a:p>
            <a:pPr algn="l" marL="0" indent="0" lvl="0">
              <a:lnSpc>
                <a:spcPts val="3743"/>
              </a:lnSpc>
            </a:pPr>
            <a:r>
              <a:rPr lang="en-US" sz="1497" spc="-95">
                <a:solidFill>
                  <a:srgbClr val="3A58E4"/>
                </a:solidFill>
                <a:latin typeface="Poppins"/>
                <a:ea typeface="Poppins"/>
                <a:cs typeface="Poppins"/>
                <a:sym typeface="Poppins"/>
              </a:rPr>
              <a:t>POST</a:t>
            </a:r>
          </a:p>
          <a:p>
            <a:pPr algn="l" marL="0" indent="0" lvl="0">
              <a:lnSpc>
                <a:spcPts val="3743"/>
              </a:lnSpc>
            </a:pPr>
            <a:r>
              <a:rPr lang="en-US" sz="1497" spc="-95">
                <a:solidFill>
                  <a:srgbClr val="3A58E4"/>
                </a:solidFill>
                <a:latin typeface="Poppins"/>
                <a:ea typeface="Poppins"/>
                <a:cs typeface="Poppins"/>
                <a:sym typeface="Poppins"/>
              </a:rPr>
              <a:t>POST</a:t>
            </a:r>
          </a:p>
          <a:p>
            <a:pPr algn="l" marL="0" indent="0" lvl="0">
              <a:lnSpc>
                <a:spcPts val="3743"/>
              </a:lnSpc>
            </a:pPr>
            <a:r>
              <a:rPr lang="en-US" sz="1497" spc="-95">
                <a:solidFill>
                  <a:srgbClr val="3A58E4"/>
                </a:solidFill>
                <a:latin typeface="Poppins"/>
                <a:ea typeface="Poppins"/>
                <a:cs typeface="Poppins"/>
                <a:sym typeface="Poppins"/>
              </a:rPr>
              <a:t>GET</a:t>
            </a:r>
          </a:p>
          <a:p>
            <a:pPr algn="l" marL="0" indent="0" lvl="0">
              <a:lnSpc>
                <a:spcPts val="3743"/>
              </a:lnSpc>
            </a:pPr>
            <a:r>
              <a:rPr lang="en-US" sz="1497" spc="-95">
                <a:solidFill>
                  <a:srgbClr val="3A58E4"/>
                </a:solidFill>
                <a:latin typeface="Poppins"/>
                <a:ea typeface="Poppins"/>
                <a:cs typeface="Poppins"/>
                <a:sym typeface="Poppins"/>
              </a:rPr>
              <a:t>GET</a:t>
            </a:r>
          </a:p>
          <a:p>
            <a:pPr algn="l" marL="0" indent="0" lvl="0">
              <a:lnSpc>
                <a:spcPts val="3743"/>
              </a:lnSpc>
            </a:pPr>
            <a:r>
              <a:rPr lang="en-US" sz="1497" spc="-95">
                <a:solidFill>
                  <a:srgbClr val="3A58E4"/>
                </a:solidFill>
                <a:latin typeface="Poppins"/>
                <a:ea typeface="Poppins"/>
                <a:cs typeface="Poppins"/>
                <a:sym typeface="Poppins"/>
              </a:rPr>
              <a:t>GET</a:t>
            </a:r>
          </a:p>
          <a:p>
            <a:pPr algn="l" marL="0" indent="0" lvl="0">
              <a:lnSpc>
                <a:spcPts val="3743"/>
              </a:lnSpc>
            </a:pPr>
            <a:r>
              <a:rPr lang="en-US" sz="1497" spc="-95">
                <a:solidFill>
                  <a:srgbClr val="3A58E4"/>
                </a:solidFill>
                <a:latin typeface="Poppins"/>
                <a:ea typeface="Poppins"/>
                <a:cs typeface="Poppins"/>
                <a:sym typeface="Poppins"/>
              </a:rPr>
              <a:t>GET</a:t>
            </a:r>
          </a:p>
        </p:txBody>
      </p:sp>
      <p:sp>
        <p:nvSpPr>
          <p:cNvPr name="TextBox 9" id="9"/>
          <p:cNvSpPr txBox="true"/>
          <p:nvPr/>
        </p:nvSpPr>
        <p:spPr>
          <a:xfrm rot="0">
            <a:off x="9452665" y="4840814"/>
            <a:ext cx="3625123" cy="3738500"/>
          </a:xfrm>
          <a:prstGeom prst="rect">
            <a:avLst/>
          </a:prstGeom>
        </p:spPr>
        <p:txBody>
          <a:bodyPr anchor="t" rtlCol="false" tIns="0" lIns="0" bIns="0" rIns="0">
            <a:spAutoFit/>
          </a:bodyPr>
          <a:lstStyle/>
          <a:p>
            <a:pPr algn="l" marL="0" indent="0" lvl="0">
              <a:lnSpc>
                <a:spcPts val="3743"/>
              </a:lnSpc>
            </a:pPr>
            <a:r>
              <a:rPr lang="en-US" sz="1497" spc="-95">
                <a:solidFill>
                  <a:srgbClr val="3A58E4"/>
                </a:solidFill>
                <a:latin typeface="Poppins"/>
                <a:ea typeface="Poppins"/>
                <a:cs typeface="Poppins"/>
                <a:sym typeface="Poppins"/>
              </a:rPr>
              <a:t>PURPOSE</a:t>
            </a:r>
          </a:p>
          <a:p>
            <a:pPr algn="l" marL="0" indent="0" lvl="0">
              <a:lnSpc>
                <a:spcPts val="3743"/>
              </a:lnSpc>
            </a:pPr>
            <a:r>
              <a:rPr lang="en-US" sz="1497" spc="-95">
                <a:solidFill>
                  <a:srgbClr val="3A58E4"/>
                </a:solidFill>
                <a:latin typeface="Poppins"/>
                <a:ea typeface="Poppins"/>
                <a:cs typeface="Poppins"/>
                <a:sym typeface="Poppins"/>
              </a:rPr>
              <a:t>Authenticate user, return JWT token</a:t>
            </a:r>
          </a:p>
          <a:p>
            <a:pPr algn="l" marL="0" indent="0" lvl="0">
              <a:lnSpc>
                <a:spcPts val="3743"/>
              </a:lnSpc>
            </a:pPr>
            <a:r>
              <a:rPr lang="en-US" sz="1497" spc="-95">
                <a:solidFill>
                  <a:srgbClr val="3A58E4"/>
                </a:solidFill>
                <a:latin typeface="Poppins"/>
                <a:ea typeface="Poppins"/>
                <a:cs typeface="Poppins"/>
                <a:sym typeface="Poppins"/>
              </a:rPr>
              <a:t>Create new subscriber account</a:t>
            </a:r>
          </a:p>
          <a:p>
            <a:pPr algn="l" marL="0" indent="0" lvl="0">
              <a:lnSpc>
                <a:spcPts val="3743"/>
              </a:lnSpc>
            </a:pPr>
            <a:r>
              <a:rPr lang="en-US" sz="1497" spc="-95">
                <a:solidFill>
                  <a:srgbClr val="3A58E4"/>
                </a:solidFill>
                <a:latin typeface="Poppins"/>
                <a:ea typeface="Poppins"/>
                <a:cs typeface="Poppins"/>
                <a:sym typeface="Poppins"/>
              </a:rPr>
              <a:t>Upload batch of measurements</a:t>
            </a:r>
          </a:p>
          <a:p>
            <a:pPr algn="l" marL="0" indent="0" lvl="0">
              <a:lnSpc>
                <a:spcPts val="3743"/>
              </a:lnSpc>
            </a:pPr>
            <a:r>
              <a:rPr lang="en-US" sz="1497" spc="-95">
                <a:solidFill>
                  <a:srgbClr val="3A58E4"/>
                </a:solidFill>
                <a:latin typeface="Poppins"/>
                <a:ea typeface="Poppins"/>
                <a:cs typeface="Poppins"/>
                <a:sym typeface="Poppins"/>
              </a:rPr>
              <a:t>Fetch current user's records</a:t>
            </a:r>
          </a:p>
          <a:p>
            <a:pPr algn="l" marL="0" indent="0" lvl="0">
              <a:lnSpc>
                <a:spcPts val="3743"/>
              </a:lnSpc>
            </a:pPr>
            <a:r>
              <a:rPr lang="en-US" sz="1497" spc="-95">
                <a:solidFill>
                  <a:srgbClr val="3A58E4"/>
                </a:solidFill>
                <a:latin typeface="Poppins"/>
                <a:ea typeface="Poppins"/>
                <a:cs typeface="Poppins"/>
                <a:sym typeface="Poppins"/>
              </a:rPr>
              <a:t>Admin: filter all measurements</a:t>
            </a:r>
          </a:p>
          <a:p>
            <a:pPr algn="l" marL="0" indent="0" lvl="0">
              <a:lnSpc>
                <a:spcPts val="3743"/>
              </a:lnSpc>
            </a:pPr>
            <a:r>
              <a:rPr lang="en-US" sz="1497" spc="-95">
                <a:solidFill>
                  <a:srgbClr val="3A58E4"/>
                </a:solidFill>
                <a:latin typeface="Poppins"/>
                <a:ea typeface="Poppins"/>
                <a:cs typeface="Poppins"/>
                <a:sym typeface="Poppins"/>
              </a:rPr>
              <a:t>Admin: geospatial heatmap data</a:t>
            </a:r>
          </a:p>
          <a:p>
            <a:pPr algn="l" marL="0" indent="0" lvl="0">
              <a:lnSpc>
                <a:spcPts val="3743"/>
              </a:lnSpc>
            </a:pPr>
            <a:r>
              <a:rPr lang="en-US" sz="1497" spc="-95">
                <a:solidFill>
                  <a:srgbClr val="3A58E4"/>
                </a:solidFill>
                <a:latin typeface="Poppins"/>
                <a:ea typeface="Poppins"/>
                <a:cs typeface="Poppins"/>
                <a:sym typeface="Poppins"/>
              </a:rPr>
              <a:t>Admin: aggregated statistics</a:t>
            </a:r>
          </a:p>
        </p:txBody>
      </p:sp>
      <p:sp>
        <p:nvSpPr>
          <p:cNvPr name="AutoShape 10" id="10"/>
          <p:cNvSpPr/>
          <p:nvPr/>
        </p:nvSpPr>
        <p:spPr>
          <a:xfrm flipV="true">
            <a:off x="12399512" y="5233301"/>
            <a:ext cx="4174552" cy="0"/>
          </a:xfrm>
          <a:prstGeom prst="line">
            <a:avLst/>
          </a:prstGeom>
          <a:ln cap="rnd" w="9525">
            <a:solidFill>
              <a:srgbClr val="3A58E4"/>
            </a:solidFill>
            <a:prstDash val="solid"/>
            <a:headEnd type="none" len="sm" w="sm"/>
            <a:tailEnd type="none" len="sm" w="sm"/>
          </a:ln>
        </p:spPr>
      </p:sp>
      <p:sp>
        <p:nvSpPr>
          <p:cNvPr name="AutoShape 11" id="11"/>
          <p:cNvSpPr/>
          <p:nvPr/>
        </p:nvSpPr>
        <p:spPr>
          <a:xfrm flipV="true">
            <a:off x="13077788" y="6026742"/>
            <a:ext cx="3496276" cy="0"/>
          </a:xfrm>
          <a:prstGeom prst="line">
            <a:avLst/>
          </a:prstGeom>
          <a:ln cap="rnd" w="9525">
            <a:solidFill>
              <a:srgbClr val="3A58E4"/>
            </a:solidFill>
            <a:prstDash val="solid"/>
            <a:headEnd type="none" len="sm" w="sm"/>
            <a:tailEnd type="none" len="sm" w="sm"/>
          </a:ln>
        </p:spPr>
      </p:sp>
      <p:sp>
        <p:nvSpPr>
          <p:cNvPr name="AutoShape 12" id="12"/>
          <p:cNvSpPr/>
          <p:nvPr/>
        </p:nvSpPr>
        <p:spPr>
          <a:xfrm>
            <a:off x="12714894" y="6820183"/>
            <a:ext cx="3859170" cy="0"/>
          </a:xfrm>
          <a:prstGeom prst="line">
            <a:avLst/>
          </a:prstGeom>
          <a:ln cap="rnd" w="9525">
            <a:solidFill>
              <a:srgbClr val="3A58E4"/>
            </a:solidFill>
            <a:prstDash val="solid"/>
            <a:headEnd type="none" len="sm" w="sm"/>
            <a:tailEnd type="none" len="sm" w="sm"/>
          </a:ln>
        </p:spPr>
      </p:sp>
      <p:sp>
        <p:nvSpPr>
          <p:cNvPr name="AutoShape 13" id="13"/>
          <p:cNvSpPr/>
          <p:nvPr/>
        </p:nvSpPr>
        <p:spPr>
          <a:xfrm>
            <a:off x="11908397" y="7611677"/>
            <a:ext cx="4665667" cy="0"/>
          </a:xfrm>
          <a:prstGeom prst="line">
            <a:avLst/>
          </a:prstGeom>
          <a:ln cap="rnd" w="9525">
            <a:solidFill>
              <a:srgbClr val="3A58E4"/>
            </a:solidFill>
            <a:prstDash val="solid"/>
            <a:headEnd type="none" len="sm" w="sm"/>
            <a:tailEnd type="none" len="sm" w="sm"/>
          </a:ln>
        </p:spPr>
      </p:sp>
      <p:sp>
        <p:nvSpPr>
          <p:cNvPr name="AutoShape 14" id="14"/>
          <p:cNvSpPr/>
          <p:nvPr/>
        </p:nvSpPr>
        <p:spPr>
          <a:xfrm>
            <a:off x="13077788" y="8403541"/>
            <a:ext cx="3496276" cy="0"/>
          </a:xfrm>
          <a:prstGeom prst="line">
            <a:avLst/>
          </a:prstGeom>
          <a:ln cap="rnd" w="9525">
            <a:solidFill>
              <a:srgbClr val="3A58E4"/>
            </a:solidFill>
            <a:prstDash val="solid"/>
            <a:headEnd type="none" len="sm" w="sm"/>
            <a:tailEnd type="none" len="sm" w="sm"/>
          </a:ln>
        </p:spPr>
      </p:sp>
      <p:sp>
        <p:nvSpPr>
          <p:cNvPr name="TextBox 15" id="15"/>
          <p:cNvSpPr txBox="true"/>
          <p:nvPr/>
        </p:nvSpPr>
        <p:spPr>
          <a:xfrm rot="0">
            <a:off x="16794008" y="3421184"/>
            <a:ext cx="560327" cy="5158130"/>
          </a:xfrm>
          <a:prstGeom prst="rect">
            <a:avLst/>
          </a:prstGeom>
        </p:spPr>
        <p:txBody>
          <a:bodyPr anchor="t" rtlCol="false" tIns="0" lIns="0" bIns="0" rIns="0">
            <a:spAutoFit/>
          </a:bodyPr>
          <a:lstStyle/>
          <a:p>
            <a:pPr algn="l" marL="0" indent="0" lvl="0">
              <a:lnSpc>
                <a:spcPts val="3743"/>
              </a:lnSpc>
            </a:pPr>
            <a:r>
              <a:rPr lang="en-US" sz="1497" spc="-95">
                <a:solidFill>
                  <a:srgbClr val="3A58E4"/>
                </a:solidFill>
                <a:latin typeface="Poppins"/>
                <a:ea typeface="Poppins"/>
                <a:cs typeface="Poppins"/>
                <a:sym typeface="Poppins"/>
              </a:rPr>
              <a:t>AUTH</a:t>
            </a:r>
          </a:p>
          <a:p>
            <a:pPr algn="l" marL="0" indent="0" lvl="0">
              <a:lnSpc>
                <a:spcPts val="3743"/>
              </a:lnSpc>
            </a:pPr>
            <a:r>
              <a:rPr lang="en-US" sz="1497" spc="-95">
                <a:solidFill>
                  <a:srgbClr val="3A58E4"/>
                </a:solidFill>
                <a:latin typeface="Poppins"/>
                <a:ea typeface="Poppins"/>
                <a:cs typeface="Poppins"/>
                <a:sym typeface="Poppins"/>
              </a:rPr>
              <a:t>Public</a:t>
            </a:r>
          </a:p>
          <a:p>
            <a:pPr algn="l" marL="0" indent="0" lvl="0">
              <a:lnSpc>
                <a:spcPts val="3743"/>
              </a:lnSpc>
            </a:pPr>
            <a:r>
              <a:rPr lang="en-US" sz="1497" spc="-95">
                <a:solidFill>
                  <a:srgbClr val="3A58E4"/>
                </a:solidFill>
                <a:latin typeface="Poppins"/>
                <a:ea typeface="Poppins"/>
                <a:cs typeface="Poppins"/>
                <a:sym typeface="Poppins"/>
              </a:rPr>
              <a:t>Public</a:t>
            </a:r>
          </a:p>
          <a:p>
            <a:pPr algn="l" marL="0" indent="0" lvl="0">
              <a:lnSpc>
                <a:spcPts val="3743"/>
              </a:lnSpc>
            </a:pPr>
            <a:r>
              <a:rPr lang="en-US" sz="1497" spc="-95">
                <a:solidFill>
                  <a:srgbClr val="3A58E4"/>
                </a:solidFill>
                <a:latin typeface="Poppins"/>
                <a:ea typeface="Poppins"/>
                <a:cs typeface="Poppins"/>
                <a:sym typeface="Poppins"/>
              </a:rPr>
              <a:t>JWT</a:t>
            </a:r>
          </a:p>
          <a:p>
            <a:pPr algn="l" marL="0" indent="0" lvl="0">
              <a:lnSpc>
                <a:spcPts val="3743"/>
              </a:lnSpc>
            </a:pPr>
            <a:r>
              <a:rPr lang="en-US" sz="1497" spc="-95">
                <a:solidFill>
                  <a:srgbClr val="3A58E4"/>
                </a:solidFill>
                <a:latin typeface="Poppins"/>
                <a:ea typeface="Poppins"/>
                <a:cs typeface="Poppins"/>
                <a:sym typeface="Poppins"/>
              </a:rPr>
              <a:t>JWT</a:t>
            </a:r>
          </a:p>
          <a:p>
            <a:pPr algn="l" marL="0" indent="0" lvl="0">
              <a:lnSpc>
                <a:spcPts val="3743"/>
              </a:lnSpc>
            </a:pPr>
            <a:r>
              <a:rPr lang="en-US" sz="1497" spc="-95">
                <a:solidFill>
                  <a:srgbClr val="3A58E4"/>
                </a:solidFill>
                <a:latin typeface="Poppins"/>
                <a:ea typeface="Poppins"/>
                <a:cs typeface="Poppins"/>
                <a:sym typeface="Poppins"/>
              </a:rPr>
              <a:t>Admin JWT</a:t>
            </a:r>
          </a:p>
          <a:p>
            <a:pPr algn="l" marL="0" indent="0" lvl="0">
              <a:lnSpc>
                <a:spcPts val="3743"/>
              </a:lnSpc>
            </a:pPr>
            <a:r>
              <a:rPr lang="en-US" sz="1497" spc="-95">
                <a:solidFill>
                  <a:srgbClr val="3A58E4"/>
                </a:solidFill>
                <a:latin typeface="Poppins"/>
                <a:ea typeface="Poppins"/>
                <a:cs typeface="Poppins"/>
                <a:sym typeface="Poppins"/>
              </a:rPr>
              <a:t>Admin JWT</a:t>
            </a:r>
          </a:p>
          <a:p>
            <a:pPr algn="l" marL="0" indent="0" lvl="0">
              <a:lnSpc>
                <a:spcPts val="3743"/>
              </a:lnSpc>
            </a:pPr>
            <a:r>
              <a:rPr lang="en-US" sz="1497" spc="-95">
                <a:solidFill>
                  <a:srgbClr val="3A58E4"/>
                </a:solidFill>
                <a:latin typeface="Poppins"/>
                <a:ea typeface="Poppins"/>
                <a:cs typeface="Poppins"/>
                <a:sym typeface="Poppins"/>
              </a:rPr>
              <a:t>Admin JWT</a:t>
            </a:r>
          </a:p>
        </p:txBody>
      </p:sp>
      <p:grpSp>
        <p:nvGrpSpPr>
          <p:cNvPr name="Group 16" id="16"/>
          <p:cNvGrpSpPr/>
          <p:nvPr/>
        </p:nvGrpSpPr>
        <p:grpSpPr>
          <a:xfrm rot="0">
            <a:off x="4208579" y="3311917"/>
            <a:ext cx="9870843" cy="379246"/>
            <a:chOff x="0" y="0"/>
            <a:chExt cx="13161124" cy="505662"/>
          </a:xfrm>
        </p:grpSpPr>
        <p:sp>
          <p:nvSpPr>
            <p:cNvPr name="TextBox 17" id="17"/>
            <p:cNvSpPr txBox="true"/>
            <p:nvPr/>
          </p:nvSpPr>
          <p:spPr>
            <a:xfrm rot="0">
              <a:off x="0" y="183068"/>
              <a:ext cx="13021857" cy="322594"/>
            </a:xfrm>
            <a:prstGeom prst="rect">
              <a:avLst/>
            </a:prstGeom>
          </p:spPr>
          <p:txBody>
            <a:bodyPr anchor="t" rtlCol="false" tIns="0" lIns="0" bIns="0" rIns="0">
              <a:spAutoFit/>
            </a:bodyPr>
            <a:lstStyle/>
            <a:p>
              <a:pPr algn="l" marL="0" indent="0" lvl="0">
                <a:lnSpc>
                  <a:spcPts val="1978"/>
                </a:lnSpc>
              </a:pPr>
              <a:r>
                <a:rPr lang="en-US" sz="1413" spc="-35">
                  <a:gradFill>
                    <a:gsLst>
                      <a:gs pos="0">
                        <a:srgbClr val="3A58E4">
                          <a:alpha val="100000"/>
                        </a:srgbClr>
                      </a:gs>
                      <a:gs pos="100000">
                        <a:srgbClr val="293E9C">
                          <a:alpha val="100000"/>
                        </a:srgbClr>
                      </a:gs>
                    </a:gsLst>
                    <a:path path="circle">
                      <a:fillToRect l="0" r="100000" t="0" b="100000"/>
                    </a:path>
                    <a:tileRect r="0" l="-100000" b="0" t="-100000"/>
                  </a:gradFill>
                  <a:latin typeface="Poppins"/>
                  <a:ea typeface="Poppins"/>
                  <a:cs typeface="Poppins"/>
                  <a:sym typeface="Poppins"/>
                </a:rPr>
                <a:t>RESTful API built with Node.js &amp; Express.js — secure, scalable, and structured for mobile data collection</a:t>
              </a:r>
            </a:p>
          </p:txBody>
        </p:sp>
        <p:sp>
          <p:nvSpPr>
            <p:cNvPr name="Freeform 18" id="18"/>
            <p:cNvSpPr/>
            <p:nvPr/>
          </p:nvSpPr>
          <p:spPr>
            <a:xfrm flipH="false" flipV="false" rot="-8687136">
              <a:off x="12844104" y="60812"/>
              <a:ext cx="252200" cy="272873"/>
            </a:xfrm>
            <a:custGeom>
              <a:avLst/>
              <a:gdLst/>
              <a:ahLst/>
              <a:cxnLst/>
              <a:rect r="r" b="b" t="t" l="l"/>
              <a:pathLst>
                <a:path h="272873" w="252200">
                  <a:moveTo>
                    <a:pt x="0" y="0"/>
                  </a:moveTo>
                  <a:lnTo>
                    <a:pt x="252200" y="0"/>
                  </a:lnTo>
                  <a:lnTo>
                    <a:pt x="252200" y="272873"/>
                  </a:lnTo>
                  <a:lnTo>
                    <a:pt x="0" y="272873"/>
                  </a:lnTo>
                  <a:lnTo>
                    <a:pt x="0" y="0"/>
                  </a:lnTo>
                  <a:close/>
                </a:path>
              </a:pathLst>
            </a:custGeom>
            <a:blipFill>
              <a:blip r:embed="rId2"/>
              <a:stretch>
                <a:fillRect l="0" t="0" r="0" b="0"/>
              </a:stretch>
            </a:blipFill>
          </p:spPr>
        </p:sp>
      </p:grpSp>
      <p:sp>
        <p:nvSpPr>
          <p:cNvPr name="AutoShape 19" id="19"/>
          <p:cNvSpPr/>
          <p:nvPr/>
        </p:nvSpPr>
        <p:spPr>
          <a:xfrm>
            <a:off x="4208579" y="3853088"/>
            <a:ext cx="9870843" cy="0"/>
          </a:xfrm>
          <a:prstGeom prst="line">
            <a:avLst/>
          </a:prstGeom>
          <a:ln cap="rnd" w="19050">
            <a:solidFill>
              <a:srgbClr val="3A58E4"/>
            </a:solidFill>
            <a:prstDash val="solid"/>
            <a:headEnd type="none" len="sm" w="sm"/>
            <a:tailEnd type="none" len="sm" w="sm"/>
          </a:ln>
        </p:spPr>
      </p:sp>
      <p:sp>
        <p:nvSpPr>
          <p:cNvPr name="TextBox 20" id="20"/>
          <p:cNvSpPr txBox="true"/>
          <p:nvPr/>
        </p:nvSpPr>
        <p:spPr>
          <a:xfrm rot="0">
            <a:off x="3626085" y="2041682"/>
            <a:ext cx="11035829" cy="872640"/>
          </a:xfrm>
          <a:prstGeom prst="rect">
            <a:avLst/>
          </a:prstGeom>
        </p:spPr>
        <p:txBody>
          <a:bodyPr anchor="t" rtlCol="false" tIns="0" lIns="0" bIns="0" rIns="0">
            <a:spAutoFit/>
          </a:bodyPr>
          <a:lstStyle/>
          <a:p>
            <a:pPr algn="ctr" marL="0" indent="0" lvl="0">
              <a:lnSpc>
                <a:spcPts val="6553"/>
              </a:lnSpc>
            </a:pPr>
            <a:r>
              <a:rPr lang="en-US" sz="6687" spc="-427">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Backend API – Key Endpoints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56766" y="2451271"/>
            <a:ext cx="5217559" cy="1276872"/>
          </a:xfrm>
          <a:prstGeom prst="rect">
            <a:avLst/>
          </a:prstGeom>
        </p:spPr>
        <p:txBody>
          <a:bodyPr anchor="t" rtlCol="false" tIns="0" lIns="0" bIns="0" rIns="0">
            <a:spAutoFit/>
          </a:bodyPr>
          <a:lstStyle/>
          <a:p>
            <a:pPr algn="l" marL="0" indent="0" lvl="0">
              <a:lnSpc>
                <a:spcPts val="9596"/>
              </a:lnSpc>
            </a:pPr>
            <a:r>
              <a:rPr lang="en-US" sz="9792" spc="-626">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Evaluation</a:t>
            </a:r>
          </a:p>
        </p:txBody>
      </p:sp>
      <p:grpSp>
        <p:nvGrpSpPr>
          <p:cNvPr name="Group 3" id="3"/>
          <p:cNvGrpSpPr/>
          <p:nvPr/>
        </p:nvGrpSpPr>
        <p:grpSpPr>
          <a:xfrm rot="0">
            <a:off x="1028700" y="1358088"/>
            <a:ext cx="47625" cy="2040668"/>
            <a:chOff x="0" y="0"/>
            <a:chExt cx="12543" cy="537460"/>
          </a:xfrm>
        </p:grpSpPr>
        <p:sp>
          <p:nvSpPr>
            <p:cNvPr name="Freeform 4" id="4"/>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5" id="5"/>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1028700" y="4312874"/>
            <a:ext cx="8172450" cy="379246"/>
            <a:chOff x="0" y="0"/>
            <a:chExt cx="10896600" cy="505662"/>
          </a:xfrm>
        </p:grpSpPr>
        <p:sp>
          <p:nvSpPr>
            <p:cNvPr name="TextBox 7" id="7"/>
            <p:cNvSpPr txBox="true"/>
            <p:nvPr/>
          </p:nvSpPr>
          <p:spPr>
            <a:xfrm rot="0">
              <a:off x="0" y="-17974"/>
              <a:ext cx="10820400" cy="523636"/>
            </a:xfrm>
            <a:prstGeom prst="rect">
              <a:avLst/>
            </a:prstGeom>
          </p:spPr>
          <p:txBody>
            <a:bodyPr anchor="t" rtlCol="false" tIns="0" lIns="0" bIns="0" rIns="0">
              <a:spAutoFit/>
            </a:bodyPr>
            <a:lstStyle/>
            <a:p>
              <a:pPr algn="l" marL="0" indent="0" lvl="0">
                <a:lnSpc>
                  <a:spcPts val="3159"/>
                </a:lnSpc>
              </a:pPr>
              <a:r>
                <a:rPr lang="en-US" b="true" sz="2257" spc="-56">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STRENGTHS &amp; LIMITATIONS OF THE KILOBYTES APPLICATION</a:t>
              </a:r>
            </a:p>
          </p:txBody>
        </p:sp>
        <p:sp>
          <p:nvSpPr>
            <p:cNvPr name="Freeform 8" id="8"/>
            <p:cNvSpPr/>
            <p:nvPr/>
          </p:nvSpPr>
          <p:spPr>
            <a:xfrm flipH="false" flipV="false" rot="-8687136">
              <a:off x="10579580" y="44820"/>
              <a:ext cx="252200" cy="304858"/>
            </a:xfrm>
            <a:custGeom>
              <a:avLst/>
              <a:gdLst/>
              <a:ahLst/>
              <a:cxnLst/>
              <a:rect r="r" b="b" t="t" l="l"/>
              <a:pathLst>
                <a:path h="304858" w="252200">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9" id="9"/>
          <p:cNvGrpSpPr/>
          <p:nvPr/>
        </p:nvGrpSpPr>
        <p:grpSpPr>
          <a:xfrm rot="0">
            <a:off x="16438046" y="46860"/>
            <a:ext cx="1849954" cy="1801307"/>
            <a:chOff x="0" y="0"/>
            <a:chExt cx="2466605" cy="2401742"/>
          </a:xfrm>
        </p:grpSpPr>
        <p:grpSp>
          <p:nvGrpSpPr>
            <p:cNvPr name="Group 10" id="10"/>
            <p:cNvGrpSpPr/>
            <p:nvPr/>
          </p:nvGrpSpPr>
          <p:grpSpPr>
            <a:xfrm rot="0">
              <a:off x="0" y="0"/>
              <a:ext cx="2466605" cy="2401742"/>
              <a:chOff x="0" y="0"/>
              <a:chExt cx="787566" cy="766856"/>
            </a:xfrm>
          </p:grpSpPr>
          <p:sp>
            <p:nvSpPr>
              <p:cNvPr name="Freeform 11" id="11"/>
              <p:cNvSpPr/>
              <p:nvPr/>
            </p:nvSpPr>
            <p:spPr>
              <a:xfrm flipH="false" flipV="false" rot="0">
                <a:off x="0" y="0"/>
                <a:ext cx="787566" cy="766856"/>
              </a:xfrm>
              <a:custGeom>
                <a:avLst/>
                <a:gdLst/>
                <a:ahLst/>
                <a:cxnLst/>
                <a:rect r="r" b="b" t="t" l="l"/>
                <a:pathLst>
                  <a:path h="766856" w="787566">
                    <a:moveTo>
                      <a:pt x="0" y="0"/>
                    </a:moveTo>
                    <a:lnTo>
                      <a:pt x="787566" y="0"/>
                    </a:lnTo>
                    <a:lnTo>
                      <a:pt x="787566" y="766856"/>
                    </a:lnTo>
                    <a:lnTo>
                      <a:pt x="0" y="766856"/>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2" id="12"/>
              <p:cNvSpPr txBox="true"/>
              <p:nvPr/>
            </p:nvSpPr>
            <p:spPr>
              <a:xfrm>
                <a:off x="0" y="-38100"/>
                <a:ext cx="787566" cy="80495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319164" y="694049"/>
              <a:ext cx="1828278" cy="1137469"/>
            </a:xfrm>
            <a:prstGeom prst="rect">
              <a:avLst/>
            </a:prstGeom>
          </p:spPr>
          <p:txBody>
            <a:bodyPr anchor="t" rtlCol="false" tIns="0" lIns="0" bIns="0" rIns="0">
              <a:spAutoFit/>
            </a:bodyPr>
            <a:lstStyle/>
            <a:p>
              <a:pPr algn="ctr" marL="0" indent="0" lvl="0">
                <a:lnSpc>
                  <a:spcPts val="6118"/>
                </a:lnSpc>
              </a:pPr>
              <a:r>
                <a:rPr lang="en-US" sz="6243" spc="-399">
                  <a:solidFill>
                    <a:srgbClr val="FFFFFF"/>
                  </a:solidFill>
                  <a:latin typeface="Bricolage Grotesque"/>
                  <a:ea typeface="Bricolage Grotesque"/>
                  <a:cs typeface="Bricolage Grotesque"/>
                  <a:sym typeface="Bricolage Grotesque"/>
                </a:rPr>
                <a:t>20</a:t>
              </a:r>
            </a:p>
          </p:txBody>
        </p:sp>
      </p:grpSp>
      <p:sp>
        <p:nvSpPr>
          <p:cNvPr name="Freeform 14" id="14"/>
          <p:cNvSpPr/>
          <p:nvPr/>
        </p:nvSpPr>
        <p:spPr>
          <a:xfrm flipH="false" flipV="false" rot="0">
            <a:off x="9923800" y="2454424"/>
            <a:ext cx="6963686" cy="6519751"/>
          </a:xfrm>
          <a:custGeom>
            <a:avLst/>
            <a:gdLst/>
            <a:ahLst/>
            <a:cxnLst/>
            <a:rect r="r" b="b" t="t" l="l"/>
            <a:pathLst>
              <a:path h="6519751" w="6963686">
                <a:moveTo>
                  <a:pt x="0" y="0"/>
                </a:moveTo>
                <a:lnTo>
                  <a:pt x="6963686" y="0"/>
                </a:lnTo>
                <a:lnTo>
                  <a:pt x="6963686" y="6519751"/>
                </a:lnTo>
                <a:lnTo>
                  <a:pt x="0" y="6519751"/>
                </a:lnTo>
                <a:lnTo>
                  <a:pt x="0" y="0"/>
                </a:lnTo>
                <a:close/>
              </a:path>
            </a:pathLst>
          </a:custGeom>
          <a:blipFill>
            <a:blip r:embed="rId4"/>
            <a:stretch>
              <a:fillRect l="0" t="0" r="0" b="0"/>
            </a:stretch>
          </a:blipFill>
        </p:spPr>
      </p:sp>
      <p:sp>
        <p:nvSpPr>
          <p:cNvPr name="TextBox 15" id="15"/>
          <p:cNvSpPr txBox="true"/>
          <p:nvPr/>
        </p:nvSpPr>
        <p:spPr>
          <a:xfrm rot="0">
            <a:off x="1870201" y="5165980"/>
            <a:ext cx="7273799" cy="850806"/>
          </a:xfrm>
          <a:prstGeom prst="rect">
            <a:avLst/>
          </a:prstGeom>
        </p:spPr>
        <p:txBody>
          <a:bodyPr anchor="t" rtlCol="false" tIns="0" lIns="0" bIns="0" rIns="0">
            <a:spAutoFit/>
          </a:bodyPr>
          <a:lstStyle/>
          <a:p>
            <a:pPr algn="just" marL="0" indent="0" lvl="0">
              <a:lnSpc>
                <a:spcPts val="2241"/>
              </a:lnSpc>
            </a:pPr>
            <a:r>
              <a:rPr lang="en-US" sz="1601" spc="-40">
                <a:solidFill>
                  <a:srgbClr val="3A58E4"/>
                </a:solidFill>
                <a:latin typeface="Poppins"/>
                <a:ea typeface="Poppins"/>
                <a:cs typeface="Poppins"/>
                <a:sym typeface="Poppins"/>
              </a:rPr>
              <a:t>✅ STRENGTHS: Cross-platform (Android &amp; iOS), offline-first architecture, privacy-by-design consent model, and comprehensive QoS + QoE data collection.</a:t>
            </a:r>
          </a:p>
        </p:txBody>
      </p:sp>
      <p:sp>
        <p:nvSpPr>
          <p:cNvPr name="TextBox 16" id="16"/>
          <p:cNvSpPr txBox="true"/>
          <p:nvPr/>
        </p:nvSpPr>
        <p:spPr>
          <a:xfrm rot="0">
            <a:off x="1870201" y="6438555"/>
            <a:ext cx="7273799" cy="569523"/>
          </a:xfrm>
          <a:prstGeom prst="rect">
            <a:avLst/>
          </a:prstGeom>
        </p:spPr>
        <p:txBody>
          <a:bodyPr anchor="t" rtlCol="false" tIns="0" lIns="0" bIns="0" rIns="0">
            <a:spAutoFit/>
          </a:bodyPr>
          <a:lstStyle/>
          <a:p>
            <a:pPr algn="just" marL="0" indent="0" lvl="0">
              <a:lnSpc>
                <a:spcPts val="2241"/>
              </a:lnSpc>
            </a:pPr>
            <a:r>
              <a:rPr lang="en-US" sz="1601" spc="-40">
                <a:solidFill>
                  <a:srgbClr val="3A58E4"/>
                </a:solidFill>
                <a:latin typeface="Poppins"/>
                <a:ea typeface="Poppins"/>
                <a:cs typeface="Poppins"/>
                <a:sym typeface="Poppins"/>
              </a:rPr>
              <a:t>✅ Geospatial heatmap visualization, bilingual support (English &amp; French), scalable cloud backend, and secure JWT-based authentication.</a:t>
            </a:r>
          </a:p>
        </p:txBody>
      </p:sp>
      <p:sp>
        <p:nvSpPr>
          <p:cNvPr name="TextBox 17" id="17"/>
          <p:cNvSpPr txBox="true"/>
          <p:nvPr/>
        </p:nvSpPr>
        <p:spPr>
          <a:xfrm rot="0">
            <a:off x="1870201" y="7429846"/>
            <a:ext cx="7273799" cy="569523"/>
          </a:xfrm>
          <a:prstGeom prst="rect">
            <a:avLst/>
          </a:prstGeom>
        </p:spPr>
        <p:txBody>
          <a:bodyPr anchor="t" rtlCol="false" tIns="0" lIns="0" bIns="0" rIns="0">
            <a:spAutoFit/>
          </a:bodyPr>
          <a:lstStyle/>
          <a:p>
            <a:pPr algn="just" marL="0" indent="0" lvl="0">
              <a:lnSpc>
                <a:spcPts val="2241"/>
              </a:lnSpc>
            </a:pPr>
            <a:r>
              <a:rPr lang="en-US" sz="1601" spc="-40">
                <a:solidFill>
                  <a:srgbClr val="3A58E4"/>
                </a:solidFill>
                <a:latin typeface="Poppins"/>
                <a:ea typeface="Poppins"/>
                <a:cs typeface="Poppins"/>
                <a:sym typeface="Poppins"/>
              </a:rPr>
              <a:t>⚠️ LIMITATIONS: Signal strength data unavailable via Expo APIs; SIM card detection and network generation (3G/4G/5G) not fully implemented.</a:t>
            </a:r>
          </a:p>
        </p:txBody>
      </p:sp>
      <p:sp>
        <p:nvSpPr>
          <p:cNvPr name="TextBox 18" id="18"/>
          <p:cNvSpPr txBox="true"/>
          <p:nvPr/>
        </p:nvSpPr>
        <p:spPr>
          <a:xfrm rot="0">
            <a:off x="1870201" y="8421138"/>
            <a:ext cx="7273799" cy="569523"/>
          </a:xfrm>
          <a:prstGeom prst="rect">
            <a:avLst/>
          </a:prstGeom>
        </p:spPr>
        <p:txBody>
          <a:bodyPr anchor="t" rtlCol="false" tIns="0" lIns="0" bIns="0" rIns="0">
            <a:spAutoFit/>
          </a:bodyPr>
          <a:lstStyle/>
          <a:p>
            <a:pPr algn="just" marL="0" indent="0" lvl="0">
              <a:lnSpc>
                <a:spcPts val="2241"/>
              </a:lnSpc>
            </a:pPr>
            <a:r>
              <a:rPr lang="en-US" sz="1601" spc="-40">
                <a:solidFill>
                  <a:srgbClr val="3A58E4"/>
                </a:solidFill>
                <a:latin typeface="Poppins"/>
                <a:ea typeface="Poppins"/>
                <a:cs typeface="Poppins"/>
                <a:sym typeface="Poppins"/>
              </a:rPr>
              <a:t>⚠️ Field naming inconsistencies in early data models; app requires production deployment configuration and further real-world field testing.</a:t>
            </a:r>
          </a:p>
        </p:txBody>
      </p:sp>
      <p:sp>
        <p:nvSpPr>
          <p:cNvPr name="Freeform 19" id="19"/>
          <p:cNvSpPr/>
          <p:nvPr/>
        </p:nvSpPr>
        <p:spPr>
          <a:xfrm flipH="false" flipV="false" rot="0">
            <a:off x="1052512" y="5400430"/>
            <a:ext cx="489071" cy="489071"/>
          </a:xfrm>
          <a:custGeom>
            <a:avLst/>
            <a:gdLst/>
            <a:ahLst/>
            <a:cxnLst/>
            <a:rect r="r" b="b" t="t" l="l"/>
            <a:pathLst>
              <a:path h="489071" w="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0" id="20"/>
          <p:cNvSpPr/>
          <p:nvPr/>
        </p:nvSpPr>
        <p:spPr>
          <a:xfrm flipH="false" flipV="false" rot="0">
            <a:off x="1052512" y="6391722"/>
            <a:ext cx="489071" cy="489071"/>
          </a:xfrm>
          <a:custGeom>
            <a:avLst/>
            <a:gdLst/>
            <a:ahLst/>
            <a:cxnLst/>
            <a:rect r="r" b="b" t="t" l="l"/>
            <a:pathLst>
              <a:path h="489071" w="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052512" y="7383013"/>
            <a:ext cx="489071" cy="489071"/>
          </a:xfrm>
          <a:custGeom>
            <a:avLst/>
            <a:gdLst/>
            <a:ahLst/>
            <a:cxnLst/>
            <a:rect r="r" b="b" t="t" l="l"/>
            <a:pathLst>
              <a:path h="489071" w="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2" id="22"/>
          <p:cNvSpPr/>
          <p:nvPr/>
        </p:nvSpPr>
        <p:spPr>
          <a:xfrm flipH="false" flipV="false" rot="0">
            <a:off x="1052512" y="8376909"/>
            <a:ext cx="489071" cy="489071"/>
          </a:xfrm>
          <a:custGeom>
            <a:avLst/>
            <a:gdLst/>
            <a:ahLst/>
            <a:cxnLst/>
            <a:rect r="r" b="b" t="t" l="l"/>
            <a:pathLst>
              <a:path h="489071" w="489071">
                <a:moveTo>
                  <a:pt x="0" y="0"/>
                </a:moveTo>
                <a:lnTo>
                  <a:pt x="489072" y="0"/>
                </a:lnTo>
                <a:lnTo>
                  <a:pt x="489072" y="489072"/>
                </a:lnTo>
                <a:lnTo>
                  <a:pt x="0" y="4890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492056" y="1525863"/>
            <a:ext cx="47625" cy="2040668"/>
            <a:chOff x="0" y="0"/>
            <a:chExt cx="12543" cy="537460"/>
          </a:xfrm>
        </p:grpSpPr>
        <p:sp>
          <p:nvSpPr>
            <p:cNvPr name="Freeform 3" id="3"/>
            <p:cNvSpPr/>
            <p:nvPr/>
          </p:nvSpPr>
          <p:spPr>
            <a:xfrm flipH="false" flipV="false" rot="0">
              <a:off x="0" y="0"/>
              <a:ext cx="12543" cy="537460"/>
            </a:xfrm>
            <a:custGeom>
              <a:avLst/>
              <a:gdLst/>
              <a:ahLst/>
              <a:cxnLst/>
              <a:rect r="r" b="b" t="t" l="l"/>
              <a:pathLst>
                <a:path h="537460" w="12543">
                  <a:moveTo>
                    <a:pt x="0" y="0"/>
                  </a:moveTo>
                  <a:lnTo>
                    <a:pt x="12543" y="0"/>
                  </a:lnTo>
                  <a:lnTo>
                    <a:pt x="12543" y="537460"/>
                  </a:lnTo>
                  <a:lnTo>
                    <a:pt x="0" y="537460"/>
                  </a:lnTo>
                  <a:close/>
                </a:path>
              </a:pathLst>
            </a:custGeom>
            <a:solidFill>
              <a:srgbClr val="3A58E4"/>
            </a:solidFill>
          </p:spPr>
        </p:sp>
        <p:sp>
          <p:nvSpPr>
            <p:cNvPr name="TextBox 4" id="4"/>
            <p:cNvSpPr txBox="true"/>
            <p:nvPr/>
          </p:nvSpPr>
          <p:spPr>
            <a:xfrm>
              <a:off x="0" y="-38100"/>
              <a:ext cx="12543" cy="57556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8492056" y="4424761"/>
            <a:ext cx="7106119" cy="435134"/>
          </a:xfrm>
          <a:prstGeom prst="rect">
            <a:avLst/>
          </a:prstGeom>
        </p:spPr>
        <p:txBody>
          <a:bodyPr anchor="t" rtlCol="false" tIns="0" lIns="0" bIns="0" rIns="0">
            <a:spAutoFit/>
          </a:bodyPr>
          <a:lstStyle/>
          <a:p>
            <a:pPr algn="l" marL="0" indent="0" lvl="0">
              <a:lnSpc>
                <a:spcPts val="3316"/>
              </a:lnSpc>
            </a:pPr>
            <a:r>
              <a:rPr lang="en-US" b="true" sz="2368" spc="-59">
                <a:gradFill>
                  <a:gsLst>
                    <a:gs pos="0">
                      <a:srgbClr val="3A58E4">
                        <a:alpha val="100000"/>
                      </a:srgbClr>
                    </a:gs>
                    <a:gs pos="100000">
                      <a:srgbClr val="293E9C">
                        <a:alpha val="100000"/>
                      </a:srgbClr>
                    </a:gs>
                  </a:gsLst>
                  <a:path path="circle">
                    <a:fillToRect l="0" r="100000" t="0" b="100000"/>
                  </a:path>
                  <a:tileRect r="0" l="-100000" b="0" t="-100000"/>
                </a:gradFill>
                <a:latin typeface="Poppins Bold"/>
                <a:ea typeface="Poppins Bold"/>
                <a:cs typeface="Poppins Bold"/>
                <a:sym typeface="Poppins Bold"/>
              </a:rPr>
              <a:t>PROJECT SUMMARY &amp; FUTURE DIRECTIONS</a:t>
            </a:r>
          </a:p>
        </p:txBody>
      </p:sp>
      <p:sp>
        <p:nvSpPr>
          <p:cNvPr name="Freeform 6" id="6"/>
          <p:cNvSpPr/>
          <p:nvPr/>
        </p:nvSpPr>
        <p:spPr>
          <a:xfrm flipH="false" flipV="false" rot="-8687136">
            <a:off x="15580115" y="4542838"/>
            <a:ext cx="189150" cy="228643"/>
          </a:xfrm>
          <a:custGeom>
            <a:avLst/>
            <a:gdLst/>
            <a:ahLst/>
            <a:cxnLst/>
            <a:rect r="r" b="b" t="t" l="l"/>
            <a:pathLst>
              <a:path h="228643" w="189150">
                <a:moveTo>
                  <a:pt x="0" y="0"/>
                </a:moveTo>
                <a:lnTo>
                  <a:pt x="189150" y="0"/>
                </a:lnTo>
                <a:lnTo>
                  <a:pt x="189150" y="228644"/>
                </a:lnTo>
                <a:lnTo>
                  <a:pt x="0" y="2286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0" y="0"/>
            <a:ext cx="6352295" cy="10287000"/>
            <a:chOff x="0" y="0"/>
            <a:chExt cx="984137" cy="1593725"/>
          </a:xfrm>
        </p:grpSpPr>
        <p:sp>
          <p:nvSpPr>
            <p:cNvPr name="Freeform 8" id="8"/>
            <p:cNvSpPr/>
            <p:nvPr/>
          </p:nvSpPr>
          <p:spPr>
            <a:xfrm flipH="false" flipV="false" rot="0">
              <a:off x="0" y="0"/>
              <a:ext cx="984137" cy="1593725"/>
            </a:xfrm>
            <a:custGeom>
              <a:avLst/>
              <a:gdLst/>
              <a:ahLst/>
              <a:cxnLst/>
              <a:rect r="r" b="b" t="t" l="l"/>
              <a:pathLst>
                <a:path h="1593725" w="984137">
                  <a:moveTo>
                    <a:pt x="0" y="0"/>
                  </a:moveTo>
                  <a:lnTo>
                    <a:pt x="984137" y="0"/>
                  </a:lnTo>
                  <a:lnTo>
                    <a:pt x="984137" y="1593725"/>
                  </a:lnTo>
                  <a:lnTo>
                    <a:pt x="0" y="1593725"/>
                  </a:lnTo>
                  <a:close/>
                </a:path>
              </a:pathLst>
            </a:custGeom>
            <a:blipFill>
              <a:blip r:embed="rId4"/>
              <a:stretch>
                <a:fillRect l="0" t="-306" r="0" b="-306"/>
              </a:stretch>
            </a:blipFill>
          </p:spPr>
        </p:sp>
      </p:grpSp>
      <p:grpSp>
        <p:nvGrpSpPr>
          <p:cNvPr name="Group 9" id="9"/>
          <p:cNvGrpSpPr/>
          <p:nvPr/>
        </p:nvGrpSpPr>
        <p:grpSpPr>
          <a:xfrm rot="0">
            <a:off x="16438046" y="129"/>
            <a:ext cx="1849954" cy="1848037"/>
            <a:chOff x="0" y="0"/>
            <a:chExt cx="2466605" cy="2464050"/>
          </a:xfrm>
        </p:grpSpPr>
        <p:grpSp>
          <p:nvGrpSpPr>
            <p:cNvPr name="Group 10" id="10"/>
            <p:cNvGrpSpPr/>
            <p:nvPr/>
          </p:nvGrpSpPr>
          <p:grpSpPr>
            <a:xfrm rot="0">
              <a:off x="0" y="0"/>
              <a:ext cx="2466605" cy="2464050"/>
              <a:chOff x="0" y="0"/>
              <a:chExt cx="787566" cy="786750"/>
            </a:xfrm>
          </p:grpSpPr>
          <p:sp>
            <p:nvSpPr>
              <p:cNvPr name="Freeform 11" id="11"/>
              <p:cNvSpPr/>
              <p:nvPr/>
            </p:nvSpPr>
            <p:spPr>
              <a:xfrm flipH="false" flipV="false" rot="0">
                <a:off x="0" y="0"/>
                <a:ext cx="787566" cy="786750"/>
              </a:xfrm>
              <a:custGeom>
                <a:avLst/>
                <a:gdLst/>
                <a:ahLst/>
                <a:cxnLst/>
                <a:rect r="r" b="b" t="t" l="l"/>
                <a:pathLst>
                  <a:path h="786750" w="787566">
                    <a:moveTo>
                      <a:pt x="0" y="0"/>
                    </a:moveTo>
                    <a:lnTo>
                      <a:pt x="787566" y="0"/>
                    </a:lnTo>
                    <a:lnTo>
                      <a:pt x="787566" y="786750"/>
                    </a:lnTo>
                    <a:lnTo>
                      <a:pt x="0" y="786750"/>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12" id="12"/>
              <p:cNvSpPr txBox="true"/>
              <p:nvPr/>
            </p:nvSpPr>
            <p:spPr>
              <a:xfrm>
                <a:off x="0" y="-38100"/>
                <a:ext cx="787566" cy="8248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319164" y="694049"/>
              <a:ext cx="1828278" cy="1199777"/>
            </a:xfrm>
            <a:prstGeom prst="rect">
              <a:avLst/>
            </a:prstGeom>
          </p:spPr>
          <p:txBody>
            <a:bodyPr anchor="t" rtlCol="false" tIns="0" lIns="0" bIns="0" rIns="0">
              <a:spAutoFit/>
            </a:bodyPr>
            <a:lstStyle/>
            <a:p>
              <a:pPr algn="ctr" marL="0" indent="0" lvl="0">
                <a:lnSpc>
                  <a:spcPts val="6421"/>
                </a:lnSpc>
              </a:pPr>
              <a:r>
                <a:rPr lang="en-US" sz="6552" spc="-419">
                  <a:solidFill>
                    <a:srgbClr val="FFFFFF"/>
                  </a:solidFill>
                  <a:latin typeface="Bricolage Grotesque"/>
                  <a:ea typeface="Bricolage Grotesque"/>
                  <a:cs typeface="Bricolage Grotesque"/>
                  <a:sym typeface="Bricolage Grotesque"/>
                </a:rPr>
                <a:t>21</a:t>
              </a:r>
            </a:p>
          </p:txBody>
        </p:sp>
      </p:grpSp>
      <p:sp>
        <p:nvSpPr>
          <p:cNvPr name="AutoShape 14" id="14"/>
          <p:cNvSpPr/>
          <p:nvPr/>
        </p:nvSpPr>
        <p:spPr>
          <a:xfrm flipH="true">
            <a:off x="6542795" y="0"/>
            <a:ext cx="0" cy="10287000"/>
          </a:xfrm>
          <a:prstGeom prst="line">
            <a:avLst/>
          </a:prstGeom>
          <a:ln cap="rnd" w="19050">
            <a:solidFill>
              <a:srgbClr val="3A58E4"/>
            </a:solidFill>
            <a:prstDash val="solid"/>
            <a:headEnd type="none" len="sm" w="sm"/>
            <a:tailEnd type="none" len="sm" w="sm"/>
          </a:ln>
        </p:spPr>
      </p:sp>
      <p:sp>
        <p:nvSpPr>
          <p:cNvPr name="Freeform 15" id="15"/>
          <p:cNvSpPr/>
          <p:nvPr/>
        </p:nvSpPr>
        <p:spPr>
          <a:xfrm flipH="false" flipV="false" rot="0">
            <a:off x="5177017" y="5870652"/>
            <a:ext cx="2350556" cy="457290"/>
          </a:xfrm>
          <a:custGeom>
            <a:avLst/>
            <a:gdLst/>
            <a:ahLst/>
            <a:cxnLst/>
            <a:rect r="r" b="b" t="t" l="l"/>
            <a:pathLst>
              <a:path h="457290" w="2350556">
                <a:moveTo>
                  <a:pt x="0" y="0"/>
                </a:moveTo>
                <a:lnTo>
                  <a:pt x="2350556" y="0"/>
                </a:lnTo>
                <a:lnTo>
                  <a:pt x="2350556" y="457290"/>
                </a:lnTo>
                <a:lnTo>
                  <a:pt x="0" y="457290"/>
                </a:lnTo>
                <a:lnTo>
                  <a:pt x="0" y="0"/>
                </a:lnTo>
                <a:close/>
              </a:path>
            </a:pathLst>
          </a:custGeom>
          <a:blipFill>
            <a:blip r:embed="rId5"/>
            <a:stretch>
              <a:fillRect l="0" t="0" r="0" b="0"/>
            </a:stretch>
          </a:blipFill>
        </p:spPr>
      </p:sp>
      <p:grpSp>
        <p:nvGrpSpPr>
          <p:cNvPr name="Group 16" id="16"/>
          <p:cNvGrpSpPr/>
          <p:nvPr/>
        </p:nvGrpSpPr>
        <p:grpSpPr>
          <a:xfrm rot="0">
            <a:off x="5262566" y="3959058"/>
            <a:ext cx="2152019" cy="2149322"/>
            <a:chOff x="0" y="0"/>
            <a:chExt cx="567580" cy="566868"/>
          </a:xfrm>
        </p:grpSpPr>
        <p:sp>
          <p:nvSpPr>
            <p:cNvPr name="Freeform 17" id="17"/>
            <p:cNvSpPr/>
            <p:nvPr/>
          </p:nvSpPr>
          <p:spPr>
            <a:xfrm flipH="false" flipV="false" rot="0">
              <a:off x="0" y="0"/>
              <a:ext cx="567580" cy="566868"/>
            </a:xfrm>
            <a:custGeom>
              <a:avLst/>
              <a:gdLst/>
              <a:ahLst/>
              <a:cxnLst/>
              <a:rect r="r" b="b" t="t" l="l"/>
              <a:pathLst>
                <a:path h="566868" w="567580">
                  <a:moveTo>
                    <a:pt x="161888" y="0"/>
                  </a:moveTo>
                  <a:lnTo>
                    <a:pt x="405691" y="0"/>
                  </a:lnTo>
                  <a:cubicBezTo>
                    <a:pt x="495100" y="0"/>
                    <a:pt x="567580" y="72480"/>
                    <a:pt x="567580" y="161888"/>
                  </a:cubicBezTo>
                  <a:lnTo>
                    <a:pt x="567580" y="404980"/>
                  </a:lnTo>
                  <a:cubicBezTo>
                    <a:pt x="567580" y="494389"/>
                    <a:pt x="495100" y="566868"/>
                    <a:pt x="405691" y="566868"/>
                  </a:cubicBezTo>
                  <a:lnTo>
                    <a:pt x="161888" y="566868"/>
                  </a:lnTo>
                  <a:cubicBezTo>
                    <a:pt x="72480" y="566868"/>
                    <a:pt x="0" y="494389"/>
                    <a:pt x="0" y="404980"/>
                  </a:cubicBezTo>
                  <a:lnTo>
                    <a:pt x="0" y="161888"/>
                  </a:lnTo>
                  <a:cubicBezTo>
                    <a:pt x="0" y="72480"/>
                    <a:pt x="72480" y="0"/>
                    <a:pt x="161888"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cap="rnd">
              <a:noFill/>
              <a:prstDash val="solid"/>
              <a:round/>
            </a:ln>
          </p:spPr>
        </p:sp>
        <p:sp>
          <p:nvSpPr>
            <p:cNvPr name="TextBox 18" id="18"/>
            <p:cNvSpPr txBox="true"/>
            <p:nvPr/>
          </p:nvSpPr>
          <p:spPr>
            <a:xfrm>
              <a:off x="0" y="28575"/>
              <a:ext cx="567580" cy="538293"/>
            </a:xfrm>
            <a:prstGeom prst="rect">
              <a:avLst/>
            </a:prstGeom>
          </p:spPr>
          <p:txBody>
            <a:bodyPr anchor="ctr" rtlCol="false" tIns="48445" lIns="48445" bIns="48445" rIns="48445"/>
            <a:lstStyle/>
            <a:p>
              <a:pPr algn="ctr" marL="0" indent="0" lvl="0">
                <a:lnSpc>
                  <a:spcPts val="2460"/>
                </a:lnSpc>
              </a:pPr>
            </a:p>
          </p:txBody>
        </p:sp>
      </p:grpSp>
      <p:sp>
        <p:nvSpPr>
          <p:cNvPr name="TextBox 19" id="19"/>
          <p:cNvSpPr txBox="true"/>
          <p:nvPr/>
        </p:nvSpPr>
        <p:spPr>
          <a:xfrm rot="0">
            <a:off x="5602320" y="4444821"/>
            <a:ext cx="1499950" cy="486039"/>
          </a:xfrm>
          <a:prstGeom prst="rect">
            <a:avLst/>
          </a:prstGeom>
        </p:spPr>
        <p:txBody>
          <a:bodyPr anchor="t" rtlCol="false" tIns="0" lIns="0" bIns="0" rIns="0">
            <a:spAutoFit/>
          </a:bodyPr>
          <a:lstStyle/>
          <a:p>
            <a:pPr algn="ctr" marL="0" indent="0" lvl="0">
              <a:lnSpc>
                <a:spcPts val="3674"/>
              </a:lnSpc>
            </a:pPr>
            <a:r>
              <a:rPr lang="en-US" b="true" sz="3711" spc="-111">
                <a:solidFill>
                  <a:srgbClr val="FFFFFF"/>
                </a:solidFill>
                <a:latin typeface="Bricolage Grotesque Bold"/>
                <a:ea typeface="Bricolage Grotesque Bold"/>
                <a:cs typeface="Bricolage Grotesque Bold"/>
                <a:sym typeface="Bricolage Grotesque Bold"/>
              </a:rPr>
              <a:t>✓</a:t>
            </a:r>
          </a:p>
        </p:txBody>
      </p:sp>
      <p:sp>
        <p:nvSpPr>
          <p:cNvPr name="TextBox 20" id="20"/>
          <p:cNvSpPr txBox="true"/>
          <p:nvPr/>
        </p:nvSpPr>
        <p:spPr>
          <a:xfrm rot="0">
            <a:off x="5746312" y="5274096"/>
            <a:ext cx="1211966" cy="417195"/>
          </a:xfrm>
          <a:prstGeom prst="rect">
            <a:avLst/>
          </a:prstGeom>
        </p:spPr>
        <p:txBody>
          <a:bodyPr anchor="t" rtlCol="false" tIns="0" lIns="0" bIns="0" rIns="0">
            <a:spAutoFit/>
          </a:bodyPr>
          <a:lstStyle/>
          <a:p>
            <a:pPr algn="ctr" marL="0" indent="0" lvl="0">
              <a:lnSpc>
                <a:spcPts val="1679"/>
              </a:lnSpc>
            </a:pPr>
            <a:r>
              <a:rPr lang="en-US" sz="1199" spc="-29">
                <a:solidFill>
                  <a:srgbClr val="FFFFFF"/>
                </a:solidFill>
                <a:latin typeface="Poppins"/>
                <a:ea typeface="Poppins"/>
                <a:cs typeface="Poppins"/>
                <a:sym typeface="Poppins"/>
              </a:rPr>
              <a:t>KILOBYTES APP DELIVERED</a:t>
            </a:r>
          </a:p>
        </p:txBody>
      </p:sp>
      <p:sp>
        <p:nvSpPr>
          <p:cNvPr name="TextBox 21" id="21"/>
          <p:cNvSpPr txBox="true"/>
          <p:nvPr/>
        </p:nvSpPr>
        <p:spPr>
          <a:xfrm rot="0">
            <a:off x="8720122" y="1178218"/>
            <a:ext cx="5780387" cy="2717700"/>
          </a:xfrm>
          <a:prstGeom prst="rect">
            <a:avLst/>
          </a:prstGeom>
        </p:spPr>
        <p:txBody>
          <a:bodyPr anchor="t" rtlCol="false" tIns="0" lIns="0" bIns="0" rIns="0">
            <a:spAutoFit/>
          </a:bodyPr>
          <a:lstStyle/>
          <a:p>
            <a:pPr algn="l" marL="0" indent="0" lvl="0">
              <a:lnSpc>
                <a:spcPts val="7032"/>
              </a:lnSpc>
            </a:pPr>
            <a:r>
              <a:rPr lang="en-US" sz="7176" spc="-459">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Conclusion &amp; Recommendations</a:t>
            </a:r>
          </a:p>
        </p:txBody>
      </p:sp>
      <p:sp>
        <p:nvSpPr>
          <p:cNvPr name="TextBox 22" id="22"/>
          <p:cNvSpPr txBox="true"/>
          <p:nvPr/>
        </p:nvSpPr>
        <p:spPr>
          <a:xfrm rot="0">
            <a:off x="8492056" y="4772418"/>
            <a:ext cx="7325824" cy="2202792"/>
          </a:xfrm>
          <a:prstGeom prst="rect">
            <a:avLst/>
          </a:prstGeom>
        </p:spPr>
        <p:txBody>
          <a:bodyPr anchor="t" rtlCol="false" tIns="0" lIns="0" bIns="0" rIns="0">
            <a:spAutoFit/>
          </a:bodyPr>
          <a:lstStyle/>
          <a:p>
            <a:pPr algn="just" marL="0" indent="0" lvl="0">
              <a:lnSpc>
                <a:spcPts val="2486"/>
              </a:lnSpc>
            </a:pPr>
            <a:r>
              <a:rPr lang="en-US" sz="1775" spc="-5">
                <a:solidFill>
                  <a:srgbClr val="3A58E4"/>
                </a:solidFill>
                <a:latin typeface="Poppins"/>
                <a:ea typeface="Poppins"/>
                <a:cs typeface="Poppins"/>
                <a:sym typeface="Poppins"/>
              </a:rPr>
              <a:t>The KILObYTES mobile application was successfully designed and implemented, combining objective QoS metrics (latency, jitter, packet loss, speed) with subjective QoE ratings. The system leverages SQLite for offline-first local storage and MongoDB for scalable cloud analytics, supported by a secure Node.js/Express backend and an intuitive React Native frontend with bilingual support and admin dashboard.</a:t>
            </a:r>
          </a:p>
        </p:txBody>
      </p:sp>
      <p:sp>
        <p:nvSpPr>
          <p:cNvPr name="TextBox 23" id="23"/>
          <p:cNvSpPr txBox="true"/>
          <p:nvPr/>
        </p:nvSpPr>
        <p:spPr>
          <a:xfrm rot="0">
            <a:off x="8274055" y="5316108"/>
            <a:ext cx="5481943" cy="3774417"/>
          </a:xfrm>
          <a:prstGeom prst="rect">
            <a:avLst/>
          </a:prstGeom>
        </p:spPr>
        <p:txBody>
          <a:bodyPr anchor="t" rtlCol="false" tIns="0" lIns="0" bIns="0" rIns="0">
            <a:spAutoFit/>
          </a:bodyPr>
          <a:lstStyle/>
          <a:p>
            <a:pPr algn="just" marL="0" indent="0" lvl="0">
              <a:lnSpc>
                <a:spcPts val="2486"/>
              </a:lnSpc>
            </a:pPr>
            <a:r>
              <a:rPr lang="en-US" sz="1775" spc="-5">
                <a:solidFill>
                  <a:srgbClr val="3A58E4"/>
                </a:solidFill>
                <a:latin typeface="Poppins"/>
                <a:ea typeface="Poppins"/>
                <a:cs typeface="Poppins"/>
                <a:sym typeface="Poppins"/>
              </a:rPr>
              <a:t>Conduct real-world field testing across diverse network environments</a:t>
            </a:r>
          </a:p>
          <a:p>
            <a:pPr algn="just" marL="0" indent="0" lvl="0">
              <a:lnSpc>
                <a:spcPts val="2486"/>
              </a:lnSpc>
            </a:pPr>
            <a:r>
              <a:rPr lang="en-US" sz="1775" spc="-5">
                <a:solidFill>
                  <a:srgbClr val="3A58E4"/>
                </a:solidFill>
                <a:latin typeface="Poppins"/>
                <a:ea typeface="Poppins"/>
                <a:cs typeface="Poppins"/>
                <a:sym typeface="Poppins"/>
              </a:rPr>
              <a:t>Integrate native modules for SIM detection &amp; signal strength (dBm)</a:t>
            </a:r>
          </a:p>
          <a:p>
            <a:pPr algn="just" marL="0" indent="0" lvl="0">
              <a:lnSpc>
                <a:spcPts val="2486"/>
              </a:lnSpc>
            </a:pPr>
            <a:r>
              <a:rPr lang="en-US" sz="1775" spc="-5">
                <a:solidFill>
                  <a:srgbClr val="3A58E4"/>
                </a:solidFill>
                <a:latin typeface="Poppins"/>
                <a:ea typeface="Poppins"/>
                <a:cs typeface="Poppins"/>
                <a:sym typeface="Poppins"/>
              </a:rPr>
              <a:t>Deploy backend with HTTPS, rate limiting &amp; production security</a:t>
            </a:r>
          </a:p>
          <a:p>
            <a:pPr algn="just" marL="0" indent="0" lvl="0">
              <a:lnSpc>
                <a:spcPts val="2486"/>
              </a:lnSpc>
            </a:pPr>
            <a:r>
              <a:rPr lang="en-US" sz="1775" spc="-5">
                <a:solidFill>
                  <a:srgbClr val="3A58E4"/>
                </a:solidFill>
                <a:latin typeface="Poppins"/>
                <a:ea typeface="Poppins"/>
                <a:cs typeface="Poppins"/>
                <a:sym typeface="Poppins"/>
              </a:rPr>
              <a:t>Build advanced admin dashboards with real-time analytics filters</a:t>
            </a:r>
          </a:p>
          <a:p>
            <a:pPr algn="just" marL="0" indent="0" lvl="0">
              <a:lnSpc>
                <a:spcPts val="2486"/>
              </a:lnSpc>
            </a:pPr>
            <a:r>
              <a:rPr lang="en-US" sz="1775" spc="-5">
                <a:solidFill>
                  <a:srgbClr val="3A58E4"/>
                </a:solidFill>
                <a:latin typeface="Poppins"/>
                <a:ea typeface="Poppins"/>
                <a:cs typeface="Poppins"/>
                <a:sym typeface="Poppins"/>
              </a:rPr>
              <a:t>Apply ML models to predict QoE from QoS measurements</a:t>
            </a:r>
          </a:p>
          <a:p>
            <a:pPr algn="just" marL="0" indent="0" lvl="0">
              <a:lnSpc>
                <a:spcPts val="2486"/>
              </a:lnSpc>
            </a:pPr>
            <a:r>
              <a:rPr lang="en-US" sz="1775" spc="-5">
                <a:solidFill>
                  <a:srgbClr val="3A58E4"/>
                </a:solidFill>
                <a:latin typeface="Poppins"/>
                <a:ea typeface="Poppins"/>
                <a:cs typeface="Poppins"/>
                <a:sym typeface="Poppins"/>
              </a:rPr>
              <a:t>Publish to Google Play Store &amp; Apple App Store</a:t>
            </a:r>
          </a:p>
          <a:p>
            <a:pPr algn="just" marL="0" indent="0" lvl="0">
              <a:lnSpc>
                <a:spcPts val="2486"/>
              </a:lnSpc>
            </a:pPr>
            <a:r>
              <a:rPr lang="en-US" sz="1775" spc="-5">
                <a:solidFill>
                  <a:srgbClr val="3A58E4"/>
                </a:solidFill>
                <a:latin typeface="Poppins"/>
                <a:ea typeface="Poppins"/>
                <a:cs typeface="Poppins"/>
                <a:sym typeface="Poppins"/>
              </a:rPr>
              <a:t>Thank You — Questions Welcome</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641386" y="0"/>
            <a:ext cx="4646614" cy="10287000"/>
            <a:chOff x="0" y="0"/>
            <a:chExt cx="1223800" cy="2709333"/>
          </a:xfrm>
        </p:grpSpPr>
        <p:sp>
          <p:nvSpPr>
            <p:cNvPr name="Freeform 3" id="3"/>
            <p:cNvSpPr/>
            <p:nvPr/>
          </p:nvSpPr>
          <p:spPr>
            <a:xfrm flipH="false" flipV="false" rot="0">
              <a:off x="0" y="0"/>
              <a:ext cx="1223800" cy="2709333"/>
            </a:xfrm>
            <a:custGeom>
              <a:avLst/>
              <a:gdLst/>
              <a:ahLst/>
              <a:cxnLst/>
              <a:rect r="r" b="b" t="t" l="l"/>
              <a:pathLst>
                <a:path h="2709333" w="1223800">
                  <a:moveTo>
                    <a:pt x="0" y="0"/>
                  </a:moveTo>
                  <a:lnTo>
                    <a:pt x="1223800" y="0"/>
                  </a:lnTo>
                  <a:lnTo>
                    <a:pt x="1223800" y="2709333"/>
                  </a:lnTo>
                  <a:lnTo>
                    <a:pt x="0" y="2709333"/>
                  </a:lnTo>
                  <a:close/>
                </a:path>
              </a:pathLst>
            </a:custGeom>
            <a:gradFill rotWithShape="true">
              <a:gsLst>
                <a:gs pos="0">
                  <a:srgbClr val="3A58E4">
                    <a:alpha val="100000"/>
                  </a:srgbClr>
                </a:gs>
                <a:gs pos="100000">
                  <a:srgbClr val="293E9C">
                    <a:alpha val="100000"/>
                  </a:srgbClr>
                </a:gs>
              </a:gsLst>
              <a:path path="circle">
                <a:fillToRect l="0" r="100000" t="0" b="100000"/>
              </a:path>
              <a:tileRect r="0" l="-100000" b="0" t="-100000"/>
            </a:gradFill>
          </p:spPr>
        </p:sp>
        <p:sp>
          <p:nvSpPr>
            <p:cNvPr name="TextBox 4" id="4"/>
            <p:cNvSpPr txBox="true"/>
            <p:nvPr/>
          </p:nvSpPr>
          <p:spPr>
            <a:xfrm>
              <a:off x="0" y="-38100"/>
              <a:ext cx="1223800" cy="274743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5102839" y="1172167"/>
            <a:ext cx="1723707" cy="7473533"/>
            <a:chOff x="0" y="0"/>
            <a:chExt cx="2298277" cy="9964711"/>
          </a:xfrm>
        </p:grpSpPr>
        <p:sp>
          <p:nvSpPr>
            <p:cNvPr name="Freeform 6" id="6"/>
            <p:cNvSpPr/>
            <p:nvPr/>
          </p:nvSpPr>
          <p:spPr>
            <a:xfrm flipH="false" flipV="false" rot="0">
              <a:off x="651979" y="0"/>
              <a:ext cx="981294" cy="947395"/>
            </a:xfrm>
            <a:custGeom>
              <a:avLst/>
              <a:gdLst/>
              <a:ahLst/>
              <a:cxnLst/>
              <a:rect r="r" b="b" t="t" l="l"/>
              <a:pathLst>
                <a:path h="947395" w="981294">
                  <a:moveTo>
                    <a:pt x="0" y="0"/>
                  </a:moveTo>
                  <a:lnTo>
                    <a:pt x="981294" y="0"/>
                  </a:lnTo>
                  <a:lnTo>
                    <a:pt x="981294" y="947395"/>
                  </a:lnTo>
                  <a:lnTo>
                    <a:pt x="0" y="9473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0" y="1253510"/>
              <a:ext cx="2272228" cy="299834"/>
            </a:xfrm>
            <a:prstGeom prst="rect">
              <a:avLst/>
            </a:prstGeom>
          </p:spPr>
          <p:txBody>
            <a:bodyPr anchor="t" rtlCol="false" tIns="0" lIns="0" bIns="0" rIns="0">
              <a:spAutoFit/>
            </a:bodyPr>
            <a:lstStyle/>
            <a:p>
              <a:pPr algn="ctr" marL="0" indent="0" lvl="0">
                <a:lnSpc>
                  <a:spcPts val="1610"/>
                </a:lnSpc>
              </a:pPr>
              <a:r>
                <a:rPr lang="en-US" b="true" sz="1505">
                  <a:solidFill>
                    <a:srgbClr val="FFFFFF"/>
                  </a:solidFill>
                  <a:latin typeface="Poppins Bold"/>
                  <a:ea typeface="Poppins Bold"/>
                  <a:cs typeface="Poppins Bold"/>
                  <a:sym typeface="Poppins Bold"/>
                </a:rPr>
                <a:t>Group 5</a:t>
              </a:r>
            </a:p>
          </p:txBody>
        </p:sp>
        <p:sp>
          <p:nvSpPr>
            <p:cNvPr name="TextBox 8" id="8"/>
            <p:cNvSpPr txBox="true"/>
            <p:nvPr/>
          </p:nvSpPr>
          <p:spPr>
            <a:xfrm rot="0">
              <a:off x="13024" y="1553343"/>
              <a:ext cx="2272228" cy="299834"/>
            </a:xfrm>
            <a:prstGeom prst="rect">
              <a:avLst/>
            </a:prstGeom>
          </p:spPr>
          <p:txBody>
            <a:bodyPr anchor="t" rtlCol="false" tIns="0" lIns="0" bIns="0" rIns="0">
              <a:spAutoFit/>
            </a:bodyPr>
            <a:lstStyle/>
            <a:p>
              <a:pPr algn="ctr" marL="0" indent="0" lvl="0">
                <a:lnSpc>
                  <a:spcPts val="1610"/>
                </a:lnSpc>
              </a:pPr>
              <a:r>
                <a:rPr lang="en-US" sz="1505">
                  <a:solidFill>
                    <a:srgbClr val="FFFFFF"/>
                  </a:solidFill>
                  <a:latin typeface="Poppins"/>
                  <a:ea typeface="Poppins"/>
                  <a:cs typeface="Poppins"/>
                  <a:sym typeface="Poppins"/>
                </a:rPr>
                <a:t>CEF440</a:t>
              </a:r>
            </a:p>
          </p:txBody>
        </p:sp>
        <p:sp>
          <p:nvSpPr>
            <p:cNvPr name="TextBox 9" id="9"/>
            <p:cNvSpPr txBox="true"/>
            <p:nvPr/>
          </p:nvSpPr>
          <p:spPr>
            <a:xfrm rot="0">
              <a:off x="13024" y="9365044"/>
              <a:ext cx="2272228" cy="299834"/>
            </a:xfrm>
            <a:prstGeom prst="rect">
              <a:avLst/>
            </a:prstGeom>
          </p:spPr>
          <p:txBody>
            <a:bodyPr anchor="t" rtlCol="false" tIns="0" lIns="0" bIns="0" rIns="0">
              <a:spAutoFit/>
            </a:bodyPr>
            <a:lstStyle/>
            <a:p>
              <a:pPr algn="ctr" marL="0" indent="0" lvl="0">
                <a:lnSpc>
                  <a:spcPts val="1610"/>
                </a:lnSpc>
              </a:pPr>
              <a:r>
                <a:rPr lang="en-US" b="true" sz="1505">
                  <a:solidFill>
                    <a:srgbClr val="FFFFFF"/>
                  </a:solidFill>
                  <a:latin typeface="Poppins Bold"/>
                  <a:ea typeface="Poppins Bold"/>
                  <a:cs typeface="Poppins Bold"/>
                  <a:sym typeface="Poppins Bold"/>
                </a:rPr>
                <a:t>2024</a:t>
              </a:r>
            </a:p>
          </p:txBody>
        </p:sp>
        <p:sp>
          <p:nvSpPr>
            <p:cNvPr name="TextBox 10" id="10"/>
            <p:cNvSpPr txBox="true"/>
            <p:nvPr/>
          </p:nvSpPr>
          <p:spPr>
            <a:xfrm rot="0">
              <a:off x="26049" y="9664877"/>
              <a:ext cx="2272228" cy="299834"/>
            </a:xfrm>
            <a:prstGeom prst="rect">
              <a:avLst/>
            </a:prstGeom>
          </p:spPr>
          <p:txBody>
            <a:bodyPr anchor="t" rtlCol="false" tIns="0" lIns="0" bIns="0" rIns="0">
              <a:spAutoFit/>
            </a:bodyPr>
            <a:lstStyle/>
            <a:p>
              <a:pPr algn="ctr" marL="0" indent="0" lvl="0">
                <a:lnSpc>
                  <a:spcPts val="1610"/>
                </a:lnSpc>
              </a:pPr>
              <a:r>
                <a:rPr lang="en-US" sz="1505">
                  <a:solidFill>
                    <a:srgbClr val="FFFFFF"/>
                  </a:solidFill>
                  <a:latin typeface="Poppins"/>
                  <a:ea typeface="Poppins"/>
                  <a:cs typeface="Poppins"/>
                  <a:sym typeface="Poppins"/>
                </a:rPr>
                <a:t>UBa</a:t>
              </a:r>
            </a:p>
          </p:txBody>
        </p:sp>
      </p:grpSp>
      <p:sp>
        <p:nvSpPr>
          <p:cNvPr name="Freeform 11" id="11"/>
          <p:cNvSpPr/>
          <p:nvPr/>
        </p:nvSpPr>
        <p:spPr>
          <a:xfrm flipH="false" flipV="false" rot="0">
            <a:off x="1028700" y="7308293"/>
            <a:ext cx="441831" cy="441831"/>
          </a:xfrm>
          <a:custGeom>
            <a:avLst/>
            <a:gdLst/>
            <a:ahLst/>
            <a:cxnLst/>
            <a:rect r="r" b="b" t="t" l="l"/>
            <a:pathLst>
              <a:path h="441831" w="441831">
                <a:moveTo>
                  <a:pt x="0" y="0"/>
                </a:moveTo>
                <a:lnTo>
                  <a:pt x="441831" y="0"/>
                </a:lnTo>
                <a:lnTo>
                  <a:pt x="441831" y="441831"/>
                </a:lnTo>
                <a:lnTo>
                  <a:pt x="0" y="4418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028700" y="7988737"/>
            <a:ext cx="441831" cy="441831"/>
          </a:xfrm>
          <a:custGeom>
            <a:avLst/>
            <a:gdLst/>
            <a:ahLst/>
            <a:cxnLst/>
            <a:rect r="r" b="b" t="t" l="l"/>
            <a:pathLst>
              <a:path h="441831" w="441831">
                <a:moveTo>
                  <a:pt x="0" y="0"/>
                </a:moveTo>
                <a:lnTo>
                  <a:pt x="441831" y="0"/>
                </a:lnTo>
                <a:lnTo>
                  <a:pt x="441831" y="441831"/>
                </a:lnTo>
                <a:lnTo>
                  <a:pt x="0" y="44183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028700" y="8673002"/>
            <a:ext cx="441831" cy="441831"/>
          </a:xfrm>
          <a:custGeom>
            <a:avLst/>
            <a:gdLst/>
            <a:ahLst/>
            <a:cxnLst/>
            <a:rect r="r" b="b" t="t" l="l"/>
            <a:pathLst>
              <a:path h="441831" w="441831">
                <a:moveTo>
                  <a:pt x="0" y="0"/>
                </a:moveTo>
                <a:lnTo>
                  <a:pt x="441831" y="0"/>
                </a:lnTo>
                <a:lnTo>
                  <a:pt x="441831" y="441831"/>
                </a:lnTo>
                <a:lnTo>
                  <a:pt x="0" y="44183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4" id="14"/>
          <p:cNvGrpSpPr/>
          <p:nvPr/>
        </p:nvGrpSpPr>
        <p:grpSpPr>
          <a:xfrm rot="0">
            <a:off x="8986465" y="0"/>
            <a:ext cx="4378150" cy="10287000"/>
            <a:chOff x="0" y="0"/>
            <a:chExt cx="678290" cy="1593725"/>
          </a:xfrm>
        </p:grpSpPr>
        <p:sp>
          <p:nvSpPr>
            <p:cNvPr name="Freeform 15" id="15"/>
            <p:cNvSpPr/>
            <p:nvPr/>
          </p:nvSpPr>
          <p:spPr>
            <a:xfrm flipH="false" flipV="false" rot="0">
              <a:off x="0" y="0"/>
              <a:ext cx="678290" cy="1593725"/>
            </a:xfrm>
            <a:custGeom>
              <a:avLst/>
              <a:gdLst/>
              <a:ahLst/>
              <a:cxnLst/>
              <a:rect r="r" b="b" t="t" l="l"/>
              <a:pathLst>
                <a:path h="1593725" w="678290">
                  <a:moveTo>
                    <a:pt x="0" y="0"/>
                  </a:moveTo>
                  <a:lnTo>
                    <a:pt x="678290" y="0"/>
                  </a:lnTo>
                  <a:lnTo>
                    <a:pt x="678290" y="1593725"/>
                  </a:lnTo>
                  <a:lnTo>
                    <a:pt x="0" y="1593725"/>
                  </a:lnTo>
                  <a:close/>
                </a:path>
              </a:pathLst>
            </a:custGeom>
            <a:blipFill>
              <a:blip r:embed="rId10"/>
              <a:stretch>
                <a:fillRect l="0" t="-70" r="0" b="-70"/>
              </a:stretch>
            </a:blipFill>
          </p:spPr>
        </p:sp>
      </p:grpSp>
      <p:sp>
        <p:nvSpPr>
          <p:cNvPr name="AutoShape 16" id="16"/>
          <p:cNvSpPr/>
          <p:nvPr/>
        </p:nvSpPr>
        <p:spPr>
          <a:xfrm>
            <a:off x="13503000" y="0"/>
            <a:ext cx="0" cy="10287000"/>
          </a:xfrm>
          <a:prstGeom prst="line">
            <a:avLst/>
          </a:prstGeom>
          <a:ln cap="rnd" w="19050">
            <a:solidFill>
              <a:srgbClr val="3A58E4"/>
            </a:solidFill>
            <a:prstDash val="solid"/>
            <a:headEnd type="none" len="sm" w="sm"/>
            <a:tailEnd type="none" len="sm" w="sm"/>
          </a:ln>
        </p:spPr>
      </p:sp>
      <p:sp>
        <p:nvSpPr>
          <p:cNvPr name="TextBox 17" id="17"/>
          <p:cNvSpPr txBox="true"/>
          <p:nvPr/>
        </p:nvSpPr>
        <p:spPr>
          <a:xfrm rot="0">
            <a:off x="14650619" y="5289477"/>
            <a:ext cx="2628148" cy="1670068"/>
          </a:xfrm>
          <a:prstGeom prst="rect">
            <a:avLst/>
          </a:prstGeom>
        </p:spPr>
        <p:txBody>
          <a:bodyPr anchor="t" rtlCol="false" tIns="0" lIns="0" bIns="0" rIns="0">
            <a:spAutoFit/>
          </a:bodyPr>
          <a:lstStyle/>
          <a:p>
            <a:pPr algn="just" marL="0" indent="0" lvl="0">
              <a:lnSpc>
                <a:spcPts val="1680"/>
              </a:lnSpc>
            </a:pPr>
            <a:r>
              <a:rPr lang="en-US" sz="1200" spc="-3">
                <a:solidFill>
                  <a:srgbClr val="FFFFFF"/>
                </a:solidFill>
                <a:latin typeface="Poppins"/>
                <a:ea typeface="Poppins"/>
                <a:cs typeface="Poppins"/>
                <a:sym typeface="Poppins"/>
              </a:rPr>
              <a:t>University of Buea</a:t>
            </a:r>
          </a:p>
          <a:p>
            <a:pPr algn="just" marL="0" indent="0" lvl="0">
              <a:lnSpc>
                <a:spcPts val="1680"/>
              </a:lnSpc>
            </a:pPr>
            <a:r>
              <a:rPr lang="en-US" sz="1200" spc="-3">
                <a:solidFill>
                  <a:srgbClr val="FFFFFF"/>
                </a:solidFill>
                <a:latin typeface="Poppins"/>
                <a:ea typeface="Poppins"/>
                <a:cs typeface="Poppins"/>
                <a:sym typeface="Poppins"/>
              </a:rPr>
              <a:t>Faculty of Engineering &amp; Technology</a:t>
            </a:r>
          </a:p>
          <a:p>
            <a:pPr algn="just" marL="0" indent="0" lvl="0">
              <a:lnSpc>
                <a:spcPts val="1680"/>
              </a:lnSpc>
            </a:pPr>
            <a:r>
              <a:rPr lang="en-US" sz="1200" spc="-3">
                <a:solidFill>
                  <a:srgbClr val="FFFFFF"/>
                </a:solidFill>
                <a:latin typeface="Poppins"/>
                <a:ea typeface="Poppins"/>
                <a:cs typeface="Poppins"/>
                <a:sym typeface="Poppins"/>
              </a:rPr>
              <a:t>Dept. of Computer Engineering</a:t>
            </a:r>
          </a:p>
          <a:p>
            <a:pPr algn="just" marL="0" indent="0" lvl="0">
              <a:lnSpc>
                <a:spcPts val="1680"/>
              </a:lnSpc>
            </a:pPr>
            <a:r>
              <a:rPr lang="en-US" sz="1200" spc="-3">
                <a:solidFill>
                  <a:srgbClr val="FFFFFF"/>
                </a:solidFill>
                <a:latin typeface="Poppins"/>
                <a:ea typeface="Poppins"/>
                <a:cs typeface="Poppins"/>
                <a:sym typeface="Poppins"/>
              </a:rPr>
              <a:t>CEF440 – Internet &amp; Mobile Programming</a:t>
            </a:r>
          </a:p>
          <a:p>
            <a:pPr algn="just" marL="0" indent="0" lvl="0">
              <a:lnSpc>
                <a:spcPts val="1680"/>
              </a:lnSpc>
            </a:pPr>
            <a:r>
              <a:rPr lang="en-US" sz="1200" spc="-3">
                <a:solidFill>
                  <a:srgbClr val="FFFFFF"/>
                </a:solidFill>
                <a:latin typeface="Poppins"/>
                <a:ea typeface="Poppins"/>
                <a:cs typeface="Poppins"/>
                <a:sym typeface="Poppins"/>
              </a:rPr>
              <a:t>Software Engineering Option</a:t>
            </a:r>
          </a:p>
          <a:p>
            <a:pPr algn="just" marL="0" indent="0" lvl="0">
              <a:lnSpc>
                <a:spcPts val="1680"/>
              </a:lnSpc>
            </a:pPr>
            <a:r>
              <a:rPr lang="en-US" sz="1200" spc="-3">
                <a:solidFill>
                  <a:srgbClr val="FFFFFF"/>
                </a:solidFill>
                <a:latin typeface="Poppins"/>
                <a:ea typeface="Poppins"/>
                <a:cs typeface="Poppins"/>
                <a:sym typeface="Poppins"/>
              </a:rPr>
              <a:t>Academic Year 2023/2024</a:t>
            </a:r>
          </a:p>
        </p:txBody>
      </p:sp>
      <p:sp>
        <p:nvSpPr>
          <p:cNvPr name="TextBox 18" id="18"/>
          <p:cNvSpPr txBox="true"/>
          <p:nvPr/>
        </p:nvSpPr>
        <p:spPr>
          <a:xfrm rot="0">
            <a:off x="1638585" y="7334015"/>
            <a:ext cx="2891575" cy="534774"/>
          </a:xfrm>
          <a:prstGeom prst="rect">
            <a:avLst/>
          </a:prstGeom>
        </p:spPr>
        <p:txBody>
          <a:bodyPr anchor="t" rtlCol="false" tIns="0" lIns="0" bIns="0" rIns="0">
            <a:spAutoFit/>
          </a:bodyPr>
          <a:lstStyle/>
          <a:p>
            <a:pPr algn="l" marL="0" indent="0" lvl="0">
              <a:lnSpc>
                <a:spcPts val="2092"/>
              </a:lnSpc>
            </a:pPr>
            <a:r>
              <a:rPr lang="en-US" sz="1835" spc="-69">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github.com/group5-cef440/kilbytes-app</a:t>
            </a:r>
          </a:p>
        </p:txBody>
      </p:sp>
      <p:sp>
        <p:nvSpPr>
          <p:cNvPr name="TextBox 19" id="19"/>
          <p:cNvSpPr txBox="true"/>
          <p:nvPr/>
        </p:nvSpPr>
        <p:spPr>
          <a:xfrm rot="0">
            <a:off x="1638585" y="8001598"/>
            <a:ext cx="5248389" cy="274382"/>
          </a:xfrm>
          <a:prstGeom prst="rect">
            <a:avLst/>
          </a:prstGeom>
        </p:spPr>
        <p:txBody>
          <a:bodyPr anchor="t" rtlCol="false" tIns="0" lIns="0" bIns="0" rIns="0">
            <a:spAutoFit/>
          </a:bodyPr>
          <a:lstStyle/>
          <a:p>
            <a:pPr algn="l" marL="0" indent="0" lvl="0">
              <a:lnSpc>
                <a:spcPts val="2092"/>
              </a:lnSpc>
            </a:pPr>
            <a:r>
              <a:rPr lang="en-US" sz="1835" spc="-69">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cef440.group5@ubuea.cm</a:t>
            </a:r>
          </a:p>
        </p:txBody>
      </p:sp>
      <p:sp>
        <p:nvSpPr>
          <p:cNvPr name="TextBox 20" id="20"/>
          <p:cNvSpPr txBox="true"/>
          <p:nvPr/>
        </p:nvSpPr>
        <p:spPr>
          <a:xfrm rot="0">
            <a:off x="1638585" y="8698724"/>
            <a:ext cx="4805157" cy="274382"/>
          </a:xfrm>
          <a:prstGeom prst="rect">
            <a:avLst/>
          </a:prstGeom>
        </p:spPr>
        <p:txBody>
          <a:bodyPr anchor="t" rtlCol="false" tIns="0" lIns="0" bIns="0" rIns="0">
            <a:spAutoFit/>
          </a:bodyPr>
          <a:lstStyle/>
          <a:p>
            <a:pPr algn="l" marL="0" indent="0" lvl="0">
              <a:lnSpc>
                <a:spcPts val="2092"/>
              </a:lnSpc>
            </a:pPr>
            <a:r>
              <a:rPr lang="en-US" sz="1835" spc="-69">
                <a:gradFill>
                  <a:gsLst>
                    <a:gs pos="0">
                      <a:srgbClr val="293E9C">
                        <a:alpha val="100000"/>
                      </a:srgbClr>
                    </a:gs>
                    <a:gs pos="100000">
                      <a:srgbClr val="3A58E4">
                        <a:alpha val="100000"/>
                      </a:srgbClr>
                    </a:gs>
                  </a:gsLst>
                  <a:path path="circle">
                    <a:fillToRect l="0" r="100000" t="0" b="100000"/>
                  </a:path>
                  <a:tileRect r="0" l="-100000" b="0" t="-100000"/>
                </a:gradFill>
                <a:latin typeface="Poppins"/>
                <a:ea typeface="Poppins"/>
                <a:cs typeface="Poppins"/>
                <a:sym typeface="Poppins"/>
              </a:rPr>
              <a:t>www.ubuea.cm/engineering/cef440</a:t>
            </a:r>
          </a:p>
        </p:txBody>
      </p:sp>
      <p:sp>
        <p:nvSpPr>
          <p:cNvPr name="TextBox 21" id="21"/>
          <p:cNvSpPr txBox="true"/>
          <p:nvPr/>
        </p:nvSpPr>
        <p:spPr>
          <a:xfrm rot="0">
            <a:off x="1028700" y="857250"/>
            <a:ext cx="6671890" cy="1460398"/>
          </a:xfrm>
          <a:prstGeom prst="rect">
            <a:avLst/>
          </a:prstGeom>
        </p:spPr>
        <p:txBody>
          <a:bodyPr anchor="t" rtlCol="false" tIns="0" lIns="0" bIns="0" rIns="0">
            <a:spAutoFit/>
          </a:bodyPr>
          <a:lstStyle/>
          <a:p>
            <a:pPr algn="l" marL="0" indent="0" lvl="0">
              <a:lnSpc>
                <a:spcPts val="11905"/>
              </a:lnSpc>
              <a:spcBef>
                <a:spcPct val="0"/>
              </a:spcBef>
            </a:pPr>
            <a:r>
              <a:rPr lang="en-US" b="true" sz="8504" spc="-544">
                <a:gradFill>
                  <a:gsLst>
                    <a:gs pos="0">
                      <a:srgbClr val="293E9C">
                        <a:alpha val="100000"/>
                      </a:srgbClr>
                    </a:gs>
                    <a:gs pos="100000">
                      <a:srgbClr val="3A58E4">
                        <a:alpha val="100000"/>
                      </a:srgbClr>
                    </a:gs>
                  </a:gsLst>
                  <a:path path="circle">
                    <a:fillToRect l="0" r="100000" t="0" b="100000"/>
                  </a:path>
                  <a:tileRect r="0" l="-100000" b="0" t="-100000"/>
                </a:gradFill>
                <a:latin typeface="Canva Sans Bold"/>
                <a:ea typeface="Canva Sans Bold"/>
                <a:cs typeface="Canva Sans Bold"/>
                <a:sym typeface="Canva Sans Bold"/>
              </a:rPr>
              <a:t>Thank You!</a:t>
            </a:r>
          </a:p>
        </p:txBody>
      </p:sp>
      <p:sp>
        <p:nvSpPr>
          <p:cNvPr name="TextBox 22" id="22"/>
          <p:cNvSpPr txBox="true"/>
          <p:nvPr/>
        </p:nvSpPr>
        <p:spPr>
          <a:xfrm rot="0">
            <a:off x="1028700" y="2316167"/>
            <a:ext cx="6671890" cy="2180870"/>
          </a:xfrm>
          <a:prstGeom prst="rect">
            <a:avLst/>
          </a:prstGeom>
        </p:spPr>
        <p:txBody>
          <a:bodyPr anchor="t" rtlCol="false" tIns="0" lIns="0" bIns="0" rIns="0">
            <a:spAutoFit/>
          </a:bodyPr>
          <a:lstStyle/>
          <a:p>
            <a:pPr algn="just" marL="0" indent="0" lvl="0">
              <a:lnSpc>
                <a:spcPts val="8339"/>
              </a:lnSpc>
            </a:pPr>
            <a:r>
              <a:rPr lang="en-US" sz="8510" spc="-544">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Questions &amp;</a:t>
            </a:r>
          </a:p>
          <a:p>
            <a:pPr algn="just" marL="0" indent="0" lvl="0">
              <a:lnSpc>
                <a:spcPts val="8339"/>
              </a:lnSpc>
            </a:pPr>
            <a:r>
              <a:rPr lang="en-US" sz="8510" spc="-544">
                <a:gradFill>
                  <a:gsLst>
                    <a:gs pos="0">
                      <a:srgbClr val="293E9C">
                        <a:alpha val="100000"/>
                      </a:srgbClr>
                    </a:gs>
                    <a:gs pos="100000">
                      <a:srgbClr val="3A58E4">
                        <a:alpha val="100000"/>
                      </a:srgbClr>
                    </a:gs>
                  </a:gsLst>
                  <a:path path="circle">
                    <a:fillToRect l="0" r="100000" t="0" b="100000"/>
                  </a:path>
                  <a:tileRect r="0" l="-100000" b="0" t="-100000"/>
                </a:gradFill>
                <a:latin typeface="Bricolage Grotesque"/>
                <a:ea typeface="Bricolage Grotesque"/>
                <a:cs typeface="Bricolage Grotesque"/>
                <a:sym typeface="Bricolage Grotesque"/>
              </a:rPr>
              <a:t>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DAHN9_rmalk</dc:identifier>
  <dcterms:modified xsi:type="dcterms:W3CDTF">2011-08-01T06:04:30Z</dcterms:modified>
  <cp:revision>1</cp:revision>
  <dc:title>Design &amp; Implementation of a UX Data App</dc:title>
</cp:coreProperties>
</file>