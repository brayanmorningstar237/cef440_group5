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Default Extension="fntdata" ContentType="application/x-fontdata"/>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8288000" cy="10287000"/>
  <p:notesSz cx="6858000" cy="9144000"/>
  <p:embeddedFontLst>
    <p:embeddedFont>
      <p:font typeface="Poppins" panose="020B0604020202020204" charset="0"/>
      <p:regular r:id="rId24"/>
    </p:embeddedFont>
    <p:embeddedFont>
      <p:font typeface="Calibri" panose="020F0502020204030204" pitchFamily="34" charset="0"/>
      <p:regular r:id="rId25"/>
      <p:bold r:id="rId26"/>
      <p:italic r:id="rId27"/>
      <p:boldItalic r:id="rId28"/>
    </p:embeddedFont>
    <p:embeddedFont>
      <p:font typeface="Poppins Bold" panose="020B0604020202020204" charset="0"/>
      <p:regular r:id="rId29"/>
    </p:embeddedFont>
    <p:embeddedFont>
      <p:font typeface="Canva Sans Bold" panose="020B0604020202020204" charset="0"/>
      <p:regular r:id="rId30"/>
    </p:embeddedFont>
    <p:embeddedFont>
      <p:font typeface="Bricolage Grotesque" panose="020B0604020202020204" charset="0"/>
      <p:regular r:id="rId31"/>
    </p:embeddedFont>
    <p:embeddedFont>
      <p:font typeface="Bricolage Grotesque Bold" panose="020B0604020202020204" charset="0"/>
      <p:regular r:id="rId3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50" d="100"/>
          <a:sy n="50" d="100"/>
        </p:scale>
        <p:origin x="516" y="4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3.fntdata"/><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2.fntdata"/><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6.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fntdata"/><Relationship Id="rId32" Type="http://schemas.openxmlformats.org/officeDocument/2006/relationships/font" Target="fonts/font9.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5.fntdata"/><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8.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4.fntdata"/><Relationship Id="rId30" Type="http://schemas.openxmlformats.org/officeDocument/2006/relationships/font" Target="fonts/font7.fntdata"/><Relationship Id="rId35" Type="http://schemas.openxmlformats.org/officeDocument/2006/relationships/theme" Target="theme/theme1.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7/3/2026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7/3/2026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7/3/2026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7/3/2026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7/3/2026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7/3/2026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7/3/2026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7/3/2026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7/3/2026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7/3/2026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‹N°›</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13.svg"/><Relationship Id="rId5" Type="http://schemas.openxmlformats.org/officeDocument/2006/relationships/image" Target="../media/image11.pn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2.png"/><Relationship Id="rId1" Type="http://schemas.openxmlformats.org/officeDocument/2006/relationships/slideLayout" Target="../slideLayouts/slideLayout7.xml"/><Relationship Id="rId4" Type="http://schemas.openxmlformats.org/officeDocument/2006/relationships/image" Target="../media/image3.svg"/></Relationships>
</file>

<file path=ppt/slides/_rels/slide1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18.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9.png"/><Relationship Id="rId1" Type="http://schemas.openxmlformats.org/officeDocument/2006/relationships/slideLayout" Target="../slideLayouts/slideLayout7.xml"/><Relationship Id="rId4" Type="http://schemas.openxmlformats.org/officeDocument/2006/relationships/image" Target="../media/image3.svg"/></Relationships>
</file>

<file path=ppt/slides/_rels/slide1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13.svg"/><Relationship Id="rId5" Type="http://schemas.openxmlformats.org/officeDocument/2006/relationships/image" Target="../media/image11.png"/><Relationship Id="rId4" Type="http://schemas.openxmlformats.org/officeDocument/2006/relationships/image" Target="../media/image20.png"/></Relationships>
</file>

<file path=ppt/slides/_rels/slide1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6" Type="http://schemas.openxmlformats.org/officeDocument/2006/relationships/image" Target="../media/image13.svg"/><Relationship Id="rId5" Type="http://schemas.openxmlformats.org/officeDocument/2006/relationships/image" Target="../media/image11.png"/><Relationship Id="rId4" Type="http://schemas.openxmlformats.org/officeDocument/2006/relationships/image" Target="../media/image22.png"/></Relationships>
</file>

<file path=ppt/slides/_rels/slide2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23.png"/></Relationships>
</file>

<file path=ppt/slides/_rels/slide22.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27.svg"/><Relationship Id="rId7" Type="http://schemas.openxmlformats.org/officeDocument/2006/relationships/image" Target="../media/image31.svg"/><Relationship Id="rId2" Type="http://schemas.openxmlformats.org/officeDocument/2006/relationships/image" Target="../media/image24.png"/><Relationship Id="rId1" Type="http://schemas.openxmlformats.org/officeDocument/2006/relationships/slideLayout" Target="../slideLayouts/slideLayout7.xml"/><Relationship Id="rId6" Type="http://schemas.openxmlformats.org/officeDocument/2006/relationships/image" Target="../media/image26.png"/><Relationship Id="rId5" Type="http://schemas.openxmlformats.org/officeDocument/2006/relationships/image" Target="../media/image29.svg"/><Relationship Id="rId10" Type="http://schemas.openxmlformats.org/officeDocument/2006/relationships/image" Target="../media/image28.png"/><Relationship Id="rId4" Type="http://schemas.openxmlformats.org/officeDocument/2006/relationships/image" Target="../media/image25.png"/><Relationship Id="rId9" Type="http://schemas.openxmlformats.org/officeDocument/2006/relationships/image" Target="../media/image3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2415882" cy="10287000"/>
            <a:chOff x="0" y="0"/>
            <a:chExt cx="636282" cy="2709333"/>
          </a:xfrm>
        </p:grpSpPr>
        <p:sp>
          <p:nvSpPr>
            <p:cNvPr id="3" name="Freeform 3"/>
            <p:cNvSpPr/>
            <p:nvPr/>
          </p:nvSpPr>
          <p:spPr>
            <a:xfrm>
              <a:off x="0" y="0"/>
              <a:ext cx="636282" cy="2709333"/>
            </a:xfrm>
            <a:custGeom>
              <a:avLst/>
              <a:gdLst/>
              <a:ahLst/>
              <a:cxnLst/>
              <a:rect l="l" t="t" r="r" b="b"/>
              <a:pathLst>
                <a:path w="636282" h="2709333">
                  <a:moveTo>
                    <a:pt x="0" y="0"/>
                  </a:moveTo>
                  <a:lnTo>
                    <a:pt x="636282" y="0"/>
                  </a:lnTo>
                  <a:lnTo>
                    <a:pt x="636282" y="2709333"/>
                  </a:lnTo>
                  <a:lnTo>
                    <a:pt x="0" y="2709333"/>
                  </a:ln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p:spPr>
        </p:sp>
        <p:sp>
          <p:nvSpPr>
            <p:cNvPr id="4" name="TextBox 4"/>
            <p:cNvSpPr txBox="1"/>
            <p:nvPr/>
          </p:nvSpPr>
          <p:spPr>
            <a:xfrm>
              <a:off x="0" y="-38100"/>
              <a:ext cx="636282" cy="2747433"/>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5" name="Freeform 5"/>
          <p:cNvSpPr/>
          <p:nvPr/>
        </p:nvSpPr>
        <p:spPr>
          <a:xfrm>
            <a:off x="918080" y="1097369"/>
            <a:ext cx="581010" cy="570222"/>
          </a:xfrm>
          <a:custGeom>
            <a:avLst/>
            <a:gdLst/>
            <a:ahLst/>
            <a:cxnLst/>
            <a:rect l="l" t="t" r="r" b="b"/>
            <a:pathLst>
              <a:path w="581010" h="570222">
                <a:moveTo>
                  <a:pt x="0" y="0"/>
                </a:moveTo>
                <a:lnTo>
                  <a:pt x="581010" y="0"/>
                </a:lnTo>
                <a:lnTo>
                  <a:pt x="581010" y="570222"/>
                </a:lnTo>
                <a:lnTo>
                  <a:pt x="0" y="570222"/>
                </a:lnTo>
                <a:lnTo>
                  <a:pt x="0" y="0"/>
                </a:lnTo>
                <a:close/>
              </a:path>
            </a:pathLst>
          </a:custGeom>
          <a:blipFill>
            <a:blip r:embed="rId2"/>
            <a:stretch>
              <a:fillRect/>
            </a:stretch>
          </a:blipFill>
        </p:spPr>
      </p:sp>
      <p:grpSp>
        <p:nvGrpSpPr>
          <p:cNvPr id="6" name="Group 6"/>
          <p:cNvGrpSpPr/>
          <p:nvPr/>
        </p:nvGrpSpPr>
        <p:grpSpPr>
          <a:xfrm>
            <a:off x="3320099" y="7544513"/>
            <a:ext cx="4849321" cy="285973"/>
            <a:chOff x="0" y="47625"/>
            <a:chExt cx="6465762" cy="381297"/>
          </a:xfrm>
        </p:grpSpPr>
        <p:grpSp>
          <p:nvGrpSpPr>
            <p:cNvPr id="7" name="Group 7"/>
            <p:cNvGrpSpPr/>
            <p:nvPr/>
          </p:nvGrpSpPr>
          <p:grpSpPr>
            <a:xfrm>
              <a:off x="0" y="147166"/>
              <a:ext cx="282714" cy="134591"/>
              <a:chOff x="0" y="0"/>
              <a:chExt cx="1707319" cy="812800"/>
            </a:xfrm>
          </p:grpSpPr>
          <p:sp>
            <p:nvSpPr>
              <p:cNvPr id="8" name="Freeform 8"/>
              <p:cNvSpPr/>
              <p:nvPr/>
            </p:nvSpPr>
            <p:spPr>
              <a:xfrm>
                <a:off x="0" y="0"/>
                <a:ext cx="1707319" cy="812800"/>
              </a:xfrm>
              <a:custGeom>
                <a:avLst/>
                <a:gdLst/>
                <a:ahLst/>
                <a:cxnLst/>
                <a:rect l="l" t="t" r="r" b="b"/>
                <a:pathLst>
                  <a:path w="1707319" h="812800">
                    <a:moveTo>
                      <a:pt x="853660" y="0"/>
                    </a:moveTo>
                    <a:cubicBezTo>
                      <a:pt x="382196" y="0"/>
                      <a:pt x="0" y="181951"/>
                      <a:pt x="0" y="406400"/>
                    </a:cubicBezTo>
                    <a:cubicBezTo>
                      <a:pt x="0" y="630849"/>
                      <a:pt x="382196" y="812800"/>
                      <a:pt x="853660" y="812800"/>
                    </a:cubicBezTo>
                    <a:cubicBezTo>
                      <a:pt x="1325123" y="812800"/>
                      <a:pt x="1707319" y="630849"/>
                      <a:pt x="1707319" y="406400"/>
                    </a:cubicBezTo>
                    <a:cubicBezTo>
                      <a:pt x="1707319" y="181951"/>
                      <a:pt x="1325123" y="0"/>
                      <a:pt x="853660" y="0"/>
                    </a:cubicBez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p:spPr>
          </p:sp>
          <p:sp>
            <p:nvSpPr>
              <p:cNvPr id="9" name="TextBox 9"/>
              <p:cNvSpPr txBox="1"/>
              <p:nvPr/>
            </p:nvSpPr>
            <p:spPr>
              <a:xfrm>
                <a:off x="160061" y="104775"/>
                <a:ext cx="1387197" cy="631825"/>
              </a:xfrm>
              <a:prstGeom prst="rect">
                <a:avLst/>
              </a:prstGeom>
            </p:spPr>
            <p:txBody>
              <a:bodyPr lIns="50800" tIns="50800" rIns="50800" bIns="50800" rtlCol="0" anchor="ctr"/>
              <a:lstStyle/>
              <a:p>
                <a:pPr marL="0" lvl="0" indent="0" algn="ctr">
                  <a:lnSpc>
                    <a:spcPts val="1308"/>
                  </a:lnSpc>
                </a:pPr>
                <a:endParaRPr/>
              </a:p>
            </p:txBody>
          </p:sp>
        </p:grpSp>
        <p:sp>
          <p:nvSpPr>
            <p:cNvPr id="10" name="TextBox 10"/>
            <p:cNvSpPr txBox="1"/>
            <p:nvPr/>
          </p:nvSpPr>
          <p:spPr>
            <a:xfrm>
              <a:off x="691171" y="47625"/>
              <a:ext cx="5774591" cy="381297"/>
            </a:xfrm>
            <a:prstGeom prst="rect">
              <a:avLst/>
            </a:prstGeom>
          </p:spPr>
          <p:txBody>
            <a:bodyPr lIns="0" tIns="0" rIns="0" bIns="0" rtlCol="0" anchor="t">
              <a:spAutoFit/>
            </a:bodyPr>
            <a:lstStyle/>
            <a:p>
              <a:pPr marL="0" lvl="0" indent="0" algn="l">
                <a:lnSpc>
                  <a:spcPts val="1869"/>
                </a:lnSpc>
              </a:pPr>
              <a:r>
                <a:rPr lang="en-US" sz="2149" b="1">
                  <a:gradFill>
                    <a:gsLst>
                      <a:gs pos="0">
                        <a:srgbClr val="293E9C">
                          <a:alpha val="100000"/>
                        </a:srgbClr>
                      </a:gs>
                      <a:gs pos="100000">
                        <a:srgbClr val="3A58E4">
                          <a:alpha val="100000"/>
                        </a:srgbClr>
                      </a:gs>
                    </a:gsLst>
                    <a:path path="circle">
                      <a:fillToRect r="100000" b="100000"/>
                    </a:path>
                    <a:tileRect l="-100000" t="-100000"/>
                  </a:gradFill>
                  <a:latin typeface="Poppins Bold"/>
                  <a:ea typeface="Poppins Bold"/>
                  <a:cs typeface="Poppins Bold"/>
                  <a:sym typeface="Poppins Bold"/>
                </a:rPr>
                <a:t>GROUP 5 </a:t>
              </a:r>
            </a:p>
          </p:txBody>
        </p:sp>
      </p:grpSp>
      <p:sp>
        <p:nvSpPr>
          <p:cNvPr id="16" name="TextBox 16"/>
          <p:cNvSpPr txBox="1"/>
          <p:nvPr/>
        </p:nvSpPr>
        <p:spPr>
          <a:xfrm>
            <a:off x="3012606" y="2064082"/>
            <a:ext cx="8289038" cy="2272213"/>
          </a:xfrm>
          <a:prstGeom prst="rect">
            <a:avLst/>
          </a:prstGeom>
        </p:spPr>
        <p:txBody>
          <a:bodyPr lIns="0" tIns="0" rIns="0" bIns="0" rtlCol="0" anchor="t">
            <a:spAutoFit/>
          </a:bodyPr>
          <a:lstStyle/>
          <a:p>
            <a:pPr marL="0" lvl="0" indent="0" algn="l">
              <a:lnSpc>
                <a:spcPts val="4482"/>
              </a:lnSpc>
            </a:pPr>
            <a:r>
              <a:rPr lang="en-US" sz="4573" spc="-292">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DESIGN AND IMPLEMENTATION OF A MOBILE APP FOR COLLECTION OF USER EXPERIENCE DATA FROM MOBILE NETWORK SUBSCRIBERS</a:t>
            </a:r>
          </a:p>
        </p:txBody>
      </p:sp>
      <p:sp>
        <p:nvSpPr>
          <p:cNvPr id="17" name="TextBox 17"/>
          <p:cNvSpPr txBox="1"/>
          <p:nvPr/>
        </p:nvSpPr>
        <p:spPr>
          <a:xfrm>
            <a:off x="3320099" y="5570120"/>
            <a:ext cx="5696631" cy="1101260"/>
          </a:xfrm>
          <a:prstGeom prst="rect">
            <a:avLst/>
          </a:prstGeom>
        </p:spPr>
        <p:txBody>
          <a:bodyPr lIns="0" tIns="0" rIns="0" bIns="0" rtlCol="0" anchor="t">
            <a:spAutoFit/>
          </a:bodyPr>
          <a:lstStyle/>
          <a:p>
            <a:pPr marL="0" lvl="0" indent="0" algn="just">
              <a:lnSpc>
                <a:spcPts val="2858"/>
              </a:lnSpc>
            </a:pPr>
            <a:r>
              <a:rPr lang="en-US" sz="2233" spc="-6">
                <a:solidFill>
                  <a:srgbClr val="3A58E4"/>
                </a:solidFill>
                <a:latin typeface="Poppins"/>
                <a:ea typeface="Poppins"/>
                <a:cs typeface="Poppins"/>
                <a:sym typeface="Poppins"/>
              </a:rPr>
              <a:t>CEF440 - Internet and Mobile Programming | Software Engineering Option</a:t>
            </a:r>
          </a:p>
        </p:txBody>
      </p:sp>
      <p:sp>
        <p:nvSpPr>
          <p:cNvPr id="18" name="TextBox 18"/>
          <p:cNvSpPr txBox="1"/>
          <p:nvPr/>
        </p:nvSpPr>
        <p:spPr>
          <a:xfrm>
            <a:off x="350972" y="1968832"/>
            <a:ext cx="1704171" cy="342132"/>
          </a:xfrm>
          <a:prstGeom prst="rect">
            <a:avLst/>
          </a:prstGeom>
        </p:spPr>
        <p:txBody>
          <a:bodyPr lIns="0" tIns="0" rIns="0" bIns="0" rtlCol="0" anchor="t">
            <a:spAutoFit/>
          </a:bodyPr>
          <a:lstStyle/>
          <a:p>
            <a:pPr marL="0" lvl="0" indent="0" algn="ctr">
              <a:lnSpc>
                <a:spcPts val="2419"/>
              </a:lnSpc>
            </a:pPr>
            <a:r>
              <a:rPr lang="en-US" sz="2261" b="1">
                <a:solidFill>
                  <a:srgbClr val="FFFFFF"/>
                </a:solidFill>
                <a:latin typeface="Poppins Bold"/>
                <a:ea typeface="Poppins Bold"/>
                <a:cs typeface="Poppins Bold"/>
                <a:sym typeface="Poppins Bold"/>
              </a:rPr>
              <a:t>CEF440</a:t>
            </a:r>
          </a:p>
        </p:txBody>
      </p:sp>
      <p:sp>
        <p:nvSpPr>
          <p:cNvPr id="19" name="TextBox 19"/>
          <p:cNvSpPr txBox="1"/>
          <p:nvPr/>
        </p:nvSpPr>
        <p:spPr>
          <a:xfrm>
            <a:off x="360740" y="2310991"/>
            <a:ext cx="1704171" cy="331238"/>
          </a:xfrm>
          <a:prstGeom prst="rect">
            <a:avLst/>
          </a:prstGeom>
        </p:spPr>
        <p:txBody>
          <a:bodyPr lIns="0" tIns="0" rIns="0" bIns="0" rtlCol="0" anchor="t">
            <a:spAutoFit/>
          </a:bodyPr>
          <a:lstStyle/>
          <a:p>
            <a:pPr marL="0" lvl="0" indent="0" algn="ctr">
              <a:lnSpc>
                <a:spcPts val="2330"/>
              </a:lnSpc>
            </a:pPr>
            <a:r>
              <a:rPr lang="en-US" sz="2178">
                <a:solidFill>
                  <a:srgbClr val="FFFFFF"/>
                </a:solidFill>
                <a:latin typeface="Poppins"/>
                <a:ea typeface="Poppins"/>
                <a:cs typeface="Poppins"/>
                <a:sym typeface="Poppins"/>
              </a:rPr>
              <a:t>Project</a:t>
            </a:r>
          </a:p>
        </p:txBody>
      </p:sp>
      <p:grpSp>
        <p:nvGrpSpPr>
          <p:cNvPr id="20" name="Group 20"/>
          <p:cNvGrpSpPr/>
          <p:nvPr/>
        </p:nvGrpSpPr>
        <p:grpSpPr>
          <a:xfrm>
            <a:off x="360740" y="8287049"/>
            <a:ext cx="1713939" cy="968645"/>
            <a:chOff x="0" y="0"/>
            <a:chExt cx="2285252" cy="1291527"/>
          </a:xfrm>
        </p:grpSpPr>
        <p:sp>
          <p:nvSpPr>
            <p:cNvPr id="21" name="TextBox 21"/>
            <p:cNvSpPr txBox="1"/>
            <p:nvPr/>
          </p:nvSpPr>
          <p:spPr>
            <a:xfrm>
              <a:off x="0" y="0"/>
              <a:ext cx="2272228" cy="456176"/>
            </a:xfrm>
            <a:prstGeom prst="rect">
              <a:avLst/>
            </a:prstGeom>
          </p:spPr>
          <p:txBody>
            <a:bodyPr lIns="0" tIns="0" rIns="0" bIns="0" rtlCol="0" anchor="t">
              <a:spAutoFit/>
            </a:bodyPr>
            <a:lstStyle/>
            <a:p>
              <a:pPr marL="0" lvl="0" indent="0" algn="ctr">
                <a:lnSpc>
                  <a:spcPts val="2419"/>
                </a:lnSpc>
              </a:pPr>
              <a:r>
                <a:rPr lang="en-US" sz="2261" b="1">
                  <a:solidFill>
                    <a:srgbClr val="FFFFFF"/>
                  </a:solidFill>
                  <a:latin typeface="Poppins Bold"/>
                  <a:ea typeface="Poppins Bold"/>
                  <a:cs typeface="Poppins Bold"/>
                  <a:sym typeface="Poppins Bold"/>
                </a:rPr>
                <a:t>2026</a:t>
              </a:r>
            </a:p>
          </p:txBody>
        </p:sp>
        <p:sp>
          <p:nvSpPr>
            <p:cNvPr id="22" name="TextBox 22"/>
            <p:cNvSpPr txBox="1"/>
            <p:nvPr/>
          </p:nvSpPr>
          <p:spPr>
            <a:xfrm>
              <a:off x="13024" y="456176"/>
              <a:ext cx="2272228" cy="835351"/>
            </a:xfrm>
            <a:prstGeom prst="rect">
              <a:avLst/>
            </a:prstGeom>
          </p:spPr>
          <p:txBody>
            <a:bodyPr lIns="0" tIns="0" rIns="0" bIns="0" rtlCol="0" anchor="t">
              <a:spAutoFit/>
            </a:bodyPr>
            <a:lstStyle/>
            <a:p>
              <a:pPr marL="0" lvl="0" indent="0" algn="ctr">
                <a:lnSpc>
                  <a:spcPts val="2330"/>
                </a:lnSpc>
              </a:pPr>
              <a:r>
                <a:rPr lang="en-US" sz="2178">
                  <a:solidFill>
                    <a:srgbClr val="FFFFFF"/>
                  </a:solidFill>
                  <a:latin typeface="Poppins"/>
                  <a:ea typeface="Poppins"/>
                  <a:cs typeface="Poppins"/>
                  <a:sym typeface="Poppins"/>
                </a:rPr>
                <a:t>Academic Year</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933665" y="5930756"/>
            <a:ext cx="3625123" cy="2648558"/>
          </a:xfrm>
          <a:prstGeom prst="rect">
            <a:avLst/>
          </a:prstGeom>
        </p:spPr>
        <p:txBody>
          <a:bodyPr lIns="0" tIns="0" rIns="0" bIns="0" rtlCol="0" anchor="t">
            <a:spAutoFit/>
          </a:bodyPr>
          <a:lstStyle/>
          <a:p>
            <a:pPr marL="0" lvl="0" indent="0" algn="l">
              <a:lnSpc>
                <a:spcPts val="4301"/>
              </a:lnSpc>
            </a:pPr>
            <a:r>
              <a:rPr lang="en-US" sz="1720" spc="-110">
                <a:solidFill>
                  <a:srgbClr val="3A58E4"/>
                </a:solidFill>
                <a:latin typeface="Poppins"/>
                <a:ea typeface="Poppins"/>
                <a:cs typeface="Poppins"/>
                <a:sym typeface="Poppins"/>
              </a:rPr>
              <a:t>Introduction, Problem &amp; Objectives</a:t>
            </a:r>
          </a:p>
          <a:p>
            <a:pPr marL="0" lvl="0" indent="0" algn="l">
              <a:lnSpc>
                <a:spcPts val="4301"/>
              </a:lnSpc>
            </a:pPr>
            <a:r>
              <a:rPr lang="en-US" sz="1720" spc="-110">
                <a:solidFill>
                  <a:srgbClr val="3A58E4"/>
                </a:solidFill>
                <a:latin typeface="Poppins"/>
                <a:ea typeface="Poppins"/>
                <a:cs typeface="Poppins"/>
                <a:sym typeface="Poppins"/>
              </a:rPr>
              <a:t>Literature &amp; Technology Stack</a:t>
            </a:r>
          </a:p>
          <a:p>
            <a:pPr marL="0" lvl="0" indent="0" algn="l">
              <a:lnSpc>
                <a:spcPts val="4301"/>
              </a:lnSpc>
            </a:pPr>
            <a:r>
              <a:rPr lang="en-US" sz="1720" spc="-110">
                <a:solidFill>
                  <a:srgbClr val="3A58E4"/>
                </a:solidFill>
                <a:latin typeface="Poppins"/>
                <a:ea typeface="Poppins"/>
                <a:cs typeface="Poppins"/>
                <a:sym typeface="Poppins"/>
              </a:rPr>
              <a:t>Requirements &amp; System Design</a:t>
            </a:r>
          </a:p>
          <a:p>
            <a:pPr marL="0" lvl="0" indent="0" algn="l">
              <a:lnSpc>
                <a:spcPts val="4301"/>
              </a:lnSpc>
            </a:pPr>
            <a:r>
              <a:rPr lang="en-US" sz="1720" spc="-110">
                <a:solidFill>
                  <a:srgbClr val="3A58E4"/>
                </a:solidFill>
                <a:latin typeface="Poppins"/>
                <a:ea typeface="Poppins"/>
                <a:cs typeface="Poppins"/>
                <a:sym typeface="Poppins"/>
              </a:rPr>
              <a:t>Implementation &amp; Measurement</a:t>
            </a:r>
          </a:p>
          <a:p>
            <a:pPr marL="0" lvl="0" indent="0" algn="l">
              <a:lnSpc>
                <a:spcPts val="4301"/>
              </a:lnSpc>
            </a:pPr>
            <a:r>
              <a:rPr lang="en-US" sz="1720" spc="-110">
                <a:solidFill>
                  <a:srgbClr val="3A58E4"/>
                </a:solidFill>
                <a:latin typeface="Poppins"/>
                <a:ea typeface="Poppins"/>
                <a:cs typeface="Poppins"/>
                <a:sym typeface="Poppins"/>
              </a:rPr>
              <a:t>Results, Conclusion &amp; Future Work</a:t>
            </a:r>
          </a:p>
        </p:txBody>
      </p:sp>
      <p:sp>
        <p:nvSpPr>
          <p:cNvPr id="3" name="AutoShape 3"/>
          <p:cNvSpPr/>
          <p:nvPr/>
        </p:nvSpPr>
        <p:spPr>
          <a:xfrm>
            <a:off x="4188847" y="6026742"/>
            <a:ext cx="3866216" cy="0"/>
          </a:xfrm>
          <a:prstGeom prst="line">
            <a:avLst/>
          </a:prstGeom>
          <a:ln w="9525" cap="rnd">
            <a:solidFill>
              <a:srgbClr val="3A58E4"/>
            </a:solidFill>
            <a:prstDash val="solid"/>
            <a:headEnd type="none" w="sm" len="sm"/>
            <a:tailEnd type="none" w="sm" len="sm"/>
          </a:ln>
        </p:spPr>
      </p:sp>
      <p:sp>
        <p:nvSpPr>
          <p:cNvPr id="4" name="AutoShape 4"/>
          <p:cNvSpPr/>
          <p:nvPr/>
        </p:nvSpPr>
        <p:spPr>
          <a:xfrm>
            <a:off x="3875499" y="6820183"/>
            <a:ext cx="4179564" cy="0"/>
          </a:xfrm>
          <a:prstGeom prst="line">
            <a:avLst/>
          </a:prstGeom>
          <a:ln w="9525" cap="rnd">
            <a:solidFill>
              <a:srgbClr val="3A58E4"/>
            </a:solidFill>
            <a:prstDash val="solid"/>
            <a:headEnd type="none" w="sm" len="sm"/>
            <a:tailEnd type="none" w="sm" len="sm"/>
          </a:ln>
        </p:spPr>
      </p:sp>
      <p:sp>
        <p:nvSpPr>
          <p:cNvPr id="5" name="AutoShape 5"/>
          <p:cNvSpPr/>
          <p:nvPr/>
        </p:nvSpPr>
        <p:spPr>
          <a:xfrm>
            <a:off x="4355079" y="7611677"/>
            <a:ext cx="3699984" cy="0"/>
          </a:xfrm>
          <a:prstGeom prst="line">
            <a:avLst/>
          </a:prstGeom>
          <a:ln w="9525" cap="rnd">
            <a:solidFill>
              <a:srgbClr val="3A58E4"/>
            </a:solidFill>
            <a:prstDash val="solid"/>
            <a:headEnd type="none" w="sm" len="sm"/>
            <a:tailEnd type="none" w="sm" len="sm"/>
          </a:ln>
        </p:spPr>
      </p:sp>
      <p:sp>
        <p:nvSpPr>
          <p:cNvPr id="6" name="AutoShape 6"/>
          <p:cNvSpPr/>
          <p:nvPr/>
        </p:nvSpPr>
        <p:spPr>
          <a:xfrm>
            <a:off x="4883376" y="8403541"/>
            <a:ext cx="3171687" cy="0"/>
          </a:xfrm>
          <a:prstGeom prst="line">
            <a:avLst/>
          </a:prstGeom>
          <a:ln w="9525" cap="rnd">
            <a:solidFill>
              <a:srgbClr val="3A58E4"/>
            </a:solidFill>
            <a:prstDash val="solid"/>
            <a:headEnd type="none" w="sm" len="sm"/>
            <a:tailEnd type="none" w="sm" len="sm"/>
          </a:ln>
        </p:spPr>
      </p:sp>
      <p:sp>
        <p:nvSpPr>
          <p:cNvPr id="7" name="TextBox 7"/>
          <p:cNvSpPr txBox="1"/>
          <p:nvPr/>
        </p:nvSpPr>
        <p:spPr>
          <a:xfrm>
            <a:off x="8275007" y="5930756"/>
            <a:ext cx="504523" cy="2648558"/>
          </a:xfrm>
          <a:prstGeom prst="rect">
            <a:avLst/>
          </a:prstGeom>
        </p:spPr>
        <p:txBody>
          <a:bodyPr lIns="0" tIns="0" rIns="0" bIns="0" rtlCol="0" anchor="t">
            <a:spAutoFit/>
          </a:bodyPr>
          <a:lstStyle/>
          <a:p>
            <a:pPr marL="0" lvl="0" indent="0" algn="l">
              <a:lnSpc>
                <a:spcPts val="4301"/>
              </a:lnSpc>
            </a:pPr>
            <a:r>
              <a:rPr lang="en-US" sz="1720" spc="-110">
                <a:solidFill>
                  <a:srgbClr val="3A58E4"/>
                </a:solidFill>
                <a:latin typeface="Poppins"/>
                <a:ea typeface="Poppins"/>
                <a:cs typeface="Poppins"/>
                <a:sym typeface="Poppins"/>
              </a:rPr>
              <a:t>01</a:t>
            </a:r>
          </a:p>
          <a:p>
            <a:pPr marL="0" lvl="0" indent="0" algn="l">
              <a:lnSpc>
                <a:spcPts val="4301"/>
              </a:lnSpc>
            </a:pPr>
            <a:r>
              <a:rPr lang="en-US" sz="1720" spc="-110">
                <a:solidFill>
                  <a:srgbClr val="3A58E4"/>
                </a:solidFill>
                <a:latin typeface="Poppins"/>
                <a:ea typeface="Poppins"/>
                <a:cs typeface="Poppins"/>
                <a:sym typeface="Poppins"/>
              </a:rPr>
              <a:t>02</a:t>
            </a:r>
          </a:p>
          <a:p>
            <a:pPr marL="0" lvl="0" indent="0" algn="l">
              <a:lnSpc>
                <a:spcPts val="4301"/>
              </a:lnSpc>
            </a:pPr>
            <a:r>
              <a:rPr lang="en-US" sz="1720" spc="-110">
                <a:solidFill>
                  <a:srgbClr val="3A58E4"/>
                </a:solidFill>
                <a:latin typeface="Poppins"/>
                <a:ea typeface="Poppins"/>
                <a:cs typeface="Poppins"/>
                <a:sym typeface="Poppins"/>
              </a:rPr>
              <a:t>03</a:t>
            </a:r>
          </a:p>
          <a:p>
            <a:pPr marL="0" lvl="0" indent="0" algn="l">
              <a:lnSpc>
                <a:spcPts val="4301"/>
              </a:lnSpc>
            </a:pPr>
            <a:r>
              <a:rPr lang="en-US" sz="1720" spc="-110">
                <a:solidFill>
                  <a:srgbClr val="3A58E4"/>
                </a:solidFill>
                <a:latin typeface="Poppins"/>
                <a:ea typeface="Poppins"/>
                <a:cs typeface="Poppins"/>
                <a:sym typeface="Poppins"/>
              </a:rPr>
              <a:t>04</a:t>
            </a:r>
          </a:p>
          <a:p>
            <a:pPr marL="0" lvl="0" indent="0" algn="l">
              <a:lnSpc>
                <a:spcPts val="4301"/>
              </a:lnSpc>
            </a:pPr>
            <a:r>
              <a:rPr lang="en-US" sz="1720" spc="-110">
                <a:solidFill>
                  <a:srgbClr val="3A58E4"/>
                </a:solidFill>
                <a:latin typeface="Poppins"/>
                <a:ea typeface="Poppins"/>
                <a:cs typeface="Poppins"/>
                <a:sym typeface="Poppins"/>
              </a:rPr>
              <a:t>05</a:t>
            </a:r>
          </a:p>
        </p:txBody>
      </p:sp>
      <p:sp>
        <p:nvSpPr>
          <p:cNvPr id="8" name="TextBox 8"/>
          <p:cNvSpPr txBox="1"/>
          <p:nvPr/>
        </p:nvSpPr>
        <p:spPr>
          <a:xfrm>
            <a:off x="9452665" y="4849132"/>
            <a:ext cx="3625123" cy="3730182"/>
          </a:xfrm>
          <a:prstGeom prst="rect">
            <a:avLst/>
          </a:prstGeom>
        </p:spPr>
        <p:txBody>
          <a:bodyPr lIns="0" tIns="0" rIns="0" bIns="0" rtlCol="0" anchor="t">
            <a:spAutoFit/>
          </a:bodyPr>
          <a:lstStyle/>
          <a:p>
            <a:pPr marL="0" lvl="0" indent="0" algn="l">
              <a:lnSpc>
                <a:spcPts val="4301"/>
              </a:lnSpc>
            </a:pPr>
            <a:r>
              <a:rPr lang="en-US" sz="1720" spc="-110">
                <a:solidFill>
                  <a:srgbClr val="3A58E4"/>
                </a:solidFill>
                <a:latin typeface="Poppins"/>
                <a:ea typeface="Poppins"/>
                <a:cs typeface="Poppins"/>
                <a:sym typeface="Poppins"/>
              </a:rPr>
              <a:t>Background, Context &amp; Survey Findings</a:t>
            </a:r>
          </a:p>
          <a:p>
            <a:pPr marL="0" lvl="0" indent="0" algn="l">
              <a:lnSpc>
                <a:spcPts val="4301"/>
              </a:lnSpc>
            </a:pPr>
            <a:r>
              <a:rPr lang="en-US" sz="1720" spc="-110">
                <a:solidFill>
                  <a:srgbClr val="3A58E4"/>
                </a:solidFill>
                <a:latin typeface="Poppins"/>
                <a:ea typeface="Poppins"/>
                <a:cs typeface="Poppins"/>
                <a:sym typeface="Poppins"/>
              </a:rPr>
              <a:t>System Modelling &amp; Database Design</a:t>
            </a:r>
          </a:p>
          <a:p>
            <a:pPr marL="0" lvl="0" indent="0" algn="l">
              <a:lnSpc>
                <a:spcPts val="4301"/>
              </a:lnSpc>
            </a:pPr>
            <a:r>
              <a:rPr lang="en-US" sz="1720" spc="-110">
                <a:solidFill>
                  <a:srgbClr val="3A58E4"/>
                </a:solidFill>
                <a:latin typeface="Poppins"/>
                <a:ea typeface="Poppins"/>
                <a:cs typeface="Poppins"/>
                <a:sym typeface="Poppins"/>
              </a:rPr>
              <a:t>Technical QoS &amp; QoE Metrics</a:t>
            </a:r>
          </a:p>
          <a:p>
            <a:pPr marL="0" lvl="0" indent="0" algn="l">
              <a:lnSpc>
                <a:spcPts val="4301"/>
              </a:lnSpc>
            </a:pPr>
            <a:r>
              <a:rPr lang="en-US" sz="1720" spc="-110">
                <a:solidFill>
                  <a:srgbClr val="3A58E4"/>
                </a:solidFill>
                <a:latin typeface="Poppins"/>
                <a:ea typeface="Poppins"/>
                <a:cs typeface="Poppins"/>
                <a:sym typeface="Poppins"/>
              </a:rPr>
              <a:t>Mobile App UI &amp; Admin Dashboard</a:t>
            </a:r>
          </a:p>
          <a:p>
            <a:pPr marL="0" lvl="0" indent="0" algn="l">
              <a:lnSpc>
                <a:spcPts val="4301"/>
              </a:lnSpc>
            </a:pPr>
            <a:r>
              <a:rPr lang="en-US" sz="1720" spc="-110">
                <a:solidFill>
                  <a:srgbClr val="3A58E4"/>
                </a:solidFill>
                <a:latin typeface="Poppins"/>
                <a:ea typeface="Poppins"/>
                <a:cs typeface="Poppins"/>
                <a:sym typeface="Poppins"/>
              </a:rPr>
              <a:t>Backend API, Evaluation &amp; Recommendations</a:t>
            </a:r>
          </a:p>
        </p:txBody>
      </p:sp>
      <p:sp>
        <p:nvSpPr>
          <p:cNvPr id="9" name="AutoShape 9"/>
          <p:cNvSpPr/>
          <p:nvPr/>
        </p:nvSpPr>
        <p:spPr>
          <a:xfrm flipV="1">
            <a:off x="12399512" y="5233301"/>
            <a:ext cx="4174552" cy="0"/>
          </a:xfrm>
          <a:prstGeom prst="line">
            <a:avLst/>
          </a:prstGeom>
          <a:ln w="9525" cap="rnd">
            <a:solidFill>
              <a:srgbClr val="3A58E4"/>
            </a:solidFill>
            <a:prstDash val="solid"/>
            <a:headEnd type="none" w="sm" len="sm"/>
            <a:tailEnd type="none" w="sm" len="sm"/>
          </a:ln>
        </p:spPr>
      </p:sp>
      <p:sp>
        <p:nvSpPr>
          <p:cNvPr id="10" name="AutoShape 10"/>
          <p:cNvSpPr/>
          <p:nvPr/>
        </p:nvSpPr>
        <p:spPr>
          <a:xfrm flipV="1">
            <a:off x="13077788" y="6026742"/>
            <a:ext cx="3496276" cy="0"/>
          </a:xfrm>
          <a:prstGeom prst="line">
            <a:avLst/>
          </a:prstGeom>
          <a:ln w="9525" cap="rnd">
            <a:solidFill>
              <a:srgbClr val="3A58E4"/>
            </a:solidFill>
            <a:prstDash val="solid"/>
            <a:headEnd type="none" w="sm" len="sm"/>
            <a:tailEnd type="none" w="sm" len="sm"/>
          </a:ln>
        </p:spPr>
      </p:sp>
      <p:sp>
        <p:nvSpPr>
          <p:cNvPr id="11" name="AutoShape 11"/>
          <p:cNvSpPr/>
          <p:nvPr/>
        </p:nvSpPr>
        <p:spPr>
          <a:xfrm>
            <a:off x="12714894" y="6820183"/>
            <a:ext cx="3859170" cy="0"/>
          </a:xfrm>
          <a:prstGeom prst="line">
            <a:avLst/>
          </a:prstGeom>
          <a:ln w="9525" cap="rnd">
            <a:solidFill>
              <a:srgbClr val="3A58E4"/>
            </a:solidFill>
            <a:prstDash val="solid"/>
            <a:headEnd type="none" w="sm" len="sm"/>
            <a:tailEnd type="none" w="sm" len="sm"/>
          </a:ln>
        </p:spPr>
      </p:sp>
      <p:sp>
        <p:nvSpPr>
          <p:cNvPr id="12" name="AutoShape 12"/>
          <p:cNvSpPr/>
          <p:nvPr/>
        </p:nvSpPr>
        <p:spPr>
          <a:xfrm>
            <a:off x="11908397" y="7611677"/>
            <a:ext cx="4665667" cy="0"/>
          </a:xfrm>
          <a:prstGeom prst="line">
            <a:avLst/>
          </a:prstGeom>
          <a:ln w="9525" cap="rnd">
            <a:solidFill>
              <a:srgbClr val="3A58E4"/>
            </a:solidFill>
            <a:prstDash val="solid"/>
            <a:headEnd type="none" w="sm" len="sm"/>
            <a:tailEnd type="none" w="sm" len="sm"/>
          </a:ln>
        </p:spPr>
      </p:sp>
      <p:sp>
        <p:nvSpPr>
          <p:cNvPr id="13" name="AutoShape 13"/>
          <p:cNvSpPr/>
          <p:nvPr/>
        </p:nvSpPr>
        <p:spPr>
          <a:xfrm>
            <a:off x="13077788" y="8403541"/>
            <a:ext cx="3496276" cy="0"/>
          </a:xfrm>
          <a:prstGeom prst="line">
            <a:avLst/>
          </a:prstGeom>
          <a:ln w="9525" cap="rnd">
            <a:solidFill>
              <a:srgbClr val="3A58E4"/>
            </a:solidFill>
            <a:prstDash val="solid"/>
            <a:headEnd type="none" w="sm" len="sm"/>
            <a:tailEnd type="none" w="sm" len="sm"/>
          </a:ln>
        </p:spPr>
      </p:sp>
      <p:sp>
        <p:nvSpPr>
          <p:cNvPr id="14" name="TextBox 14"/>
          <p:cNvSpPr txBox="1"/>
          <p:nvPr/>
        </p:nvSpPr>
        <p:spPr>
          <a:xfrm>
            <a:off x="16794008" y="5930756"/>
            <a:ext cx="560327" cy="2648558"/>
          </a:xfrm>
          <a:prstGeom prst="rect">
            <a:avLst/>
          </a:prstGeom>
        </p:spPr>
        <p:txBody>
          <a:bodyPr lIns="0" tIns="0" rIns="0" bIns="0" rtlCol="0" anchor="t">
            <a:spAutoFit/>
          </a:bodyPr>
          <a:lstStyle/>
          <a:p>
            <a:pPr marL="0" lvl="0" indent="0" algn="l">
              <a:lnSpc>
                <a:spcPts val="4301"/>
              </a:lnSpc>
            </a:pPr>
            <a:r>
              <a:rPr lang="en-US" sz="1720" spc="-110">
                <a:solidFill>
                  <a:srgbClr val="3A58E4"/>
                </a:solidFill>
                <a:latin typeface="Poppins"/>
                <a:ea typeface="Poppins"/>
                <a:cs typeface="Poppins"/>
                <a:sym typeface="Poppins"/>
              </a:rPr>
              <a:t>06</a:t>
            </a:r>
          </a:p>
          <a:p>
            <a:pPr marL="0" lvl="0" indent="0" algn="l">
              <a:lnSpc>
                <a:spcPts val="4301"/>
              </a:lnSpc>
            </a:pPr>
            <a:r>
              <a:rPr lang="en-US" sz="1720" spc="-110">
                <a:solidFill>
                  <a:srgbClr val="3A58E4"/>
                </a:solidFill>
                <a:latin typeface="Poppins"/>
                <a:ea typeface="Poppins"/>
                <a:cs typeface="Poppins"/>
                <a:sym typeface="Poppins"/>
              </a:rPr>
              <a:t>07</a:t>
            </a:r>
          </a:p>
          <a:p>
            <a:pPr marL="0" lvl="0" indent="0" algn="l">
              <a:lnSpc>
                <a:spcPts val="4301"/>
              </a:lnSpc>
            </a:pPr>
            <a:r>
              <a:rPr lang="en-US" sz="1720" spc="-110">
                <a:solidFill>
                  <a:srgbClr val="3A58E4"/>
                </a:solidFill>
                <a:latin typeface="Poppins"/>
                <a:ea typeface="Poppins"/>
                <a:cs typeface="Poppins"/>
                <a:sym typeface="Poppins"/>
              </a:rPr>
              <a:t>08</a:t>
            </a:r>
          </a:p>
          <a:p>
            <a:pPr marL="0" lvl="0" indent="0" algn="l">
              <a:lnSpc>
                <a:spcPts val="4301"/>
              </a:lnSpc>
            </a:pPr>
            <a:r>
              <a:rPr lang="en-US" sz="1720" spc="-110">
                <a:solidFill>
                  <a:srgbClr val="3A58E4"/>
                </a:solidFill>
                <a:latin typeface="Poppins"/>
                <a:ea typeface="Poppins"/>
                <a:cs typeface="Poppins"/>
                <a:sym typeface="Poppins"/>
              </a:rPr>
              <a:t>09</a:t>
            </a:r>
          </a:p>
          <a:p>
            <a:pPr marL="0" lvl="0" indent="0" algn="l">
              <a:lnSpc>
                <a:spcPts val="4301"/>
              </a:lnSpc>
            </a:pPr>
            <a:r>
              <a:rPr lang="en-US" sz="1720" spc="-110">
                <a:solidFill>
                  <a:srgbClr val="3A58E4"/>
                </a:solidFill>
                <a:latin typeface="Poppins"/>
                <a:ea typeface="Poppins"/>
                <a:cs typeface="Poppins"/>
                <a:sym typeface="Poppins"/>
              </a:rPr>
              <a:t>10</a:t>
            </a:r>
          </a:p>
        </p:txBody>
      </p:sp>
      <p:grpSp>
        <p:nvGrpSpPr>
          <p:cNvPr id="15" name="Group 15"/>
          <p:cNvGrpSpPr/>
          <p:nvPr/>
        </p:nvGrpSpPr>
        <p:grpSpPr>
          <a:xfrm>
            <a:off x="4208579" y="3345532"/>
            <a:ext cx="9822228" cy="372400"/>
            <a:chOff x="0" y="44820"/>
            <a:chExt cx="13096304" cy="496534"/>
          </a:xfrm>
        </p:grpSpPr>
        <p:sp>
          <p:nvSpPr>
            <p:cNvPr id="16" name="TextBox 16"/>
            <p:cNvSpPr txBox="1"/>
            <p:nvPr/>
          </p:nvSpPr>
          <p:spPr>
            <a:xfrm>
              <a:off x="0" y="148083"/>
              <a:ext cx="13021857" cy="393271"/>
            </a:xfrm>
            <a:prstGeom prst="rect">
              <a:avLst/>
            </a:prstGeom>
          </p:spPr>
          <p:txBody>
            <a:bodyPr lIns="0" tIns="0" rIns="0" bIns="0" rtlCol="0" anchor="t">
              <a:spAutoFit/>
            </a:bodyPr>
            <a:lstStyle/>
            <a:p>
              <a:pPr marL="0" lvl="0" indent="0" algn="l">
                <a:lnSpc>
                  <a:spcPts val="2273"/>
                </a:lnSpc>
              </a:pPr>
              <a:r>
                <a:rPr lang="en-US" sz="1624" spc="-40" dirty="0">
                  <a:gradFill>
                    <a:gsLst>
                      <a:gs pos="0">
                        <a:srgbClr val="3A58E4">
                          <a:alpha val="100000"/>
                        </a:srgbClr>
                      </a:gs>
                      <a:gs pos="100000">
                        <a:srgbClr val="293E9C">
                          <a:alpha val="100000"/>
                        </a:srgbClr>
                      </a:gs>
                    </a:gsLst>
                    <a:path path="circle">
                      <a:fillToRect r="100000" b="100000"/>
                    </a:path>
                    <a:tileRect l="-100000" t="-100000"/>
                  </a:gradFill>
                  <a:latin typeface="Poppins"/>
                  <a:ea typeface="Poppins"/>
                  <a:cs typeface="Poppins"/>
                  <a:sym typeface="Poppins"/>
                </a:rPr>
                <a:t>Structure and flow of today's presentation </a:t>
              </a:r>
              <a:r>
                <a:rPr lang="en-US" sz="1624" spc="-40" dirty="0" smtClean="0">
                  <a:gradFill>
                    <a:gsLst>
                      <a:gs pos="0">
                        <a:srgbClr val="3A58E4">
                          <a:alpha val="100000"/>
                        </a:srgbClr>
                      </a:gs>
                      <a:gs pos="100000">
                        <a:srgbClr val="293E9C">
                          <a:alpha val="100000"/>
                        </a:srgbClr>
                      </a:gs>
                    </a:gsLst>
                    <a:path path="circle">
                      <a:fillToRect r="100000" b="100000"/>
                    </a:path>
                    <a:tileRect l="-100000" t="-100000"/>
                  </a:gradFill>
                  <a:latin typeface="Poppins"/>
                  <a:ea typeface="Poppins"/>
                  <a:cs typeface="Poppins"/>
                  <a:sym typeface="Poppins"/>
                </a:rPr>
                <a:t>  </a:t>
              </a:r>
              <a:r>
                <a:rPr lang="en-US" sz="1624" spc="-40" dirty="0">
                  <a:gradFill>
                    <a:gsLst>
                      <a:gs pos="0">
                        <a:srgbClr val="3A58E4">
                          <a:alpha val="100000"/>
                        </a:srgbClr>
                      </a:gs>
                      <a:gs pos="100000">
                        <a:srgbClr val="293E9C">
                          <a:alpha val="100000"/>
                        </a:srgbClr>
                      </a:gs>
                    </a:gsLst>
                    <a:path path="circle">
                      <a:fillToRect r="100000" b="100000"/>
                    </a:path>
                    <a:tileRect l="-100000" t="-100000"/>
                  </a:gradFill>
                  <a:latin typeface="Poppins"/>
                  <a:ea typeface="Poppins"/>
                  <a:cs typeface="Poppins"/>
                  <a:sym typeface="Poppins"/>
                </a:rPr>
                <a:t>CEF440 Internet and Mobile Programming</a:t>
              </a:r>
            </a:p>
          </p:txBody>
        </p:sp>
        <p:sp>
          <p:nvSpPr>
            <p:cNvPr id="17" name="Freeform 17"/>
            <p:cNvSpPr/>
            <p:nvPr/>
          </p:nvSpPr>
          <p:spPr>
            <a:xfrm rot="-8687136">
              <a:off x="12844104" y="44820"/>
              <a:ext cx="252200" cy="304858"/>
            </a:xfrm>
            <a:custGeom>
              <a:avLst/>
              <a:gdLst/>
              <a:ahLst/>
              <a:cxnLst/>
              <a:rect l="l" t="t" r="r" b="b"/>
              <a:pathLst>
                <a:path w="252200" h="304858">
                  <a:moveTo>
                    <a:pt x="0" y="0"/>
                  </a:moveTo>
                  <a:lnTo>
                    <a:pt x="252200" y="0"/>
                  </a:lnTo>
                  <a:lnTo>
                    <a:pt x="252200" y="304857"/>
                  </a:lnTo>
                  <a:lnTo>
                    <a:pt x="0" y="304857"/>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sp>
      </p:grpSp>
      <p:sp>
        <p:nvSpPr>
          <p:cNvPr id="18" name="AutoShape 18"/>
          <p:cNvSpPr/>
          <p:nvPr/>
        </p:nvSpPr>
        <p:spPr>
          <a:xfrm>
            <a:off x="4208579" y="3853088"/>
            <a:ext cx="9870843" cy="0"/>
          </a:xfrm>
          <a:prstGeom prst="line">
            <a:avLst/>
          </a:prstGeom>
          <a:ln w="19050" cap="rnd">
            <a:solidFill>
              <a:srgbClr val="3A58E4"/>
            </a:solidFill>
            <a:prstDash val="solid"/>
            <a:headEnd type="none" w="sm" len="sm"/>
            <a:tailEnd type="none" w="sm" len="sm"/>
          </a:ln>
        </p:spPr>
      </p:sp>
      <p:sp>
        <p:nvSpPr>
          <p:cNvPr id="19" name="TextBox 19"/>
          <p:cNvSpPr txBox="1"/>
          <p:nvPr/>
        </p:nvSpPr>
        <p:spPr>
          <a:xfrm>
            <a:off x="3626085" y="1899498"/>
            <a:ext cx="11035829" cy="1014824"/>
          </a:xfrm>
          <a:prstGeom prst="rect">
            <a:avLst/>
          </a:prstGeom>
        </p:spPr>
        <p:txBody>
          <a:bodyPr lIns="0" tIns="0" rIns="0" bIns="0" rtlCol="0" anchor="t">
            <a:spAutoFit/>
          </a:bodyPr>
          <a:lstStyle/>
          <a:p>
            <a:pPr marL="0" lvl="0" indent="0" algn="ctr">
              <a:lnSpc>
                <a:spcPts val="7531"/>
              </a:lnSpc>
            </a:pPr>
            <a:r>
              <a:rPr lang="en-US" sz="7685" spc="-491">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Presentation Outline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8492056" y="1525863"/>
            <a:ext cx="47625" cy="2040668"/>
            <a:chOff x="0" y="0"/>
            <a:chExt cx="12543" cy="537460"/>
          </a:xfrm>
        </p:grpSpPr>
        <p:sp>
          <p:nvSpPr>
            <p:cNvPr id="3" name="Freeform 3"/>
            <p:cNvSpPr/>
            <p:nvPr/>
          </p:nvSpPr>
          <p:spPr>
            <a:xfrm>
              <a:off x="0" y="0"/>
              <a:ext cx="12543" cy="537460"/>
            </a:xfrm>
            <a:custGeom>
              <a:avLst/>
              <a:gdLst/>
              <a:ahLst/>
              <a:cxnLst/>
              <a:rect l="l" t="t" r="r" b="b"/>
              <a:pathLst>
                <a:path w="12543" h="537460">
                  <a:moveTo>
                    <a:pt x="0" y="0"/>
                  </a:moveTo>
                  <a:lnTo>
                    <a:pt x="12543" y="0"/>
                  </a:lnTo>
                  <a:lnTo>
                    <a:pt x="12543" y="537460"/>
                  </a:lnTo>
                  <a:lnTo>
                    <a:pt x="0" y="537460"/>
                  </a:lnTo>
                  <a:close/>
                </a:path>
              </a:pathLst>
            </a:custGeom>
            <a:solidFill>
              <a:srgbClr val="3A58E4"/>
            </a:solidFill>
          </p:spPr>
        </p:sp>
        <p:sp>
          <p:nvSpPr>
            <p:cNvPr id="4" name="TextBox 4"/>
            <p:cNvSpPr txBox="1"/>
            <p:nvPr/>
          </p:nvSpPr>
          <p:spPr>
            <a:xfrm>
              <a:off x="0" y="-38100"/>
              <a:ext cx="12543" cy="57556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5" name="TextBox 5"/>
          <p:cNvSpPr txBox="1"/>
          <p:nvPr/>
        </p:nvSpPr>
        <p:spPr>
          <a:xfrm>
            <a:off x="8492056" y="4593830"/>
            <a:ext cx="7106119" cy="266065"/>
          </a:xfrm>
          <a:prstGeom prst="rect">
            <a:avLst/>
          </a:prstGeom>
        </p:spPr>
        <p:txBody>
          <a:bodyPr lIns="0" tIns="0" rIns="0" bIns="0" rtlCol="0" anchor="t">
            <a:spAutoFit/>
          </a:bodyPr>
          <a:lstStyle/>
          <a:p>
            <a:pPr marL="0" lvl="0" indent="0" algn="l">
              <a:lnSpc>
                <a:spcPts val="2135"/>
              </a:lnSpc>
            </a:pPr>
            <a:r>
              <a:rPr lang="en-US" sz="1525" b="1" spc="-38">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UNDERSTANDING THE MOBILE NETWORK LANDSCAPE AND THE QOS–QOE GAP</a:t>
            </a:r>
          </a:p>
        </p:txBody>
      </p:sp>
      <p:sp>
        <p:nvSpPr>
          <p:cNvPr id="6" name="Freeform 6"/>
          <p:cNvSpPr/>
          <p:nvPr/>
        </p:nvSpPr>
        <p:spPr>
          <a:xfrm rot="-8687136">
            <a:off x="15580115" y="4542838"/>
            <a:ext cx="189150" cy="228643"/>
          </a:xfrm>
          <a:custGeom>
            <a:avLst/>
            <a:gdLst/>
            <a:ahLst/>
            <a:cxnLst/>
            <a:rect l="l" t="t" r="r" b="b"/>
            <a:pathLst>
              <a:path w="189150" h="228643">
                <a:moveTo>
                  <a:pt x="0" y="0"/>
                </a:moveTo>
                <a:lnTo>
                  <a:pt x="189150" y="0"/>
                </a:lnTo>
                <a:lnTo>
                  <a:pt x="189150" y="228644"/>
                </a:lnTo>
                <a:lnTo>
                  <a:pt x="0" y="228644"/>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sp>
      <p:grpSp>
        <p:nvGrpSpPr>
          <p:cNvPr id="7" name="Group 7"/>
          <p:cNvGrpSpPr/>
          <p:nvPr/>
        </p:nvGrpSpPr>
        <p:grpSpPr>
          <a:xfrm>
            <a:off x="0" y="0"/>
            <a:ext cx="6352295" cy="10287000"/>
            <a:chOff x="0" y="0"/>
            <a:chExt cx="984137" cy="1593725"/>
          </a:xfrm>
        </p:grpSpPr>
        <p:sp>
          <p:nvSpPr>
            <p:cNvPr id="8" name="Freeform 8"/>
            <p:cNvSpPr/>
            <p:nvPr/>
          </p:nvSpPr>
          <p:spPr>
            <a:xfrm>
              <a:off x="0" y="0"/>
              <a:ext cx="984137" cy="1593725"/>
            </a:xfrm>
            <a:custGeom>
              <a:avLst/>
              <a:gdLst/>
              <a:ahLst/>
              <a:cxnLst/>
              <a:rect l="l" t="t" r="r" b="b"/>
              <a:pathLst>
                <a:path w="984137" h="1593725">
                  <a:moveTo>
                    <a:pt x="0" y="0"/>
                  </a:moveTo>
                  <a:lnTo>
                    <a:pt x="984137" y="0"/>
                  </a:lnTo>
                  <a:lnTo>
                    <a:pt x="984137" y="1593725"/>
                  </a:lnTo>
                  <a:lnTo>
                    <a:pt x="0" y="1593725"/>
                  </a:lnTo>
                  <a:close/>
                </a:path>
              </a:pathLst>
            </a:custGeom>
            <a:blipFill>
              <a:blip r:embed="rId4"/>
              <a:stretch>
                <a:fillRect t="-306" b="-306"/>
              </a:stretch>
            </a:blipFill>
          </p:spPr>
        </p:sp>
      </p:grpSp>
      <p:grpSp>
        <p:nvGrpSpPr>
          <p:cNvPr id="9" name="Group 9"/>
          <p:cNvGrpSpPr/>
          <p:nvPr/>
        </p:nvGrpSpPr>
        <p:grpSpPr>
          <a:xfrm>
            <a:off x="16438046" y="351089"/>
            <a:ext cx="1849954" cy="1497078"/>
            <a:chOff x="0" y="0"/>
            <a:chExt cx="2466605" cy="1996104"/>
          </a:xfrm>
        </p:grpSpPr>
        <p:grpSp>
          <p:nvGrpSpPr>
            <p:cNvPr id="10" name="Group 10"/>
            <p:cNvGrpSpPr/>
            <p:nvPr/>
          </p:nvGrpSpPr>
          <p:grpSpPr>
            <a:xfrm>
              <a:off x="0" y="0"/>
              <a:ext cx="2466605" cy="1996104"/>
              <a:chOff x="0" y="0"/>
              <a:chExt cx="787566" cy="637339"/>
            </a:xfrm>
          </p:grpSpPr>
          <p:sp>
            <p:nvSpPr>
              <p:cNvPr id="11" name="Freeform 11"/>
              <p:cNvSpPr/>
              <p:nvPr/>
            </p:nvSpPr>
            <p:spPr>
              <a:xfrm>
                <a:off x="0" y="0"/>
                <a:ext cx="787566" cy="637339"/>
              </a:xfrm>
              <a:custGeom>
                <a:avLst/>
                <a:gdLst/>
                <a:ahLst/>
                <a:cxnLst/>
                <a:rect l="l" t="t" r="r" b="b"/>
                <a:pathLst>
                  <a:path w="787566" h="637339">
                    <a:moveTo>
                      <a:pt x="0" y="0"/>
                    </a:moveTo>
                    <a:lnTo>
                      <a:pt x="787566" y="0"/>
                    </a:lnTo>
                    <a:lnTo>
                      <a:pt x="787566" y="637339"/>
                    </a:lnTo>
                    <a:lnTo>
                      <a:pt x="0" y="637339"/>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12" name="TextBox 12"/>
              <p:cNvSpPr txBox="1"/>
              <p:nvPr/>
            </p:nvSpPr>
            <p:spPr>
              <a:xfrm>
                <a:off x="0" y="-38100"/>
                <a:ext cx="787566" cy="675439"/>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13" name="TextBox 13"/>
            <p:cNvSpPr txBox="1"/>
            <p:nvPr/>
          </p:nvSpPr>
          <p:spPr>
            <a:xfrm>
              <a:off x="319164" y="655949"/>
              <a:ext cx="1828278" cy="769931"/>
            </a:xfrm>
            <a:prstGeom prst="rect">
              <a:avLst/>
            </a:prstGeom>
          </p:spPr>
          <p:txBody>
            <a:bodyPr lIns="0" tIns="0" rIns="0" bIns="0" rtlCol="0" anchor="t">
              <a:spAutoFit/>
            </a:bodyPr>
            <a:lstStyle/>
            <a:p>
              <a:pPr marL="0" lvl="0" indent="0" algn="ctr">
                <a:lnSpc>
                  <a:spcPts val="4134"/>
                </a:lnSpc>
              </a:pPr>
              <a:r>
                <a:rPr lang="en-US" sz="4218" spc="-269">
                  <a:solidFill>
                    <a:srgbClr val="FFFFFF"/>
                  </a:solidFill>
                  <a:latin typeface="Bricolage Grotesque"/>
                  <a:ea typeface="Bricolage Grotesque"/>
                  <a:cs typeface="Bricolage Grotesque"/>
                  <a:sym typeface="Bricolage Grotesque"/>
                </a:rPr>
                <a:t>03</a:t>
              </a:r>
            </a:p>
          </p:txBody>
        </p:sp>
      </p:grpSp>
      <p:sp>
        <p:nvSpPr>
          <p:cNvPr id="14" name="AutoShape 14"/>
          <p:cNvSpPr/>
          <p:nvPr/>
        </p:nvSpPr>
        <p:spPr>
          <a:xfrm flipH="1">
            <a:off x="6542795" y="0"/>
            <a:ext cx="0" cy="10287000"/>
          </a:xfrm>
          <a:prstGeom prst="line">
            <a:avLst/>
          </a:prstGeom>
          <a:ln w="19050" cap="rnd">
            <a:solidFill>
              <a:srgbClr val="3A58E4"/>
            </a:solidFill>
            <a:prstDash val="solid"/>
            <a:headEnd type="none" w="sm" len="sm"/>
            <a:tailEnd type="none" w="sm" len="sm"/>
          </a:ln>
        </p:spPr>
      </p:sp>
      <p:sp>
        <p:nvSpPr>
          <p:cNvPr id="15" name="Freeform 15"/>
          <p:cNvSpPr/>
          <p:nvPr/>
        </p:nvSpPr>
        <p:spPr>
          <a:xfrm>
            <a:off x="5177017" y="5870652"/>
            <a:ext cx="2350556" cy="457290"/>
          </a:xfrm>
          <a:custGeom>
            <a:avLst/>
            <a:gdLst/>
            <a:ahLst/>
            <a:cxnLst/>
            <a:rect l="l" t="t" r="r" b="b"/>
            <a:pathLst>
              <a:path w="2350556" h="457290">
                <a:moveTo>
                  <a:pt x="0" y="0"/>
                </a:moveTo>
                <a:lnTo>
                  <a:pt x="2350556" y="0"/>
                </a:lnTo>
                <a:lnTo>
                  <a:pt x="2350556" y="457290"/>
                </a:lnTo>
                <a:lnTo>
                  <a:pt x="0" y="457290"/>
                </a:lnTo>
                <a:lnTo>
                  <a:pt x="0" y="0"/>
                </a:lnTo>
                <a:close/>
              </a:path>
            </a:pathLst>
          </a:custGeom>
          <a:blipFill>
            <a:blip r:embed="rId5"/>
            <a:stretch>
              <a:fillRect/>
            </a:stretch>
          </a:blipFill>
        </p:spPr>
      </p:sp>
      <p:grpSp>
        <p:nvGrpSpPr>
          <p:cNvPr id="16" name="Group 16"/>
          <p:cNvGrpSpPr/>
          <p:nvPr/>
        </p:nvGrpSpPr>
        <p:grpSpPr>
          <a:xfrm>
            <a:off x="5262566" y="3959058"/>
            <a:ext cx="2152019" cy="2149322"/>
            <a:chOff x="0" y="0"/>
            <a:chExt cx="567580" cy="566868"/>
          </a:xfrm>
        </p:grpSpPr>
        <p:sp>
          <p:nvSpPr>
            <p:cNvPr id="17" name="Freeform 17"/>
            <p:cNvSpPr/>
            <p:nvPr/>
          </p:nvSpPr>
          <p:spPr>
            <a:xfrm>
              <a:off x="0" y="0"/>
              <a:ext cx="567580" cy="566868"/>
            </a:xfrm>
            <a:custGeom>
              <a:avLst/>
              <a:gdLst/>
              <a:ahLst/>
              <a:cxnLst/>
              <a:rect l="l" t="t" r="r" b="b"/>
              <a:pathLst>
                <a:path w="567580" h="566868">
                  <a:moveTo>
                    <a:pt x="161888" y="0"/>
                  </a:moveTo>
                  <a:lnTo>
                    <a:pt x="405691" y="0"/>
                  </a:lnTo>
                  <a:cubicBezTo>
                    <a:pt x="495100" y="0"/>
                    <a:pt x="567580" y="72480"/>
                    <a:pt x="567580" y="161888"/>
                  </a:cubicBezTo>
                  <a:lnTo>
                    <a:pt x="567580" y="404980"/>
                  </a:lnTo>
                  <a:cubicBezTo>
                    <a:pt x="567580" y="494389"/>
                    <a:pt x="495100" y="566868"/>
                    <a:pt x="405691" y="566868"/>
                  </a:cubicBezTo>
                  <a:lnTo>
                    <a:pt x="161888" y="566868"/>
                  </a:lnTo>
                  <a:cubicBezTo>
                    <a:pt x="72480" y="566868"/>
                    <a:pt x="0" y="494389"/>
                    <a:pt x="0" y="404980"/>
                  </a:cubicBezTo>
                  <a:lnTo>
                    <a:pt x="0" y="161888"/>
                  </a:lnTo>
                  <a:cubicBezTo>
                    <a:pt x="0" y="72480"/>
                    <a:pt x="72480" y="0"/>
                    <a:pt x="161888" y="0"/>
                  </a:cubicBez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a:ln cap="rnd">
              <a:noFill/>
              <a:prstDash val="solid"/>
              <a:round/>
            </a:ln>
          </p:spPr>
        </p:sp>
        <p:sp>
          <p:nvSpPr>
            <p:cNvPr id="18" name="TextBox 18"/>
            <p:cNvSpPr txBox="1"/>
            <p:nvPr/>
          </p:nvSpPr>
          <p:spPr>
            <a:xfrm>
              <a:off x="0" y="28575"/>
              <a:ext cx="567580" cy="538293"/>
            </a:xfrm>
            <a:prstGeom prst="rect">
              <a:avLst/>
            </a:prstGeom>
          </p:spPr>
          <p:txBody>
            <a:bodyPr lIns="48445" tIns="48445" rIns="48445" bIns="48445" rtlCol="0" anchor="ctr"/>
            <a:lstStyle/>
            <a:p>
              <a:pPr marL="0" lvl="0" indent="0" algn="ctr">
                <a:lnSpc>
                  <a:spcPts val="2460"/>
                </a:lnSpc>
              </a:pPr>
              <a:endParaRPr/>
            </a:p>
          </p:txBody>
        </p:sp>
      </p:grpSp>
      <p:sp>
        <p:nvSpPr>
          <p:cNvPr id="19" name="TextBox 19"/>
          <p:cNvSpPr txBox="1"/>
          <p:nvPr/>
        </p:nvSpPr>
        <p:spPr>
          <a:xfrm>
            <a:off x="5602320" y="4416246"/>
            <a:ext cx="1499950" cy="315855"/>
          </a:xfrm>
          <a:prstGeom prst="rect">
            <a:avLst/>
          </a:prstGeom>
        </p:spPr>
        <p:txBody>
          <a:bodyPr lIns="0" tIns="0" rIns="0" bIns="0" rtlCol="0" anchor="t">
            <a:spAutoFit/>
          </a:bodyPr>
          <a:lstStyle/>
          <a:p>
            <a:pPr marL="0" lvl="0" indent="0" algn="ctr">
              <a:lnSpc>
                <a:spcPts val="2365"/>
              </a:lnSpc>
            </a:pPr>
            <a:r>
              <a:rPr lang="en-US" sz="2389" b="1" spc="-71">
                <a:solidFill>
                  <a:srgbClr val="FFFFFF"/>
                </a:solidFill>
                <a:latin typeface="Bricolage Grotesque Bold"/>
                <a:ea typeface="Bricolage Grotesque Bold"/>
                <a:cs typeface="Bricolage Grotesque Bold"/>
                <a:sym typeface="Bricolage Grotesque Bold"/>
              </a:rPr>
              <a:t>5.4B</a:t>
            </a:r>
          </a:p>
        </p:txBody>
      </p:sp>
      <p:sp>
        <p:nvSpPr>
          <p:cNvPr id="20" name="TextBox 20"/>
          <p:cNvSpPr txBox="1"/>
          <p:nvPr/>
        </p:nvSpPr>
        <p:spPr>
          <a:xfrm>
            <a:off x="5746312" y="5274096"/>
            <a:ext cx="1211966" cy="417195"/>
          </a:xfrm>
          <a:prstGeom prst="rect">
            <a:avLst/>
          </a:prstGeom>
        </p:spPr>
        <p:txBody>
          <a:bodyPr lIns="0" tIns="0" rIns="0" bIns="0" rtlCol="0" anchor="t">
            <a:spAutoFit/>
          </a:bodyPr>
          <a:lstStyle/>
          <a:p>
            <a:pPr marL="0" lvl="0" indent="0" algn="ctr">
              <a:lnSpc>
                <a:spcPts val="1679"/>
              </a:lnSpc>
            </a:pPr>
            <a:r>
              <a:rPr lang="en-US" sz="1199" spc="-29">
                <a:solidFill>
                  <a:srgbClr val="FFFFFF"/>
                </a:solidFill>
                <a:latin typeface="Poppins"/>
                <a:ea typeface="Poppins"/>
                <a:cs typeface="Poppins"/>
                <a:sym typeface="Poppins"/>
              </a:rPr>
              <a:t>MOBILE USERS WORLDWIDE</a:t>
            </a:r>
          </a:p>
        </p:txBody>
      </p:sp>
      <p:sp>
        <p:nvSpPr>
          <p:cNvPr id="21" name="TextBox 21"/>
          <p:cNvSpPr txBox="1"/>
          <p:nvPr/>
        </p:nvSpPr>
        <p:spPr>
          <a:xfrm>
            <a:off x="8720122" y="1582592"/>
            <a:ext cx="5780387" cy="2313327"/>
          </a:xfrm>
          <a:prstGeom prst="rect">
            <a:avLst/>
          </a:prstGeom>
        </p:spPr>
        <p:txBody>
          <a:bodyPr lIns="0" tIns="0" rIns="0" bIns="0" rtlCol="0" anchor="t">
            <a:spAutoFit/>
          </a:bodyPr>
          <a:lstStyle/>
          <a:p>
            <a:pPr marL="0" lvl="0" indent="0" algn="l">
              <a:lnSpc>
                <a:spcPts val="8842"/>
              </a:lnSpc>
            </a:pPr>
            <a:r>
              <a:rPr lang="en-US" sz="9022" spc="-577">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Background</a:t>
            </a:r>
          </a:p>
          <a:p>
            <a:pPr marL="0" lvl="0" indent="0" algn="l">
              <a:lnSpc>
                <a:spcPts val="8842"/>
              </a:lnSpc>
            </a:pPr>
            <a:r>
              <a:rPr lang="en-US" sz="9022" spc="-577">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&amp; Context</a:t>
            </a:r>
          </a:p>
        </p:txBody>
      </p:sp>
      <p:sp>
        <p:nvSpPr>
          <p:cNvPr id="22" name="TextBox 22"/>
          <p:cNvSpPr txBox="1"/>
          <p:nvPr/>
        </p:nvSpPr>
        <p:spPr>
          <a:xfrm>
            <a:off x="8458984" y="4983177"/>
            <a:ext cx="7325824" cy="2517117"/>
          </a:xfrm>
          <a:prstGeom prst="rect">
            <a:avLst/>
          </a:prstGeom>
        </p:spPr>
        <p:txBody>
          <a:bodyPr lIns="0" tIns="0" rIns="0" bIns="0" rtlCol="0" anchor="t">
            <a:spAutoFit/>
          </a:bodyPr>
          <a:lstStyle/>
          <a:p>
            <a:pPr marL="0" lvl="0" indent="0" algn="just">
              <a:lnSpc>
                <a:spcPts val="2486"/>
              </a:lnSpc>
            </a:pPr>
            <a:r>
              <a:rPr lang="en-US" sz="1775" spc="-5" dirty="0">
                <a:solidFill>
                  <a:srgbClr val="3A58E4"/>
                </a:solidFill>
                <a:latin typeface="Poppins"/>
                <a:ea typeface="Poppins"/>
                <a:cs typeface="Poppins"/>
                <a:sym typeface="Poppins"/>
              </a:rPr>
              <a:t>Mobile networks are critical infrastructure for billions of users globally. Despite advances in 4G/5G technology, subscribers routinely experience degraded service. Network operators measure Quality of Service (</a:t>
            </a:r>
            <a:r>
              <a:rPr lang="en-US" sz="1775" spc="-5" dirty="0" err="1">
                <a:solidFill>
                  <a:srgbClr val="3A58E4"/>
                </a:solidFill>
                <a:latin typeface="Poppins"/>
                <a:ea typeface="Poppins"/>
                <a:cs typeface="Poppins"/>
                <a:sym typeface="Poppins"/>
              </a:rPr>
              <a:t>QoS</a:t>
            </a:r>
            <a:r>
              <a:rPr lang="en-US" sz="1775" spc="-5" dirty="0">
                <a:solidFill>
                  <a:srgbClr val="3A58E4"/>
                </a:solidFill>
                <a:latin typeface="Poppins"/>
                <a:ea typeface="Poppins"/>
                <a:cs typeface="Poppins"/>
                <a:sym typeface="Poppins"/>
              </a:rPr>
              <a:t>) — technical metrics like throughput and latency — but this rarely reflects the actual Quality of Experience (</a:t>
            </a:r>
            <a:r>
              <a:rPr lang="en-US" sz="1775" spc="-5" dirty="0" err="1">
                <a:solidFill>
                  <a:srgbClr val="3A58E4"/>
                </a:solidFill>
                <a:latin typeface="Poppins"/>
                <a:ea typeface="Poppins"/>
                <a:cs typeface="Poppins"/>
                <a:sym typeface="Poppins"/>
              </a:rPr>
              <a:t>QoE</a:t>
            </a:r>
            <a:r>
              <a:rPr lang="en-US" sz="1775" spc="-5" dirty="0">
                <a:solidFill>
                  <a:srgbClr val="3A58E4"/>
                </a:solidFill>
                <a:latin typeface="Poppins"/>
                <a:ea typeface="Poppins"/>
                <a:cs typeface="Poppins"/>
                <a:sym typeface="Poppins"/>
              </a:rPr>
              <a:t>) perceived by users. Bridging this gap requires real-time, subscriber-level data collected directly from devices in the field.</a:t>
            </a:r>
          </a:p>
        </p:txBody>
      </p:sp>
      <p:sp>
        <p:nvSpPr>
          <p:cNvPr id="23" name="TextBox 23"/>
          <p:cNvSpPr txBox="1"/>
          <p:nvPr/>
        </p:nvSpPr>
        <p:spPr>
          <a:xfrm>
            <a:off x="8492056" y="7580070"/>
            <a:ext cx="7245127" cy="1603003"/>
          </a:xfrm>
          <a:prstGeom prst="rect">
            <a:avLst/>
          </a:prstGeom>
        </p:spPr>
        <p:txBody>
          <a:bodyPr wrap="square" lIns="0" tIns="0" rIns="0" bIns="0" rtlCol="0" anchor="t">
            <a:spAutoFit/>
          </a:bodyPr>
          <a:lstStyle/>
          <a:p>
            <a:pPr marL="0" lvl="0" indent="0" algn="just">
              <a:lnSpc>
                <a:spcPts val="2486"/>
              </a:lnSpc>
            </a:pPr>
            <a:r>
              <a:rPr lang="en-US" sz="1775" spc="-5" dirty="0">
                <a:solidFill>
                  <a:srgbClr val="3A58E4"/>
                </a:solidFill>
                <a:latin typeface="Poppins"/>
                <a:ea typeface="Poppins"/>
                <a:cs typeface="Poppins"/>
                <a:sym typeface="Poppins"/>
              </a:rPr>
              <a:t>Slow download &amp; upload speeds reported by users</a:t>
            </a:r>
          </a:p>
          <a:p>
            <a:pPr marL="0" lvl="0" indent="0" algn="just">
              <a:lnSpc>
                <a:spcPts val="2486"/>
              </a:lnSpc>
            </a:pPr>
            <a:r>
              <a:rPr lang="en-US" sz="1775" spc="-5" dirty="0">
                <a:solidFill>
                  <a:srgbClr val="3A58E4"/>
                </a:solidFill>
                <a:latin typeface="Poppins"/>
                <a:ea typeface="Poppins"/>
                <a:cs typeface="Poppins"/>
                <a:sym typeface="Poppins"/>
              </a:rPr>
              <a:t>Unstable connectivity and frequent disconnections</a:t>
            </a:r>
          </a:p>
          <a:p>
            <a:pPr marL="0" lvl="0" indent="0" algn="just">
              <a:lnSpc>
                <a:spcPts val="2486"/>
              </a:lnSpc>
            </a:pPr>
            <a:r>
              <a:rPr lang="en-US" sz="1775" spc="-5" dirty="0">
                <a:solidFill>
                  <a:srgbClr val="3A58E4"/>
                </a:solidFill>
                <a:latin typeface="Poppins"/>
                <a:ea typeface="Poppins"/>
                <a:cs typeface="Poppins"/>
                <a:sym typeface="Poppins"/>
              </a:rPr>
              <a:t>Weak signal strength in urban and rural areas</a:t>
            </a:r>
          </a:p>
          <a:p>
            <a:pPr marL="0" lvl="0" indent="0" algn="just">
              <a:lnSpc>
                <a:spcPts val="2486"/>
              </a:lnSpc>
            </a:pPr>
            <a:r>
              <a:rPr lang="en-US" sz="1775" spc="-5" dirty="0">
                <a:solidFill>
                  <a:srgbClr val="3A58E4"/>
                </a:solidFill>
                <a:latin typeface="Poppins"/>
                <a:ea typeface="Poppins"/>
                <a:cs typeface="Poppins"/>
                <a:sym typeface="Poppins"/>
              </a:rPr>
              <a:t>Gap between operator </a:t>
            </a:r>
            <a:r>
              <a:rPr lang="en-US" sz="1775" spc="-5" dirty="0" err="1">
                <a:solidFill>
                  <a:srgbClr val="3A58E4"/>
                </a:solidFill>
                <a:latin typeface="Poppins"/>
                <a:ea typeface="Poppins"/>
                <a:cs typeface="Poppins"/>
                <a:sym typeface="Poppins"/>
              </a:rPr>
              <a:t>QoS</a:t>
            </a:r>
            <a:r>
              <a:rPr lang="en-US" sz="1775" spc="-5" dirty="0">
                <a:solidFill>
                  <a:srgbClr val="3A58E4"/>
                </a:solidFill>
                <a:latin typeface="Poppins"/>
                <a:ea typeface="Poppins"/>
                <a:cs typeface="Poppins"/>
                <a:sym typeface="Poppins"/>
              </a:rPr>
              <a:t> metrics and real user </a:t>
            </a:r>
            <a:r>
              <a:rPr lang="en-US" sz="1775" spc="-5" dirty="0" err="1">
                <a:solidFill>
                  <a:srgbClr val="3A58E4"/>
                </a:solidFill>
                <a:latin typeface="Poppins"/>
                <a:ea typeface="Poppins"/>
                <a:cs typeface="Poppins"/>
                <a:sym typeface="Poppins"/>
              </a:rPr>
              <a:t>QoE</a:t>
            </a:r>
            <a:endParaRPr lang="en-US" sz="1775" spc="-5" dirty="0">
              <a:solidFill>
                <a:srgbClr val="3A58E4"/>
              </a:solidFill>
              <a:latin typeface="Poppins"/>
              <a:ea typeface="Poppins"/>
              <a:cs typeface="Poppins"/>
              <a:sym typeface="Poppins"/>
            </a:endParaRPr>
          </a:p>
          <a:p>
            <a:pPr marL="0" lvl="0" indent="0" algn="just">
              <a:lnSpc>
                <a:spcPts val="2486"/>
              </a:lnSpc>
            </a:pPr>
            <a:r>
              <a:rPr lang="en-US" sz="1775" spc="-5" dirty="0">
                <a:solidFill>
                  <a:srgbClr val="3A58E4"/>
                </a:solidFill>
                <a:latin typeface="Poppins"/>
                <a:ea typeface="Poppins"/>
                <a:cs typeface="Poppins"/>
                <a:sym typeface="Poppins"/>
              </a:rPr>
              <a:t>Goal: bridge this gap with a mobile data collection app</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7741311" y="0"/>
            <a:ext cx="546689" cy="7173190"/>
            <a:chOff x="0" y="0"/>
            <a:chExt cx="143984" cy="1889235"/>
          </a:xfrm>
        </p:grpSpPr>
        <p:sp>
          <p:nvSpPr>
            <p:cNvPr id="3" name="Freeform 3"/>
            <p:cNvSpPr/>
            <p:nvPr/>
          </p:nvSpPr>
          <p:spPr>
            <a:xfrm>
              <a:off x="0" y="0"/>
              <a:ext cx="143984" cy="1889235"/>
            </a:xfrm>
            <a:custGeom>
              <a:avLst/>
              <a:gdLst/>
              <a:ahLst/>
              <a:cxnLst/>
              <a:rect l="l" t="t" r="r" b="b"/>
              <a:pathLst>
                <a:path w="143984" h="1889235">
                  <a:moveTo>
                    <a:pt x="0" y="0"/>
                  </a:moveTo>
                  <a:lnTo>
                    <a:pt x="143984" y="0"/>
                  </a:lnTo>
                  <a:lnTo>
                    <a:pt x="143984" y="1889235"/>
                  </a:lnTo>
                  <a:lnTo>
                    <a:pt x="0" y="1889235"/>
                  </a:ln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p:spPr>
        </p:sp>
        <p:sp>
          <p:nvSpPr>
            <p:cNvPr id="4" name="TextBox 4"/>
            <p:cNvSpPr txBox="1"/>
            <p:nvPr/>
          </p:nvSpPr>
          <p:spPr>
            <a:xfrm>
              <a:off x="0" y="-38100"/>
              <a:ext cx="143984" cy="1927335"/>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5" name="AutoShape 5"/>
          <p:cNvSpPr/>
          <p:nvPr/>
        </p:nvSpPr>
        <p:spPr>
          <a:xfrm flipH="1">
            <a:off x="4442685" y="0"/>
            <a:ext cx="0" cy="10287000"/>
          </a:xfrm>
          <a:prstGeom prst="line">
            <a:avLst/>
          </a:prstGeom>
          <a:ln w="19050" cap="rnd">
            <a:solidFill>
              <a:srgbClr val="3A58E4"/>
            </a:solidFill>
            <a:prstDash val="solid"/>
            <a:headEnd type="none" w="sm" len="sm"/>
            <a:tailEnd type="none" w="sm" len="sm"/>
          </a:ln>
        </p:spPr>
      </p:sp>
      <p:sp>
        <p:nvSpPr>
          <p:cNvPr id="6" name="AutoShape 6"/>
          <p:cNvSpPr/>
          <p:nvPr/>
        </p:nvSpPr>
        <p:spPr>
          <a:xfrm>
            <a:off x="8872264" y="0"/>
            <a:ext cx="0" cy="7163665"/>
          </a:xfrm>
          <a:prstGeom prst="line">
            <a:avLst/>
          </a:prstGeom>
          <a:ln w="19050" cap="rnd">
            <a:solidFill>
              <a:srgbClr val="3A58E4"/>
            </a:solidFill>
            <a:prstDash val="solid"/>
            <a:headEnd type="none" w="sm" len="sm"/>
            <a:tailEnd type="none" w="sm" len="sm"/>
          </a:ln>
        </p:spPr>
      </p:sp>
      <p:sp>
        <p:nvSpPr>
          <p:cNvPr id="7" name="AutoShape 7"/>
          <p:cNvSpPr/>
          <p:nvPr/>
        </p:nvSpPr>
        <p:spPr>
          <a:xfrm>
            <a:off x="13301844" y="0"/>
            <a:ext cx="0" cy="7163665"/>
          </a:xfrm>
          <a:prstGeom prst="line">
            <a:avLst/>
          </a:prstGeom>
          <a:ln w="19050" cap="rnd">
            <a:solidFill>
              <a:srgbClr val="3A58E4"/>
            </a:solidFill>
            <a:prstDash val="solid"/>
            <a:headEnd type="none" w="sm" len="sm"/>
            <a:tailEnd type="none" w="sm" len="sm"/>
          </a:ln>
        </p:spPr>
      </p:sp>
      <p:sp>
        <p:nvSpPr>
          <p:cNvPr id="8" name="AutoShape 8"/>
          <p:cNvSpPr/>
          <p:nvPr/>
        </p:nvSpPr>
        <p:spPr>
          <a:xfrm>
            <a:off x="0" y="7173190"/>
            <a:ext cx="18288000" cy="0"/>
          </a:xfrm>
          <a:prstGeom prst="line">
            <a:avLst/>
          </a:prstGeom>
          <a:ln w="19050" cap="rnd">
            <a:solidFill>
              <a:srgbClr val="3A58E4"/>
            </a:solidFill>
            <a:prstDash val="solid"/>
            <a:headEnd type="none" w="sm" len="sm"/>
            <a:tailEnd type="none" w="sm" len="sm"/>
          </a:ln>
        </p:spPr>
      </p:sp>
      <p:grpSp>
        <p:nvGrpSpPr>
          <p:cNvPr id="9" name="Group 9"/>
          <p:cNvGrpSpPr/>
          <p:nvPr/>
        </p:nvGrpSpPr>
        <p:grpSpPr>
          <a:xfrm>
            <a:off x="16305" y="9608"/>
            <a:ext cx="1197405" cy="1196165"/>
            <a:chOff x="0" y="0"/>
            <a:chExt cx="1596540" cy="1594886"/>
          </a:xfrm>
        </p:grpSpPr>
        <p:grpSp>
          <p:nvGrpSpPr>
            <p:cNvPr id="10" name="Group 10"/>
            <p:cNvGrpSpPr/>
            <p:nvPr/>
          </p:nvGrpSpPr>
          <p:grpSpPr>
            <a:xfrm>
              <a:off x="0" y="0"/>
              <a:ext cx="1596540" cy="1594886"/>
              <a:chOff x="0" y="0"/>
              <a:chExt cx="787566" cy="786750"/>
            </a:xfrm>
          </p:grpSpPr>
          <p:sp>
            <p:nvSpPr>
              <p:cNvPr id="11" name="Freeform 11"/>
              <p:cNvSpPr/>
              <p:nvPr/>
            </p:nvSpPr>
            <p:spPr>
              <a:xfrm>
                <a:off x="0" y="0"/>
                <a:ext cx="787566" cy="786750"/>
              </a:xfrm>
              <a:custGeom>
                <a:avLst/>
                <a:gdLst/>
                <a:ahLst/>
                <a:cxnLst/>
                <a:rect l="l" t="t" r="r" b="b"/>
                <a:pathLst>
                  <a:path w="787566" h="786750">
                    <a:moveTo>
                      <a:pt x="0" y="0"/>
                    </a:moveTo>
                    <a:lnTo>
                      <a:pt x="787566" y="0"/>
                    </a:lnTo>
                    <a:lnTo>
                      <a:pt x="787566" y="786750"/>
                    </a:lnTo>
                    <a:lnTo>
                      <a:pt x="0" y="786750"/>
                    </a:ln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p:spPr>
          </p:sp>
          <p:sp>
            <p:nvSpPr>
              <p:cNvPr id="12" name="TextBox 12"/>
              <p:cNvSpPr txBox="1"/>
              <p:nvPr/>
            </p:nvSpPr>
            <p:spPr>
              <a:xfrm>
                <a:off x="0" y="-38100"/>
                <a:ext cx="787566" cy="82485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13" name="TextBox 13"/>
            <p:cNvSpPr txBox="1"/>
            <p:nvPr/>
          </p:nvSpPr>
          <p:spPr>
            <a:xfrm>
              <a:off x="206583" y="454809"/>
              <a:ext cx="1183375" cy="770992"/>
            </a:xfrm>
            <a:prstGeom prst="rect">
              <a:avLst/>
            </a:prstGeom>
          </p:spPr>
          <p:txBody>
            <a:bodyPr lIns="0" tIns="0" rIns="0" bIns="0" rtlCol="0" anchor="t">
              <a:spAutoFit/>
            </a:bodyPr>
            <a:lstStyle/>
            <a:p>
              <a:pPr marL="0" lvl="0" indent="0" algn="ctr">
                <a:lnSpc>
                  <a:spcPts val="4156"/>
                </a:lnSpc>
              </a:pPr>
              <a:r>
                <a:rPr lang="en-US" sz="4241" spc="-271">
                  <a:solidFill>
                    <a:srgbClr val="FFFFFF"/>
                  </a:solidFill>
                  <a:latin typeface="Bricolage Grotesque"/>
                  <a:ea typeface="Bricolage Grotesque"/>
                  <a:cs typeface="Bricolage Grotesque"/>
                  <a:sym typeface="Bricolage Grotesque"/>
                </a:rPr>
                <a:t>01</a:t>
              </a:r>
            </a:p>
          </p:txBody>
        </p:sp>
      </p:grpSp>
      <p:grpSp>
        <p:nvGrpSpPr>
          <p:cNvPr id="14" name="Group 14"/>
          <p:cNvGrpSpPr/>
          <p:nvPr/>
        </p:nvGrpSpPr>
        <p:grpSpPr>
          <a:xfrm>
            <a:off x="4442685" y="9608"/>
            <a:ext cx="1197405" cy="1196165"/>
            <a:chOff x="0" y="0"/>
            <a:chExt cx="1596540" cy="1594886"/>
          </a:xfrm>
        </p:grpSpPr>
        <p:grpSp>
          <p:nvGrpSpPr>
            <p:cNvPr id="15" name="Group 15"/>
            <p:cNvGrpSpPr/>
            <p:nvPr/>
          </p:nvGrpSpPr>
          <p:grpSpPr>
            <a:xfrm>
              <a:off x="0" y="0"/>
              <a:ext cx="1596540" cy="1594886"/>
              <a:chOff x="0" y="0"/>
              <a:chExt cx="787566" cy="786750"/>
            </a:xfrm>
          </p:grpSpPr>
          <p:sp>
            <p:nvSpPr>
              <p:cNvPr id="16" name="Freeform 16"/>
              <p:cNvSpPr/>
              <p:nvPr/>
            </p:nvSpPr>
            <p:spPr>
              <a:xfrm>
                <a:off x="0" y="0"/>
                <a:ext cx="787566" cy="786750"/>
              </a:xfrm>
              <a:custGeom>
                <a:avLst/>
                <a:gdLst/>
                <a:ahLst/>
                <a:cxnLst/>
                <a:rect l="l" t="t" r="r" b="b"/>
                <a:pathLst>
                  <a:path w="787566" h="786750">
                    <a:moveTo>
                      <a:pt x="0" y="0"/>
                    </a:moveTo>
                    <a:lnTo>
                      <a:pt x="787566" y="0"/>
                    </a:lnTo>
                    <a:lnTo>
                      <a:pt x="787566" y="786750"/>
                    </a:lnTo>
                    <a:lnTo>
                      <a:pt x="0" y="786750"/>
                    </a:ln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p:spPr>
          </p:sp>
          <p:sp>
            <p:nvSpPr>
              <p:cNvPr id="17" name="TextBox 17"/>
              <p:cNvSpPr txBox="1"/>
              <p:nvPr/>
            </p:nvSpPr>
            <p:spPr>
              <a:xfrm>
                <a:off x="0" y="-38100"/>
                <a:ext cx="787566" cy="82485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18" name="TextBox 18"/>
            <p:cNvSpPr txBox="1"/>
            <p:nvPr/>
          </p:nvSpPr>
          <p:spPr>
            <a:xfrm>
              <a:off x="206583" y="454809"/>
              <a:ext cx="1183375" cy="770992"/>
            </a:xfrm>
            <a:prstGeom prst="rect">
              <a:avLst/>
            </a:prstGeom>
          </p:spPr>
          <p:txBody>
            <a:bodyPr lIns="0" tIns="0" rIns="0" bIns="0" rtlCol="0" anchor="t">
              <a:spAutoFit/>
            </a:bodyPr>
            <a:lstStyle/>
            <a:p>
              <a:pPr marL="0" lvl="0" indent="0" algn="ctr">
                <a:lnSpc>
                  <a:spcPts val="4156"/>
                </a:lnSpc>
              </a:pPr>
              <a:r>
                <a:rPr lang="en-US" sz="4241" spc="-271">
                  <a:solidFill>
                    <a:srgbClr val="FFFFFF"/>
                  </a:solidFill>
                  <a:latin typeface="Bricolage Grotesque"/>
                  <a:ea typeface="Bricolage Grotesque"/>
                  <a:cs typeface="Bricolage Grotesque"/>
                  <a:sym typeface="Bricolage Grotesque"/>
                </a:rPr>
                <a:t>02</a:t>
              </a:r>
            </a:p>
          </p:txBody>
        </p:sp>
      </p:grpSp>
      <p:grpSp>
        <p:nvGrpSpPr>
          <p:cNvPr id="19" name="Group 19"/>
          <p:cNvGrpSpPr/>
          <p:nvPr/>
        </p:nvGrpSpPr>
        <p:grpSpPr>
          <a:xfrm>
            <a:off x="8875845" y="9608"/>
            <a:ext cx="1197405" cy="1196165"/>
            <a:chOff x="0" y="0"/>
            <a:chExt cx="1596540" cy="1594886"/>
          </a:xfrm>
        </p:grpSpPr>
        <p:grpSp>
          <p:nvGrpSpPr>
            <p:cNvPr id="20" name="Group 20"/>
            <p:cNvGrpSpPr/>
            <p:nvPr/>
          </p:nvGrpSpPr>
          <p:grpSpPr>
            <a:xfrm>
              <a:off x="0" y="0"/>
              <a:ext cx="1596540" cy="1594886"/>
              <a:chOff x="0" y="0"/>
              <a:chExt cx="787566" cy="786750"/>
            </a:xfrm>
          </p:grpSpPr>
          <p:sp>
            <p:nvSpPr>
              <p:cNvPr id="21" name="Freeform 21"/>
              <p:cNvSpPr/>
              <p:nvPr/>
            </p:nvSpPr>
            <p:spPr>
              <a:xfrm>
                <a:off x="0" y="0"/>
                <a:ext cx="787566" cy="786750"/>
              </a:xfrm>
              <a:custGeom>
                <a:avLst/>
                <a:gdLst/>
                <a:ahLst/>
                <a:cxnLst/>
                <a:rect l="l" t="t" r="r" b="b"/>
                <a:pathLst>
                  <a:path w="787566" h="786750">
                    <a:moveTo>
                      <a:pt x="0" y="0"/>
                    </a:moveTo>
                    <a:lnTo>
                      <a:pt x="787566" y="0"/>
                    </a:lnTo>
                    <a:lnTo>
                      <a:pt x="787566" y="786750"/>
                    </a:lnTo>
                    <a:lnTo>
                      <a:pt x="0" y="786750"/>
                    </a:ln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p:spPr>
          </p:sp>
          <p:sp>
            <p:nvSpPr>
              <p:cNvPr id="22" name="TextBox 22"/>
              <p:cNvSpPr txBox="1"/>
              <p:nvPr/>
            </p:nvSpPr>
            <p:spPr>
              <a:xfrm>
                <a:off x="0" y="-38100"/>
                <a:ext cx="787566" cy="82485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23" name="TextBox 23"/>
            <p:cNvSpPr txBox="1"/>
            <p:nvPr/>
          </p:nvSpPr>
          <p:spPr>
            <a:xfrm>
              <a:off x="206583" y="454809"/>
              <a:ext cx="1183375" cy="770992"/>
            </a:xfrm>
            <a:prstGeom prst="rect">
              <a:avLst/>
            </a:prstGeom>
          </p:spPr>
          <p:txBody>
            <a:bodyPr lIns="0" tIns="0" rIns="0" bIns="0" rtlCol="0" anchor="t">
              <a:spAutoFit/>
            </a:bodyPr>
            <a:lstStyle/>
            <a:p>
              <a:pPr marL="0" lvl="0" indent="0" algn="ctr">
                <a:lnSpc>
                  <a:spcPts val="4156"/>
                </a:lnSpc>
              </a:pPr>
              <a:r>
                <a:rPr lang="en-US" sz="4241" spc="-271">
                  <a:solidFill>
                    <a:srgbClr val="FFFFFF"/>
                  </a:solidFill>
                  <a:latin typeface="Bricolage Grotesque"/>
                  <a:ea typeface="Bricolage Grotesque"/>
                  <a:cs typeface="Bricolage Grotesque"/>
                  <a:sym typeface="Bricolage Grotesque"/>
                </a:rPr>
                <a:t>03</a:t>
              </a:r>
            </a:p>
          </p:txBody>
        </p:sp>
      </p:grpSp>
      <p:grpSp>
        <p:nvGrpSpPr>
          <p:cNvPr id="24" name="Group 24"/>
          <p:cNvGrpSpPr/>
          <p:nvPr/>
        </p:nvGrpSpPr>
        <p:grpSpPr>
          <a:xfrm>
            <a:off x="13309005" y="9608"/>
            <a:ext cx="1197405" cy="1196165"/>
            <a:chOff x="0" y="0"/>
            <a:chExt cx="1596540" cy="1594886"/>
          </a:xfrm>
        </p:grpSpPr>
        <p:grpSp>
          <p:nvGrpSpPr>
            <p:cNvPr id="25" name="Group 25"/>
            <p:cNvGrpSpPr/>
            <p:nvPr/>
          </p:nvGrpSpPr>
          <p:grpSpPr>
            <a:xfrm>
              <a:off x="0" y="0"/>
              <a:ext cx="1596540" cy="1594886"/>
              <a:chOff x="0" y="0"/>
              <a:chExt cx="787566" cy="786750"/>
            </a:xfrm>
          </p:grpSpPr>
          <p:sp>
            <p:nvSpPr>
              <p:cNvPr id="26" name="Freeform 26"/>
              <p:cNvSpPr/>
              <p:nvPr/>
            </p:nvSpPr>
            <p:spPr>
              <a:xfrm>
                <a:off x="0" y="0"/>
                <a:ext cx="787566" cy="786750"/>
              </a:xfrm>
              <a:custGeom>
                <a:avLst/>
                <a:gdLst/>
                <a:ahLst/>
                <a:cxnLst/>
                <a:rect l="l" t="t" r="r" b="b"/>
                <a:pathLst>
                  <a:path w="787566" h="786750">
                    <a:moveTo>
                      <a:pt x="0" y="0"/>
                    </a:moveTo>
                    <a:lnTo>
                      <a:pt x="787566" y="0"/>
                    </a:lnTo>
                    <a:lnTo>
                      <a:pt x="787566" y="786750"/>
                    </a:lnTo>
                    <a:lnTo>
                      <a:pt x="0" y="786750"/>
                    </a:ln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p:spPr>
          </p:sp>
          <p:sp>
            <p:nvSpPr>
              <p:cNvPr id="27" name="TextBox 27"/>
              <p:cNvSpPr txBox="1"/>
              <p:nvPr/>
            </p:nvSpPr>
            <p:spPr>
              <a:xfrm>
                <a:off x="0" y="-38100"/>
                <a:ext cx="787566" cy="82485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28" name="TextBox 28"/>
            <p:cNvSpPr txBox="1"/>
            <p:nvPr/>
          </p:nvSpPr>
          <p:spPr>
            <a:xfrm>
              <a:off x="206583" y="454809"/>
              <a:ext cx="1183375" cy="770992"/>
            </a:xfrm>
            <a:prstGeom prst="rect">
              <a:avLst/>
            </a:prstGeom>
          </p:spPr>
          <p:txBody>
            <a:bodyPr lIns="0" tIns="0" rIns="0" bIns="0" rtlCol="0" anchor="t">
              <a:spAutoFit/>
            </a:bodyPr>
            <a:lstStyle/>
            <a:p>
              <a:pPr marL="0" lvl="0" indent="0" algn="ctr">
                <a:lnSpc>
                  <a:spcPts val="4156"/>
                </a:lnSpc>
              </a:pPr>
              <a:r>
                <a:rPr lang="en-US" sz="4241" spc="-271">
                  <a:solidFill>
                    <a:srgbClr val="FFFFFF"/>
                  </a:solidFill>
                  <a:latin typeface="Bricolage Grotesque"/>
                  <a:ea typeface="Bricolage Grotesque"/>
                  <a:cs typeface="Bricolage Grotesque"/>
                  <a:sym typeface="Bricolage Grotesque"/>
                </a:rPr>
                <a:t>04</a:t>
              </a:r>
            </a:p>
          </p:txBody>
        </p:sp>
      </p:grpSp>
      <p:sp>
        <p:nvSpPr>
          <p:cNvPr id="29" name="Freeform 29"/>
          <p:cNvSpPr/>
          <p:nvPr/>
        </p:nvSpPr>
        <p:spPr>
          <a:xfrm>
            <a:off x="10652595" y="1821286"/>
            <a:ext cx="907556" cy="826770"/>
          </a:xfrm>
          <a:custGeom>
            <a:avLst/>
            <a:gdLst/>
            <a:ahLst/>
            <a:cxnLst/>
            <a:rect l="l" t="t" r="r" b="b"/>
            <a:pathLst>
              <a:path w="907556" h="826770">
                <a:moveTo>
                  <a:pt x="0" y="0"/>
                </a:moveTo>
                <a:lnTo>
                  <a:pt x="907556" y="0"/>
                </a:lnTo>
                <a:lnTo>
                  <a:pt x="907556" y="826769"/>
                </a:lnTo>
                <a:lnTo>
                  <a:pt x="0" y="826769"/>
                </a:lnTo>
                <a:lnTo>
                  <a:pt x="0" y="0"/>
                </a:lnTo>
                <a:close/>
              </a:path>
            </a:pathLst>
          </a:custGeom>
          <a:blipFill>
            <a:blip r:embed="rId2"/>
            <a:stretch>
              <a:fillRect/>
            </a:stretch>
          </a:blipFill>
        </p:spPr>
      </p:sp>
      <p:sp>
        <p:nvSpPr>
          <p:cNvPr id="30" name="Freeform 30"/>
          <p:cNvSpPr/>
          <p:nvPr/>
        </p:nvSpPr>
        <p:spPr>
          <a:xfrm rot="-5400000">
            <a:off x="15132887" y="1900975"/>
            <a:ext cx="813230" cy="808712"/>
          </a:xfrm>
          <a:custGeom>
            <a:avLst/>
            <a:gdLst/>
            <a:ahLst/>
            <a:cxnLst/>
            <a:rect l="l" t="t" r="r" b="b"/>
            <a:pathLst>
              <a:path w="813230" h="808712">
                <a:moveTo>
                  <a:pt x="0" y="0"/>
                </a:moveTo>
                <a:lnTo>
                  <a:pt x="813230" y="0"/>
                </a:lnTo>
                <a:lnTo>
                  <a:pt x="813230" y="808713"/>
                </a:lnTo>
                <a:lnTo>
                  <a:pt x="0" y="808713"/>
                </a:lnTo>
                <a:lnTo>
                  <a:pt x="0" y="0"/>
                </a:lnTo>
                <a:close/>
              </a:path>
            </a:pathLst>
          </a:custGeom>
          <a:blipFill>
            <a:blip r:embed="rId3"/>
            <a:stretch>
              <a:fillRect/>
            </a:stretch>
          </a:blipFill>
        </p:spPr>
      </p:sp>
      <p:sp>
        <p:nvSpPr>
          <p:cNvPr id="31" name="Freeform 31"/>
          <p:cNvSpPr/>
          <p:nvPr/>
        </p:nvSpPr>
        <p:spPr>
          <a:xfrm>
            <a:off x="1860828" y="2003451"/>
            <a:ext cx="758366" cy="681833"/>
          </a:xfrm>
          <a:custGeom>
            <a:avLst/>
            <a:gdLst/>
            <a:ahLst/>
            <a:cxnLst/>
            <a:rect l="l" t="t" r="r" b="b"/>
            <a:pathLst>
              <a:path w="758366" h="681833">
                <a:moveTo>
                  <a:pt x="0" y="0"/>
                </a:moveTo>
                <a:lnTo>
                  <a:pt x="758366" y="0"/>
                </a:lnTo>
                <a:lnTo>
                  <a:pt x="758366" y="681833"/>
                </a:lnTo>
                <a:lnTo>
                  <a:pt x="0" y="681833"/>
                </a:lnTo>
                <a:lnTo>
                  <a:pt x="0" y="0"/>
                </a:lnTo>
                <a:close/>
              </a:path>
            </a:pathLst>
          </a:custGeom>
          <a:blipFill>
            <a:blip r:embed="rId4"/>
            <a:stretch>
              <a:fillRect/>
            </a:stretch>
          </a:blipFill>
        </p:spPr>
      </p:sp>
      <p:grpSp>
        <p:nvGrpSpPr>
          <p:cNvPr id="32" name="Group 32"/>
          <p:cNvGrpSpPr/>
          <p:nvPr/>
        </p:nvGrpSpPr>
        <p:grpSpPr>
          <a:xfrm>
            <a:off x="1028700" y="8125800"/>
            <a:ext cx="22757" cy="975106"/>
            <a:chOff x="0" y="0"/>
            <a:chExt cx="12543" cy="537460"/>
          </a:xfrm>
        </p:grpSpPr>
        <p:sp>
          <p:nvSpPr>
            <p:cNvPr id="33" name="Freeform 33"/>
            <p:cNvSpPr/>
            <p:nvPr/>
          </p:nvSpPr>
          <p:spPr>
            <a:xfrm>
              <a:off x="0" y="0"/>
              <a:ext cx="12543" cy="537460"/>
            </a:xfrm>
            <a:custGeom>
              <a:avLst/>
              <a:gdLst/>
              <a:ahLst/>
              <a:cxnLst/>
              <a:rect l="l" t="t" r="r" b="b"/>
              <a:pathLst>
                <a:path w="12543" h="537460">
                  <a:moveTo>
                    <a:pt x="0" y="0"/>
                  </a:moveTo>
                  <a:lnTo>
                    <a:pt x="12543" y="0"/>
                  </a:lnTo>
                  <a:lnTo>
                    <a:pt x="12543" y="537460"/>
                  </a:lnTo>
                  <a:lnTo>
                    <a:pt x="0" y="537460"/>
                  </a:lnTo>
                  <a:close/>
                </a:path>
              </a:pathLst>
            </a:custGeom>
            <a:solidFill>
              <a:srgbClr val="3A58E4"/>
            </a:solidFill>
          </p:spPr>
        </p:sp>
        <p:sp>
          <p:nvSpPr>
            <p:cNvPr id="34" name="TextBox 34"/>
            <p:cNvSpPr txBox="1"/>
            <p:nvPr/>
          </p:nvSpPr>
          <p:spPr>
            <a:xfrm>
              <a:off x="0" y="-38100"/>
              <a:ext cx="12543" cy="57556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35" name="Group 35"/>
          <p:cNvGrpSpPr/>
          <p:nvPr/>
        </p:nvGrpSpPr>
        <p:grpSpPr>
          <a:xfrm>
            <a:off x="-9525" y="7173190"/>
            <a:ext cx="546689" cy="3113810"/>
            <a:chOff x="0" y="0"/>
            <a:chExt cx="143984" cy="820098"/>
          </a:xfrm>
        </p:grpSpPr>
        <p:sp>
          <p:nvSpPr>
            <p:cNvPr id="36" name="Freeform 36"/>
            <p:cNvSpPr/>
            <p:nvPr/>
          </p:nvSpPr>
          <p:spPr>
            <a:xfrm>
              <a:off x="0" y="0"/>
              <a:ext cx="143984" cy="820098"/>
            </a:xfrm>
            <a:custGeom>
              <a:avLst/>
              <a:gdLst/>
              <a:ahLst/>
              <a:cxnLst/>
              <a:rect l="l" t="t" r="r" b="b"/>
              <a:pathLst>
                <a:path w="143984" h="820098">
                  <a:moveTo>
                    <a:pt x="0" y="0"/>
                  </a:moveTo>
                  <a:lnTo>
                    <a:pt x="143984" y="0"/>
                  </a:lnTo>
                  <a:lnTo>
                    <a:pt x="143984" y="820098"/>
                  </a:lnTo>
                  <a:lnTo>
                    <a:pt x="0" y="820098"/>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37" name="TextBox 37"/>
            <p:cNvSpPr txBox="1"/>
            <p:nvPr/>
          </p:nvSpPr>
          <p:spPr>
            <a:xfrm>
              <a:off x="0" y="-38100"/>
              <a:ext cx="143984" cy="858198"/>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38" name="Freeform 38"/>
          <p:cNvSpPr/>
          <p:nvPr/>
        </p:nvSpPr>
        <p:spPr>
          <a:xfrm>
            <a:off x="6117275" y="1934911"/>
            <a:ext cx="1155925" cy="805434"/>
          </a:xfrm>
          <a:custGeom>
            <a:avLst/>
            <a:gdLst/>
            <a:ahLst/>
            <a:cxnLst/>
            <a:rect l="l" t="t" r="r" b="b"/>
            <a:pathLst>
              <a:path w="1155925" h="805434">
                <a:moveTo>
                  <a:pt x="0" y="0"/>
                </a:moveTo>
                <a:lnTo>
                  <a:pt x="1155925" y="0"/>
                </a:lnTo>
                <a:lnTo>
                  <a:pt x="1155925" y="805434"/>
                </a:lnTo>
                <a:lnTo>
                  <a:pt x="0" y="805434"/>
                </a:lnTo>
                <a:lnTo>
                  <a:pt x="0" y="0"/>
                </a:lnTo>
                <a:close/>
              </a:path>
            </a:pathLst>
          </a:custGeom>
          <a:blipFill>
            <a:blip r:embed="rId5"/>
            <a:stretch>
              <a:fillRect/>
            </a:stretch>
          </a:blipFill>
        </p:spPr>
      </p:sp>
      <p:sp>
        <p:nvSpPr>
          <p:cNvPr id="39" name="TextBox 39"/>
          <p:cNvSpPr txBox="1"/>
          <p:nvPr/>
        </p:nvSpPr>
        <p:spPr>
          <a:xfrm>
            <a:off x="562973" y="4337812"/>
            <a:ext cx="3336787" cy="1980821"/>
          </a:xfrm>
          <a:prstGeom prst="rect">
            <a:avLst/>
          </a:prstGeom>
        </p:spPr>
        <p:txBody>
          <a:bodyPr lIns="0" tIns="0" rIns="0" bIns="0" rtlCol="0" anchor="t">
            <a:spAutoFit/>
          </a:bodyPr>
          <a:lstStyle/>
          <a:p>
            <a:pPr marL="0" lvl="0" indent="0" algn="just">
              <a:lnSpc>
                <a:spcPts val="1988"/>
              </a:lnSpc>
            </a:pPr>
            <a:r>
              <a:rPr lang="en-US" sz="1529" spc="-4" dirty="0">
                <a:solidFill>
                  <a:srgbClr val="3A58E4"/>
                </a:solidFill>
                <a:latin typeface="Poppins"/>
                <a:ea typeface="Poppins"/>
                <a:cs typeface="Poppins"/>
                <a:sym typeface="Poppins"/>
              </a:rPr>
              <a:t>Mobile network operators lack real-time, subscriber-level Quality of Experience (</a:t>
            </a:r>
            <a:r>
              <a:rPr lang="en-US" sz="1529" spc="-4" dirty="0" err="1">
                <a:solidFill>
                  <a:srgbClr val="3A58E4"/>
                </a:solidFill>
                <a:latin typeface="Poppins"/>
                <a:ea typeface="Poppins"/>
                <a:cs typeface="Poppins"/>
                <a:sym typeface="Poppins"/>
              </a:rPr>
              <a:t>QoE</a:t>
            </a:r>
            <a:r>
              <a:rPr lang="en-US" sz="1529" spc="-4" dirty="0">
                <a:solidFill>
                  <a:srgbClr val="3A58E4"/>
                </a:solidFill>
                <a:latin typeface="Poppins"/>
                <a:ea typeface="Poppins"/>
                <a:cs typeface="Poppins"/>
                <a:sym typeface="Poppins"/>
              </a:rPr>
              <a:t>) data. Existing tools measure network-side </a:t>
            </a:r>
            <a:r>
              <a:rPr lang="en-US" sz="1529" spc="-4" dirty="0" err="1">
                <a:solidFill>
                  <a:srgbClr val="3A58E4"/>
                </a:solidFill>
                <a:latin typeface="Poppins"/>
                <a:ea typeface="Poppins"/>
                <a:cs typeface="Poppins"/>
                <a:sym typeface="Poppins"/>
              </a:rPr>
              <a:t>QoS</a:t>
            </a:r>
            <a:r>
              <a:rPr lang="en-US" sz="1529" spc="-4" dirty="0">
                <a:solidFill>
                  <a:srgbClr val="3A58E4"/>
                </a:solidFill>
                <a:latin typeface="Poppins"/>
                <a:ea typeface="Poppins"/>
                <a:cs typeface="Poppins"/>
                <a:sym typeface="Poppins"/>
              </a:rPr>
              <a:t> but fail to capture the actual user experience, leaving a critical gap in network optimization and subscriber satisfaction.</a:t>
            </a:r>
          </a:p>
        </p:txBody>
      </p:sp>
      <p:sp>
        <p:nvSpPr>
          <p:cNvPr id="40" name="TextBox 40"/>
          <p:cNvSpPr txBox="1"/>
          <p:nvPr/>
        </p:nvSpPr>
        <p:spPr>
          <a:xfrm>
            <a:off x="4989081" y="4337812"/>
            <a:ext cx="3336787" cy="1980821"/>
          </a:xfrm>
          <a:prstGeom prst="rect">
            <a:avLst/>
          </a:prstGeom>
        </p:spPr>
        <p:txBody>
          <a:bodyPr lIns="0" tIns="0" rIns="0" bIns="0" rtlCol="0" anchor="t">
            <a:spAutoFit/>
          </a:bodyPr>
          <a:lstStyle/>
          <a:p>
            <a:pPr marL="0" lvl="0" indent="0" algn="just">
              <a:lnSpc>
                <a:spcPts val="1988"/>
              </a:lnSpc>
            </a:pPr>
            <a:r>
              <a:rPr lang="en-US" sz="1529" spc="-4">
                <a:solidFill>
                  <a:srgbClr val="3A58E4"/>
                </a:solidFill>
                <a:latin typeface="Poppins"/>
                <a:ea typeface="Poppins"/>
                <a:cs typeface="Poppins"/>
                <a:sym typeface="Poppins"/>
              </a:rPr>
              <a:t>To design and implement a cross-platform mobile application that collects, stores, and transmits objective QoS metrics and subjective QoE feedback from mobile network subscribers to support network analysis and improvement.</a:t>
            </a:r>
          </a:p>
        </p:txBody>
      </p:sp>
      <p:sp>
        <p:nvSpPr>
          <p:cNvPr id="41" name="TextBox 41"/>
          <p:cNvSpPr txBox="1"/>
          <p:nvPr/>
        </p:nvSpPr>
        <p:spPr>
          <a:xfrm>
            <a:off x="9415189" y="4585462"/>
            <a:ext cx="3336787" cy="1733171"/>
          </a:xfrm>
          <a:prstGeom prst="rect">
            <a:avLst/>
          </a:prstGeom>
        </p:spPr>
        <p:txBody>
          <a:bodyPr lIns="0" tIns="0" rIns="0" bIns="0" rtlCol="0" anchor="t">
            <a:spAutoFit/>
          </a:bodyPr>
          <a:lstStyle/>
          <a:p>
            <a:pPr marL="0" lvl="0" indent="0" algn="just">
              <a:lnSpc>
                <a:spcPts val="1988"/>
              </a:lnSpc>
            </a:pPr>
            <a:r>
              <a:rPr lang="en-US" sz="1529" spc="-4">
                <a:solidFill>
                  <a:srgbClr val="3A58E4"/>
                </a:solidFill>
                <a:latin typeface="Poppins"/>
                <a:ea typeface="Poppins"/>
                <a:cs typeface="Poppins"/>
                <a:sym typeface="Poppins"/>
              </a:rPr>
              <a:t>How can a mobile application effectively collect both objective QoS metrics (latency, jitter, packet loss, download/upload speed) and subjective QoE ratings from mobile network subscribers in real time?</a:t>
            </a:r>
          </a:p>
        </p:txBody>
      </p:sp>
      <p:sp>
        <p:nvSpPr>
          <p:cNvPr id="42" name="TextBox 42"/>
          <p:cNvSpPr txBox="1"/>
          <p:nvPr/>
        </p:nvSpPr>
        <p:spPr>
          <a:xfrm>
            <a:off x="13844769" y="4585462"/>
            <a:ext cx="3336787" cy="1733171"/>
          </a:xfrm>
          <a:prstGeom prst="rect">
            <a:avLst/>
          </a:prstGeom>
        </p:spPr>
        <p:txBody>
          <a:bodyPr lIns="0" tIns="0" rIns="0" bIns="0" rtlCol="0" anchor="t">
            <a:spAutoFit/>
          </a:bodyPr>
          <a:lstStyle/>
          <a:p>
            <a:pPr marL="0" lvl="0" indent="0" algn="just">
              <a:lnSpc>
                <a:spcPts val="1988"/>
              </a:lnSpc>
            </a:pPr>
            <a:r>
              <a:rPr lang="en-US" sz="1529" spc="-4">
                <a:solidFill>
                  <a:srgbClr val="3A58E4"/>
                </a:solidFill>
                <a:latin typeface="Poppins"/>
                <a:ea typeface="Poppins"/>
                <a:cs typeface="Poppins"/>
                <a:sym typeface="Poppins"/>
              </a:rPr>
              <a:t>How can collected data be stored locally for offline use and synchronized to a cloud database for admin analysis? How can a heatmap and dashboard enable operators to identify network problem zones geospatially?</a:t>
            </a:r>
          </a:p>
        </p:txBody>
      </p:sp>
      <p:sp>
        <p:nvSpPr>
          <p:cNvPr id="43" name="TextBox 43"/>
          <p:cNvSpPr txBox="1"/>
          <p:nvPr/>
        </p:nvSpPr>
        <p:spPr>
          <a:xfrm>
            <a:off x="1137678" y="8643191"/>
            <a:ext cx="2762082" cy="615109"/>
          </a:xfrm>
          <a:prstGeom prst="rect">
            <a:avLst/>
          </a:prstGeom>
        </p:spPr>
        <p:txBody>
          <a:bodyPr lIns="0" tIns="0" rIns="0" bIns="0" rtlCol="0" anchor="t">
            <a:spAutoFit/>
          </a:bodyPr>
          <a:lstStyle/>
          <a:p>
            <a:pPr marL="0" lvl="0" indent="0" algn="l">
              <a:lnSpc>
                <a:spcPts val="4588"/>
              </a:lnSpc>
            </a:pPr>
            <a:r>
              <a:rPr lang="en-US" sz="4682" spc="-299">
                <a:gradFill>
                  <a:gsLst>
                    <a:gs pos="0">
                      <a:srgbClr val="3A58E4">
                        <a:alpha val="100000"/>
                      </a:srgbClr>
                    </a:gs>
                    <a:gs pos="100000">
                      <a:srgbClr val="293E9C">
                        <a:alpha val="100000"/>
                      </a:srgbClr>
                    </a:gs>
                  </a:gsLst>
                  <a:path path="circle">
                    <a:fillToRect r="100000" b="100000"/>
                  </a:path>
                  <a:tileRect l="-100000" t="-100000"/>
                </a:gradFill>
                <a:latin typeface="Bricolage Grotesque"/>
                <a:ea typeface="Bricolage Grotesque"/>
                <a:cs typeface="Bricolage Grotesque"/>
                <a:sym typeface="Bricolage Grotesque"/>
              </a:rPr>
              <a:t>Core Focus</a:t>
            </a:r>
          </a:p>
        </p:txBody>
      </p:sp>
      <p:sp>
        <p:nvSpPr>
          <p:cNvPr id="44" name="TextBox 44"/>
          <p:cNvSpPr txBox="1"/>
          <p:nvPr/>
        </p:nvSpPr>
        <p:spPr>
          <a:xfrm>
            <a:off x="4989081" y="8025141"/>
            <a:ext cx="7762895" cy="1075765"/>
          </a:xfrm>
          <a:prstGeom prst="rect">
            <a:avLst/>
          </a:prstGeom>
        </p:spPr>
        <p:txBody>
          <a:bodyPr lIns="0" tIns="0" rIns="0" bIns="0" rtlCol="0" anchor="t">
            <a:spAutoFit/>
          </a:bodyPr>
          <a:lstStyle/>
          <a:p>
            <a:pPr marL="0" lvl="0" indent="0" algn="just">
              <a:lnSpc>
                <a:spcPts val="2172"/>
              </a:lnSpc>
            </a:pPr>
            <a:r>
              <a:rPr lang="en-US" sz="1551" spc="-4">
                <a:solidFill>
                  <a:srgbClr val="3A58E4"/>
                </a:solidFill>
                <a:latin typeface="Poppins"/>
                <a:ea typeface="Poppins"/>
                <a:cs typeface="Poppins"/>
                <a:sym typeface="Poppins"/>
              </a:rPr>
              <a:t>This page defines the foundation of the KILObYTES project: the gap between network-side QoS and user-perceived QoE, the app's core purpose, and the three research questions guiding design and implementation decisions throughout the project.</a:t>
            </a:r>
          </a:p>
        </p:txBody>
      </p:sp>
      <p:sp>
        <p:nvSpPr>
          <p:cNvPr id="45" name="TextBox 45"/>
          <p:cNvSpPr txBox="1"/>
          <p:nvPr/>
        </p:nvSpPr>
        <p:spPr>
          <a:xfrm>
            <a:off x="512270" y="3090400"/>
            <a:ext cx="3438193" cy="825162"/>
          </a:xfrm>
          <a:prstGeom prst="rect">
            <a:avLst/>
          </a:prstGeom>
        </p:spPr>
        <p:txBody>
          <a:bodyPr lIns="0" tIns="0" rIns="0" bIns="0" rtlCol="0" anchor="t">
            <a:spAutoFit/>
          </a:bodyPr>
          <a:lstStyle/>
          <a:p>
            <a:pPr marL="0" lvl="0" indent="0" algn="ctr">
              <a:lnSpc>
                <a:spcPts val="3343"/>
              </a:lnSpc>
              <a:spcBef>
                <a:spcPct val="0"/>
              </a:spcBef>
            </a:pPr>
            <a:r>
              <a:rPr lang="en-US" sz="2388" b="1" spc="-152">
                <a:gradFill>
                  <a:gsLst>
                    <a:gs pos="0">
                      <a:srgbClr val="3A58E4">
                        <a:alpha val="100000"/>
                      </a:srgbClr>
                    </a:gs>
                    <a:gs pos="100000">
                      <a:srgbClr val="293E9C">
                        <a:alpha val="100000"/>
                      </a:srgbClr>
                    </a:gs>
                  </a:gsLst>
                  <a:path path="circle">
                    <a:fillToRect r="100000" b="100000"/>
                  </a:path>
                  <a:tileRect l="-100000" t="-100000"/>
                </a:gradFill>
                <a:latin typeface="Bricolage Grotesque Bold"/>
                <a:ea typeface="Bricolage Grotesque Bold"/>
                <a:cs typeface="Bricolage Grotesque Bold"/>
                <a:sym typeface="Bricolage Grotesque Bold"/>
              </a:rPr>
              <a:t>PROBLEM</a:t>
            </a:r>
          </a:p>
          <a:p>
            <a:pPr marL="0" lvl="0" indent="0" algn="ctr">
              <a:lnSpc>
                <a:spcPts val="3343"/>
              </a:lnSpc>
              <a:spcBef>
                <a:spcPct val="0"/>
              </a:spcBef>
            </a:pPr>
            <a:r>
              <a:rPr lang="en-US" sz="2388" b="1" spc="-152">
                <a:gradFill>
                  <a:gsLst>
                    <a:gs pos="0">
                      <a:srgbClr val="3A58E4">
                        <a:alpha val="100000"/>
                      </a:srgbClr>
                    </a:gs>
                    <a:gs pos="100000">
                      <a:srgbClr val="293E9C">
                        <a:alpha val="100000"/>
                      </a:srgbClr>
                    </a:gs>
                  </a:gsLst>
                  <a:path path="circle">
                    <a:fillToRect r="100000" b="100000"/>
                  </a:path>
                  <a:tileRect l="-100000" t="-100000"/>
                </a:gradFill>
                <a:latin typeface="Bricolage Grotesque Bold"/>
                <a:ea typeface="Bricolage Grotesque Bold"/>
                <a:cs typeface="Bricolage Grotesque Bold"/>
                <a:sym typeface="Bricolage Grotesque Bold"/>
              </a:rPr>
              <a:t>STATEMENT</a:t>
            </a:r>
          </a:p>
        </p:txBody>
      </p:sp>
      <p:sp>
        <p:nvSpPr>
          <p:cNvPr id="46" name="TextBox 46"/>
          <p:cNvSpPr txBox="1"/>
          <p:nvPr/>
        </p:nvSpPr>
        <p:spPr>
          <a:xfrm>
            <a:off x="4938378" y="3090400"/>
            <a:ext cx="3438193" cy="825162"/>
          </a:xfrm>
          <a:prstGeom prst="rect">
            <a:avLst/>
          </a:prstGeom>
        </p:spPr>
        <p:txBody>
          <a:bodyPr lIns="0" tIns="0" rIns="0" bIns="0" rtlCol="0" anchor="t">
            <a:spAutoFit/>
          </a:bodyPr>
          <a:lstStyle/>
          <a:p>
            <a:pPr marL="0" lvl="0" indent="0" algn="ctr">
              <a:lnSpc>
                <a:spcPts val="3343"/>
              </a:lnSpc>
              <a:spcBef>
                <a:spcPct val="0"/>
              </a:spcBef>
            </a:pPr>
            <a:r>
              <a:rPr lang="en-US" sz="2388" b="1" spc="-152">
                <a:gradFill>
                  <a:gsLst>
                    <a:gs pos="0">
                      <a:srgbClr val="3A58E4">
                        <a:alpha val="100000"/>
                      </a:srgbClr>
                    </a:gs>
                    <a:gs pos="100000">
                      <a:srgbClr val="293E9C">
                        <a:alpha val="100000"/>
                      </a:srgbClr>
                    </a:gs>
                  </a:gsLst>
                  <a:path path="circle">
                    <a:fillToRect r="100000" b="100000"/>
                  </a:path>
                  <a:tileRect l="-100000" t="-100000"/>
                </a:gradFill>
                <a:latin typeface="Bricolage Grotesque Bold"/>
                <a:ea typeface="Bricolage Grotesque Bold"/>
                <a:cs typeface="Bricolage Grotesque Bold"/>
                <a:sym typeface="Bricolage Grotesque Bold"/>
              </a:rPr>
              <a:t>GENERAL</a:t>
            </a:r>
          </a:p>
          <a:p>
            <a:pPr marL="0" lvl="0" indent="0" algn="ctr">
              <a:lnSpc>
                <a:spcPts val="3343"/>
              </a:lnSpc>
              <a:spcBef>
                <a:spcPct val="0"/>
              </a:spcBef>
            </a:pPr>
            <a:r>
              <a:rPr lang="en-US" sz="2388" b="1" spc="-152">
                <a:gradFill>
                  <a:gsLst>
                    <a:gs pos="0">
                      <a:srgbClr val="3A58E4">
                        <a:alpha val="100000"/>
                      </a:srgbClr>
                    </a:gs>
                    <a:gs pos="100000">
                      <a:srgbClr val="293E9C">
                        <a:alpha val="100000"/>
                      </a:srgbClr>
                    </a:gs>
                  </a:gsLst>
                  <a:path path="circle">
                    <a:fillToRect r="100000" b="100000"/>
                  </a:path>
                  <a:tileRect l="-100000" t="-100000"/>
                </a:gradFill>
                <a:latin typeface="Bricolage Grotesque Bold"/>
                <a:ea typeface="Bricolage Grotesque Bold"/>
                <a:cs typeface="Bricolage Grotesque Bold"/>
                <a:sym typeface="Bricolage Grotesque Bold"/>
              </a:rPr>
              <a:t>OBJECTIVE</a:t>
            </a:r>
          </a:p>
        </p:txBody>
      </p:sp>
      <p:sp>
        <p:nvSpPr>
          <p:cNvPr id="47" name="TextBox 47"/>
          <p:cNvSpPr txBox="1"/>
          <p:nvPr/>
        </p:nvSpPr>
        <p:spPr>
          <a:xfrm>
            <a:off x="9364486" y="3090400"/>
            <a:ext cx="3438193" cy="825162"/>
          </a:xfrm>
          <a:prstGeom prst="rect">
            <a:avLst/>
          </a:prstGeom>
        </p:spPr>
        <p:txBody>
          <a:bodyPr lIns="0" tIns="0" rIns="0" bIns="0" rtlCol="0" anchor="t">
            <a:spAutoFit/>
          </a:bodyPr>
          <a:lstStyle/>
          <a:p>
            <a:pPr marL="0" lvl="0" indent="0" algn="ctr">
              <a:lnSpc>
                <a:spcPts val="3343"/>
              </a:lnSpc>
            </a:pPr>
            <a:r>
              <a:rPr lang="en-US" sz="2388" b="1" spc="-152">
                <a:gradFill>
                  <a:gsLst>
                    <a:gs pos="0">
                      <a:srgbClr val="3A58E4">
                        <a:alpha val="100000"/>
                      </a:srgbClr>
                    </a:gs>
                    <a:gs pos="100000">
                      <a:srgbClr val="293E9C">
                        <a:alpha val="100000"/>
                      </a:srgbClr>
                    </a:gs>
                  </a:gsLst>
                  <a:path path="circle">
                    <a:fillToRect r="100000" b="100000"/>
                  </a:path>
                  <a:tileRect l="-100000" t="-100000"/>
                </a:gradFill>
                <a:latin typeface="Bricolage Grotesque Bold"/>
                <a:ea typeface="Bricolage Grotesque Bold"/>
                <a:cs typeface="Bricolage Grotesque Bold"/>
                <a:sym typeface="Bricolage Grotesque Bold"/>
              </a:rPr>
              <a:t>RESEARCH</a:t>
            </a:r>
          </a:p>
          <a:p>
            <a:pPr marL="0" lvl="0" indent="0" algn="ctr">
              <a:lnSpc>
                <a:spcPts val="3343"/>
              </a:lnSpc>
            </a:pPr>
            <a:r>
              <a:rPr lang="en-US" sz="2388" b="1" spc="-152">
                <a:gradFill>
                  <a:gsLst>
                    <a:gs pos="0">
                      <a:srgbClr val="3A58E4">
                        <a:alpha val="100000"/>
                      </a:srgbClr>
                    </a:gs>
                    <a:gs pos="100000">
                      <a:srgbClr val="293E9C">
                        <a:alpha val="100000"/>
                      </a:srgbClr>
                    </a:gs>
                  </a:gsLst>
                  <a:path path="circle">
                    <a:fillToRect r="100000" b="100000"/>
                  </a:path>
                  <a:tileRect l="-100000" t="-100000"/>
                </a:gradFill>
                <a:latin typeface="Bricolage Grotesque Bold"/>
                <a:ea typeface="Bricolage Grotesque Bold"/>
                <a:cs typeface="Bricolage Grotesque Bold"/>
                <a:sym typeface="Bricolage Grotesque Bold"/>
              </a:rPr>
              <a:t>QUESTION 1</a:t>
            </a:r>
          </a:p>
        </p:txBody>
      </p:sp>
      <p:sp>
        <p:nvSpPr>
          <p:cNvPr id="48" name="TextBox 48"/>
          <p:cNvSpPr txBox="1"/>
          <p:nvPr/>
        </p:nvSpPr>
        <p:spPr>
          <a:xfrm>
            <a:off x="13794066" y="3090400"/>
            <a:ext cx="3438193" cy="825162"/>
          </a:xfrm>
          <a:prstGeom prst="rect">
            <a:avLst/>
          </a:prstGeom>
        </p:spPr>
        <p:txBody>
          <a:bodyPr lIns="0" tIns="0" rIns="0" bIns="0" rtlCol="0" anchor="t">
            <a:spAutoFit/>
          </a:bodyPr>
          <a:lstStyle/>
          <a:p>
            <a:pPr marL="0" lvl="0" indent="0" algn="ctr">
              <a:lnSpc>
                <a:spcPts val="3343"/>
              </a:lnSpc>
            </a:pPr>
            <a:r>
              <a:rPr lang="en-US" sz="2388" b="1" spc="-152">
                <a:gradFill>
                  <a:gsLst>
                    <a:gs pos="0">
                      <a:srgbClr val="3A58E4">
                        <a:alpha val="100000"/>
                      </a:srgbClr>
                    </a:gs>
                    <a:gs pos="100000">
                      <a:srgbClr val="293E9C">
                        <a:alpha val="100000"/>
                      </a:srgbClr>
                    </a:gs>
                  </a:gsLst>
                  <a:path path="circle">
                    <a:fillToRect r="100000" b="100000"/>
                  </a:path>
                  <a:tileRect l="-100000" t="-100000"/>
                </a:gradFill>
                <a:latin typeface="Bricolage Grotesque Bold"/>
                <a:ea typeface="Bricolage Grotesque Bold"/>
                <a:cs typeface="Bricolage Grotesque Bold"/>
                <a:sym typeface="Bricolage Grotesque Bold"/>
              </a:rPr>
              <a:t>RESEARCH</a:t>
            </a:r>
          </a:p>
          <a:p>
            <a:pPr marL="0" lvl="0" indent="0" algn="ctr">
              <a:lnSpc>
                <a:spcPts val="3343"/>
              </a:lnSpc>
            </a:pPr>
            <a:r>
              <a:rPr lang="en-US" sz="2388" b="1" spc="-152">
                <a:gradFill>
                  <a:gsLst>
                    <a:gs pos="0">
                      <a:srgbClr val="3A58E4">
                        <a:alpha val="100000"/>
                      </a:srgbClr>
                    </a:gs>
                    <a:gs pos="100000">
                      <a:srgbClr val="293E9C">
                        <a:alpha val="100000"/>
                      </a:srgbClr>
                    </a:gs>
                  </a:gsLst>
                  <a:path path="circle">
                    <a:fillToRect r="100000" b="100000"/>
                  </a:path>
                  <a:tileRect l="-100000" t="-100000"/>
                </a:gradFill>
                <a:latin typeface="Bricolage Grotesque Bold"/>
                <a:ea typeface="Bricolage Grotesque Bold"/>
                <a:cs typeface="Bricolage Grotesque Bold"/>
                <a:sym typeface="Bricolage Grotesque Bold"/>
              </a:rPr>
              <a:t>QUESTIONS 2–3</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6438046" y="350129"/>
            <a:ext cx="1849954" cy="1498037"/>
            <a:chOff x="0" y="0"/>
            <a:chExt cx="2466605" cy="1997382"/>
          </a:xfrm>
        </p:grpSpPr>
        <p:grpSp>
          <p:nvGrpSpPr>
            <p:cNvPr id="3" name="Group 3"/>
            <p:cNvGrpSpPr/>
            <p:nvPr/>
          </p:nvGrpSpPr>
          <p:grpSpPr>
            <a:xfrm>
              <a:off x="0" y="0"/>
              <a:ext cx="2466605" cy="1997382"/>
              <a:chOff x="0" y="0"/>
              <a:chExt cx="787566" cy="637747"/>
            </a:xfrm>
          </p:grpSpPr>
          <p:sp>
            <p:nvSpPr>
              <p:cNvPr id="4" name="Freeform 4"/>
              <p:cNvSpPr/>
              <p:nvPr/>
            </p:nvSpPr>
            <p:spPr>
              <a:xfrm>
                <a:off x="0" y="0"/>
                <a:ext cx="787566" cy="637747"/>
              </a:xfrm>
              <a:custGeom>
                <a:avLst/>
                <a:gdLst/>
                <a:ahLst/>
                <a:cxnLst/>
                <a:rect l="l" t="t" r="r" b="b"/>
                <a:pathLst>
                  <a:path w="787566" h="637747">
                    <a:moveTo>
                      <a:pt x="0" y="0"/>
                    </a:moveTo>
                    <a:lnTo>
                      <a:pt x="787566" y="0"/>
                    </a:lnTo>
                    <a:lnTo>
                      <a:pt x="787566" y="637747"/>
                    </a:lnTo>
                    <a:lnTo>
                      <a:pt x="0" y="637747"/>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5" name="TextBox 5"/>
              <p:cNvSpPr txBox="1"/>
              <p:nvPr/>
            </p:nvSpPr>
            <p:spPr>
              <a:xfrm>
                <a:off x="0" y="-38100"/>
                <a:ext cx="787566" cy="675847"/>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6" name="TextBox 6"/>
            <p:cNvSpPr txBox="1"/>
            <p:nvPr/>
          </p:nvSpPr>
          <p:spPr>
            <a:xfrm>
              <a:off x="319164" y="655949"/>
              <a:ext cx="1828278" cy="771210"/>
            </a:xfrm>
            <a:prstGeom prst="rect">
              <a:avLst/>
            </a:prstGeom>
          </p:spPr>
          <p:txBody>
            <a:bodyPr lIns="0" tIns="0" rIns="0" bIns="0" rtlCol="0" anchor="t">
              <a:spAutoFit/>
            </a:bodyPr>
            <a:lstStyle/>
            <a:p>
              <a:pPr marL="0" lvl="0" indent="0" algn="ctr">
                <a:lnSpc>
                  <a:spcPts val="4167"/>
                </a:lnSpc>
              </a:pPr>
              <a:r>
                <a:rPr lang="en-US" sz="4252" spc="-272">
                  <a:solidFill>
                    <a:srgbClr val="FFFFFF"/>
                  </a:solidFill>
                  <a:latin typeface="Bricolage Grotesque"/>
                  <a:ea typeface="Bricolage Grotesque"/>
                  <a:cs typeface="Bricolage Grotesque"/>
                  <a:sym typeface="Bricolage Grotesque"/>
                </a:rPr>
                <a:t>05</a:t>
              </a:r>
            </a:p>
          </p:txBody>
        </p:sp>
      </p:grpSp>
      <p:grpSp>
        <p:nvGrpSpPr>
          <p:cNvPr id="7" name="Group 7"/>
          <p:cNvGrpSpPr/>
          <p:nvPr/>
        </p:nvGrpSpPr>
        <p:grpSpPr>
          <a:xfrm>
            <a:off x="5545788" y="3062727"/>
            <a:ext cx="7196424" cy="379246"/>
            <a:chOff x="0" y="0"/>
            <a:chExt cx="9595232" cy="505662"/>
          </a:xfrm>
        </p:grpSpPr>
        <p:sp>
          <p:nvSpPr>
            <p:cNvPr id="8" name="TextBox 8"/>
            <p:cNvSpPr txBox="1"/>
            <p:nvPr/>
          </p:nvSpPr>
          <p:spPr>
            <a:xfrm>
              <a:off x="0" y="164029"/>
              <a:ext cx="9378912" cy="341633"/>
            </a:xfrm>
            <a:prstGeom prst="rect">
              <a:avLst/>
            </a:prstGeom>
          </p:spPr>
          <p:txBody>
            <a:bodyPr lIns="0" tIns="0" rIns="0" bIns="0" rtlCol="0" anchor="t">
              <a:spAutoFit/>
            </a:bodyPr>
            <a:lstStyle/>
            <a:p>
              <a:pPr marL="0" lvl="0" indent="0" algn="l">
                <a:lnSpc>
                  <a:spcPts val="2152"/>
                </a:lnSpc>
              </a:pPr>
              <a:r>
                <a:rPr lang="en-US" sz="1537" b="1" spc="-38">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HOW THE PROJECT IS STRUCTURED, WHY IT MATTERS, AND HOW WE BUILT IT</a:t>
              </a:r>
            </a:p>
          </p:txBody>
        </p:sp>
        <p:sp>
          <p:nvSpPr>
            <p:cNvPr id="9" name="Freeform 9"/>
            <p:cNvSpPr/>
            <p:nvPr/>
          </p:nvSpPr>
          <p:spPr>
            <a:xfrm rot="-8687136">
              <a:off x="9278212" y="44820"/>
              <a:ext cx="252200" cy="304858"/>
            </a:xfrm>
            <a:custGeom>
              <a:avLst/>
              <a:gdLst/>
              <a:ahLst/>
              <a:cxnLst/>
              <a:rect l="l" t="t" r="r" b="b"/>
              <a:pathLst>
                <a:path w="252200" h="304858">
                  <a:moveTo>
                    <a:pt x="0" y="0"/>
                  </a:moveTo>
                  <a:lnTo>
                    <a:pt x="252200" y="0"/>
                  </a:lnTo>
                  <a:lnTo>
                    <a:pt x="252200" y="304857"/>
                  </a:lnTo>
                  <a:lnTo>
                    <a:pt x="0" y="304857"/>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sp>
      </p:grpSp>
      <p:grpSp>
        <p:nvGrpSpPr>
          <p:cNvPr id="10" name="Group 10"/>
          <p:cNvGrpSpPr/>
          <p:nvPr/>
        </p:nvGrpSpPr>
        <p:grpSpPr>
          <a:xfrm>
            <a:off x="1463921" y="4926041"/>
            <a:ext cx="3746706" cy="3746706"/>
            <a:chOff x="0" y="0"/>
            <a:chExt cx="812800" cy="812800"/>
          </a:xfrm>
        </p:grpSpPr>
        <p:sp>
          <p:nvSpPr>
            <p:cNvPr id="11" name="Freeform 1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28575" cap="sq">
              <a:gradFill>
                <a:gsLst>
                  <a:gs pos="0">
                    <a:srgbClr val="293E9C">
                      <a:alpha val="100000"/>
                    </a:srgbClr>
                  </a:gs>
                  <a:gs pos="100000">
                    <a:srgbClr val="3A58E4">
                      <a:alpha val="100000"/>
                    </a:srgbClr>
                  </a:gs>
                </a:gsLst>
                <a:path path="circle">
                  <a:fillToRect r="100000" b="100000"/>
                </a:path>
                <a:tileRect l="-100000" t="-100000"/>
              </a:gradFill>
              <a:prstDash val="solid"/>
              <a:miter/>
            </a:ln>
          </p:spPr>
        </p:sp>
        <p:sp>
          <p:nvSpPr>
            <p:cNvPr id="12" name="TextBox 12"/>
            <p:cNvSpPr txBox="1"/>
            <p:nvPr/>
          </p:nvSpPr>
          <p:spPr>
            <a:xfrm>
              <a:off x="76200" y="38100"/>
              <a:ext cx="660400" cy="698500"/>
            </a:xfrm>
            <a:prstGeom prst="rect">
              <a:avLst/>
            </a:prstGeom>
          </p:spPr>
          <p:txBody>
            <a:bodyPr lIns="40108" tIns="40108" rIns="40108" bIns="40108" rtlCol="0" anchor="ctr"/>
            <a:lstStyle/>
            <a:p>
              <a:pPr marL="0" lvl="0" indent="0" algn="ctr">
                <a:lnSpc>
                  <a:spcPts val="2659"/>
                </a:lnSpc>
              </a:pPr>
              <a:endParaRPr/>
            </a:p>
          </p:txBody>
        </p:sp>
      </p:grpSp>
      <p:grpSp>
        <p:nvGrpSpPr>
          <p:cNvPr id="13" name="Group 13"/>
          <p:cNvGrpSpPr/>
          <p:nvPr/>
        </p:nvGrpSpPr>
        <p:grpSpPr>
          <a:xfrm>
            <a:off x="5334452" y="4926041"/>
            <a:ext cx="3746706" cy="3746706"/>
            <a:chOff x="0" y="0"/>
            <a:chExt cx="812800" cy="812800"/>
          </a:xfrm>
        </p:grpSpPr>
        <p:sp>
          <p:nvSpPr>
            <p:cNvPr id="14" name="Freeform 1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a:ln cap="sq">
              <a:noFill/>
              <a:prstDash val="solid"/>
              <a:miter/>
            </a:ln>
          </p:spPr>
        </p:sp>
        <p:sp>
          <p:nvSpPr>
            <p:cNvPr id="15" name="TextBox 15"/>
            <p:cNvSpPr txBox="1"/>
            <p:nvPr/>
          </p:nvSpPr>
          <p:spPr>
            <a:xfrm>
              <a:off x="76200" y="38100"/>
              <a:ext cx="660400" cy="698500"/>
            </a:xfrm>
            <a:prstGeom prst="rect">
              <a:avLst/>
            </a:prstGeom>
          </p:spPr>
          <p:txBody>
            <a:bodyPr lIns="40108" tIns="40108" rIns="40108" bIns="40108" rtlCol="0" anchor="ctr"/>
            <a:lstStyle/>
            <a:p>
              <a:pPr marL="0" lvl="0" indent="0" algn="ctr">
                <a:lnSpc>
                  <a:spcPts val="2659"/>
                </a:lnSpc>
              </a:pPr>
              <a:endParaRPr/>
            </a:p>
          </p:txBody>
        </p:sp>
      </p:grpSp>
      <p:grpSp>
        <p:nvGrpSpPr>
          <p:cNvPr id="16" name="Group 16"/>
          <p:cNvGrpSpPr/>
          <p:nvPr/>
        </p:nvGrpSpPr>
        <p:grpSpPr>
          <a:xfrm>
            <a:off x="9205912" y="4926041"/>
            <a:ext cx="3746706" cy="3746706"/>
            <a:chOff x="0" y="0"/>
            <a:chExt cx="812800" cy="812800"/>
          </a:xfrm>
        </p:grpSpPr>
        <p:sp>
          <p:nvSpPr>
            <p:cNvPr id="17" name="Freeform 1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28575" cap="sq">
              <a:gradFill>
                <a:gsLst>
                  <a:gs pos="0">
                    <a:srgbClr val="293E9C">
                      <a:alpha val="100000"/>
                    </a:srgbClr>
                  </a:gs>
                  <a:gs pos="100000">
                    <a:srgbClr val="3A58E4">
                      <a:alpha val="100000"/>
                    </a:srgbClr>
                  </a:gs>
                </a:gsLst>
                <a:path path="circle">
                  <a:fillToRect r="100000" b="100000"/>
                </a:path>
                <a:tileRect l="-100000" t="-100000"/>
              </a:gradFill>
              <a:prstDash val="solid"/>
              <a:miter/>
            </a:ln>
          </p:spPr>
        </p:sp>
        <p:sp>
          <p:nvSpPr>
            <p:cNvPr id="18" name="TextBox 18"/>
            <p:cNvSpPr txBox="1"/>
            <p:nvPr/>
          </p:nvSpPr>
          <p:spPr>
            <a:xfrm>
              <a:off x="76200" y="38100"/>
              <a:ext cx="660400" cy="698500"/>
            </a:xfrm>
            <a:prstGeom prst="rect">
              <a:avLst/>
            </a:prstGeom>
          </p:spPr>
          <p:txBody>
            <a:bodyPr lIns="40108" tIns="40108" rIns="40108" bIns="40108" rtlCol="0" anchor="ctr"/>
            <a:lstStyle/>
            <a:p>
              <a:pPr marL="0" lvl="0" indent="0" algn="ctr">
                <a:lnSpc>
                  <a:spcPts val="2659"/>
                </a:lnSpc>
              </a:pPr>
              <a:endParaRPr/>
            </a:p>
          </p:txBody>
        </p:sp>
      </p:grpSp>
      <p:grpSp>
        <p:nvGrpSpPr>
          <p:cNvPr id="19" name="Group 19"/>
          <p:cNvGrpSpPr/>
          <p:nvPr/>
        </p:nvGrpSpPr>
        <p:grpSpPr>
          <a:xfrm>
            <a:off x="13077373" y="4926041"/>
            <a:ext cx="3746706" cy="3746706"/>
            <a:chOff x="0" y="0"/>
            <a:chExt cx="812800" cy="812800"/>
          </a:xfrm>
        </p:grpSpPr>
        <p:sp>
          <p:nvSpPr>
            <p:cNvPr id="20" name="Freeform 2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a:ln cap="sq">
              <a:noFill/>
              <a:prstDash val="solid"/>
              <a:miter/>
            </a:ln>
          </p:spPr>
        </p:sp>
        <p:sp>
          <p:nvSpPr>
            <p:cNvPr id="21" name="TextBox 21"/>
            <p:cNvSpPr txBox="1"/>
            <p:nvPr/>
          </p:nvSpPr>
          <p:spPr>
            <a:xfrm>
              <a:off x="76200" y="38100"/>
              <a:ext cx="660400" cy="698500"/>
            </a:xfrm>
            <a:prstGeom prst="rect">
              <a:avLst/>
            </a:prstGeom>
          </p:spPr>
          <p:txBody>
            <a:bodyPr lIns="40108" tIns="40108" rIns="40108" bIns="40108" rtlCol="0" anchor="ctr"/>
            <a:lstStyle/>
            <a:p>
              <a:pPr marL="0" lvl="0" indent="0" algn="ctr">
                <a:lnSpc>
                  <a:spcPts val="2659"/>
                </a:lnSpc>
              </a:pPr>
              <a:endParaRPr/>
            </a:p>
          </p:txBody>
        </p:sp>
      </p:grpSp>
      <p:sp>
        <p:nvSpPr>
          <p:cNvPr id="22" name="TextBox 22"/>
          <p:cNvSpPr txBox="1"/>
          <p:nvPr/>
        </p:nvSpPr>
        <p:spPr>
          <a:xfrm>
            <a:off x="2345222" y="6326262"/>
            <a:ext cx="1984104" cy="233730"/>
          </a:xfrm>
          <a:prstGeom prst="rect">
            <a:avLst/>
          </a:prstGeom>
        </p:spPr>
        <p:txBody>
          <a:bodyPr lIns="0" tIns="0" rIns="0" bIns="0" rtlCol="0" anchor="t">
            <a:spAutoFit/>
          </a:bodyPr>
          <a:lstStyle/>
          <a:p>
            <a:pPr marL="0" lvl="0" indent="0" algn="ctr">
              <a:lnSpc>
                <a:spcPts val="1879"/>
              </a:lnSpc>
            </a:pPr>
            <a:r>
              <a:rPr lang="en-US" sz="1457" b="1" spc="-4">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PROJECT SCOPE</a:t>
            </a:r>
          </a:p>
        </p:txBody>
      </p:sp>
      <p:sp>
        <p:nvSpPr>
          <p:cNvPr id="23" name="TextBox 23"/>
          <p:cNvSpPr txBox="1"/>
          <p:nvPr/>
        </p:nvSpPr>
        <p:spPr>
          <a:xfrm>
            <a:off x="2124549" y="6765742"/>
            <a:ext cx="2425450" cy="842586"/>
          </a:xfrm>
          <a:prstGeom prst="rect">
            <a:avLst/>
          </a:prstGeom>
        </p:spPr>
        <p:txBody>
          <a:bodyPr lIns="0" tIns="0" rIns="0" bIns="0" rtlCol="0" anchor="t">
            <a:spAutoFit/>
          </a:bodyPr>
          <a:lstStyle/>
          <a:p>
            <a:pPr marL="0" lvl="0" indent="0" algn="ctr">
              <a:lnSpc>
                <a:spcPts val="1654"/>
              </a:lnSpc>
            </a:pPr>
            <a:r>
              <a:rPr lang="en-US" sz="1282" spc="-3">
                <a:solidFill>
                  <a:srgbClr val="3A58E4"/>
                </a:solidFill>
                <a:latin typeface="Poppins"/>
                <a:ea typeface="Poppins"/>
                <a:cs typeface="Poppins"/>
                <a:sym typeface="Poppins"/>
              </a:rPr>
              <a:t>Mobile client app, admin web interface, backend REST API, SQLite local DB &amp; MongoDB cloud DB</a:t>
            </a:r>
          </a:p>
        </p:txBody>
      </p:sp>
      <p:sp>
        <p:nvSpPr>
          <p:cNvPr id="24" name="TextBox 24"/>
          <p:cNvSpPr txBox="1"/>
          <p:nvPr/>
        </p:nvSpPr>
        <p:spPr>
          <a:xfrm>
            <a:off x="6215753" y="6326262"/>
            <a:ext cx="1984104" cy="233730"/>
          </a:xfrm>
          <a:prstGeom prst="rect">
            <a:avLst/>
          </a:prstGeom>
        </p:spPr>
        <p:txBody>
          <a:bodyPr lIns="0" tIns="0" rIns="0" bIns="0" rtlCol="0" anchor="t">
            <a:spAutoFit/>
          </a:bodyPr>
          <a:lstStyle/>
          <a:p>
            <a:pPr marL="0" lvl="0" indent="0" algn="ctr">
              <a:lnSpc>
                <a:spcPts val="1879"/>
              </a:lnSpc>
            </a:pPr>
            <a:r>
              <a:rPr lang="en-US" sz="1457" b="1" spc="-4">
                <a:solidFill>
                  <a:srgbClr val="FFFFFF"/>
                </a:solidFill>
                <a:latin typeface="Poppins Bold"/>
                <a:ea typeface="Poppins Bold"/>
                <a:cs typeface="Poppins Bold"/>
                <a:sym typeface="Poppins Bold"/>
              </a:rPr>
              <a:t>SIGNIFICANCE</a:t>
            </a:r>
          </a:p>
        </p:txBody>
      </p:sp>
      <p:sp>
        <p:nvSpPr>
          <p:cNvPr id="25" name="TextBox 25"/>
          <p:cNvSpPr txBox="1"/>
          <p:nvPr/>
        </p:nvSpPr>
        <p:spPr>
          <a:xfrm>
            <a:off x="5995080" y="6765742"/>
            <a:ext cx="2425450" cy="842586"/>
          </a:xfrm>
          <a:prstGeom prst="rect">
            <a:avLst/>
          </a:prstGeom>
        </p:spPr>
        <p:txBody>
          <a:bodyPr lIns="0" tIns="0" rIns="0" bIns="0" rtlCol="0" anchor="t">
            <a:spAutoFit/>
          </a:bodyPr>
          <a:lstStyle/>
          <a:p>
            <a:pPr marL="0" lvl="0" indent="0" algn="ctr">
              <a:lnSpc>
                <a:spcPts val="1654"/>
              </a:lnSpc>
            </a:pPr>
            <a:r>
              <a:rPr lang="en-US" sz="1282" spc="-3">
                <a:solidFill>
                  <a:srgbClr val="FFFFFF"/>
                </a:solidFill>
                <a:latin typeface="Poppins"/>
                <a:ea typeface="Poppins"/>
                <a:cs typeface="Poppins"/>
                <a:sym typeface="Poppins"/>
              </a:rPr>
              <a:t>Benefits network operators, researchers, regulators &amp; end users with real-time QoE insights</a:t>
            </a:r>
          </a:p>
        </p:txBody>
      </p:sp>
      <p:sp>
        <p:nvSpPr>
          <p:cNvPr id="26" name="TextBox 26"/>
          <p:cNvSpPr txBox="1"/>
          <p:nvPr/>
        </p:nvSpPr>
        <p:spPr>
          <a:xfrm>
            <a:off x="9901910" y="6326262"/>
            <a:ext cx="2354710" cy="233730"/>
          </a:xfrm>
          <a:prstGeom prst="rect">
            <a:avLst/>
          </a:prstGeom>
        </p:spPr>
        <p:txBody>
          <a:bodyPr lIns="0" tIns="0" rIns="0" bIns="0" rtlCol="0" anchor="t">
            <a:spAutoFit/>
          </a:bodyPr>
          <a:lstStyle/>
          <a:p>
            <a:pPr marL="0" lvl="0" indent="0" algn="ctr">
              <a:lnSpc>
                <a:spcPts val="1879"/>
              </a:lnSpc>
            </a:pPr>
            <a:r>
              <a:rPr lang="en-US" sz="1457" b="1" spc="-4">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METHODOLOGY</a:t>
            </a:r>
          </a:p>
        </p:txBody>
      </p:sp>
      <p:sp>
        <p:nvSpPr>
          <p:cNvPr id="27" name="TextBox 27"/>
          <p:cNvSpPr txBox="1"/>
          <p:nvPr/>
        </p:nvSpPr>
        <p:spPr>
          <a:xfrm>
            <a:off x="9866540" y="6975292"/>
            <a:ext cx="2425450" cy="633036"/>
          </a:xfrm>
          <a:prstGeom prst="rect">
            <a:avLst/>
          </a:prstGeom>
        </p:spPr>
        <p:txBody>
          <a:bodyPr lIns="0" tIns="0" rIns="0" bIns="0" rtlCol="0" anchor="t">
            <a:spAutoFit/>
          </a:bodyPr>
          <a:lstStyle/>
          <a:p>
            <a:pPr marL="0" lvl="0" indent="0" algn="ctr">
              <a:lnSpc>
                <a:spcPts val="1654"/>
              </a:lnSpc>
            </a:pPr>
            <a:r>
              <a:rPr lang="en-US" sz="1282" spc="-3">
                <a:solidFill>
                  <a:srgbClr val="3A58E4"/>
                </a:solidFill>
                <a:latin typeface="Poppins"/>
                <a:ea typeface="Poppins"/>
                <a:cs typeface="Poppins"/>
                <a:sym typeface="Poppins"/>
              </a:rPr>
              <a:t>6-step flow: Gather → Analyze → Model → Design → Implement → Test</a:t>
            </a:r>
          </a:p>
        </p:txBody>
      </p:sp>
      <p:sp>
        <p:nvSpPr>
          <p:cNvPr id="28" name="TextBox 28"/>
          <p:cNvSpPr txBox="1"/>
          <p:nvPr/>
        </p:nvSpPr>
        <p:spPr>
          <a:xfrm>
            <a:off x="13958674" y="6326262"/>
            <a:ext cx="1984104" cy="233730"/>
          </a:xfrm>
          <a:prstGeom prst="rect">
            <a:avLst/>
          </a:prstGeom>
        </p:spPr>
        <p:txBody>
          <a:bodyPr lIns="0" tIns="0" rIns="0" bIns="0" rtlCol="0" anchor="t">
            <a:spAutoFit/>
          </a:bodyPr>
          <a:lstStyle/>
          <a:p>
            <a:pPr marL="0" lvl="0" indent="0" algn="ctr">
              <a:lnSpc>
                <a:spcPts val="1879"/>
              </a:lnSpc>
            </a:pPr>
            <a:r>
              <a:rPr lang="en-US" sz="1457" b="1" spc="-4">
                <a:solidFill>
                  <a:srgbClr val="FFFFFF"/>
                </a:solidFill>
                <a:latin typeface="Poppins Bold"/>
                <a:ea typeface="Poppins Bold"/>
                <a:cs typeface="Poppins Bold"/>
                <a:sym typeface="Poppins Bold"/>
              </a:rPr>
              <a:t>KEY OUTCOMES</a:t>
            </a:r>
          </a:p>
        </p:txBody>
      </p:sp>
      <p:sp>
        <p:nvSpPr>
          <p:cNvPr id="29" name="TextBox 29"/>
          <p:cNvSpPr txBox="1"/>
          <p:nvPr/>
        </p:nvSpPr>
        <p:spPr>
          <a:xfrm>
            <a:off x="13738001" y="6765742"/>
            <a:ext cx="2425450" cy="842586"/>
          </a:xfrm>
          <a:prstGeom prst="rect">
            <a:avLst/>
          </a:prstGeom>
        </p:spPr>
        <p:txBody>
          <a:bodyPr lIns="0" tIns="0" rIns="0" bIns="0" rtlCol="0" anchor="t">
            <a:spAutoFit/>
          </a:bodyPr>
          <a:lstStyle/>
          <a:p>
            <a:pPr marL="0" lvl="0" indent="0" algn="ctr">
              <a:lnSpc>
                <a:spcPts val="1654"/>
              </a:lnSpc>
            </a:pPr>
            <a:r>
              <a:rPr lang="en-US" sz="1282" spc="-3">
                <a:solidFill>
                  <a:srgbClr val="FFFFFF"/>
                </a:solidFill>
                <a:latin typeface="Poppins"/>
                <a:ea typeface="Poppins"/>
                <a:cs typeface="Poppins"/>
                <a:sym typeface="Poppins"/>
              </a:rPr>
              <a:t>Cross-platform app, offline-first storage, heatmap visualization &amp; bilingual support</a:t>
            </a:r>
          </a:p>
        </p:txBody>
      </p:sp>
      <p:grpSp>
        <p:nvGrpSpPr>
          <p:cNvPr id="30" name="Group 30"/>
          <p:cNvGrpSpPr/>
          <p:nvPr/>
        </p:nvGrpSpPr>
        <p:grpSpPr>
          <a:xfrm>
            <a:off x="4176506" y="5050446"/>
            <a:ext cx="746986" cy="622581"/>
            <a:chOff x="0" y="0"/>
            <a:chExt cx="995981" cy="830108"/>
          </a:xfrm>
        </p:grpSpPr>
        <p:grpSp>
          <p:nvGrpSpPr>
            <p:cNvPr id="31" name="Group 31"/>
            <p:cNvGrpSpPr/>
            <p:nvPr/>
          </p:nvGrpSpPr>
          <p:grpSpPr>
            <a:xfrm>
              <a:off x="0" y="0"/>
              <a:ext cx="995981" cy="830108"/>
              <a:chOff x="0" y="0"/>
              <a:chExt cx="812800" cy="677434"/>
            </a:xfrm>
          </p:grpSpPr>
          <p:sp>
            <p:nvSpPr>
              <p:cNvPr id="32" name="Freeform 32"/>
              <p:cNvSpPr/>
              <p:nvPr/>
            </p:nvSpPr>
            <p:spPr>
              <a:xfrm>
                <a:off x="0" y="0"/>
                <a:ext cx="812800" cy="677434"/>
              </a:xfrm>
              <a:custGeom>
                <a:avLst/>
                <a:gdLst/>
                <a:ahLst/>
                <a:cxnLst/>
                <a:rect l="l" t="t" r="r" b="b"/>
                <a:pathLst>
                  <a:path w="812800" h="677434">
                    <a:moveTo>
                      <a:pt x="406400" y="0"/>
                    </a:moveTo>
                    <a:cubicBezTo>
                      <a:pt x="181951" y="0"/>
                      <a:pt x="0" y="151649"/>
                      <a:pt x="0" y="338717"/>
                    </a:cubicBezTo>
                    <a:cubicBezTo>
                      <a:pt x="0" y="525786"/>
                      <a:pt x="181951" y="677434"/>
                      <a:pt x="406400" y="677434"/>
                    </a:cubicBezTo>
                    <a:cubicBezTo>
                      <a:pt x="630849" y="677434"/>
                      <a:pt x="812800" y="525786"/>
                      <a:pt x="812800" y="338717"/>
                    </a:cubicBezTo>
                    <a:cubicBezTo>
                      <a:pt x="812800" y="151649"/>
                      <a:pt x="630849" y="0"/>
                      <a:pt x="406400" y="0"/>
                    </a:cubicBez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a:ln cap="sq">
                <a:noFill/>
                <a:prstDash val="solid"/>
                <a:miter/>
              </a:ln>
            </p:spPr>
          </p:sp>
          <p:sp>
            <p:nvSpPr>
              <p:cNvPr id="33" name="TextBox 33"/>
              <p:cNvSpPr txBox="1"/>
              <p:nvPr/>
            </p:nvSpPr>
            <p:spPr>
              <a:xfrm>
                <a:off x="76200" y="25409"/>
                <a:ext cx="660400" cy="588515"/>
              </a:xfrm>
              <a:prstGeom prst="rect">
                <a:avLst/>
              </a:prstGeom>
            </p:spPr>
            <p:txBody>
              <a:bodyPr lIns="50800" tIns="50800" rIns="50800" bIns="50800" rtlCol="0" anchor="ctr"/>
              <a:lstStyle/>
              <a:p>
                <a:pPr marL="0" lvl="0" indent="0" algn="ctr">
                  <a:lnSpc>
                    <a:spcPts val="2659"/>
                  </a:lnSpc>
                </a:pPr>
                <a:endParaRPr/>
              </a:p>
            </p:txBody>
          </p:sp>
        </p:grpSp>
        <p:sp>
          <p:nvSpPr>
            <p:cNvPr id="34" name="TextBox 34"/>
            <p:cNvSpPr txBox="1"/>
            <p:nvPr/>
          </p:nvSpPr>
          <p:spPr>
            <a:xfrm>
              <a:off x="175623" y="254611"/>
              <a:ext cx="644736" cy="301836"/>
            </a:xfrm>
            <a:prstGeom prst="rect">
              <a:avLst/>
            </a:prstGeom>
          </p:spPr>
          <p:txBody>
            <a:bodyPr lIns="0" tIns="0" rIns="0" bIns="0" rtlCol="0" anchor="t">
              <a:spAutoFit/>
            </a:bodyPr>
            <a:lstStyle/>
            <a:p>
              <a:pPr marL="0" lvl="0" indent="0" algn="ctr">
                <a:lnSpc>
                  <a:spcPts val="1863"/>
                </a:lnSpc>
              </a:pPr>
              <a:r>
                <a:rPr lang="en-US" sz="1444" spc="-4">
                  <a:solidFill>
                    <a:srgbClr val="FFFFFF"/>
                  </a:solidFill>
                  <a:latin typeface="Poppins"/>
                  <a:ea typeface="Poppins"/>
                  <a:cs typeface="Poppins"/>
                  <a:sym typeface="Poppins"/>
                </a:rPr>
                <a:t>01</a:t>
              </a:r>
            </a:p>
          </p:txBody>
        </p:sp>
      </p:grpSp>
      <p:grpSp>
        <p:nvGrpSpPr>
          <p:cNvPr id="35" name="Group 35"/>
          <p:cNvGrpSpPr/>
          <p:nvPr/>
        </p:nvGrpSpPr>
        <p:grpSpPr>
          <a:xfrm>
            <a:off x="8047037" y="5050446"/>
            <a:ext cx="746986" cy="622581"/>
            <a:chOff x="0" y="0"/>
            <a:chExt cx="995981" cy="830108"/>
          </a:xfrm>
        </p:grpSpPr>
        <p:grpSp>
          <p:nvGrpSpPr>
            <p:cNvPr id="36" name="Group 36"/>
            <p:cNvGrpSpPr/>
            <p:nvPr/>
          </p:nvGrpSpPr>
          <p:grpSpPr>
            <a:xfrm>
              <a:off x="0" y="0"/>
              <a:ext cx="995981" cy="830108"/>
              <a:chOff x="0" y="0"/>
              <a:chExt cx="812800" cy="677434"/>
            </a:xfrm>
          </p:grpSpPr>
          <p:sp>
            <p:nvSpPr>
              <p:cNvPr id="37" name="Freeform 37"/>
              <p:cNvSpPr/>
              <p:nvPr/>
            </p:nvSpPr>
            <p:spPr>
              <a:xfrm>
                <a:off x="0" y="0"/>
                <a:ext cx="812800" cy="677434"/>
              </a:xfrm>
              <a:custGeom>
                <a:avLst/>
                <a:gdLst/>
                <a:ahLst/>
                <a:cxnLst/>
                <a:rect l="l" t="t" r="r" b="b"/>
                <a:pathLst>
                  <a:path w="812800" h="677434">
                    <a:moveTo>
                      <a:pt x="406400" y="0"/>
                    </a:moveTo>
                    <a:cubicBezTo>
                      <a:pt x="181951" y="0"/>
                      <a:pt x="0" y="151649"/>
                      <a:pt x="0" y="338717"/>
                    </a:cubicBezTo>
                    <a:cubicBezTo>
                      <a:pt x="0" y="525786"/>
                      <a:pt x="181951" y="677434"/>
                      <a:pt x="406400" y="677434"/>
                    </a:cubicBezTo>
                    <a:cubicBezTo>
                      <a:pt x="630849" y="677434"/>
                      <a:pt x="812800" y="525786"/>
                      <a:pt x="812800" y="338717"/>
                    </a:cubicBezTo>
                    <a:cubicBezTo>
                      <a:pt x="812800" y="151649"/>
                      <a:pt x="630849" y="0"/>
                      <a:pt x="406400" y="0"/>
                    </a:cubicBezTo>
                    <a:close/>
                  </a:path>
                </a:pathLst>
              </a:custGeom>
              <a:solidFill>
                <a:srgbClr val="FFFFFF"/>
              </a:solidFill>
              <a:ln w="47625" cap="sq">
                <a:gradFill>
                  <a:gsLst>
                    <a:gs pos="0">
                      <a:srgbClr val="293E9C">
                        <a:alpha val="100000"/>
                      </a:srgbClr>
                    </a:gs>
                    <a:gs pos="100000">
                      <a:srgbClr val="3A58E4">
                        <a:alpha val="100000"/>
                      </a:srgbClr>
                    </a:gs>
                  </a:gsLst>
                  <a:path path="circle">
                    <a:fillToRect r="100000" b="100000"/>
                  </a:path>
                  <a:tileRect l="-100000" t="-100000"/>
                </a:gradFill>
                <a:prstDash val="solid"/>
                <a:miter/>
              </a:ln>
            </p:spPr>
          </p:sp>
          <p:sp>
            <p:nvSpPr>
              <p:cNvPr id="38" name="TextBox 38"/>
              <p:cNvSpPr txBox="1"/>
              <p:nvPr/>
            </p:nvSpPr>
            <p:spPr>
              <a:xfrm>
                <a:off x="76200" y="25409"/>
                <a:ext cx="660400" cy="588515"/>
              </a:xfrm>
              <a:prstGeom prst="rect">
                <a:avLst/>
              </a:prstGeom>
            </p:spPr>
            <p:txBody>
              <a:bodyPr lIns="50800" tIns="50800" rIns="50800" bIns="50800" rtlCol="0" anchor="ctr"/>
              <a:lstStyle/>
              <a:p>
                <a:pPr marL="0" lvl="0" indent="0" algn="ctr">
                  <a:lnSpc>
                    <a:spcPts val="2659"/>
                  </a:lnSpc>
                </a:pPr>
                <a:endParaRPr/>
              </a:p>
            </p:txBody>
          </p:sp>
        </p:grpSp>
        <p:sp>
          <p:nvSpPr>
            <p:cNvPr id="39" name="TextBox 39"/>
            <p:cNvSpPr txBox="1"/>
            <p:nvPr/>
          </p:nvSpPr>
          <p:spPr>
            <a:xfrm>
              <a:off x="175623" y="254611"/>
              <a:ext cx="644736" cy="301836"/>
            </a:xfrm>
            <a:prstGeom prst="rect">
              <a:avLst/>
            </a:prstGeom>
          </p:spPr>
          <p:txBody>
            <a:bodyPr lIns="0" tIns="0" rIns="0" bIns="0" rtlCol="0" anchor="t">
              <a:spAutoFit/>
            </a:bodyPr>
            <a:lstStyle/>
            <a:p>
              <a:pPr marL="0" lvl="0" indent="0" algn="ctr">
                <a:lnSpc>
                  <a:spcPts val="1863"/>
                </a:lnSpc>
              </a:pPr>
              <a:r>
                <a:rPr lang="en-US" sz="1444" spc="-4">
                  <a:gradFill>
                    <a:gsLst>
                      <a:gs pos="0">
                        <a:srgbClr val="293E9C">
                          <a:alpha val="100000"/>
                        </a:srgbClr>
                      </a:gs>
                      <a:gs pos="100000">
                        <a:srgbClr val="3A58E4">
                          <a:alpha val="100000"/>
                        </a:srgbClr>
                      </a:gs>
                    </a:gsLst>
                    <a:path path="circle">
                      <a:fillToRect r="100000" b="100000"/>
                    </a:path>
                    <a:tileRect l="-100000" t="-100000"/>
                  </a:gradFill>
                  <a:latin typeface="Poppins"/>
                  <a:ea typeface="Poppins"/>
                  <a:cs typeface="Poppins"/>
                  <a:sym typeface="Poppins"/>
                </a:rPr>
                <a:t>02</a:t>
              </a:r>
            </a:p>
          </p:txBody>
        </p:sp>
      </p:grpSp>
      <p:grpSp>
        <p:nvGrpSpPr>
          <p:cNvPr id="40" name="Group 40"/>
          <p:cNvGrpSpPr/>
          <p:nvPr/>
        </p:nvGrpSpPr>
        <p:grpSpPr>
          <a:xfrm>
            <a:off x="11919608" y="5050446"/>
            <a:ext cx="746986" cy="622581"/>
            <a:chOff x="0" y="0"/>
            <a:chExt cx="995981" cy="830108"/>
          </a:xfrm>
        </p:grpSpPr>
        <p:grpSp>
          <p:nvGrpSpPr>
            <p:cNvPr id="41" name="Group 41"/>
            <p:cNvGrpSpPr/>
            <p:nvPr/>
          </p:nvGrpSpPr>
          <p:grpSpPr>
            <a:xfrm>
              <a:off x="0" y="0"/>
              <a:ext cx="995981" cy="830108"/>
              <a:chOff x="0" y="0"/>
              <a:chExt cx="812800" cy="677434"/>
            </a:xfrm>
          </p:grpSpPr>
          <p:sp>
            <p:nvSpPr>
              <p:cNvPr id="42" name="Freeform 42"/>
              <p:cNvSpPr/>
              <p:nvPr/>
            </p:nvSpPr>
            <p:spPr>
              <a:xfrm>
                <a:off x="0" y="0"/>
                <a:ext cx="812800" cy="677434"/>
              </a:xfrm>
              <a:custGeom>
                <a:avLst/>
                <a:gdLst/>
                <a:ahLst/>
                <a:cxnLst/>
                <a:rect l="l" t="t" r="r" b="b"/>
                <a:pathLst>
                  <a:path w="812800" h="677434">
                    <a:moveTo>
                      <a:pt x="406400" y="0"/>
                    </a:moveTo>
                    <a:cubicBezTo>
                      <a:pt x="181951" y="0"/>
                      <a:pt x="0" y="151649"/>
                      <a:pt x="0" y="338717"/>
                    </a:cubicBezTo>
                    <a:cubicBezTo>
                      <a:pt x="0" y="525786"/>
                      <a:pt x="181951" y="677434"/>
                      <a:pt x="406400" y="677434"/>
                    </a:cubicBezTo>
                    <a:cubicBezTo>
                      <a:pt x="630849" y="677434"/>
                      <a:pt x="812800" y="525786"/>
                      <a:pt x="812800" y="338717"/>
                    </a:cubicBezTo>
                    <a:cubicBezTo>
                      <a:pt x="812800" y="151649"/>
                      <a:pt x="630849" y="0"/>
                      <a:pt x="406400" y="0"/>
                    </a:cubicBez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a:ln cap="sq">
                <a:noFill/>
                <a:prstDash val="solid"/>
                <a:miter/>
              </a:ln>
            </p:spPr>
          </p:sp>
          <p:sp>
            <p:nvSpPr>
              <p:cNvPr id="43" name="TextBox 43"/>
              <p:cNvSpPr txBox="1"/>
              <p:nvPr/>
            </p:nvSpPr>
            <p:spPr>
              <a:xfrm>
                <a:off x="76200" y="25409"/>
                <a:ext cx="660400" cy="588515"/>
              </a:xfrm>
              <a:prstGeom prst="rect">
                <a:avLst/>
              </a:prstGeom>
            </p:spPr>
            <p:txBody>
              <a:bodyPr lIns="50800" tIns="50800" rIns="50800" bIns="50800" rtlCol="0" anchor="ctr"/>
              <a:lstStyle/>
              <a:p>
                <a:pPr marL="0" lvl="0" indent="0" algn="ctr">
                  <a:lnSpc>
                    <a:spcPts val="2659"/>
                  </a:lnSpc>
                </a:pPr>
                <a:endParaRPr/>
              </a:p>
            </p:txBody>
          </p:sp>
        </p:grpSp>
        <p:sp>
          <p:nvSpPr>
            <p:cNvPr id="44" name="TextBox 44"/>
            <p:cNvSpPr txBox="1"/>
            <p:nvPr/>
          </p:nvSpPr>
          <p:spPr>
            <a:xfrm>
              <a:off x="175623" y="254611"/>
              <a:ext cx="644736" cy="301836"/>
            </a:xfrm>
            <a:prstGeom prst="rect">
              <a:avLst/>
            </a:prstGeom>
          </p:spPr>
          <p:txBody>
            <a:bodyPr lIns="0" tIns="0" rIns="0" bIns="0" rtlCol="0" anchor="t">
              <a:spAutoFit/>
            </a:bodyPr>
            <a:lstStyle/>
            <a:p>
              <a:pPr marL="0" lvl="0" indent="0" algn="ctr">
                <a:lnSpc>
                  <a:spcPts val="1863"/>
                </a:lnSpc>
              </a:pPr>
              <a:r>
                <a:rPr lang="en-US" sz="1444" spc="-4">
                  <a:solidFill>
                    <a:srgbClr val="FFFFFF"/>
                  </a:solidFill>
                  <a:latin typeface="Poppins"/>
                  <a:ea typeface="Poppins"/>
                  <a:cs typeface="Poppins"/>
                  <a:sym typeface="Poppins"/>
                </a:rPr>
                <a:t>03</a:t>
              </a:r>
            </a:p>
          </p:txBody>
        </p:sp>
      </p:grpSp>
      <p:grpSp>
        <p:nvGrpSpPr>
          <p:cNvPr id="45" name="Group 45"/>
          <p:cNvGrpSpPr/>
          <p:nvPr/>
        </p:nvGrpSpPr>
        <p:grpSpPr>
          <a:xfrm>
            <a:off x="15791068" y="5050446"/>
            <a:ext cx="746986" cy="622581"/>
            <a:chOff x="0" y="0"/>
            <a:chExt cx="995981" cy="830108"/>
          </a:xfrm>
        </p:grpSpPr>
        <p:grpSp>
          <p:nvGrpSpPr>
            <p:cNvPr id="46" name="Group 46"/>
            <p:cNvGrpSpPr/>
            <p:nvPr/>
          </p:nvGrpSpPr>
          <p:grpSpPr>
            <a:xfrm>
              <a:off x="0" y="0"/>
              <a:ext cx="995981" cy="830108"/>
              <a:chOff x="0" y="0"/>
              <a:chExt cx="812800" cy="677434"/>
            </a:xfrm>
          </p:grpSpPr>
          <p:sp>
            <p:nvSpPr>
              <p:cNvPr id="47" name="Freeform 47"/>
              <p:cNvSpPr/>
              <p:nvPr/>
            </p:nvSpPr>
            <p:spPr>
              <a:xfrm>
                <a:off x="0" y="0"/>
                <a:ext cx="812800" cy="677434"/>
              </a:xfrm>
              <a:custGeom>
                <a:avLst/>
                <a:gdLst/>
                <a:ahLst/>
                <a:cxnLst/>
                <a:rect l="l" t="t" r="r" b="b"/>
                <a:pathLst>
                  <a:path w="812800" h="677434">
                    <a:moveTo>
                      <a:pt x="406400" y="0"/>
                    </a:moveTo>
                    <a:cubicBezTo>
                      <a:pt x="181951" y="0"/>
                      <a:pt x="0" y="151649"/>
                      <a:pt x="0" y="338717"/>
                    </a:cubicBezTo>
                    <a:cubicBezTo>
                      <a:pt x="0" y="525786"/>
                      <a:pt x="181951" y="677434"/>
                      <a:pt x="406400" y="677434"/>
                    </a:cubicBezTo>
                    <a:cubicBezTo>
                      <a:pt x="630849" y="677434"/>
                      <a:pt x="812800" y="525786"/>
                      <a:pt x="812800" y="338717"/>
                    </a:cubicBezTo>
                    <a:cubicBezTo>
                      <a:pt x="812800" y="151649"/>
                      <a:pt x="630849" y="0"/>
                      <a:pt x="406400" y="0"/>
                    </a:cubicBezTo>
                    <a:close/>
                  </a:path>
                </a:pathLst>
              </a:custGeom>
              <a:solidFill>
                <a:srgbClr val="FFFFFF"/>
              </a:solidFill>
              <a:ln w="47625" cap="sq">
                <a:gradFill>
                  <a:gsLst>
                    <a:gs pos="0">
                      <a:srgbClr val="293E9C">
                        <a:alpha val="100000"/>
                      </a:srgbClr>
                    </a:gs>
                    <a:gs pos="100000">
                      <a:srgbClr val="3A58E4">
                        <a:alpha val="100000"/>
                      </a:srgbClr>
                    </a:gs>
                  </a:gsLst>
                  <a:path path="circle">
                    <a:fillToRect r="100000" b="100000"/>
                  </a:path>
                  <a:tileRect l="-100000" t="-100000"/>
                </a:gradFill>
                <a:prstDash val="solid"/>
                <a:miter/>
              </a:ln>
            </p:spPr>
          </p:sp>
          <p:sp>
            <p:nvSpPr>
              <p:cNvPr id="48" name="TextBox 48"/>
              <p:cNvSpPr txBox="1"/>
              <p:nvPr/>
            </p:nvSpPr>
            <p:spPr>
              <a:xfrm>
                <a:off x="76200" y="25409"/>
                <a:ext cx="660400" cy="588515"/>
              </a:xfrm>
              <a:prstGeom prst="rect">
                <a:avLst/>
              </a:prstGeom>
            </p:spPr>
            <p:txBody>
              <a:bodyPr lIns="50800" tIns="50800" rIns="50800" bIns="50800" rtlCol="0" anchor="ctr"/>
              <a:lstStyle/>
              <a:p>
                <a:pPr marL="0" lvl="0" indent="0" algn="ctr">
                  <a:lnSpc>
                    <a:spcPts val="2659"/>
                  </a:lnSpc>
                </a:pPr>
                <a:endParaRPr/>
              </a:p>
            </p:txBody>
          </p:sp>
        </p:grpSp>
        <p:sp>
          <p:nvSpPr>
            <p:cNvPr id="49" name="TextBox 49"/>
            <p:cNvSpPr txBox="1"/>
            <p:nvPr/>
          </p:nvSpPr>
          <p:spPr>
            <a:xfrm>
              <a:off x="175623" y="254611"/>
              <a:ext cx="644736" cy="301836"/>
            </a:xfrm>
            <a:prstGeom prst="rect">
              <a:avLst/>
            </a:prstGeom>
          </p:spPr>
          <p:txBody>
            <a:bodyPr lIns="0" tIns="0" rIns="0" bIns="0" rtlCol="0" anchor="t">
              <a:spAutoFit/>
            </a:bodyPr>
            <a:lstStyle/>
            <a:p>
              <a:pPr marL="0" lvl="0" indent="0" algn="ctr">
                <a:lnSpc>
                  <a:spcPts val="1863"/>
                </a:lnSpc>
              </a:pPr>
              <a:r>
                <a:rPr lang="en-US" sz="1444" spc="-4">
                  <a:gradFill>
                    <a:gsLst>
                      <a:gs pos="0">
                        <a:srgbClr val="293E9C">
                          <a:alpha val="100000"/>
                        </a:srgbClr>
                      </a:gs>
                      <a:gs pos="100000">
                        <a:srgbClr val="3A58E4">
                          <a:alpha val="100000"/>
                        </a:srgbClr>
                      </a:gs>
                    </a:gsLst>
                    <a:path path="circle">
                      <a:fillToRect r="100000" b="100000"/>
                    </a:path>
                    <a:tileRect l="-100000" t="-100000"/>
                  </a:gradFill>
                  <a:latin typeface="Poppins"/>
                  <a:ea typeface="Poppins"/>
                  <a:cs typeface="Poppins"/>
                  <a:sym typeface="Poppins"/>
                </a:rPr>
                <a:t>04</a:t>
              </a:r>
            </a:p>
          </p:txBody>
        </p:sp>
      </p:grpSp>
      <p:sp>
        <p:nvSpPr>
          <p:cNvPr id="50" name="TextBox 50"/>
          <p:cNvSpPr txBox="1"/>
          <p:nvPr/>
        </p:nvSpPr>
        <p:spPr>
          <a:xfrm>
            <a:off x="3363658" y="1179682"/>
            <a:ext cx="11560683" cy="1625377"/>
          </a:xfrm>
          <a:prstGeom prst="rect">
            <a:avLst/>
          </a:prstGeom>
        </p:spPr>
        <p:txBody>
          <a:bodyPr lIns="0" tIns="0" rIns="0" bIns="0" rtlCol="0" anchor="t">
            <a:spAutoFit/>
          </a:bodyPr>
          <a:lstStyle/>
          <a:p>
            <a:pPr marL="0" lvl="0" indent="0" algn="ctr">
              <a:lnSpc>
                <a:spcPts val="6228"/>
              </a:lnSpc>
            </a:pPr>
            <a:r>
              <a:rPr lang="en-US" sz="6355" spc="-406">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Scope, Significance &amp; Methodology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6438046" y="290997"/>
            <a:ext cx="1849954" cy="1557169"/>
            <a:chOff x="0" y="0"/>
            <a:chExt cx="2466605" cy="2076226"/>
          </a:xfrm>
        </p:grpSpPr>
        <p:grpSp>
          <p:nvGrpSpPr>
            <p:cNvPr id="3" name="Group 3"/>
            <p:cNvGrpSpPr/>
            <p:nvPr/>
          </p:nvGrpSpPr>
          <p:grpSpPr>
            <a:xfrm>
              <a:off x="0" y="0"/>
              <a:ext cx="2466605" cy="2076226"/>
              <a:chOff x="0" y="0"/>
              <a:chExt cx="787566" cy="662921"/>
            </a:xfrm>
          </p:grpSpPr>
          <p:sp>
            <p:nvSpPr>
              <p:cNvPr id="4" name="Freeform 4"/>
              <p:cNvSpPr/>
              <p:nvPr/>
            </p:nvSpPr>
            <p:spPr>
              <a:xfrm>
                <a:off x="0" y="0"/>
                <a:ext cx="787566" cy="662921"/>
              </a:xfrm>
              <a:custGeom>
                <a:avLst/>
                <a:gdLst/>
                <a:ahLst/>
                <a:cxnLst/>
                <a:rect l="l" t="t" r="r" b="b"/>
                <a:pathLst>
                  <a:path w="787566" h="662921">
                    <a:moveTo>
                      <a:pt x="0" y="0"/>
                    </a:moveTo>
                    <a:lnTo>
                      <a:pt x="787566" y="0"/>
                    </a:lnTo>
                    <a:lnTo>
                      <a:pt x="787566" y="662921"/>
                    </a:lnTo>
                    <a:lnTo>
                      <a:pt x="0" y="662921"/>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5" name="TextBox 5"/>
              <p:cNvSpPr txBox="1"/>
              <p:nvPr/>
            </p:nvSpPr>
            <p:spPr>
              <a:xfrm>
                <a:off x="0" y="-38100"/>
                <a:ext cx="787566" cy="701021"/>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6" name="TextBox 6"/>
            <p:cNvSpPr txBox="1"/>
            <p:nvPr/>
          </p:nvSpPr>
          <p:spPr>
            <a:xfrm>
              <a:off x="319164" y="665474"/>
              <a:ext cx="1828278" cy="840528"/>
            </a:xfrm>
            <a:prstGeom prst="rect">
              <a:avLst/>
            </a:prstGeom>
          </p:spPr>
          <p:txBody>
            <a:bodyPr lIns="0" tIns="0" rIns="0" bIns="0" rtlCol="0" anchor="t">
              <a:spAutoFit/>
            </a:bodyPr>
            <a:lstStyle/>
            <a:p>
              <a:pPr marL="0" lvl="0" indent="0" algn="ctr">
                <a:lnSpc>
                  <a:spcPts val="4571"/>
                </a:lnSpc>
              </a:pPr>
              <a:r>
                <a:rPr lang="en-US" sz="4664" spc="-298">
                  <a:solidFill>
                    <a:srgbClr val="FFFFFF"/>
                  </a:solidFill>
                  <a:latin typeface="Bricolage Grotesque"/>
                  <a:ea typeface="Bricolage Grotesque"/>
                  <a:cs typeface="Bricolage Grotesque"/>
                  <a:sym typeface="Bricolage Grotesque"/>
                </a:rPr>
                <a:t>06</a:t>
              </a:r>
            </a:p>
          </p:txBody>
        </p:sp>
      </p:grpSp>
      <p:grpSp>
        <p:nvGrpSpPr>
          <p:cNvPr id="7" name="Group 7"/>
          <p:cNvGrpSpPr/>
          <p:nvPr/>
        </p:nvGrpSpPr>
        <p:grpSpPr>
          <a:xfrm>
            <a:off x="5536445" y="2779355"/>
            <a:ext cx="7215109" cy="379246"/>
            <a:chOff x="0" y="0"/>
            <a:chExt cx="9620146" cy="505662"/>
          </a:xfrm>
        </p:grpSpPr>
        <p:sp>
          <p:nvSpPr>
            <p:cNvPr id="8" name="TextBox 8"/>
            <p:cNvSpPr txBox="1"/>
            <p:nvPr/>
          </p:nvSpPr>
          <p:spPr>
            <a:xfrm>
              <a:off x="0" y="111921"/>
              <a:ext cx="9403826" cy="393740"/>
            </a:xfrm>
            <a:prstGeom prst="rect">
              <a:avLst/>
            </a:prstGeom>
          </p:spPr>
          <p:txBody>
            <a:bodyPr lIns="0" tIns="0" rIns="0" bIns="0" rtlCol="0" anchor="t">
              <a:spAutoFit/>
            </a:bodyPr>
            <a:lstStyle/>
            <a:p>
              <a:pPr marL="0" lvl="0" indent="0" algn="l">
                <a:lnSpc>
                  <a:spcPts val="2360"/>
                </a:lnSpc>
              </a:pPr>
              <a:r>
                <a:rPr lang="en-US" sz="1686" b="1" spc="-42">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FROM SUBSCRIBER REQUIREMENTS TO FINAL TECHNOLOGY DECISIONS</a:t>
              </a:r>
            </a:p>
          </p:txBody>
        </p:sp>
        <p:sp>
          <p:nvSpPr>
            <p:cNvPr id="9" name="Freeform 9"/>
            <p:cNvSpPr/>
            <p:nvPr/>
          </p:nvSpPr>
          <p:spPr>
            <a:xfrm rot="-8687136">
              <a:off x="9303126" y="44820"/>
              <a:ext cx="252200" cy="304858"/>
            </a:xfrm>
            <a:custGeom>
              <a:avLst/>
              <a:gdLst/>
              <a:ahLst/>
              <a:cxnLst/>
              <a:rect l="l" t="t" r="r" b="b"/>
              <a:pathLst>
                <a:path w="252200" h="304858">
                  <a:moveTo>
                    <a:pt x="0" y="0"/>
                  </a:moveTo>
                  <a:lnTo>
                    <a:pt x="252200" y="0"/>
                  </a:lnTo>
                  <a:lnTo>
                    <a:pt x="252200" y="304857"/>
                  </a:lnTo>
                  <a:lnTo>
                    <a:pt x="0" y="304857"/>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sp>
      </p:grpSp>
      <p:sp>
        <p:nvSpPr>
          <p:cNvPr id="10" name="TextBox 10"/>
          <p:cNvSpPr txBox="1"/>
          <p:nvPr/>
        </p:nvSpPr>
        <p:spPr>
          <a:xfrm>
            <a:off x="3363658" y="1455753"/>
            <a:ext cx="11560683" cy="1065935"/>
          </a:xfrm>
          <a:prstGeom prst="rect">
            <a:avLst/>
          </a:prstGeom>
        </p:spPr>
        <p:txBody>
          <a:bodyPr lIns="0" tIns="0" rIns="0" bIns="0" rtlCol="0" anchor="t">
            <a:spAutoFit/>
          </a:bodyPr>
          <a:lstStyle/>
          <a:p>
            <a:pPr marL="0" lvl="0" indent="0" algn="ctr">
              <a:lnSpc>
                <a:spcPts val="7987"/>
              </a:lnSpc>
            </a:pPr>
            <a:r>
              <a:rPr lang="en-US" sz="8150" spc="-521">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Technology Stack Selection</a:t>
            </a:r>
          </a:p>
        </p:txBody>
      </p:sp>
      <p:grpSp>
        <p:nvGrpSpPr>
          <p:cNvPr id="11" name="Group 11"/>
          <p:cNvGrpSpPr/>
          <p:nvPr/>
        </p:nvGrpSpPr>
        <p:grpSpPr>
          <a:xfrm>
            <a:off x="2731310" y="3878731"/>
            <a:ext cx="3213033" cy="5379569"/>
            <a:chOff x="0" y="0"/>
            <a:chExt cx="1387961" cy="2323857"/>
          </a:xfrm>
        </p:grpSpPr>
        <p:sp>
          <p:nvSpPr>
            <p:cNvPr id="12" name="Freeform 12"/>
            <p:cNvSpPr/>
            <p:nvPr/>
          </p:nvSpPr>
          <p:spPr>
            <a:xfrm>
              <a:off x="0" y="0"/>
              <a:ext cx="1387961" cy="2323857"/>
            </a:xfrm>
            <a:custGeom>
              <a:avLst/>
              <a:gdLst/>
              <a:ahLst/>
              <a:cxnLst/>
              <a:rect l="l" t="t" r="r" b="b"/>
              <a:pathLst>
                <a:path w="1387961" h="2323857">
                  <a:moveTo>
                    <a:pt x="0" y="0"/>
                  </a:moveTo>
                  <a:lnTo>
                    <a:pt x="1387961" y="0"/>
                  </a:lnTo>
                  <a:lnTo>
                    <a:pt x="1387961" y="2323857"/>
                  </a:lnTo>
                  <a:lnTo>
                    <a:pt x="0" y="2323857"/>
                  </a:lnTo>
                  <a:close/>
                </a:path>
              </a:pathLst>
            </a:custGeom>
            <a:solidFill>
              <a:srgbClr val="2B42A8"/>
            </a:solidFill>
          </p:spPr>
        </p:sp>
        <p:sp>
          <p:nvSpPr>
            <p:cNvPr id="13" name="TextBox 13"/>
            <p:cNvSpPr txBox="1"/>
            <p:nvPr/>
          </p:nvSpPr>
          <p:spPr>
            <a:xfrm>
              <a:off x="0" y="-38100"/>
              <a:ext cx="1387961" cy="2361957"/>
            </a:xfrm>
            <a:prstGeom prst="rect">
              <a:avLst/>
            </a:prstGeom>
          </p:spPr>
          <p:txBody>
            <a:bodyPr lIns="33379" tIns="33379" rIns="33379" bIns="33379" rtlCol="0" anchor="ctr"/>
            <a:lstStyle/>
            <a:p>
              <a:pPr marL="0" lvl="0" indent="0" algn="ctr">
                <a:lnSpc>
                  <a:spcPts val="2660"/>
                </a:lnSpc>
                <a:spcBef>
                  <a:spcPct val="0"/>
                </a:spcBef>
              </a:pPr>
              <a:endParaRPr/>
            </a:p>
          </p:txBody>
        </p:sp>
      </p:grpSp>
      <p:grpSp>
        <p:nvGrpSpPr>
          <p:cNvPr id="14" name="Group 14"/>
          <p:cNvGrpSpPr/>
          <p:nvPr/>
        </p:nvGrpSpPr>
        <p:grpSpPr>
          <a:xfrm>
            <a:off x="5935426" y="3878731"/>
            <a:ext cx="3213033" cy="5379569"/>
            <a:chOff x="0" y="0"/>
            <a:chExt cx="1387961" cy="2323857"/>
          </a:xfrm>
        </p:grpSpPr>
        <p:sp>
          <p:nvSpPr>
            <p:cNvPr id="15" name="Freeform 15"/>
            <p:cNvSpPr/>
            <p:nvPr/>
          </p:nvSpPr>
          <p:spPr>
            <a:xfrm>
              <a:off x="0" y="0"/>
              <a:ext cx="1387961" cy="2323857"/>
            </a:xfrm>
            <a:custGeom>
              <a:avLst/>
              <a:gdLst/>
              <a:ahLst/>
              <a:cxnLst/>
              <a:rect l="l" t="t" r="r" b="b"/>
              <a:pathLst>
                <a:path w="1387961" h="2323857">
                  <a:moveTo>
                    <a:pt x="0" y="0"/>
                  </a:moveTo>
                  <a:lnTo>
                    <a:pt x="1387961" y="0"/>
                  </a:lnTo>
                  <a:lnTo>
                    <a:pt x="1387961" y="2323857"/>
                  </a:lnTo>
                  <a:lnTo>
                    <a:pt x="0" y="2323857"/>
                  </a:lnTo>
                  <a:close/>
                </a:path>
              </a:pathLst>
            </a:custGeom>
            <a:solidFill>
              <a:srgbClr val="3A58E4"/>
            </a:solidFill>
          </p:spPr>
        </p:sp>
        <p:sp>
          <p:nvSpPr>
            <p:cNvPr id="16" name="TextBox 16"/>
            <p:cNvSpPr txBox="1"/>
            <p:nvPr/>
          </p:nvSpPr>
          <p:spPr>
            <a:xfrm>
              <a:off x="0" y="-38100"/>
              <a:ext cx="1387961" cy="2361957"/>
            </a:xfrm>
            <a:prstGeom prst="rect">
              <a:avLst/>
            </a:prstGeom>
          </p:spPr>
          <p:txBody>
            <a:bodyPr lIns="33379" tIns="33379" rIns="33379" bIns="33379" rtlCol="0" anchor="ctr"/>
            <a:lstStyle/>
            <a:p>
              <a:pPr marL="0" lvl="0" indent="0" algn="ctr">
                <a:lnSpc>
                  <a:spcPts val="2660"/>
                </a:lnSpc>
                <a:spcBef>
                  <a:spcPct val="0"/>
                </a:spcBef>
              </a:pPr>
              <a:endParaRPr/>
            </a:p>
          </p:txBody>
        </p:sp>
      </p:grpSp>
      <p:grpSp>
        <p:nvGrpSpPr>
          <p:cNvPr id="17" name="Group 17"/>
          <p:cNvGrpSpPr/>
          <p:nvPr/>
        </p:nvGrpSpPr>
        <p:grpSpPr>
          <a:xfrm>
            <a:off x="9139541" y="3878731"/>
            <a:ext cx="3213033" cy="5379569"/>
            <a:chOff x="0" y="0"/>
            <a:chExt cx="1387961" cy="2323857"/>
          </a:xfrm>
        </p:grpSpPr>
        <p:sp>
          <p:nvSpPr>
            <p:cNvPr id="18" name="Freeform 18"/>
            <p:cNvSpPr/>
            <p:nvPr/>
          </p:nvSpPr>
          <p:spPr>
            <a:xfrm>
              <a:off x="0" y="0"/>
              <a:ext cx="1387961" cy="2323857"/>
            </a:xfrm>
            <a:custGeom>
              <a:avLst/>
              <a:gdLst/>
              <a:ahLst/>
              <a:cxnLst/>
              <a:rect l="l" t="t" r="r" b="b"/>
              <a:pathLst>
                <a:path w="1387961" h="2323857">
                  <a:moveTo>
                    <a:pt x="0" y="0"/>
                  </a:moveTo>
                  <a:lnTo>
                    <a:pt x="1387961" y="0"/>
                  </a:lnTo>
                  <a:lnTo>
                    <a:pt x="1387961" y="2323857"/>
                  </a:lnTo>
                  <a:lnTo>
                    <a:pt x="0" y="2323857"/>
                  </a:lnTo>
                  <a:close/>
                </a:path>
              </a:pathLst>
            </a:custGeom>
            <a:solidFill>
              <a:srgbClr val="6984FE"/>
            </a:solidFill>
          </p:spPr>
        </p:sp>
        <p:sp>
          <p:nvSpPr>
            <p:cNvPr id="19" name="TextBox 19"/>
            <p:cNvSpPr txBox="1"/>
            <p:nvPr/>
          </p:nvSpPr>
          <p:spPr>
            <a:xfrm>
              <a:off x="0" y="-38100"/>
              <a:ext cx="1387961" cy="2361957"/>
            </a:xfrm>
            <a:prstGeom prst="rect">
              <a:avLst/>
            </a:prstGeom>
          </p:spPr>
          <p:txBody>
            <a:bodyPr lIns="33379" tIns="33379" rIns="33379" bIns="33379" rtlCol="0" anchor="ctr"/>
            <a:lstStyle/>
            <a:p>
              <a:pPr marL="0" lvl="0" indent="0" algn="ctr">
                <a:lnSpc>
                  <a:spcPts val="2660"/>
                </a:lnSpc>
                <a:spcBef>
                  <a:spcPct val="0"/>
                </a:spcBef>
              </a:pPr>
              <a:endParaRPr/>
            </a:p>
          </p:txBody>
        </p:sp>
      </p:grpSp>
      <p:grpSp>
        <p:nvGrpSpPr>
          <p:cNvPr id="20" name="Group 20"/>
          <p:cNvGrpSpPr/>
          <p:nvPr/>
        </p:nvGrpSpPr>
        <p:grpSpPr>
          <a:xfrm>
            <a:off x="12343657" y="3878731"/>
            <a:ext cx="3213033" cy="5379569"/>
            <a:chOff x="0" y="0"/>
            <a:chExt cx="1387961" cy="2323857"/>
          </a:xfrm>
        </p:grpSpPr>
        <p:sp>
          <p:nvSpPr>
            <p:cNvPr id="21" name="Freeform 21"/>
            <p:cNvSpPr/>
            <p:nvPr/>
          </p:nvSpPr>
          <p:spPr>
            <a:xfrm>
              <a:off x="0" y="0"/>
              <a:ext cx="1387961" cy="2323857"/>
            </a:xfrm>
            <a:custGeom>
              <a:avLst/>
              <a:gdLst/>
              <a:ahLst/>
              <a:cxnLst/>
              <a:rect l="l" t="t" r="r" b="b"/>
              <a:pathLst>
                <a:path w="1387961" h="2323857">
                  <a:moveTo>
                    <a:pt x="0" y="0"/>
                  </a:moveTo>
                  <a:lnTo>
                    <a:pt x="1387961" y="0"/>
                  </a:lnTo>
                  <a:lnTo>
                    <a:pt x="1387961" y="2323857"/>
                  </a:lnTo>
                  <a:lnTo>
                    <a:pt x="0" y="2323857"/>
                  </a:lnTo>
                  <a:close/>
                </a:path>
              </a:pathLst>
            </a:custGeom>
            <a:solidFill>
              <a:srgbClr val="9AADFF"/>
            </a:solidFill>
          </p:spPr>
        </p:sp>
        <p:sp>
          <p:nvSpPr>
            <p:cNvPr id="22" name="TextBox 22"/>
            <p:cNvSpPr txBox="1"/>
            <p:nvPr/>
          </p:nvSpPr>
          <p:spPr>
            <a:xfrm>
              <a:off x="0" y="-38100"/>
              <a:ext cx="1387961" cy="2361957"/>
            </a:xfrm>
            <a:prstGeom prst="rect">
              <a:avLst/>
            </a:prstGeom>
          </p:spPr>
          <p:txBody>
            <a:bodyPr lIns="33379" tIns="33379" rIns="33379" bIns="33379" rtlCol="0" anchor="ctr"/>
            <a:lstStyle/>
            <a:p>
              <a:pPr marL="0" lvl="0" indent="0" algn="ctr">
                <a:lnSpc>
                  <a:spcPts val="2660"/>
                </a:lnSpc>
                <a:spcBef>
                  <a:spcPct val="0"/>
                </a:spcBef>
              </a:pPr>
              <a:endParaRPr/>
            </a:p>
          </p:txBody>
        </p:sp>
      </p:grpSp>
      <p:grpSp>
        <p:nvGrpSpPr>
          <p:cNvPr id="23" name="Group 23"/>
          <p:cNvGrpSpPr/>
          <p:nvPr/>
        </p:nvGrpSpPr>
        <p:grpSpPr>
          <a:xfrm rot="5400000">
            <a:off x="2595745" y="7780405"/>
            <a:ext cx="622999" cy="351870"/>
            <a:chOff x="0" y="0"/>
            <a:chExt cx="1387983" cy="784032"/>
          </a:xfrm>
        </p:grpSpPr>
        <p:sp>
          <p:nvSpPr>
            <p:cNvPr id="24" name="Freeform 24"/>
            <p:cNvSpPr/>
            <p:nvPr/>
          </p:nvSpPr>
          <p:spPr>
            <a:xfrm>
              <a:off x="0" y="0"/>
              <a:ext cx="1387983" cy="782620"/>
            </a:xfrm>
            <a:custGeom>
              <a:avLst/>
              <a:gdLst/>
              <a:ahLst/>
              <a:cxnLst/>
              <a:rect l="l" t="t" r="r" b="b"/>
              <a:pathLst>
                <a:path w="1387983" h="782620">
                  <a:moveTo>
                    <a:pt x="693992" y="0"/>
                  </a:moveTo>
                  <a:lnTo>
                    <a:pt x="1387983" y="782620"/>
                  </a:lnTo>
                  <a:lnTo>
                    <a:pt x="0" y="782620"/>
                  </a:lnTo>
                  <a:close/>
                </a:path>
              </a:pathLst>
            </a:custGeom>
            <a:solidFill>
              <a:srgbClr val="AFBEFF"/>
            </a:solidFill>
          </p:spPr>
        </p:sp>
        <p:sp>
          <p:nvSpPr>
            <p:cNvPr id="25" name="TextBox 25"/>
            <p:cNvSpPr txBox="1"/>
            <p:nvPr/>
          </p:nvSpPr>
          <p:spPr>
            <a:xfrm>
              <a:off x="293871" y="292771"/>
              <a:ext cx="800241" cy="489849"/>
            </a:xfrm>
            <a:prstGeom prst="rect">
              <a:avLst/>
            </a:prstGeom>
          </p:spPr>
          <p:txBody>
            <a:bodyPr lIns="33379" tIns="33379" rIns="33379" bIns="33379" rtlCol="0" anchor="ctr"/>
            <a:lstStyle/>
            <a:p>
              <a:pPr marL="0" lvl="0" indent="0" algn="ctr">
                <a:lnSpc>
                  <a:spcPts val="2660"/>
                </a:lnSpc>
                <a:spcBef>
                  <a:spcPct val="0"/>
                </a:spcBef>
              </a:pPr>
              <a:endParaRPr/>
            </a:p>
          </p:txBody>
        </p:sp>
      </p:grpSp>
      <p:grpSp>
        <p:nvGrpSpPr>
          <p:cNvPr id="26" name="Group 26"/>
          <p:cNvGrpSpPr/>
          <p:nvPr/>
        </p:nvGrpSpPr>
        <p:grpSpPr>
          <a:xfrm rot="5400000">
            <a:off x="5780811" y="5004756"/>
            <a:ext cx="622999" cy="351870"/>
            <a:chOff x="0" y="0"/>
            <a:chExt cx="1387983" cy="784032"/>
          </a:xfrm>
        </p:grpSpPr>
        <p:sp>
          <p:nvSpPr>
            <p:cNvPr id="27" name="Freeform 27"/>
            <p:cNvSpPr/>
            <p:nvPr/>
          </p:nvSpPr>
          <p:spPr>
            <a:xfrm>
              <a:off x="0" y="0"/>
              <a:ext cx="1387983" cy="782620"/>
            </a:xfrm>
            <a:custGeom>
              <a:avLst/>
              <a:gdLst/>
              <a:ahLst/>
              <a:cxnLst/>
              <a:rect l="l" t="t" r="r" b="b"/>
              <a:pathLst>
                <a:path w="1387983" h="782620">
                  <a:moveTo>
                    <a:pt x="693992" y="0"/>
                  </a:moveTo>
                  <a:lnTo>
                    <a:pt x="1387983" y="782620"/>
                  </a:lnTo>
                  <a:lnTo>
                    <a:pt x="0" y="782620"/>
                  </a:lnTo>
                  <a:close/>
                </a:path>
              </a:pathLst>
            </a:custGeom>
            <a:solidFill>
              <a:srgbClr val="2B42A8"/>
            </a:solidFill>
          </p:spPr>
        </p:sp>
        <p:sp>
          <p:nvSpPr>
            <p:cNvPr id="28" name="TextBox 28"/>
            <p:cNvSpPr txBox="1"/>
            <p:nvPr/>
          </p:nvSpPr>
          <p:spPr>
            <a:xfrm>
              <a:off x="293871" y="292771"/>
              <a:ext cx="800241" cy="489849"/>
            </a:xfrm>
            <a:prstGeom prst="rect">
              <a:avLst/>
            </a:prstGeom>
          </p:spPr>
          <p:txBody>
            <a:bodyPr lIns="33379" tIns="33379" rIns="33379" bIns="33379" rtlCol="0" anchor="ctr"/>
            <a:lstStyle/>
            <a:p>
              <a:pPr marL="0" lvl="0" indent="0" algn="ctr">
                <a:lnSpc>
                  <a:spcPts val="2660"/>
                </a:lnSpc>
                <a:spcBef>
                  <a:spcPct val="0"/>
                </a:spcBef>
              </a:pPr>
              <a:endParaRPr/>
            </a:p>
          </p:txBody>
        </p:sp>
      </p:grpSp>
      <p:grpSp>
        <p:nvGrpSpPr>
          <p:cNvPr id="29" name="Group 29"/>
          <p:cNvGrpSpPr/>
          <p:nvPr/>
        </p:nvGrpSpPr>
        <p:grpSpPr>
          <a:xfrm rot="5400000">
            <a:off x="8984927" y="7780405"/>
            <a:ext cx="622999" cy="351870"/>
            <a:chOff x="0" y="0"/>
            <a:chExt cx="1387983" cy="784032"/>
          </a:xfrm>
        </p:grpSpPr>
        <p:sp>
          <p:nvSpPr>
            <p:cNvPr id="30" name="Freeform 30"/>
            <p:cNvSpPr/>
            <p:nvPr/>
          </p:nvSpPr>
          <p:spPr>
            <a:xfrm>
              <a:off x="0" y="0"/>
              <a:ext cx="1387983" cy="782620"/>
            </a:xfrm>
            <a:custGeom>
              <a:avLst/>
              <a:gdLst/>
              <a:ahLst/>
              <a:cxnLst/>
              <a:rect l="l" t="t" r="r" b="b"/>
              <a:pathLst>
                <a:path w="1387983" h="782620">
                  <a:moveTo>
                    <a:pt x="693992" y="0"/>
                  </a:moveTo>
                  <a:lnTo>
                    <a:pt x="1387983" y="782620"/>
                  </a:lnTo>
                  <a:lnTo>
                    <a:pt x="0" y="782620"/>
                  </a:lnTo>
                  <a:close/>
                </a:path>
              </a:pathLst>
            </a:custGeom>
            <a:solidFill>
              <a:srgbClr val="3A58E4"/>
            </a:solidFill>
          </p:spPr>
        </p:sp>
        <p:sp>
          <p:nvSpPr>
            <p:cNvPr id="31" name="TextBox 31"/>
            <p:cNvSpPr txBox="1"/>
            <p:nvPr/>
          </p:nvSpPr>
          <p:spPr>
            <a:xfrm>
              <a:off x="293871" y="292771"/>
              <a:ext cx="800241" cy="489849"/>
            </a:xfrm>
            <a:prstGeom prst="rect">
              <a:avLst/>
            </a:prstGeom>
          </p:spPr>
          <p:txBody>
            <a:bodyPr lIns="33379" tIns="33379" rIns="33379" bIns="33379" rtlCol="0" anchor="ctr"/>
            <a:lstStyle/>
            <a:p>
              <a:pPr marL="0" lvl="0" indent="0" algn="ctr">
                <a:lnSpc>
                  <a:spcPts val="2660"/>
                </a:lnSpc>
                <a:spcBef>
                  <a:spcPct val="0"/>
                </a:spcBef>
              </a:pPr>
              <a:endParaRPr/>
            </a:p>
          </p:txBody>
        </p:sp>
      </p:grpSp>
      <p:grpSp>
        <p:nvGrpSpPr>
          <p:cNvPr id="32" name="Group 32"/>
          <p:cNvGrpSpPr/>
          <p:nvPr/>
        </p:nvGrpSpPr>
        <p:grpSpPr>
          <a:xfrm rot="5400000">
            <a:off x="12179518" y="5004756"/>
            <a:ext cx="622999" cy="351870"/>
            <a:chOff x="0" y="0"/>
            <a:chExt cx="1387983" cy="784032"/>
          </a:xfrm>
        </p:grpSpPr>
        <p:sp>
          <p:nvSpPr>
            <p:cNvPr id="33" name="Freeform 33"/>
            <p:cNvSpPr/>
            <p:nvPr/>
          </p:nvSpPr>
          <p:spPr>
            <a:xfrm>
              <a:off x="0" y="0"/>
              <a:ext cx="1387983" cy="782620"/>
            </a:xfrm>
            <a:custGeom>
              <a:avLst/>
              <a:gdLst/>
              <a:ahLst/>
              <a:cxnLst/>
              <a:rect l="l" t="t" r="r" b="b"/>
              <a:pathLst>
                <a:path w="1387983" h="782620">
                  <a:moveTo>
                    <a:pt x="693992" y="0"/>
                  </a:moveTo>
                  <a:lnTo>
                    <a:pt x="1387983" y="782620"/>
                  </a:lnTo>
                  <a:lnTo>
                    <a:pt x="0" y="782620"/>
                  </a:lnTo>
                  <a:close/>
                </a:path>
              </a:pathLst>
            </a:custGeom>
            <a:solidFill>
              <a:srgbClr val="6984FE"/>
            </a:solidFill>
          </p:spPr>
        </p:sp>
        <p:sp>
          <p:nvSpPr>
            <p:cNvPr id="34" name="TextBox 34"/>
            <p:cNvSpPr txBox="1"/>
            <p:nvPr/>
          </p:nvSpPr>
          <p:spPr>
            <a:xfrm>
              <a:off x="293871" y="292771"/>
              <a:ext cx="800241" cy="489849"/>
            </a:xfrm>
            <a:prstGeom prst="rect">
              <a:avLst/>
            </a:prstGeom>
          </p:spPr>
          <p:txBody>
            <a:bodyPr lIns="33379" tIns="33379" rIns="33379" bIns="33379" rtlCol="0" anchor="ctr"/>
            <a:lstStyle/>
            <a:p>
              <a:pPr marL="0" lvl="0" indent="0" algn="ctr">
                <a:lnSpc>
                  <a:spcPts val="2660"/>
                </a:lnSpc>
                <a:spcBef>
                  <a:spcPct val="0"/>
                </a:spcBef>
              </a:pPr>
              <a:endParaRPr/>
            </a:p>
          </p:txBody>
        </p:sp>
      </p:grpSp>
      <p:grpSp>
        <p:nvGrpSpPr>
          <p:cNvPr id="35" name="Group 35"/>
          <p:cNvGrpSpPr/>
          <p:nvPr/>
        </p:nvGrpSpPr>
        <p:grpSpPr>
          <a:xfrm>
            <a:off x="3269864" y="4527055"/>
            <a:ext cx="2135924" cy="1757242"/>
            <a:chOff x="0" y="0"/>
            <a:chExt cx="2847898" cy="2342990"/>
          </a:xfrm>
        </p:grpSpPr>
        <p:sp>
          <p:nvSpPr>
            <p:cNvPr id="36" name="TextBox 36"/>
            <p:cNvSpPr txBox="1"/>
            <p:nvPr/>
          </p:nvSpPr>
          <p:spPr>
            <a:xfrm>
              <a:off x="0" y="-19050"/>
              <a:ext cx="2847898" cy="606524"/>
            </a:xfrm>
            <a:prstGeom prst="rect">
              <a:avLst/>
            </a:prstGeom>
          </p:spPr>
          <p:txBody>
            <a:bodyPr lIns="0" tIns="0" rIns="0" bIns="0" rtlCol="0" anchor="t">
              <a:spAutoFit/>
            </a:bodyPr>
            <a:lstStyle/>
            <a:p>
              <a:pPr marL="0" lvl="0" indent="0" algn="just">
                <a:lnSpc>
                  <a:spcPts val="1872"/>
                </a:lnSpc>
              </a:pPr>
              <a:r>
                <a:rPr lang="en-US" sz="1451" b="1" spc="-4">
                  <a:solidFill>
                    <a:srgbClr val="FFFFFF"/>
                  </a:solidFill>
                  <a:latin typeface="Poppins Bold"/>
                  <a:ea typeface="Poppins Bold"/>
                  <a:cs typeface="Poppins Bold"/>
                  <a:sym typeface="Poppins Bold"/>
                </a:rPr>
                <a:t>SUBSCRIBER</a:t>
              </a:r>
            </a:p>
            <a:p>
              <a:pPr marL="0" lvl="0" indent="0" algn="just">
                <a:lnSpc>
                  <a:spcPts val="1872"/>
                </a:lnSpc>
              </a:pPr>
              <a:r>
                <a:rPr lang="en-US" sz="1451" b="1" spc="-4">
                  <a:solidFill>
                    <a:srgbClr val="FFFFFF"/>
                  </a:solidFill>
                  <a:latin typeface="Poppins Bold"/>
                  <a:ea typeface="Poppins Bold"/>
                  <a:cs typeface="Poppins Bold"/>
                  <a:sym typeface="Poppins Bold"/>
                </a:rPr>
                <a:t>REQUIREMENTS</a:t>
              </a:r>
            </a:p>
          </p:txBody>
        </p:sp>
        <p:sp>
          <p:nvSpPr>
            <p:cNvPr id="37" name="TextBox 37"/>
            <p:cNvSpPr txBox="1"/>
            <p:nvPr/>
          </p:nvSpPr>
          <p:spPr>
            <a:xfrm>
              <a:off x="0" y="874845"/>
              <a:ext cx="2847898" cy="1468145"/>
            </a:xfrm>
            <a:prstGeom prst="rect">
              <a:avLst/>
            </a:prstGeom>
          </p:spPr>
          <p:txBody>
            <a:bodyPr lIns="0" tIns="0" rIns="0" bIns="0" rtlCol="0" anchor="t">
              <a:spAutoFit/>
            </a:bodyPr>
            <a:lstStyle/>
            <a:p>
              <a:pPr marL="0" lvl="0" indent="0" algn="just">
                <a:lnSpc>
                  <a:spcPts val="1771"/>
                </a:lnSpc>
              </a:pPr>
              <a:r>
                <a:rPr lang="en-US" sz="1373" spc="-4">
                  <a:solidFill>
                    <a:srgbClr val="FFFFFF"/>
                  </a:solidFill>
                  <a:latin typeface="Poppins"/>
                  <a:ea typeface="Poppins"/>
                  <a:cs typeface="Poppins"/>
                  <a:sym typeface="Poppins"/>
                </a:rPr>
                <a:t>Gather real-world needs: cross-platform, offline support, location, privacy, background tasks.</a:t>
              </a:r>
            </a:p>
          </p:txBody>
        </p:sp>
      </p:grpSp>
      <p:sp>
        <p:nvSpPr>
          <p:cNvPr id="38" name="TextBox 38"/>
          <p:cNvSpPr txBox="1"/>
          <p:nvPr/>
        </p:nvSpPr>
        <p:spPr>
          <a:xfrm>
            <a:off x="4470562" y="7744828"/>
            <a:ext cx="1445813" cy="1195607"/>
          </a:xfrm>
          <a:prstGeom prst="rect">
            <a:avLst/>
          </a:prstGeom>
        </p:spPr>
        <p:txBody>
          <a:bodyPr lIns="0" tIns="0" rIns="0" bIns="0" rtlCol="0" anchor="t">
            <a:spAutoFit/>
          </a:bodyPr>
          <a:lstStyle/>
          <a:p>
            <a:pPr marL="0" lvl="0" indent="0" algn="just">
              <a:lnSpc>
                <a:spcPts val="9603"/>
              </a:lnSpc>
            </a:pPr>
            <a:r>
              <a:rPr lang="en-US" sz="7444" spc="-22">
                <a:solidFill>
                  <a:srgbClr val="FFFFFF"/>
                </a:solidFill>
                <a:latin typeface="Bricolage Grotesque"/>
                <a:ea typeface="Bricolage Grotesque"/>
                <a:cs typeface="Bricolage Grotesque"/>
                <a:sym typeface="Bricolage Grotesque"/>
              </a:rPr>
              <a:t>01</a:t>
            </a:r>
          </a:p>
        </p:txBody>
      </p:sp>
      <p:grpSp>
        <p:nvGrpSpPr>
          <p:cNvPr id="39" name="Group 39"/>
          <p:cNvGrpSpPr/>
          <p:nvPr/>
        </p:nvGrpSpPr>
        <p:grpSpPr>
          <a:xfrm>
            <a:off x="6473980" y="6833498"/>
            <a:ext cx="2135924" cy="1757242"/>
            <a:chOff x="0" y="0"/>
            <a:chExt cx="2847898" cy="2342990"/>
          </a:xfrm>
        </p:grpSpPr>
        <p:sp>
          <p:nvSpPr>
            <p:cNvPr id="40" name="TextBox 40"/>
            <p:cNvSpPr txBox="1"/>
            <p:nvPr/>
          </p:nvSpPr>
          <p:spPr>
            <a:xfrm>
              <a:off x="0" y="-19050"/>
              <a:ext cx="2847898" cy="606524"/>
            </a:xfrm>
            <a:prstGeom prst="rect">
              <a:avLst/>
            </a:prstGeom>
          </p:spPr>
          <p:txBody>
            <a:bodyPr lIns="0" tIns="0" rIns="0" bIns="0" rtlCol="0" anchor="t">
              <a:spAutoFit/>
            </a:bodyPr>
            <a:lstStyle/>
            <a:p>
              <a:pPr marL="0" lvl="0" indent="0" algn="just">
                <a:lnSpc>
                  <a:spcPts val="1872"/>
                </a:lnSpc>
              </a:pPr>
              <a:r>
                <a:rPr lang="en-US" sz="1451" b="1" spc="-4">
                  <a:solidFill>
                    <a:srgbClr val="FFFFFF"/>
                  </a:solidFill>
                  <a:latin typeface="Poppins Bold"/>
                  <a:ea typeface="Poppins Bold"/>
                  <a:cs typeface="Poppins Bold"/>
                  <a:sym typeface="Poppins Bold"/>
                </a:rPr>
                <a:t>ANALYSIS &amp;</a:t>
              </a:r>
            </a:p>
            <a:p>
              <a:pPr marL="0" lvl="0" indent="0" algn="just">
                <a:lnSpc>
                  <a:spcPts val="1872"/>
                </a:lnSpc>
              </a:pPr>
              <a:r>
                <a:rPr lang="en-US" sz="1451" b="1" spc="-4">
                  <a:solidFill>
                    <a:srgbClr val="FFFFFF"/>
                  </a:solidFill>
                  <a:latin typeface="Poppins Bold"/>
                  <a:ea typeface="Poppins Bold"/>
                  <a:cs typeface="Poppins Bold"/>
                  <a:sym typeface="Poppins Bold"/>
                </a:rPr>
                <a:t>RESEARCH</a:t>
              </a:r>
            </a:p>
          </p:txBody>
        </p:sp>
        <p:sp>
          <p:nvSpPr>
            <p:cNvPr id="41" name="TextBox 41"/>
            <p:cNvSpPr txBox="1"/>
            <p:nvPr/>
          </p:nvSpPr>
          <p:spPr>
            <a:xfrm>
              <a:off x="0" y="874845"/>
              <a:ext cx="2847898" cy="1468145"/>
            </a:xfrm>
            <a:prstGeom prst="rect">
              <a:avLst/>
            </a:prstGeom>
          </p:spPr>
          <p:txBody>
            <a:bodyPr lIns="0" tIns="0" rIns="0" bIns="0" rtlCol="0" anchor="t">
              <a:spAutoFit/>
            </a:bodyPr>
            <a:lstStyle/>
            <a:p>
              <a:pPr marL="0" lvl="0" indent="0" algn="just">
                <a:lnSpc>
                  <a:spcPts val="1771"/>
                </a:lnSpc>
              </a:pPr>
              <a:r>
                <a:rPr lang="en-US" sz="1373" spc="-4">
                  <a:solidFill>
                    <a:srgbClr val="FFFFFF"/>
                  </a:solidFill>
                  <a:latin typeface="Poppins"/>
                  <a:ea typeface="Poppins"/>
                  <a:cs typeface="Poppins"/>
                  <a:sym typeface="Poppins"/>
                </a:rPr>
                <a:t>Evaluate frameworks and libraries against project constraints and performance benchmarks.</a:t>
              </a:r>
            </a:p>
          </p:txBody>
        </p:sp>
      </p:grpSp>
      <p:sp>
        <p:nvSpPr>
          <p:cNvPr id="42" name="TextBox 42"/>
          <p:cNvSpPr txBox="1"/>
          <p:nvPr/>
        </p:nvSpPr>
        <p:spPr>
          <a:xfrm>
            <a:off x="7425798" y="4296584"/>
            <a:ext cx="1578549" cy="1195607"/>
          </a:xfrm>
          <a:prstGeom prst="rect">
            <a:avLst/>
          </a:prstGeom>
        </p:spPr>
        <p:txBody>
          <a:bodyPr lIns="0" tIns="0" rIns="0" bIns="0" rtlCol="0" anchor="t">
            <a:spAutoFit/>
          </a:bodyPr>
          <a:lstStyle/>
          <a:p>
            <a:pPr marL="0" lvl="0" indent="0" algn="just">
              <a:lnSpc>
                <a:spcPts val="9603"/>
              </a:lnSpc>
            </a:pPr>
            <a:r>
              <a:rPr lang="en-US" sz="7444" spc="-22">
                <a:solidFill>
                  <a:srgbClr val="FFFFFF"/>
                </a:solidFill>
                <a:latin typeface="Bricolage Grotesque"/>
                <a:ea typeface="Bricolage Grotesque"/>
                <a:cs typeface="Bricolage Grotesque"/>
                <a:sym typeface="Bricolage Grotesque"/>
              </a:rPr>
              <a:t>02</a:t>
            </a:r>
          </a:p>
        </p:txBody>
      </p:sp>
      <p:grpSp>
        <p:nvGrpSpPr>
          <p:cNvPr id="43" name="Group 43"/>
          <p:cNvGrpSpPr/>
          <p:nvPr/>
        </p:nvGrpSpPr>
        <p:grpSpPr>
          <a:xfrm>
            <a:off x="9681912" y="4527055"/>
            <a:ext cx="2135924" cy="1757242"/>
            <a:chOff x="0" y="0"/>
            <a:chExt cx="2847898" cy="2342990"/>
          </a:xfrm>
        </p:grpSpPr>
        <p:sp>
          <p:nvSpPr>
            <p:cNvPr id="44" name="TextBox 44"/>
            <p:cNvSpPr txBox="1"/>
            <p:nvPr/>
          </p:nvSpPr>
          <p:spPr>
            <a:xfrm>
              <a:off x="0" y="-19050"/>
              <a:ext cx="2847898" cy="606524"/>
            </a:xfrm>
            <a:prstGeom prst="rect">
              <a:avLst/>
            </a:prstGeom>
          </p:spPr>
          <p:txBody>
            <a:bodyPr lIns="0" tIns="0" rIns="0" bIns="0" rtlCol="0" anchor="t">
              <a:spAutoFit/>
            </a:bodyPr>
            <a:lstStyle/>
            <a:p>
              <a:pPr marL="0" lvl="0" indent="0" algn="just">
                <a:lnSpc>
                  <a:spcPts val="1872"/>
                </a:lnSpc>
              </a:pPr>
              <a:r>
                <a:rPr lang="en-US" sz="1451" b="1" spc="-4">
                  <a:solidFill>
                    <a:srgbClr val="FFFFFF"/>
                  </a:solidFill>
                  <a:latin typeface="Poppins Bold"/>
                  <a:ea typeface="Poppins Bold"/>
                  <a:cs typeface="Poppins Bold"/>
                  <a:sym typeface="Poppins Bold"/>
                </a:rPr>
                <a:t>TECHNOLOGY</a:t>
              </a:r>
            </a:p>
            <a:p>
              <a:pPr marL="0" lvl="0" indent="0" algn="just">
                <a:lnSpc>
                  <a:spcPts val="1872"/>
                </a:lnSpc>
              </a:pPr>
              <a:r>
                <a:rPr lang="en-US" sz="1451" b="1" spc="-4">
                  <a:solidFill>
                    <a:srgbClr val="FFFFFF"/>
                  </a:solidFill>
                  <a:latin typeface="Poppins Bold"/>
                  <a:ea typeface="Poppins Bold"/>
                  <a:cs typeface="Poppins Bold"/>
                  <a:sym typeface="Poppins Bold"/>
                </a:rPr>
                <a:t>EVALUATION</a:t>
              </a:r>
            </a:p>
          </p:txBody>
        </p:sp>
        <p:sp>
          <p:nvSpPr>
            <p:cNvPr id="45" name="TextBox 45"/>
            <p:cNvSpPr txBox="1"/>
            <p:nvPr/>
          </p:nvSpPr>
          <p:spPr>
            <a:xfrm>
              <a:off x="0" y="874845"/>
              <a:ext cx="2847898" cy="1468145"/>
            </a:xfrm>
            <a:prstGeom prst="rect">
              <a:avLst/>
            </a:prstGeom>
          </p:spPr>
          <p:txBody>
            <a:bodyPr lIns="0" tIns="0" rIns="0" bIns="0" rtlCol="0" anchor="t">
              <a:spAutoFit/>
            </a:bodyPr>
            <a:lstStyle/>
            <a:p>
              <a:pPr marL="0" lvl="0" indent="0" algn="just">
                <a:lnSpc>
                  <a:spcPts val="1771"/>
                </a:lnSpc>
              </a:pPr>
              <a:r>
                <a:rPr lang="en-US" sz="1373" spc="-4">
                  <a:solidFill>
                    <a:srgbClr val="FFFFFF"/>
                  </a:solidFill>
                  <a:latin typeface="Poppins"/>
                  <a:ea typeface="Poppins"/>
                  <a:cs typeface="Poppins"/>
                  <a:sym typeface="Poppins"/>
                </a:rPr>
                <a:t>Compare React Native, Flutter, native iOS/Android on scalability, community, and API support.</a:t>
              </a:r>
            </a:p>
          </p:txBody>
        </p:sp>
      </p:grpSp>
      <p:sp>
        <p:nvSpPr>
          <p:cNvPr id="46" name="TextBox 46"/>
          <p:cNvSpPr txBox="1"/>
          <p:nvPr/>
        </p:nvSpPr>
        <p:spPr>
          <a:xfrm>
            <a:off x="10617138" y="7744828"/>
            <a:ext cx="1711285" cy="1195607"/>
          </a:xfrm>
          <a:prstGeom prst="rect">
            <a:avLst/>
          </a:prstGeom>
        </p:spPr>
        <p:txBody>
          <a:bodyPr lIns="0" tIns="0" rIns="0" bIns="0" rtlCol="0" anchor="t">
            <a:spAutoFit/>
          </a:bodyPr>
          <a:lstStyle/>
          <a:p>
            <a:pPr marL="0" lvl="0" indent="0" algn="just">
              <a:lnSpc>
                <a:spcPts val="9603"/>
              </a:lnSpc>
            </a:pPr>
            <a:r>
              <a:rPr lang="en-US" sz="7444" spc="-22">
                <a:solidFill>
                  <a:srgbClr val="FFFFFF"/>
                </a:solidFill>
                <a:latin typeface="Bricolage Grotesque"/>
                <a:ea typeface="Bricolage Grotesque"/>
                <a:cs typeface="Bricolage Grotesque"/>
                <a:sym typeface="Bricolage Grotesque"/>
              </a:rPr>
              <a:t>03</a:t>
            </a:r>
          </a:p>
        </p:txBody>
      </p:sp>
      <p:grpSp>
        <p:nvGrpSpPr>
          <p:cNvPr id="47" name="Group 47"/>
          <p:cNvGrpSpPr/>
          <p:nvPr/>
        </p:nvGrpSpPr>
        <p:grpSpPr>
          <a:xfrm>
            <a:off x="12886027" y="6833498"/>
            <a:ext cx="2135924" cy="1757242"/>
            <a:chOff x="0" y="0"/>
            <a:chExt cx="2847898" cy="2342990"/>
          </a:xfrm>
        </p:grpSpPr>
        <p:sp>
          <p:nvSpPr>
            <p:cNvPr id="48" name="TextBox 48"/>
            <p:cNvSpPr txBox="1"/>
            <p:nvPr/>
          </p:nvSpPr>
          <p:spPr>
            <a:xfrm>
              <a:off x="0" y="-19050"/>
              <a:ext cx="2847898" cy="606524"/>
            </a:xfrm>
            <a:prstGeom prst="rect">
              <a:avLst/>
            </a:prstGeom>
          </p:spPr>
          <p:txBody>
            <a:bodyPr lIns="0" tIns="0" rIns="0" bIns="0" rtlCol="0" anchor="t">
              <a:spAutoFit/>
            </a:bodyPr>
            <a:lstStyle/>
            <a:p>
              <a:pPr marL="0" lvl="0" indent="0" algn="just">
                <a:lnSpc>
                  <a:spcPts val="1872"/>
                </a:lnSpc>
              </a:pPr>
              <a:r>
                <a:rPr lang="en-US" sz="1451" b="1" spc="-4">
                  <a:solidFill>
                    <a:srgbClr val="FFFFFF"/>
                  </a:solidFill>
                  <a:latin typeface="Poppins Bold"/>
                  <a:ea typeface="Poppins Bold"/>
                  <a:cs typeface="Poppins Bold"/>
                  <a:sym typeface="Poppins Bold"/>
                </a:rPr>
                <a:t>FINAL</a:t>
              </a:r>
            </a:p>
            <a:p>
              <a:pPr marL="0" lvl="0" indent="0" algn="just">
                <a:lnSpc>
                  <a:spcPts val="1872"/>
                </a:lnSpc>
              </a:pPr>
              <a:r>
                <a:rPr lang="en-US" sz="1451" b="1" spc="-4">
                  <a:solidFill>
                    <a:srgbClr val="FFFFFF"/>
                  </a:solidFill>
                  <a:latin typeface="Poppins Bold"/>
                  <a:ea typeface="Poppins Bold"/>
                  <a:cs typeface="Poppins Bold"/>
                  <a:sym typeface="Poppins Bold"/>
                </a:rPr>
                <a:t>SELECTION</a:t>
              </a:r>
            </a:p>
          </p:txBody>
        </p:sp>
        <p:sp>
          <p:nvSpPr>
            <p:cNvPr id="49" name="TextBox 49"/>
            <p:cNvSpPr txBox="1"/>
            <p:nvPr/>
          </p:nvSpPr>
          <p:spPr>
            <a:xfrm>
              <a:off x="0" y="874845"/>
              <a:ext cx="2847898" cy="1468145"/>
            </a:xfrm>
            <a:prstGeom prst="rect">
              <a:avLst/>
            </a:prstGeom>
          </p:spPr>
          <p:txBody>
            <a:bodyPr lIns="0" tIns="0" rIns="0" bIns="0" rtlCol="0" anchor="t">
              <a:spAutoFit/>
            </a:bodyPr>
            <a:lstStyle/>
            <a:p>
              <a:pPr marL="0" lvl="0" indent="0" algn="just">
                <a:lnSpc>
                  <a:spcPts val="1771"/>
                </a:lnSpc>
              </a:pPr>
              <a:r>
                <a:rPr lang="en-US" sz="1373" spc="-4">
                  <a:solidFill>
                    <a:srgbClr val="FFFFFF"/>
                  </a:solidFill>
                  <a:latin typeface="Poppins"/>
                  <a:ea typeface="Poppins"/>
                  <a:cs typeface="Poppins"/>
                  <a:sym typeface="Poppins"/>
                </a:rPr>
                <a:t>React Native + Expo, SQLite, MongoDB, Node.js selected for optimal fit across all criteria.</a:t>
              </a:r>
            </a:p>
          </p:txBody>
        </p:sp>
      </p:grpSp>
      <p:sp>
        <p:nvSpPr>
          <p:cNvPr id="50" name="TextBox 50"/>
          <p:cNvSpPr txBox="1"/>
          <p:nvPr/>
        </p:nvSpPr>
        <p:spPr>
          <a:xfrm>
            <a:off x="13837845" y="4296584"/>
            <a:ext cx="1578549" cy="1195607"/>
          </a:xfrm>
          <a:prstGeom prst="rect">
            <a:avLst/>
          </a:prstGeom>
        </p:spPr>
        <p:txBody>
          <a:bodyPr lIns="0" tIns="0" rIns="0" bIns="0" rtlCol="0" anchor="t">
            <a:spAutoFit/>
          </a:bodyPr>
          <a:lstStyle/>
          <a:p>
            <a:pPr marL="0" lvl="0" indent="0" algn="just">
              <a:lnSpc>
                <a:spcPts val="9603"/>
              </a:lnSpc>
            </a:pPr>
            <a:r>
              <a:rPr lang="en-US" sz="7444" spc="-22">
                <a:solidFill>
                  <a:srgbClr val="FFFFFF"/>
                </a:solidFill>
                <a:latin typeface="Bricolage Grotesque"/>
                <a:ea typeface="Bricolage Grotesque"/>
                <a:cs typeface="Bricolage Grotesque"/>
                <a:sym typeface="Bricolage Grotesque"/>
              </a:rPr>
              <a:t>04</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6438046" y="292915"/>
            <a:ext cx="1849954" cy="1555251"/>
            <a:chOff x="0" y="0"/>
            <a:chExt cx="2466605" cy="2073669"/>
          </a:xfrm>
        </p:grpSpPr>
        <p:grpSp>
          <p:nvGrpSpPr>
            <p:cNvPr id="3" name="Group 3"/>
            <p:cNvGrpSpPr/>
            <p:nvPr/>
          </p:nvGrpSpPr>
          <p:grpSpPr>
            <a:xfrm>
              <a:off x="0" y="0"/>
              <a:ext cx="2466605" cy="2073669"/>
              <a:chOff x="0" y="0"/>
              <a:chExt cx="787566" cy="662104"/>
            </a:xfrm>
          </p:grpSpPr>
          <p:sp>
            <p:nvSpPr>
              <p:cNvPr id="4" name="Freeform 4"/>
              <p:cNvSpPr/>
              <p:nvPr/>
            </p:nvSpPr>
            <p:spPr>
              <a:xfrm>
                <a:off x="0" y="0"/>
                <a:ext cx="787566" cy="662104"/>
              </a:xfrm>
              <a:custGeom>
                <a:avLst/>
                <a:gdLst/>
                <a:ahLst/>
                <a:cxnLst/>
                <a:rect l="l" t="t" r="r" b="b"/>
                <a:pathLst>
                  <a:path w="787566" h="662104">
                    <a:moveTo>
                      <a:pt x="0" y="0"/>
                    </a:moveTo>
                    <a:lnTo>
                      <a:pt x="787566" y="0"/>
                    </a:lnTo>
                    <a:lnTo>
                      <a:pt x="787566" y="662104"/>
                    </a:lnTo>
                    <a:lnTo>
                      <a:pt x="0" y="662104"/>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5" name="TextBox 5"/>
              <p:cNvSpPr txBox="1"/>
              <p:nvPr/>
            </p:nvSpPr>
            <p:spPr>
              <a:xfrm>
                <a:off x="0" y="-38100"/>
                <a:ext cx="787566" cy="700204"/>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6" name="TextBox 6"/>
            <p:cNvSpPr txBox="1"/>
            <p:nvPr/>
          </p:nvSpPr>
          <p:spPr>
            <a:xfrm>
              <a:off x="319164" y="655949"/>
              <a:ext cx="1828278" cy="847496"/>
            </a:xfrm>
            <a:prstGeom prst="rect">
              <a:avLst/>
            </a:prstGeom>
          </p:spPr>
          <p:txBody>
            <a:bodyPr lIns="0" tIns="0" rIns="0" bIns="0" rtlCol="0" anchor="t">
              <a:spAutoFit/>
            </a:bodyPr>
            <a:lstStyle/>
            <a:p>
              <a:pPr marL="0" lvl="0" indent="0" algn="ctr">
                <a:lnSpc>
                  <a:spcPts val="4504"/>
                </a:lnSpc>
              </a:pPr>
              <a:r>
                <a:rPr lang="en-US" sz="4596" spc="-294">
                  <a:solidFill>
                    <a:srgbClr val="FFFFFF"/>
                  </a:solidFill>
                  <a:latin typeface="Bricolage Grotesque"/>
                  <a:ea typeface="Bricolage Grotesque"/>
                  <a:cs typeface="Bricolage Grotesque"/>
                  <a:sym typeface="Bricolage Grotesque"/>
                </a:rPr>
                <a:t>07</a:t>
              </a:r>
            </a:p>
          </p:txBody>
        </p:sp>
      </p:grpSp>
      <p:grpSp>
        <p:nvGrpSpPr>
          <p:cNvPr id="7" name="Group 7"/>
          <p:cNvGrpSpPr/>
          <p:nvPr/>
        </p:nvGrpSpPr>
        <p:grpSpPr>
          <a:xfrm>
            <a:off x="5545788" y="3062727"/>
            <a:ext cx="7196424" cy="379246"/>
            <a:chOff x="0" y="0"/>
            <a:chExt cx="9595232" cy="505662"/>
          </a:xfrm>
        </p:grpSpPr>
        <p:sp>
          <p:nvSpPr>
            <p:cNvPr id="8" name="TextBox 8"/>
            <p:cNvSpPr txBox="1"/>
            <p:nvPr/>
          </p:nvSpPr>
          <p:spPr>
            <a:xfrm>
              <a:off x="0" y="120606"/>
              <a:ext cx="9378912" cy="385056"/>
            </a:xfrm>
            <a:prstGeom prst="rect">
              <a:avLst/>
            </a:prstGeom>
          </p:spPr>
          <p:txBody>
            <a:bodyPr lIns="0" tIns="0" rIns="0" bIns="0" rtlCol="0" anchor="t">
              <a:spAutoFit/>
            </a:bodyPr>
            <a:lstStyle/>
            <a:p>
              <a:pPr marL="0" lvl="0" indent="0" algn="l">
                <a:lnSpc>
                  <a:spcPts val="2326"/>
                </a:lnSpc>
              </a:pPr>
              <a:r>
                <a:rPr lang="en-US" sz="1661" b="1" spc="-41">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THE FINAL SELECTION — TOOLS &amp; FRAMEWORKS POWERING KILOBYTES</a:t>
              </a:r>
            </a:p>
          </p:txBody>
        </p:sp>
        <p:sp>
          <p:nvSpPr>
            <p:cNvPr id="9" name="Freeform 9"/>
            <p:cNvSpPr/>
            <p:nvPr/>
          </p:nvSpPr>
          <p:spPr>
            <a:xfrm rot="-8687136">
              <a:off x="9278212" y="44820"/>
              <a:ext cx="252200" cy="304858"/>
            </a:xfrm>
            <a:custGeom>
              <a:avLst/>
              <a:gdLst/>
              <a:ahLst/>
              <a:cxnLst/>
              <a:rect l="l" t="t" r="r" b="b"/>
              <a:pathLst>
                <a:path w="252200" h="304858">
                  <a:moveTo>
                    <a:pt x="0" y="0"/>
                  </a:moveTo>
                  <a:lnTo>
                    <a:pt x="252200" y="0"/>
                  </a:lnTo>
                  <a:lnTo>
                    <a:pt x="252200" y="304857"/>
                  </a:lnTo>
                  <a:lnTo>
                    <a:pt x="0" y="304857"/>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sp>
      </p:grpSp>
      <p:grpSp>
        <p:nvGrpSpPr>
          <p:cNvPr id="10" name="Group 10"/>
          <p:cNvGrpSpPr/>
          <p:nvPr/>
        </p:nvGrpSpPr>
        <p:grpSpPr>
          <a:xfrm>
            <a:off x="1463921" y="4926041"/>
            <a:ext cx="3746706" cy="3746706"/>
            <a:chOff x="0" y="0"/>
            <a:chExt cx="812800" cy="812800"/>
          </a:xfrm>
        </p:grpSpPr>
        <p:sp>
          <p:nvSpPr>
            <p:cNvPr id="11" name="Freeform 1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28575" cap="sq">
              <a:gradFill>
                <a:gsLst>
                  <a:gs pos="0">
                    <a:srgbClr val="293E9C">
                      <a:alpha val="100000"/>
                    </a:srgbClr>
                  </a:gs>
                  <a:gs pos="100000">
                    <a:srgbClr val="3A58E4">
                      <a:alpha val="100000"/>
                    </a:srgbClr>
                  </a:gs>
                </a:gsLst>
                <a:path path="circle">
                  <a:fillToRect r="100000" b="100000"/>
                </a:path>
                <a:tileRect l="-100000" t="-100000"/>
              </a:gradFill>
              <a:prstDash val="solid"/>
              <a:miter/>
            </a:ln>
          </p:spPr>
        </p:sp>
        <p:sp>
          <p:nvSpPr>
            <p:cNvPr id="12" name="TextBox 12"/>
            <p:cNvSpPr txBox="1"/>
            <p:nvPr/>
          </p:nvSpPr>
          <p:spPr>
            <a:xfrm>
              <a:off x="76200" y="38100"/>
              <a:ext cx="660400" cy="698500"/>
            </a:xfrm>
            <a:prstGeom prst="rect">
              <a:avLst/>
            </a:prstGeom>
          </p:spPr>
          <p:txBody>
            <a:bodyPr lIns="40108" tIns="40108" rIns="40108" bIns="40108" rtlCol="0" anchor="ctr"/>
            <a:lstStyle/>
            <a:p>
              <a:pPr marL="0" lvl="0" indent="0" algn="ctr">
                <a:lnSpc>
                  <a:spcPts val="2659"/>
                </a:lnSpc>
              </a:pPr>
              <a:endParaRPr/>
            </a:p>
          </p:txBody>
        </p:sp>
      </p:grpSp>
      <p:grpSp>
        <p:nvGrpSpPr>
          <p:cNvPr id="13" name="Group 13"/>
          <p:cNvGrpSpPr/>
          <p:nvPr/>
        </p:nvGrpSpPr>
        <p:grpSpPr>
          <a:xfrm>
            <a:off x="5334452" y="4926041"/>
            <a:ext cx="3746706" cy="3746706"/>
            <a:chOff x="0" y="0"/>
            <a:chExt cx="812800" cy="812800"/>
          </a:xfrm>
        </p:grpSpPr>
        <p:sp>
          <p:nvSpPr>
            <p:cNvPr id="14" name="Freeform 1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a:ln cap="sq">
              <a:noFill/>
              <a:prstDash val="solid"/>
              <a:miter/>
            </a:ln>
          </p:spPr>
        </p:sp>
        <p:sp>
          <p:nvSpPr>
            <p:cNvPr id="15" name="TextBox 15"/>
            <p:cNvSpPr txBox="1"/>
            <p:nvPr/>
          </p:nvSpPr>
          <p:spPr>
            <a:xfrm>
              <a:off x="76200" y="38100"/>
              <a:ext cx="660400" cy="698500"/>
            </a:xfrm>
            <a:prstGeom prst="rect">
              <a:avLst/>
            </a:prstGeom>
          </p:spPr>
          <p:txBody>
            <a:bodyPr lIns="40108" tIns="40108" rIns="40108" bIns="40108" rtlCol="0" anchor="ctr"/>
            <a:lstStyle/>
            <a:p>
              <a:pPr marL="0" lvl="0" indent="0" algn="ctr">
                <a:lnSpc>
                  <a:spcPts val="2659"/>
                </a:lnSpc>
              </a:pPr>
              <a:endParaRPr/>
            </a:p>
          </p:txBody>
        </p:sp>
      </p:grpSp>
      <p:grpSp>
        <p:nvGrpSpPr>
          <p:cNvPr id="16" name="Group 16"/>
          <p:cNvGrpSpPr/>
          <p:nvPr/>
        </p:nvGrpSpPr>
        <p:grpSpPr>
          <a:xfrm>
            <a:off x="9205912" y="4926041"/>
            <a:ext cx="3746706" cy="3746706"/>
            <a:chOff x="0" y="0"/>
            <a:chExt cx="812800" cy="812800"/>
          </a:xfrm>
        </p:grpSpPr>
        <p:sp>
          <p:nvSpPr>
            <p:cNvPr id="17" name="Freeform 1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28575" cap="sq">
              <a:gradFill>
                <a:gsLst>
                  <a:gs pos="0">
                    <a:srgbClr val="293E9C">
                      <a:alpha val="100000"/>
                    </a:srgbClr>
                  </a:gs>
                  <a:gs pos="100000">
                    <a:srgbClr val="3A58E4">
                      <a:alpha val="100000"/>
                    </a:srgbClr>
                  </a:gs>
                </a:gsLst>
                <a:path path="circle">
                  <a:fillToRect r="100000" b="100000"/>
                </a:path>
                <a:tileRect l="-100000" t="-100000"/>
              </a:gradFill>
              <a:prstDash val="solid"/>
              <a:miter/>
            </a:ln>
          </p:spPr>
        </p:sp>
        <p:sp>
          <p:nvSpPr>
            <p:cNvPr id="18" name="TextBox 18"/>
            <p:cNvSpPr txBox="1"/>
            <p:nvPr/>
          </p:nvSpPr>
          <p:spPr>
            <a:xfrm>
              <a:off x="76200" y="38100"/>
              <a:ext cx="660400" cy="698500"/>
            </a:xfrm>
            <a:prstGeom prst="rect">
              <a:avLst/>
            </a:prstGeom>
          </p:spPr>
          <p:txBody>
            <a:bodyPr lIns="40108" tIns="40108" rIns="40108" bIns="40108" rtlCol="0" anchor="ctr"/>
            <a:lstStyle/>
            <a:p>
              <a:pPr marL="0" lvl="0" indent="0" algn="ctr">
                <a:lnSpc>
                  <a:spcPts val="2659"/>
                </a:lnSpc>
              </a:pPr>
              <a:endParaRPr/>
            </a:p>
          </p:txBody>
        </p:sp>
      </p:grpSp>
      <p:grpSp>
        <p:nvGrpSpPr>
          <p:cNvPr id="19" name="Group 19"/>
          <p:cNvGrpSpPr/>
          <p:nvPr/>
        </p:nvGrpSpPr>
        <p:grpSpPr>
          <a:xfrm>
            <a:off x="13077373" y="4926041"/>
            <a:ext cx="3746706" cy="3746706"/>
            <a:chOff x="0" y="0"/>
            <a:chExt cx="812800" cy="812800"/>
          </a:xfrm>
        </p:grpSpPr>
        <p:sp>
          <p:nvSpPr>
            <p:cNvPr id="20" name="Freeform 2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a:ln cap="sq">
              <a:noFill/>
              <a:prstDash val="solid"/>
              <a:miter/>
            </a:ln>
          </p:spPr>
        </p:sp>
        <p:sp>
          <p:nvSpPr>
            <p:cNvPr id="21" name="TextBox 21"/>
            <p:cNvSpPr txBox="1"/>
            <p:nvPr/>
          </p:nvSpPr>
          <p:spPr>
            <a:xfrm>
              <a:off x="76200" y="38100"/>
              <a:ext cx="660400" cy="698500"/>
            </a:xfrm>
            <a:prstGeom prst="rect">
              <a:avLst/>
            </a:prstGeom>
          </p:spPr>
          <p:txBody>
            <a:bodyPr lIns="40108" tIns="40108" rIns="40108" bIns="40108" rtlCol="0" anchor="ctr"/>
            <a:lstStyle/>
            <a:p>
              <a:pPr marL="0" lvl="0" indent="0" algn="ctr">
                <a:lnSpc>
                  <a:spcPts val="2659"/>
                </a:lnSpc>
              </a:pPr>
              <a:endParaRPr/>
            </a:p>
          </p:txBody>
        </p:sp>
      </p:grpSp>
      <p:sp>
        <p:nvSpPr>
          <p:cNvPr id="22" name="TextBox 22"/>
          <p:cNvSpPr txBox="1"/>
          <p:nvPr/>
        </p:nvSpPr>
        <p:spPr>
          <a:xfrm>
            <a:off x="2345222" y="6298803"/>
            <a:ext cx="1984104" cy="261188"/>
          </a:xfrm>
          <a:prstGeom prst="rect">
            <a:avLst/>
          </a:prstGeom>
        </p:spPr>
        <p:txBody>
          <a:bodyPr lIns="0" tIns="0" rIns="0" bIns="0" rtlCol="0" anchor="t">
            <a:spAutoFit/>
          </a:bodyPr>
          <a:lstStyle/>
          <a:p>
            <a:pPr marL="0" lvl="0" indent="0" algn="ctr">
              <a:lnSpc>
                <a:spcPts val="2031"/>
              </a:lnSpc>
            </a:pPr>
            <a:r>
              <a:rPr lang="en-US" sz="1574" b="1" spc="-4">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FRONTEND</a:t>
            </a:r>
          </a:p>
        </p:txBody>
      </p:sp>
      <p:sp>
        <p:nvSpPr>
          <p:cNvPr id="23" name="TextBox 23"/>
          <p:cNvSpPr txBox="1"/>
          <p:nvPr/>
        </p:nvSpPr>
        <p:spPr>
          <a:xfrm>
            <a:off x="2124549" y="6938122"/>
            <a:ext cx="2425450" cy="670206"/>
          </a:xfrm>
          <a:prstGeom prst="rect">
            <a:avLst/>
          </a:prstGeom>
        </p:spPr>
        <p:txBody>
          <a:bodyPr lIns="0" tIns="0" rIns="0" bIns="0" rtlCol="0" anchor="t">
            <a:spAutoFit/>
          </a:bodyPr>
          <a:lstStyle/>
          <a:p>
            <a:pPr marL="0" lvl="0" indent="0" algn="ctr">
              <a:lnSpc>
                <a:spcPts val="1759"/>
              </a:lnSpc>
            </a:pPr>
            <a:r>
              <a:rPr lang="en-US" sz="1364" spc="-4">
                <a:solidFill>
                  <a:srgbClr val="3A58E4"/>
                </a:solidFill>
                <a:latin typeface="Poppins"/>
                <a:ea typeface="Poppins"/>
                <a:cs typeface="Poppins"/>
                <a:sym typeface="Poppins"/>
              </a:rPr>
              <a:t>React Native · Expo · JavaScript · Expo Location API · Expo Background Task</a:t>
            </a:r>
          </a:p>
        </p:txBody>
      </p:sp>
      <p:sp>
        <p:nvSpPr>
          <p:cNvPr id="24" name="TextBox 24"/>
          <p:cNvSpPr txBox="1"/>
          <p:nvPr/>
        </p:nvSpPr>
        <p:spPr>
          <a:xfrm>
            <a:off x="6215753" y="6298803"/>
            <a:ext cx="1984104" cy="261188"/>
          </a:xfrm>
          <a:prstGeom prst="rect">
            <a:avLst/>
          </a:prstGeom>
        </p:spPr>
        <p:txBody>
          <a:bodyPr lIns="0" tIns="0" rIns="0" bIns="0" rtlCol="0" anchor="t">
            <a:spAutoFit/>
          </a:bodyPr>
          <a:lstStyle/>
          <a:p>
            <a:pPr marL="0" lvl="0" indent="0" algn="ctr">
              <a:lnSpc>
                <a:spcPts val="2031"/>
              </a:lnSpc>
            </a:pPr>
            <a:r>
              <a:rPr lang="en-US" sz="1574" b="1" spc="-4">
                <a:solidFill>
                  <a:srgbClr val="FFFFFF"/>
                </a:solidFill>
                <a:latin typeface="Poppins Bold"/>
                <a:ea typeface="Poppins Bold"/>
                <a:cs typeface="Poppins Bold"/>
                <a:sym typeface="Poppins Bold"/>
              </a:rPr>
              <a:t>BACKEND</a:t>
            </a:r>
          </a:p>
        </p:txBody>
      </p:sp>
      <p:sp>
        <p:nvSpPr>
          <p:cNvPr id="25" name="TextBox 25"/>
          <p:cNvSpPr txBox="1"/>
          <p:nvPr/>
        </p:nvSpPr>
        <p:spPr>
          <a:xfrm>
            <a:off x="5995080" y="6938122"/>
            <a:ext cx="2425450" cy="670206"/>
          </a:xfrm>
          <a:prstGeom prst="rect">
            <a:avLst/>
          </a:prstGeom>
        </p:spPr>
        <p:txBody>
          <a:bodyPr lIns="0" tIns="0" rIns="0" bIns="0" rtlCol="0" anchor="t">
            <a:spAutoFit/>
          </a:bodyPr>
          <a:lstStyle/>
          <a:p>
            <a:pPr marL="0" lvl="0" indent="0" algn="ctr">
              <a:lnSpc>
                <a:spcPts val="1759"/>
              </a:lnSpc>
            </a:pPr>
            <a:r>
              <a:rPr lang="en-US" sz="1364" spc="-4">
                <a:solidFill>
                  <a:srgbClr val="FFFFFF"/>
                </a:solidFill>
                <a:latin typeface="Poppins"/>
                <a:ea typeface="Poppins"/>
                <a:cs typeface="Poppins"/>
                <a:sym typeface="Poppins"/>
              </a:rPr>
              <a:t>Node.js · Express.js · JWT Auth · bcryptjs · RESTful API Design</a:t>
            </a:r>
          </a:p>
        </p:txBody>
      </p:sp>
      <p:sp>
        <p:nvSpPr>
          <p:cNvPr id="26" name="TextBox 26"/>
          <p:cNvSpPr txBox="1"/>
          <p:nvPr/>
        </p:nvSpPr>
        <p:spPr>
          <a:xfrm>
            <a:off x="9901910" y="6298803"/>
            <a:ext cx="2354710" cy="261188"/>
          </a:xfrm>
          <a:prstGeom prst="rect">
            <a:avLst/>
          </a:prstGeom>
        </p:spPr>
        <p:txBody>
          <a:bodyPr lIns="0" tIns="0" rIns="0" bIns="0" rtlCol="0" anchor="t">
            <a:spAutoFit/>
          </a:bodyPr>
          <a:lstStyle/>
          <a:p>
            <a:pPr marL="0" lvl="0" indent="0" algn="ctr">
              <a:lnSpc>
                <a:spcPts val="2031"/>
              </a:lnSpc>
            </a:pPr>
            <a:r>
              <a:rPr lang="en-US" sz="1574" b="1" spc="-4">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DATABASE</a:t>
            </a:r>
          </a:p>
        </p:txBody>
      </p:sp>
      <p:sp>
        <p:nvSpPr>
          <p:cNvPr id="27" name="TextBox 27"/>
          <p:cNvSpPr txBox="1"/>
          <p:nvPr/>
        </p:nvSpPr>
        <p:spPr>
          <a:xfrm>
            <a:off x="9866540" y="6938122"/>
            <a:ext cx="2425450" cy="670206"/>
          </a:xfrm>
          <a:prstGeom prst="rect">
            <a:avLst/>
          </a:prstGeom>
        </p:spPr>
        <p:txBody>
          <a:bodyPr lIns="0" tIns="0" rIns="0" bIns="0" rtlCol="0" anchor="t">
            <a:spAutoFit/>
          </a:bodyPr>
          <a:lstStyle/>
          <a:p>
            <a:pPr marL="0" lvl="0" indent="0" algn="ctr">
              <a:lnSpc>
                <a:spcPts val="1759"/>
              </a:lnSpc>
            </a:pPr>
            <a:r>
              <a:rPr lang="en-US" sz="1364" spc="-4">
                <a:solidFill>
                  <a:srgbClr val="3A58E4"/>
                </a:solidFill>
                <a:latin typeface="Poppins"/>
                <a:ea typeface="Poppins"/>
                <a:cs typeface="Poppins"/>
                <a:sym typeface="Poppins"/>
              </a:rPr>
              <a:t>SQLite (local offline-first) · MongoDB + Mongoose (cloud analytics)</a:t>
            </a:r>
          </a:p>
        </p:txBody>
      </p:sp>
      <p:sp>
        <p:nvSpPr>
          <p:cNvPr id="28" name="TextBox 28"/>
          <p:cNvSpPr txBox="1"/>
          <p:nvPr/>
        </p:nvSpPr>
        <p:spPr>
          <a:xfrm>
            <a:off x="13958674" y="6298803"/>
            <a:ext cx="1984104" cy="261188"/>
          </a:xfrm>
          <a:prstGeom prst="rect">
            <a:avLst/>
          </a:prstGeom>
        </p:spPr>
        <p:txBody>
          <a:bodyPr lIns="0" tIns="0" rIns="0" bIns="0" rtlCol="0" anchor="t">
            <a:spAutoFit/>
          </a:bodyPr>
          <a:lstStyle/>
          <a:p>
            <a:pPr marL="0" lvl="0" indent="0" algn="ctr">
              <a:lnSpc>
                <a:spcPts val="2031"/>
              </a:lnSpc>
            </a:pPr>
            <a:r>
              <a:rPr lang="en-US" sz="1574" b="1" spc="-4">
                <a:solidFill>
                  <a:srgbClr val="FFFFFF"/>
                </a:solidFill>
                <a:latin typeface="Poppins Bold"/>
                <a:ea typeface="Poppins Bold"/>
                <a:cs typeface="Poppins Bold"/>
                <a:sym typeface="Poppins Bold"/>
              </a:rPr>
              <a:t>KEY APIS</a:t>
            </a:r>
          </a:p>
        </p:txBody>
      </p:sp>
      <p:sp>
        <p:nvSpPr>
          <p:cNvPr id="29" name="TextBox 29"/>
          <p:cNvSpPr txBox="1"/>
          <p:nvPr/>
        </p:nvSpPr>
        <p:spPr>
          <a:xfrm>
            <a:off x="13738001" y="6938122"/>
            <a:ext cx="2425450" cy="670206"/>
          </a:xfrm>
          <a:prstGeom prst="rect">
            <a:avLst/>
          </a:prstGeom>
        </p:spPr>
        <p:txBody>
          <a:bodyPr lIns="0" tIns="0" rIns="0" bIns="0" rtlCol="0" anchor="t">
            <a:spAutoFit/>
          </a:bodyPr>
          <a:lstStyle/>
          <a:p>
            <a:pPr marL="0" lvl="0" indent="0" algn="ctr">
              <a:lnSpc>
                <a:spcPts val="1759"/>
              </a:lnSpc>
            </a:pPr>
            <a:r>
              <a:rPr lang="en-US" sz="1364" spc="-4">
                <a:solidFill>
                  <a:srgbClr val="FFFFFF"/>
                </a:solidFill>
                <a:latin typeface="Poppins"/>
                <a:ea typeface="Poppins"/>
                <a:cs typeface="Poppins"/>
                <a:sym typeface="Poppins"/>
              </a:rPr>
              <a:t>AsyncStorage · Expo Location · Background Fetch · Geospatial 2dsphere Index</a:t>
            </a:r>
          </a:p>
        </p:txBody>
      </p:sp>
      <p:grpSp>
        <p:nvGrpSpPr>
          <p:cNvPr id="30" name="Group 30"/>
          <p:cNvGrpSpPr/>
          <p:nvPr/>
        </p:nvGrpSpPr>
        <p:grpSpPr>
          <a:xfrm>
            <a:off x="4176506" y="5032728"/>
            <a:ext cx="746986" cy="640299"/>
            <a:chOff x="0" y="0"/>
            <a:chExt cx="995981" cy="853731"/>
          </a:xfrm>
        </p:grpSpPr>
        <p:grpSp>
          <p:nvGrpSpPr>
            <p:cNvPr id="31" name="Group 31"/>
            <p:cNvGrpSpPr/>
            <p:nvPr/>
          </p:nvGrpSpPr>
          <p:grpSpPr>
            <a:xfrm>
              <a:off x="0" y="0"/>
              <a:ext cx="995981" cy="853731"/>
              <a:chOff x="0" y="0"/>
              <a:chExt cx="812800" cy="696713"/>
            </a:xfrm>
          </p:grpSpPr>
          <p:sp>
            <p:nvSpPr>
              <p:cNvPr id="32" name="Freeform 32"/>
              <p:cNvSpPr/>
              <p:nvPr/>
            </p:nvSpPr>
            <p:spPr>
              <a:xfrm>
                <a:off x="0" y="0"/>
                <a:ext cx="812800" cy="696713"/>
              </a:xfrm>
              <a:custGeom>
                <a:avLst/>
                <a:gdLst/>
                <a:ahLst/>
                <a:cxnLst/>
                <a:rect l="l" t="t" r="r" b="b"/>
                <a:pathLst>
                  <a:path w="812800" h="696713">
                    <a:moveTo>
                      <a:pt x="406400" y="0"/>
                    </a:moveTo>
                    <a:cubicBezTo>
                      <a:pt x="181951" y="0"/>
                      <a:pt x="0" y="155965"/>
                      <a:pt x="0" y="348357"/>
                    </a:cubicBezTo>
                    <a:cubicBezTo>
                      <a:pt x="0" y="540749"/>
                      <a:pt x="181951" y="696713"/>
                      <a:pt x="406400" y="696713"/>
                    </a:cubicBezTo>
                    <a:cubicBezTo>
                      <a:pt x="630849" y="696713"/>
                      <a:pt x="812800" y="540749"/>
                      <a:pt x="812800" y="348357"/>
                    </a:cubicBezTo>
                    <a:cubicBezTo>
                      <a:pt x="812800" y="155965"/>
                      <a:pt x="630849" y="0"/>
                      <a:pt x="406400" y="0"/>
                    </a:cubicBez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a:ln cap="sq">
                <a:noFill/>
                <a:prstDash val="solid"/>
                <a:miter/>
              </a:ln>
            </p:spPr>
          </p:sp>
          <p:sp>
            <p:nvSpPr>
              <p:cNvPr id="33" name="TextBox 33"/>
              <p:cNvSpPr txBox="1"/>
              <p:nvPr/>
            </p:nvSpPr>
            <p:spPr>
              <a:xfrm>
                <a:off x="76200" y="27217"/>
                <a:ext cx="660400" cy="604179"/>
              </a:xfrm>
              <a:prstGeom prst="rect">
                <a:avLst/>
              </a:prstGeom>
            </p:spPr>
            <p:txBody>
              <a:bodyPr lIns="50800" tIns="50800" rIns="50800" bIns="50800" rtlCol="0" anchor="ctr"/>
              <a:lstStyle/>
              <a:p>
                <a:pPr marL="0" lvl="0" indent="0" algn="ctr">
                  <a:lnSpc>
                    <a:spcPts val="2659"/>
                  </a:lnSpc>
                </a:pPr>
                <a:endParaRPr/>
              </a:p>
            </p:txBody>
          </p:sp>
        </p:grpSp>
        <p:sp>
          <p:nvSpPr>
            <p:cNvPr id="34" name="TextBox 34"/>
            <p:cNvSpPr txBox="1"/>
            <p:nvPr/>
          </p:nvSpPr>
          <p:spPr>
            <a:xfrm>
              <a:off x="175623" y="245086"/>
              <a:ext cx="644736" cy="334984"/>
            </a:xfrm>
            <a:prstGeom prst="rect">
              <a:avLst/>
            </a:prstGeom>
          </p:spPr>
          <p:txBody>
            <a:bodyPr lIns="0" tIns="0" rIns="0" bIns="0" rtlCol="0" anchor="t">
              <a:spAutoFit/>
            </a:bodyPr>
            <a:lstStyle/>
            <a:p>
              <a:pPr marL="0" lvl="0" indent="0" algn="ctr">
                <a:lnSpc>
                  <a:spcPts val="2013"/>
                </a:lnSpc>
              </a:pPr>
              <a:r>
                <a:rPr lang="en-US" sz="1561" spc="-4">
                  <a:solidFill>
                    <a:srgbClr val="FFFFFF"/>
                  </a:solidFill>
                  <a:latin typeface="Poppins"/>
                  <a:ea typeface="Poppins"/>
                  <a:cs typeface="Poppins"/>
                  <a:sym typeface="Poppins"/>
                </a:rPr>
                <a:t>01</a:t>
              </a:r>
            </a:p>
          </p:txBody>
        </p:sp>
      </p:grpSp>
      <p:grpSp>
        <p:nvGrpSpPr>
          <p:cNvPr id="35" name="Group 35"/>
          <p:cNvGrpSpPr/>
          <p:nvPr/>
        </p:nvGrpSpPr>
        <p:grpSpPr>
          <a:xfrm>
            <a:off x="8047037" y="5032728"/>
            <a:ext cx="746986" cy="640299"/>
            <a:chOff x="0" y="0"/>
            <a:chExt cx="995981" cy="853731"/>
          </a:xfrm>
        </p:grpSpPr>
        <p:grpSp>
          <p:nvGrpSpPr>
            <p:cNvPr id="36" name="Group 36"/>
            <p:cNvGrpSpPr/>
            <p:nvPr/>
          </p:nvGrpSpPr>
          <p:grpSpPr>
            <a:xfrm>
              <a:off x="0" y="0"/>
              <a:ext cx="995981" cy="853731"/>
              <a:chOff x="0" y="0"/>
              <a:chExt cx="812800" cy="696713"/>
            </a:xfrm>
          </p:grpSpPr>
          <p:sp>
            <p:nvSpPr>
              <p:cNvPr id="37" name="Freeform 37"/>
              <p:cNvSpPr/>
              <p:nvPr/>
            </p:nvSpPr>
            <p:spPr>
              <a:xfrm>
                <a:off x="0" y="0"/>
                <a:ext cx="812800" cy="696713"/>
              </a:xfrm>
              <a:custGeom>
                <a:avLst/>
                <a:gdLst/>
                <a:ahLst/>
                <a:cxnLst/>
                <a:rect l="l" t="t" r="r" b="b"/>
                <a:pathLst>
                  <a:path w="812800" h="696713">
                    <a:moveTo>
                      <a:pt x="406400" y="0"/>
                    </a:moveTo>
                    <a:cubicBezTo>
                      <a:pt x="181951" y="0"/>
                      <a:pt x="0" y="155965"/>
                      <a:pt x="0" y="348357"/>
                    </a:cubicBezTo>
                    <a:cubicBezTo>
                      <a:pt x="0" y="540749"/>
                      <a:pt x="181951" y="696713"/>
                      <a:pt x="406400" y="696713"/>
                    </a:cubicBezTo>
                    <a:cubicBezTo>
                      <a:pt x="630849" y="696713"/>
                      <a:pt x="812800" y="540749"/>
                      <a:pt x="812800" y="348357"/>
                    </a:cubicBezTo>
                    <a:cubicBezTo>
                      <a:pt x="812800" y="155965"/>
                      <a:pt x="630849" y="0"/>
                      <a:pt x="406400" y="0"/>
                    </a:cubicBezTo>
                    <a:close/>
                  </a:path>
                </a:pathLst>
              </a:custGeom>
              <a:solidFill>
                <a:srgbClr val="FFFFFF"/>
              </a:solidFill>
              <a:ln w="47625" cap="sq">
                <a:gradFill>
                  <a:gsLst>
                    <a:gs pos="0">
                      <a:srgbClr val="293E9C">
                        <a:alpha val="100000"/>
                      </a:srgbClr>
                    </a:gs>
                    <a:gs pos="100000">
                      <a:srgbClr val="3A58E4">
                        <a:alpha val="100000"/>
                      </a:srgbClr>
                    </a:gs>
                  </a:gsLst>
                  <a:path path="circle">
                    <a:fillToRect r="100000" b="100000"/>
                  </a:path>
                  <a:tileRect l="-100000" t="-100000"/>
                </a:gradFill>
                <a:prstDash val="solid"/>
                <a:miter/>
              </a:ln>
            </p:spPr>
          </p:sp>
          <p:sp>
            <p:nvSpPr>
              <p:cNvPr id="38" name="TextBox 38"/>
              <p:cNvSpPr txBox="1"/>
              <p:nvPr/>
            </p:nvSpPr>
            <p:spPr>
              <a:xfrm>
                <a:off x="76200" y="27217"/>
                <a:ext cx="660400" cy="604179"/>
              </a:xfrm>
              <a:prstGeom prst="rect">
                <a:avLst/>
              </a:prstGeom>
            </p:spPr>
            <p:txBody>
              <a:bodyPr lIns="50800" tIns="50800" rIns="50800" bIns="50800" rtlCol="0" anchor="ctr"/>
              <a:lstStyle/>
              <a:p>
                <a:pPr marL="0" lvl="0" indent="0" algn="ctr">
                  <a:lnSpc>
                    <a:spcPts val="2659"/>
                  </a:lnSpc>
                </a:pPr>
                <a:endParaRPr/>
              </a:p>
            </p:txBody>
          </p:sp>
        </p:grpSp>
        <p:sp>
          <p:nvSpPr>
            <p:cNvPr id="39" name="TextBox 39"/>
            <p:cNvSpPr txBox="1"/>
            <p:nvPr/>
          </p:nvSpPr>
          <p:spPr>
            <a:xfrm>
              <a:off x="175623" y="245086"/>
              <a:ext cx="644736" cy="334984"/>
            </a:xfrm>
            <a:prstGeom prst="rect">
              <a:avLst/>
            </a:prstGeom>
          </p:spPr>
          <p:txBody>
            <a:bodyPr lIns="0" tIns="0" rIns="0" bIns="0" rtlCol="0" anchor="t">
              <a:spAutoFit/>
            </a:bodyPr>
            <a:lstStyle/>
            <a:p>
              <a:pPr marL="0" lvl="0" indent="0" algn="ctr">
                <a:lnSpc>
                  <a:spcPts val="2013"/>
                </a:lnSpc>
              </a:pPr>
              <a:r>
                <a:rPr lang="en-US" sz="1561" spc="-4">
                  <a:gradFill>
                    <a:gsLst>
                      <a:gs pos="0">
                        <a:srgbClr val="293E9C">
                          <a:alpha val="100000"/>
                        </a:srgbClr>
                      </a:gs>
                      <a:gs pos="100000">
                        <a:srgbClr val="3A58E4">
                          <a:alpha val="100000"/>
                        </a:srgbClr>
                      </a:gs>
                    </a:gsLst>
                    <a:path path="circle">
                      <a:fillToRect r="100000" b="100000"/>
                    </a:path>
                    <a:tileRect l="-100000" t="-100000"/>
                  </a:gradFill>
                  <a:latin typeface="Poppins"/>
                  <a:ea typeface="Poppins"/>
                  <a:cs typeface="Poppins"/>
                  <a:sym typeface="Poppins"/>
                </a:rPr>
                <a:t>02</a:t>
              </a:r>
            </a:p>
          </p:txBody>
        </p:sp>
      </p:grpSp>
      <p:grpSp>
        <p:nvGrpSpPr>
          <p:cNvPr id="40" name="Group 40"/>
          <p:cNvGrpSpPr/>
          <p:nvPr/>
        </p:nvGrpSpPr>
        <p:grpSpPr>
          <a:xfrm>
            <a:off x="11919608" y="5032728"/>
            <a:ext cx="746986" cy="640299"/>
            <a:chOff x="0" y="0"/>
            <a:chExt cx="995981" cy="853731"/>
          </a:xfrm>
        </p:grpSpPr>
        <p:grpSp>
          <p:nvGrpSpPr>
            <p:cNvPr id="41" name="Group 41"/>
            <p:cNvGrpSpPr/>
            <p:nvPr/>
          </p:nvGrpSpPr>
          <p:grpSpPr>
            <a:xfrm>
              <a:off x="0" y="0"/>
              <a:ext cx="995981" cy="853731"/>
              <a:chOff x="0" y="0"/>
              <a:chExt cx="812800" cy="696713"/>
            </a:xfrm>
          </p:grpSpPr>
          <p:sp>
            <p:nvSpPr>
              <p:cNvPr id="42" name="Freeform 42"/>
              <p:cNvSpPr/>
              <p:nvPr/>
            </p:nvSpPr>
            <p:spPr>
              <a:xfrm>
                <a:off x="0" y="0"/>
                <a:ext cx="812800" cy="696713"/>
              </a:xfrm>
              <a:custGeom>
                <a:avLst/>
                <a:gdLst/>
                <a:ahLst/>
                <a:cxnLst/>
                <a:rect l="l" t="t" r="r" b="b"/>
                <a:pathLst>
                  <a:path w="812800" h="696713">
                    <a:moveTo>
                      <a:pt x="406400" y="0"/>
                    </a:moveTo>
                    <a:cubicBezTo>
                      <a:pt x="181951" y="0"/>
                      <a:pt x="0" y="155965"/>
                      <a:pt x="0" y="348357"/>
                    </a:cubicBezTo>
                    <a:cubicBezTo>
                      <a:pt x="0" y="540749"/>
                      <a:pt x="181951" y="696713"/>
                      <a:pt x="406400" y="696713"/>
                    </a:cubicBezTo>
                    <a:cubicBezTo>
                      <a:pt x="630849" y="696713"/>
                      <a:pt x="812800" y="540749"/>
                      <a:pt x="812800" y="348357"/>
                    </a:cubicBezTo>
                    <a:cubicBezTo>
                      <a:pt x="812800" y="155965"/>
                      <a:pt x="630849" y="0"/>
                      <a:pt x="406400" y="0"/>
                    </a:cubicBez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a:ln cap="sq">
                <a:noFill/>
                <a:prstDash val="solid"/>
                <a:miter/>
              </a:ln>
            </p:spPr>
          </p:sp>
          <p:sp>
            <p:nvSpPr>
              <p:cNvPr id="43" name="TextBox 43"/>
              <p:cNvSpPr txBox="1"/>
              <p:nvPr/>
            </p:nvSpPr>
            <p:spPr>
              <a:xfrm>
                <a:off x="76200" y="27217"/>
                <a:ext cx="660400" cy="604179"/>
              </a:xfrm>
              <a:prstGeom prst="rect">
                <a:avLst/>
              </a:prstGeom>
            </p:spPr>
            <p:txBody>
              <a:bodyPr lIns="50800" tIns="50800" rIns="50800" bIns="50800" rtlCol="0" anchor="ctr"/>
              <a:lstStyle/>
              <a:p>
                <a:pPr marL="0" lvl="0" indent="0" algn="ctr">
                  <a:lnSpc>
                    <a:spcPts val="2659"/>
                  </a:lnSpc>
                </a:pPr>
                <a:endParaRPr/>
              </a:p>
            </p:txBody>
          </p:sp>
        </p:grpSp>
        <p:sp>
          <p:nvSpPr>
            <p:cNvPr id="44" name="TextBox 44"/>
            <p:cNvSpPr txBox="1"/>
            <p:nvPr/>
          </p:nvSpPr>
          <p:spPr>
            <a:xfrm>
              <a:off x="175623" y="245086"/>
              <a:ext cx="644736" cy="334984"/>
            </a:xfrm>
            <a:prstGeom prst="rect">
              <a:avLst/>
            </a:prstGeom>
          </p:spPr>
          <p:txBody>
            <a:bodyPr lIns="0" tIns="0" rIns="0" bIns="0" rtlCol="0" anchor="t">
              <a:spAutoFit/>
            </a:bodyPr>
            <a:lstStyle/>
            <a:p>
              <a:pPr marL="0" lvl="0" indent="0" algn="ctr">
                <a:lnSpc>
                  <a:spcPts val="2013"/>
                </a:lnSpc>
              </a:pPr>
              <a:r>
                <a:rPr lang="en-US" sz="1561" spc="-4">
                  <a:solidFill>
                    <a:srgbClr val="FFFFFF"/>
                  </a:solidFill>
                  <a:latin typeface="Poppins"/>
                  <a:ea typeface="Poppins"/>
                  <a:cs typeface="Poppins"/>
                  <a:sym typeface="Poppins"/>
                </a:rPr>
                <a:t>03</a:t>
              </a:r>
            </a:p>
          </p:txBody>
        </p:sp>
      </p:grpSp>
      <p:grpSp>
        <p:nvGrpSpPr>
          <p:cNvPr id="45" name="Group 45"/>
          <p:cNvGrpSpPr/>
          <p:nvPr/>
        </p:nvGrpSpPr>
        <p:grpSpPr>
          <a:xfrm>
            <a:off x="15791068" y="5032728"/>
            <a:ext cx="746986" cy="640299"/>
            <a:chOff x="0" y="0"/>
            <a:chExt cx="995981" cy="853731"/>
          </a:xfrm>
        </p:grpSpPr>
        <p:grpSp>
          <p:nvGrpSpPr>
            <p:cNvPr id="46" name="Group 46"/>
            <p:cNvGrpSpPr/>
            <p:nvPr/>
          </p:nvGrpSpPr>
          <p:grpSpPr>
            <a:xfrm>
              <a:off x="0" y="0"/>
              <a:ext cx="995981" cy="853731"/>
              <a:chOff x="0" y="0"/>
              <a:chExt cx="812800" cy="696713"/>
            </a:xfrm>
          </p:grpSpPr>
          <p:sp>
            <p:nvSpPr>
              <p:cNvPr id="47" name="Freeform 47"/>
              <p:cNvSpPr/>
              <p:nvPr/>
            </p:nvSpPr>
            <p:spPr>
              <a:xfrm>
                <a:off x="0" y="0"/>
                <a:ext cx="812800" cy="696713"/>
              </a:xfrm>
              <a:custGeom>
                <a:avLst/>
                <a:gdLst/>
                <a:ahLst/>
                <a:cxnLst/>
                <a:rect l="l" t="t" r="r" b="b"/>
                <a:pathLst>
                  <a:path w="812800" h="696713">
                    <a:moveTo>
                      <a:pt x="406400" y="0"/>
                    </a:moveTo>
                    <a:cubicBezTo>
                      <a:pt x="181951" y="0"/>
                      <a:pt x="0" y="155965"/>
                      <a:pt x="0" y="348357"/>
                    </a:cubicBezTo>
                    <a:cubicBezTo>
                      <a:pt x="0" y="540749"/>
                      <a:pt x="181951" y="696713"/>
                      <a:pt x="406400" y="696713"/>
                    </a:cubicBezTo>
                    <a:cubicBezTo>
                      <a:pt x="630849" y="696713"/>
                      <a:pt x="812800" y="540749"/>
                      <a:pt x="812800" y="348357"/>
                    </a:cubicBezTo>
                    <a:cubicBezTo>
                      <a:pt x="812800" y="155965"/>
                      <a:pt x="630849" y="0"/>
                      <a:pt x="406400" y="0"/>
                    </a:cubicBezTo>
                    <a:close/>
                  </a:path>
                </a:pathLst>
              </a:custGeom>
              <a:solidFill>
                <a:srgbClr val="FFFFFF"/>
              </a:solidFill>
              <a:ln w="47625" cap="sq">
                <a:gradFill>
                  <a:gsLst>
                    <a:gs pos="0">
                      <a:srgbClr val="293E9C">
                        <a:alpha val="100000"/>
                      </a:srgbClr>
                    </a:gs>
                    <a:gs pos="100000">
                      <a:srgbClr val="3A58E4">
                        <a:alpha val="100000"/>
                      </a:srgbClr>
                    </a:gs>
                  </a:gsLst>
                  <a:path path="circle">
                    <a:fillToRect r="100000" b="100000"/>
                  </a:path>
                  <a:tileRect l="-100000" t="-100000"/>
                </a:gradFill>
                <a:prstDash val="solid"/>
                <a:miter/>
              </a:ln>
            </p:spPr>
          </p:sp>
          <p:sp>
            <p:nvSpPr>
              <p:cNvPr id="48" name="TextBox 48"/>
              <p:cNvSpPr txBox="1"/>
              <p:nvPr/>
            </p:nvSpPr>
            <p:spPr>
              <a:xfrm>
                <a:off x="76200" y="27217"/>
                <a:ext cx="660400" cy="604179"/>
              </a:xfrm>
              <a:prstGeom prst="rect">
                <a:avLst/>
              </a:prstGeom>
            </p:spPr>
            <p:txBody>
              <a:bodyPr lIns="50800" tIns="50800" rIns="50800" bIns="50800" rtlCol="0" anchor="ctr"/>
              <a:lstStyle/>
              <a:p>
                <a:pPr marL="0" lvl="0" indent="0" algn="ctr">
                  <a:lnSpc>
                    <a:spcPts val="2659"/>
                  </a:lnSpc>
                </a:pPr>
                <a:endParaRPr/>
              </a:p>
            </p:txBody>
          </p:sp>
        </p:grpSp>
        <p:sp>
          <p:nvSpPr>
            <p:cNvPr id="49" name="TextBox 49"/>
            <p:cNvSpPr txBox="1"/>
            <p:nvPr/>
          </p:nvSpPr>
          <p:spPr>
            <a:xfrm>
              <a:off x="175623" y="245086"/>
              <a:ext cx="644736" cy="334984"/>
            </a:xfrm>
            <a:prstGeom prst="rect">
              <a:avLst/>
            </a:prstGeom>
          </p:spPr>
          <p:txBody>
            <a:bodyPr lIns="0" tIns="0" rIns="0" bIns="0" rtlCol="0" anchor="t">
              <a:spAutoFit/>
            </a:bodyPr>
            <a:lstStyle/>
            <a:p>
              <a:pPr marL="0" lvl="0" indent="0" algn="ctr">
                <a:lnSpc>
                  <a:spcPts val="2013"/>
                </a:lnSpc>
              </a:pPr>
              <a:r>
                <a:rPr lang="en-US" sz="1561" spc="-4">
                  <a:gradFill>
                    <a:gsLst>
                      <a:gs pos="0">
                        <a:srgbClr val="293E9C">
                          <a:alpha val="100000"/>
                        </a:srgbClr>
                      </a:gs>
                      <a:gs pos="100000">
                        <a:srgbClr val="3A58E4">
                          <a:alpha val="100000"/>
                        </a:srgbClr>
                      </a:gs>
                    </a:gsLst>
                    <a:path path="circle">
                      <a:fillToRect r="100000" b="100000"/>
                    </a:path>
                    <a:tileRect l="-100000" t="-100000"/>
                  </a:gradFill>
                  <a:latin typeface="Poppins"/>
                  <a:ea typeface="Poppins"/>
                  <a:cs typeface="Poppins"/>
                  <a:sym typeface="Poppins"/>
                </a:rPr>
                <a:t>04</a:t>
              </a:r>
            </a:p>
          </p:txBody>
        </p:sp>
      </p:grpSp>
      <p:sp>
        <p:nvSpPr>
          <p:cNvPr id="50" name="TextBox 50"/>
          <p:cNvSpPr txBox="1"/>
          <p:nvPr/>
        </p:nvSpPr>
        <p:spPr>
          <a:xfrm>
            <a:off x="3363658" y="1531339"/>
            <a:ext cx="11560683" cy="1273720"/>
          </a:xfrm>
          <a:prstGeom prst="rect">
            <a:avLst/>
          </a:prstGeom>
        </p:spPr>
        <p:txBody>
          <a:bodyPr lIns="0" tIns="0" rIns="0" bIns="0" rtlCol="0" anchor="t">
            <a:spAutoFit/>
          </a:bodyPr>
          <a:lstStyle/>
          <a:p>
            <a:pPr marL="0" lvl="0" indent="0" algn="ctr">
              <a:lnSpc>
                <a:spcPts val="9596"/>
              </a:lnSpc>
            </a:pPr>
            <a:r>
              <a:rPr lang="en-US" sz="9792" spc="-626">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Technology Stack</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7828142" y="1358088"/>
            <a:ext cx="47625" cy="2040668"/>
            <a:chOff x="0" y="0"/>
            <a:chExt cx="12543" cy="537460"/>
          </a:xfrm>
        </p:grpSpPr>
        <p:sp>
          <p:nvSpPr>
            <p:cNvPr id="3" name="Freeform 3"/>
            <p:cNvSpPr/>
            <p:nvPr/>
          </p:nvSpPr>
          <p:spPr>
            <a:xfrm>
              <a:off x="0" y="0"/>
              <a:ext cx="12543" cy="537460"/>
            </a:xfrm>
            <a:custGeom>
              <a:avLst/>
              <a:gdLst/>
              <a:ahLst/>
              <a:cxnLst/>
              <a:rect l="l" t="t" r="r" b="b"/>
              <a:pathLst>
                <a:path w="12543" h="537460">
                  <a:moveTo>
                    <a:pt x="0" y="0"/>
                  </a:moveTo>
                  <a:lnTo>
                    <a:pt x="12543" y="0"/>
                  </a:lnTo>
                  <a:lnTo>
                    <a:pt x="12543" y="537460"/>
                  </a:lnTo>
                  <a:lnTo>
                    <a:pt x="0" y="537460"/>
                  </a:lnTo>
                  <a:close/>
                </a:path>
              </a:pathLst>
            </a:custGeom>
            <a:solidFill>
              <a:srgbClr val="3A58E4"/>
            </a:solidFill>
          </p:spPr>
        </p:sp>
        <p:sp>
          <p:nvSpPr>
            <p:cNvPr id="4" name="TextBox 4"/>
            <p:cNvSpPr txBox="1"/>
            <p:nvPr/>
          </p:nvSpPr>
          <p:spPr>
            <a:xfrm>
              <a:off x="0" y="-38100"/>
              <a:ext cx="12543" cy="57556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5" name="Group 5"/>
          <p:cNvGrpSpPr/>
          <p:nvPr/>
        </p:nvGrpSpPr>
        <p:grpSpPr>
          <a:xfrm>
            <a:off x="7828142" y="4449725"/>
            <a:ext cx="9021242" cy="379246"/>
            <a:chOff x="0" y="0"/>
            <a:chExt cx="12028323" cy="505662"/>
          </a:xfrm>
        </p:grpSpPr>
        <p:sp>
          <p:nvSpPr>
            <p:cNvPr id="6" name="TextBox 6"/>
            <p:cNvSpPr txBox="1"/>
            <p:nvPr/>
          </p:nvSpPr>
          <p:spPr>
            <a:xfrm>
              <a:off x="0" y="-49117"/>
              <a:ext cx="11773903" cy="554779"/>
            </a:xfrm>
            <a:prstGeom prst="rect">
              <a:avLst/>
            </a:prstGeom>
          </p:spPr>
          <p:txBody>
            <a:bodyPr lIns="0" tIns="0" rIns="0" bIns="0" rtlCol="0" anchor="t">
              <a:spAutoFit/>
            </a:bodyPr>
            <a:lstStyle/>
            <a:p>
              <a:pPr marL="0" lvl="0" indent="0" algn="l">
                <a:lnSpc>
                  <a:spcPts val="3316"/>
                </a:lnSpc>
              </a:pPr>
              <a:r>
                <a:rPr lang="en-US" sz="2368" b="1" spc="-59">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KEY INSIGHTS FROM SUBSCRIBER SURVEY DATA</a:t>
              </a:r>
            </a:p>
          </p:txBody>
        </p:sp>
        <p:sp>
          <p:nvSpPr>
            <p:cNvPr id="7" name="Freeform 7"/>
            <p:cNvSpPr/>
            <p:nvPr/>
          </p:nvSpPr>
          <p:spPr>
            <a:xfrm rot="-8687136">
              <a:off x="11711303" y="44820"/>
              <a:ext cx="252200" cy="304858"/>
            </a:xfrm>
            <a:custGeom>
              <a:avLst/>
              <a:gdLst/>
              <a:ahLst/>
              <a:cxnLst/>
              <a:rect l="l" t="t" r="r" b="b"/>
              <a:pathLst>
                <a:path w="252200" h="304858">
                  <a:moveTo>
                    <a:pt x="0" y="0"/>
                  </a:moveTo>
                  <a:lnTo>
                    <a:pt x="252200" y="0"/>
                  </a:lnTo>
                  <a:lnTo>
                    <a:pt x="252200" y="304857"/>
                  </a:lnTo>
                  <a:lnTo>
                    <a:pt x="0" y="304857"/>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sp>
      </p:grpSp>
      <p:grpSp>
        <p:nvGrpSpPr>
          <p:cNvPr id="8" name="Group 8"/>
          <p:cNvGrpSpPr/>
          <p:nvPr/>
        </p:nvGrpSpPr>
        <p:grpSpPr>
          <a:xfrm>
            <a:off x="16438046" y="129"/>
            <a:ext cx="1849954" cy="1848037"/>
            <a:chOff x="0" y="0"/>
            <a:chExt cx="2466605" cy="2464050"/>
          </a:xfrm>
        </p:grpSpPr>
        <p:grpSp>
          <p:nvGrpSpPr>
            <p:cNvPr id="9" name="Group 9"/>
            <p:cNvGrpSpPr/>
            <p:nvPr/>
          </p:nvGrpSpPr>
          <p:grpSpPr>
            <a:xfrm>
              <a:off x="0" y="0"/>
              <a:ext cx="2466605" cy="2464050"/>
              <a:chOff x="0" y="0"/>
              <a:chExt cx="787566" cy="786750"/>
            </a:xfrm>
          </p:grpSpPr>
          <p:sp>
            <p:nvSpPr>
              <p:cNvPr id="10" name="Freeform 10"/>
              <p:cNvSpPr/>
              <p:nvPr/>
            </p:nvSpPr>
            <p:spPr>
              <a:xfrm>
                <a:off x="0" y="0"/>
                <a:ext cx="787566" cy="786750"/>
              </a:xfrm>
              <a:custGeom>
                <a:avLst/>
                <a:gdLst/>
                <a:ahLst/>
                <a:cxnLst/>
                <a:rect l="l" t="t" r="r" b="b"/>
                <a:pathLst>
                  <a:path w="787566" h="786750">
                    <a:moveTo>
                      <a:pt x="0" y="0"/>
                    </a:moveTo>
                    <a:lnTo>
                      <a:pt x="787566" y="0"/>
                    </a:lnTo>
                    <a:lnTo>
                      <a:pt x="787566" y="786750"/>
                    </a:lnTo>
                    <a:lnTo>
                      <a:pt x="0" y="786750"/>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11" name="TextBox 11"/>
              <p:cNvSpPr txBox="1"/>
              <p:nvPr/>
            </p:nvSpPr>
            <p:spPr>
              <a:xfrm>
                <a:off x="0" y="-38100"/>
                <a:ext cx="787566" cy="82485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12" name="TextBox 12"/>
            <p:cNvSpPr txBox="1"/>
            <p:nvPr/>
          </p:nvSpPr>
          <p:spPr>
            <a:xfrm>
              <a:off x="319164" y="694049"/>
              <a:ext cx="1828278" cy="1199777"/>
            </a:xfrm>
            <a:prstGeom prst="rect">
              <a:avLst/>
            </a:prstGeom>
          </p:spPr>
          <p:txBody>
            <a:bodyPr lIns="0" tIns="0" rIns="0" bIns="0" rtlCol="0" anchor="t">
              <a:spAutoFit/>
            </a:bodyPr>
            <a:lstStyle/>
            <a:p>
              <a:pPr marL="0" lvl="0" indent="0" algn="ctr">
                <a:lnSpc>
                  <a:spcPts val="6421"/>
                </a:lnSpc>
              </a:pPr>
              <a:r>
                <a:rPr lang="en-US" sz="6552" spc="-419">
                  <a:solidFill>
                    <a:srgbClr val="FFFFFF"/>
                  </a:solidFill>
                  <a:latin typeface="Bricolage Grotesque"/>
                  <a:ea typeface="Bricolage Grotesque"/>
                  <a:cs typeface="Bricolage Grotesque"/>
                  <a:sym typeface="Bricolage Grotesque"/>
                </a:rPr>
                <a:t>08</a:t>
              </a:r>
            </a:p>
          </p:txBody>
        </p:sp>
      </p:grpSp>
      <p:sp>
        <p:nvSpPr>
          <p:cNvPr id="13" name="AutoShape 13"/>
          <p:cNvSpPr/>
          <p:nvPr/>
        </p:nvSpPr>
        <p:spPr>
          <a:xfrm flipH="1">
            <a:off x="6542795" y="0"/>
            <a:ext cx="0" cy="10287000"/>
          </a:xfrm>
          <a:prstGeom prst="line">
            <a:avLst/>
          </a:prstGeom>
          <a:ln w="19050" cap="rnd">
            <a:solidFill>
              <a:srgbClr val="3A58E4"/>
            </a:solidFill>
            <a:prstDash val="solid"/>
            <a:headEnd type="none" w="sm" len="sm"/>
            <a:tailEnd type="none" w="sm" len="sm"/>
          </a:ln>
        </p:spPr>
      </p:sp>
      <p:sp>
        <p:nvSpPr>
          <p:cNvPr id="14" name="AutoShape 14"/>
          <p:cNvSpPr/>
          <p:nvPr/>
        </p:nvSpPr>
        <p:spPr>
          <a:xfrm>
            <a:off x="0" y="5320770"/>
            <a:ext cx="6542795" cy="0"/>
          </a:xfrm>
          <a:prstGeom prst="line">
            <a:avLst/>
          </a:prstGeom>
          <a:ln w="19050" cap="rnd">
            <a:solidFill>
              <a:srgbClr val="3A58E4"/>
            </a:solidFill>
            <a:prstDash val="solid"/>
            <a:headEnd type="none" w="sm" len="sm"/>
            <a:tailEnd type="none" w="sm" len="sm"/>
          </a:ln>
        </p:spPr>
      </p:sp>
      <p:grpSp>
        <p:nvGrpSpPr>
          <p:cNvPr id="15" name="Group 15"/>
          <p:cNvGrpSpPr/>
          <p:nvPr/>
        </p:nvGrpSpPr>
        <p:grpSpPr>
          <a:xfrm>
            <a:off x="197452" y="174137"/>
            <a:ext cx="6165930" cy="4969363"/>
            <a:chOff x="0" y="0"/>
            <a:chExt cx="955264" cy="769884"/>
          </a:xfrm>
        </p:grpSpPr>
        <p:sp>
          <p:nvSpPr>
            <p:cNvPr id="16" name="Freeform 16"/>
            <p:cNvSpPr/>
            <p:nvPr/>
          </p:nvSpPr>
          <p:spPr>
            <a:xfrm>
              <a:off x="0" y="0"/>
              <a:ext cx="955264" cy="769884"/>
            </a:xfrm>
            <a:custGeom>
              <a:avLst/>
              <a:gdLst/>
              <a:ahLst/>
              <a:cxnLst/>
              <a:rect l="l" t="t" r="r" b="b"/>
              <a:pathLst>
                <a:path w="955264" h="769884">
                  <a:moveTo>
                    <a:pt x="0" y="0"/>
                  </a:moveTo>
                  <a:lnTo>
                    <a:pt x="955264" y="0"/>
                  </a:lnTo>
                  <a:lnTo>
                    <a:pt x="955264" y="769884"/>
                  </a:lnTo>
                  <a:lnTo>
                    <a:pt x="0" y="769884"/>
                  </a:lnTo>
                  <a:close/>
                </a:path>
              </a:pathLst>
            </a:custGeom>
            <a:blipFill>
              <a:blip r:embed="rId4"/>
              <a:stretch>
                <a:fillRect l="-58" r="-58"/>
              </a:stretch>
            </a:blipFill>
          </p:spPr>
        </p:sp>
      </p:grpSp>
      <p:sp>
        <p:nvSpPr>
          <p:cNvPr id="17" name="TextBox 17"/>
          <p:cNvSpPr txBox="1"/>
          <p:nvPr/>
        </p:nvSpPr>
        <p:spPr>
          <a:xfrm>
            <a:off x="8056208" y="1238443"/>
            <a:ext cx="7107541" cy="2489701"/>
          </a:xfrm>
          <a:prstGeom prst="rect">
            <a:avLst/>
          </a:prstGeom>
        </p:spPr>
        <p:txBody>
          <a:bodyPr lIns="0" tIns="0" rIns="0" bIns="0" rtlCol="0" anchor="t">
            <a:spAutoFit/>
          </a:bodyPr>
          <a:lstStyle/>
          <a:p>
            <a:pPr marL="0" lvl="0" indent="0" algn="l">
              <a:lnSpc>
                <a:spcPts val="9596"/>
              </a:lnSpc>
            </a:pPr>
            <a:r>
              <a:rPr lang="en-US" sz="9792" spc="-626">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Survey</a:t>
            </a:r>
          </a:p>
          <a:p>
            <a:pPr marL="0" lvl="0" indent="0" algn="l">
              <a:lnSpc>
                <a:spcPts val="9596"/>
              </a:lnSpc>
            </a:pPr>
            <a:r>
              <a:rPr lang="en-US" sz="9792" spc="-626">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Findings</a:t>
            </a:r>
          </a:p>
        </p:txBody>
      </p:sp>
      <p:sp>
        <p:nvSpPr>
          <p:cNvPr id="18" name="TextBox 18"/>
          <p:cNvSpPr txBox="1"/>
          <p:nvPr/>
        </p:nvSpPr>
        <p:spPr>
          <a:xfrm>
            <a:off x="7828142" y="5286254"/>
            <a:ext cx="9021242" cy="3779788"/>
          </a:xfrm>
          <a:prstGeom prst="rect">
            <a:avLst/>
          </a:prstGeom>
        </p:spPr>
        <p:txBody>
          <a:bodyPr lIns="0" tIns="0" rIns="0" bIns="0" rtlCol="0" anchor="t">
            <a:spAutoFit/>
          </a:bodyPr>
          <a:lstStyle/>
          <a:p>
            <a:pPr marL="0" lvl="0" indent="0" algn="just">
              <a:lnSpc>
                <a:spcPts val="2715"/>
              </a:lnSpc>
            </a:pPr>
            <a:r>
              <a:rPr lang="en-US" sz="1939" spc="-5">
                <a:solidFill>
                  <a:srgbClr val="3A58E4"/>
                </a:solidFill>
                <a:latin typeface="Poppins"/>
                <a:ea typeface="Poppins"/>
                <a:cs typeface="Poppins"/>
                <a:sym typeface="Poppins"/>
              </a:rPr>
              <a:t>49.1% of respondents prefer English as their app language, while 50.9% prefer French, highlighting the need for bilingual support.</a:t>
            </a:r>
          </a:p>
          <a:p>
            <a:pPr marL="0" lvl="0" indent="0" algn="just">
              <a:lnSpc>
                <a:spcPts val="2715"/>
              </a:lnSpc>
            </a:pPr>
            <a:r>
              <a:rPr lang="en-US" sz="1939" spc="-5">
                <a:solidFill>
                  <a:srgbClr val="3A58E4"/>
                </a:solidFill>
                <a:latin typeface="Poppins"/>
                <a:ea typeface="Poppins"/>
                <a:cs typeface="Poppins"/>
                <a:sym typeface="Poppins"/>
              </a:rPr>
              <a:t>Top reported network issues:</a:t>
            </a:r>
          </a:p>
          <a:p>
            <a:pPr marL="0" lvl="0" indent="0" algn="just">
              <a:lnSpc>
                <a:spcPts val="2715"/>
              </a:lnSpc>
            </a:pPr>
            <a:r>
              <a:rPr lang="en-US" sz="1939" spc="-5">
                <a:solidFill>
                  <a:srgbClr val="3A58E4"/>
                </a:solidFill>
                <a:latin typeface="Poppins"/>
                <a:ea typeface="Poppins"/>
                <a:cs typeface="Poppins"/>
                <a:sym typeface="Poppins"/>
              </a:rPr>
              <a:t>• Slow download/upload speed</a:t>
            </a:r>
          </a:p>
          <a:p>
            <a:pPr marL="0" lvl="0" indent="0" algn="just">
              <a:lnSpc>
                <a:spcPts val="2715"/>
              </a:lnSpc>
            </a:pPr>
            <a:r>
              <a:rPr lang="en-US" sz="1939" spc="-5">
                <a:solidFill>
                  <a:srgbClr val="3A58E4"/>
                </a:solidFill>
                <a:latin typeface="Poppins"/>
                <a:ea typeface="Poppins"/>
                <a:cs typeface="Poppins"/>
                <a:sym typeface="Poppins"/>
              </a:rPr>
              <a:t>• Weak or unstable signal</a:t>
            </a:r>
          </a:p>
          <a:p>
            <a:pPr marL="0" lvl="0" indent="0" algn="just">
              <a:lnSpc>
                <a:spcPts val="2715"/>
              </a:lnSpc>
            </a:pPr>
            <a:r>
              <a:rPr lang="en-US" sz="1939" spc="-5">
                <a:solidFill>
                  <a:srgbClr val="3A58E4"/>
                </a:solidFill>
                <a:latin typeface="Poppins"/>
                <a:ea typeface="Poppins"/>
                <a:cs typeface="Poppins"/>
                <a:sym typeface="Poppins"/>
              </a:rPr>
              <a:t>• Frequent connectivity drops</a:t>
            </a:r>
          </a:p>
          <a:p>
            <a:pPr marL="0" lvl="0" indent="0" algn="just">
              <a:lnSpc>
                <a:spcPts val="2715"/>
              </a:lnSpc>
            </a:pPr>
            <a:r>
              <a:rPr lang="en-US" sz="1939" spc="-5">
                <a:solidFill>
                  <a:srgbClr val="3A58E4"/>
                </a:solidFill>
                <a:latin typeface="Poppins"/>
                <a:ea typeface="Poppins"/>
                <a:cs typeface="Poppins"/>
                <a:sym typeface="Poppins"/>
              </a:rPr>
              <a:t>• High latency during peak hours</a:t>
            </a:r>
          </a:p>
          <a:p>
            <a:pPr marL="0" lvl="0" indent="0" algn="just">
              <a:lnSpc>
                <a:spcPts val="2715"/>
              </a:lnSpc>
            </a:pPr>
            <a:r>
              <a:rPr lang="en-US" sz="1939" spc="-5">
                <a:solidFill>
                  <a:srgbClr val="3A58E4"/>
                </a:solidFill>
                <a:latin typeface="Poppins"/>
                <a:ea typeface="Poppins"/>
                <a:cs typeface="Poppins"/>
                <a:sym typeface="Poppins"/>
              </a:rPr>
              <a:t>Privacy concerns: 68% of users expressed willingness to share anonymous network data. Only 14% had strong privacy objections, confirming broad acceptance of data collection with proper consent mechanisms in place.</a:t>
            </a:r>
          </a:p>
        </p:txBody>
      </p:sp>
      <p:sp>
        <p:nvSpPr>
          <p:cNvPr id="19" name="TextBox 19"/>
          <p:cNvSpPr txBox="1"/>
          <p:nvPr/>
        </p:nvSpPr>
        <p:spPr>
          <a:xfrm>
            <a:off x="1736067" y="8372354"/>
            <a:ext cx="3088700" cy="693688"/>
          </a:xfrm>
          <a:prstGeom prst="rect">
            <a:avLst/>
          </a:prstGeom>
        </p:spPr>
        <p:txBody>
          <a:bodyPr lIns="0" tIns="0" rIns="0" bIns="0" rtlCol="0" anchor="t">
            <a:spAutoFit/>
          </a:bodyPr>
          <a:lstStyle/>
          <a:p>
            <a:pPr marL="0" lvl="0" indent="0" algn="ctr">
              <a:lnSpc>
                <a:spcPts val="2715"/>
              </a:lnSpc>
            </a:pPr>
            <a:r>
              <a:rPr lang="en-US" sz="1939" spc="-5">
                <a:solidFill>
                  <a:srgbClr val="3A58E4"/>
                </a:solidFill>
                <a:latin typeface="Poppins"/>
                <a:ea typeface="Poppins"/>
                <a:cs typeface="Poppins"/>
                <a:sym typeface="Poppins"/>
              </a:rPr>
              <a:t>Android users among surveyed subscribers</a:t>
            </a:r>
          </a:p>
        </p:txBody>
      </p:sp>
      <p:sp>
        <p:nvSpPr>
          <p:cNvPr id="20" name="TextBox 20"/>
          <p:cNvSpPr txBox="1"/>
          <p:nvPr/>
        </p:nvSpPr>
        <p:spPr>
          <a:xfrm>
            <a:off x="722135" y="5598177"/>
            <a:ext cx="5116565" cy="2562494"/>
          </a:xfrm>
          <a:prstGeom prst="rect">
            <a:avLst/>
          </a:prstGeom>
        </p:spPr>
        <p:txBody>
          <a:bodyPr lIns="0" tIns="0" rIns="0" bIns="0" rtlCol="0" anchor="t">
            <a:spAutoFit/>
          </a:bodyPr>
          <a:lstStyle/>
          <a:p>
            <a:pPr marL="0" lvl="0" indent="0" algn="ctr">
              <a:lnSpc>
                <a:spcPts val="20985"/>
              </a:lnSpc>
              <a:spcBef>
                <a:spcPct val="0"/>
              </a:spcBef>
            </a:pPr>
            <a:r>
              <a:rPr lang="en-US" sz="14989" spc="-959">
                <a:gradFill>
                  <a:gsLst>
                    <a:gs pos="0">
                      <a:srgbClr val="3A58E4">
                        <a:alpha val="100000"/>
                      </a:srgbClr>
                    </a:gs>
                    <a:gs pos="100000">
                      <a:srgbClr val="293E9C">
                        <a:alpha val="100000"/>
                      </a:srgbClr>
                    </a:gs>
                  </a:gsLst>
                  <a:path path="circle">
                    <a:fillToRect r="100000" b="100000"/>
                  </a:path>
                  <a:tileRect l="-100000" t="-100000"/>
                </a:gradFill>
                <a:latin typeface="Bricolage Grotesque"/>
                <a:ea typeface="Bricolage Grotesque"/>
                <a:cs typeface="Bricolage Grotesque"/>
                <a:sym typeface="Bricolage Grotesque"/>
              </a:rPr>
              <a:t>75.9%</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256766" y="1232144"/>
            <a:ext cx="5217559" cy="2495999"/>
          </a:xfrm>
          <a:prstGeom prst="rect">
            <a:avLst/>
          </a:prstGeom>
        </p:spPr>
        <p:txBody>
          <a:bodyPr lIns="0" tIns="0" rIns="0" bIns="0" rtlCol="0" anchor="t">
            <a:spAutoFit/>
          </a:bodyPr>
          <a:lstStyle/>
          <a:p>
            <a:pPr marL="0" lvl="0" indent="0" algn="l">
              <a:lnSpc>
                <a:spcPts val="6429"/>
              </a:lnSpc>
            </a:pPr>
            <a:r>
              <a:rPr lang="en-US" sz="6560" spc="-419">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Functional &amp; Non-Functional Requirements</a:t>
            </a:r>
          </a:p>
        </p:txBody>
      </p:sp>
      <p:grpSp>
        <p:nvGrpSpPr>
          <p:cNvPr id="3" name="Group 3"/>
          <p:cNvGrpSpPr/>
          <p:nvPr/>
        </p:nvGrpSpPr>
        <p:grpSpPr>
          <a:xfrm>
            <a:off x="1028700" y="1358088"/>
            <a:ext cx="47625" cy="2040668"/>
            <a:chOff x="0" y="0"/>
            <a:chExt cx="12543" cy="537460"/>
          </a:xfrm>
        </p:grpSpPr>
        <p:sp>
          <p:nvSpPr>
            <p:cNvPr id="4" name="Freeform 4"/>
            <p:cNvSpPr/>
            <p:nvPr/>
          </p:nvSpPr>
          <p:spPr>
            <a:xfrm>
              <a:off x="0" y="0"/>
              <a:ext cx="12543" cy="537460"/>
            </a:xfrm>
            <a:custGeom>
              <a:avLst/>
              <a:gdLst/>
              <a:ahLst/>
              <a:cxnLst/>
              <a:rect l="l" t="t" r="r" b="b"/>
              <a:pathLst>
                <a:path w="12543" h="537460">
                  <a:moveTo>
                    <a:pt x="0" y="0"/>
                  </a:moveTo>
                  <a:lnTo>
                    <a:pt x="12543" y="0"/>
                  </a:lnTo>
                  <a:lnTo>
                    <a:pt x="12543" y="537460"/>
                  </a:lnTo>
                  <a:lnTo>
                    <a:pt x="0" y="537460"/>
                  </a:lnTo>
                  <a:close/>
                </a:path>
              </a:pathLst>
            </a:custGeom>
            <a:solidFill>
              <a:srgbClr val="3A58E4"/>
            </a:solidFill>
          </p:spPr>
        </p:sp>
        <p:sp>
          <p:nvSpPr>
            <p:cNvPr id="5" name="TextBox 5"/>
            <p:cNvSpPr txBox="1"/>
            <p:nvPr/>
          </p:nvSpPr>
          <p:spPr>
            <a:xfrm>
              <a:off x="0" y="-38100"/>
              <a:ext cx="12543" cy="57556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6" name="Group 6"/>
          <p:cNvGrpSpPr/>
          <p:nvPr/>
        </p:nvGrpSpPr>
        <p:grpSpPr>
          <a:xfrm>
            <a:off x="1028700" y="4312874"/>
            <a:ext cx="8172450" cy="379246"/>
            <a:chOff x="0" y="0"/>
            <a:chExt cx="10896600" cy="505662"/>
          </a:xfrm>
        </p:grpSpPr>
        <p:sp>
          <p:nvSpPr>
            <p:cNvPr id="7" name="TextBox 7"/>
            <p:cNvSpPr txBox="1"/>
            <p:nvPr/>
          </p:nvSpPr>
          <p:spPr>
            <a:xfrm>
              <a:off x="0" y="-49117"/>
              <a:ext cx="10820400" cy="554779"/>
            </a:xfrm>
            <a:prstGeom prst="rect">
              <a:avLst/>
            </a:prstGeom>
          </p:spPr>
          <p:txBody>
            <a:bodyPr lIns="0" tIns="0" rIns="0" bIns="0" rtlCol="0" anchor="t">
              <a:spAutoFit/>
            </a:bodyPr>
            <a:lstStyle/>
            <a:p>
              <a:pPr marL="0" lvl="0" indent="0" algn="l">
                <a:lnSpc>
                  <a:spcPts val="3316"/>
                </a:lnSpc>
              </a:pPr>
              <a:r>
                <a:rPr lang="en-US" sz="2368" b="1" spc="-59">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SYSTEM REQUIREMENTS SPECIFICATION</a:t>
              </a:r>
            </a:p>
          </p:txBody>
        </p:sp>
        <p:sp>
          <p:nvSpPr>
            <p:cNvPr id="8" name="Freeform 8"/>
            <p:cNvSpPr/>
            <p:nvPr/>
          </p:nvSpPr>
          <p:spPr>
            <a:xfrm rot="-8687136">
              <a:off x="10579580" y="44820"/>
              <a:ext cx="252200" cy="304858"/>
            </a:xfrm>
            <a:custGeom>
              <a:avLst/>
              <a:gdLst/>
              <a:ahLst/>
              <a:cxnLst/>
              <a:rect l="l" t="t" r="r" b="b"/>
              <a:pathLst>
                <a:path w="252200" h="304858">
                  <a:moveTo>
                    <a:pt x="0" y="0"/>
                  </a:moveTo>
                  <a:lnTo>
                    <a:pt x="252200" y="0"/>
                  </a:lnTo>
                  <a:lnTo>
                    <a:pt x="252200" y="304857"/>
                  </a:lnTo>
                  <a:lnTo>
                    <a:pt x="0" y="304857"/>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sp>
      </p:grpSp>
      <p:grpSp>
        <p:nvGrpSpPr>
          <p:cNvPr id="9" name="Group 9"/>
          <p:cNvGrpSpPr/>
          <p:nvPr/>
        </p:nvGrpSpPr>
        <p:grpSpPr>
          <a:xfrm>
            <a:off x="16438046" y="129"/>
            <a:ext cx="1849954" cy="1848037"/>
            <a:chOff x="0" y="0"/>
            <a:chExt cx="2466605" cy="2464050"/>
          </a:xfrm>
        </p:grpSpPr>
        <p:grpSp>
          <p:nvGrpSpPr>
            <p:cNvPr id="10" name="Group 10"/>
            <p:cNvGrpSpPr/>
            <p:nvPr/>
          </p:nvGrpSpPr>
          <p:grpSpPr>
            <a:xfrm>
              <a:off x="0" y="0"/>
              <a:ext cx="2466605" cy="2464050"/>
              <a:chOff x="0" y="0"/>
              <a:chExt cx="787566" cy="786750"/>
            </a:xfrm>
          </p:grpSpPr>
          <p:sp>
            <p:nvSpPr>
              <p:cNvPr id="11" name="Freeform 11"/>
              <p:cNvSpPr/>
              <p:nvPr/>
            </p:nvSpPr>
            <p:spPr>
              <a:xfrm>
                <a:off x="0" y="0"/>
                <a:ext cx="787566" cy="786750"/>
              </a:xfrm>
              <a:custGeom>
                <a:avLst/>
                <a:gdLst/>
                <a:ahLst/>
                <a:cxnLst/>
                <a:rect l="l" t="t" r="r" b="b"/>
                <a:pathLst>
                  <a:path w="787566" h="786750">
                    <a:moveTo>
                      <a:pt x="0" y="0"/>
                    </a:moveTo>
                    <a:lnTo>
                      <a:pt x="787566" y="0"/>
                    </a:lnTo>
                    <a:lnTo>
                      <a:pt x="787566" y="786750"/>
                    </a:lnTo>
                    <a:lnTo>
                      <a:pt x="0" y="786750"/>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12" name="TextBox 12"/>
              <p:cNvSpPr txBox="1"/>
              <p:nvPr/>
            </p:nvSpPr>
            <p:spPr>
              <a:xfrm>
                <a:off x="0" y="-38100"/>
                <a:ext cx="787566" cy="82485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13" name="TextBox 13"/>
            <p:cNvSpPr txBox="1"/>
            <p:nvPr/>
          </p:nvSpPr>
          <p:spPr>
            <a:xfrm>
              <a:off x="319164" y="694049"/>
              <a:ext cx="1828278" cy="1199777"/>
            </a:xfrm>
            <a:prstGeom prst="rect">
              <a:avLst/>
            </a:prstGeom>
          </p:spPr>
          <p:txBody>
            <a:bodyPr lIns="0" tIns="0" rIns="0" bIns="0" rtlCol="0" anchor="t">
              <a:spAutoFit/>
            </a:bodyPr>
            <a:lstStyle/>
            <a:p>
              <a:pPr marL="0" lvl="0" indent="0" algn="ctr">
                <a:lnSpc>
                  <a:spcPts val="6421"/>
                </a:lnSpc>
              </a:pPr>
              <a:r>
                <a:rPr lang="en-US" sz="6552" spc="-419">
                  <a:solidFill>
                    <a:srgbClr val="FFFFFF"/>
                  </a:solidFill>
                  <a:latin typeface="Bricolage Grotesque"/>
                  <a:ea typeface="Bricolage Grotesque"/>
                  <a:cs typeface="Bricolage Grotesque"/>
                  <a:sym typeface="Bricolage Grotesque"/>
                </a:rPr>
                <a:t>09</a:t>
              </a:r>
            </a:p>
          </p:txBody>
        </p:sp>
      </p:grpSp>
      <p:sp>
        <p:nvSpPr>
          <p:cNvPr id="14" name="Freeform 14"/>
          <p:cNvSpPr/>
          <p:nvPr/>
        </p:nvSpPr>
        <p:spPr>
          <a:xfrm>
            <a:off x="10057804" y="2739287"/>
            <a:ext cx="6629625" cy="6356153"/>
          </a:xfrm>
          <a:custGeom>
            <a:avLst/>
            <a:gdLst/>
            <a:ahLst/>
            <a:cxnLst/>
            <a:rect l="l" t="t" r="r" b="b"/>
            <a:pathLst>
              <a:path w="6629625" h="6356153">
                <a:moveTo>
                  <a:pt x="0" y="0"/>
                </a:moveTo>
                <a:lnTo>
                  <a:pt x="6629626" y="0"/>
                </a:lnTo>
                <a:lnTo>
                  <a:pt x="6629626" y="6356153"/>
                </a:lnTo>
                <a:lnTo>
                  <a:pt x="0" y="6356153"/>
                </a:lnTo>
                <a:lnTo>
                  <a:pt x="0" y="0"/>
                </a:lnTo>
                <a:close/>
              </a:path>
            </a:pathLst>
          </a:custGeom>
          <a:blipFill>
            <a:blip r:embed="rId4"/>
            <a:stretch>
              <a:fillRect/>
            </a:stretch>
          </a:blipFill>
        </p:spPr>
      </p:sp>
      <p:sp>
        <p:nvSpPr>
          <p:cNvPr id="15" name="TextBox 15"/>
          <p:cNvSpPr txBox="1"/>
          <p:nvPr/>
        </p:nvSpPr>
        <p:spPr>
          <a:xfrm>
            <a:off x="1870201" y="4527039"/>
            <a:ext cx="7273799" cy="1489747"/>
          </a:xfrm>
          <a:prstGeom prst="rect">
            <a:avLst/>
          </a:prstGeom>
        </p:spPr>
        <p:txBody>
          <a:bodyPr lIns="0" tIns="0" rIns="0" bIns="0" rtlCol="0" anchor="t">
            <a:spAutoFit/>
          </a:bodyPr>
          <a:lstStyle/>
          <a:p>
            <a:pPr marL="0" lvl="0" indent="0" algn="just">
              <a:lnSpc>
                <a:spcPts val="1679"/>
              </a:lnSpc>
            </a:pPr>
            <a:r>
              <a:rPr lang="en-US" sz="1199" spc="-29">
                <a:solidFill>
                  <a:srgbClr val="3A58E4"/>
                </a:solidFill>
                <a:latin typeface="Poppins"/>
                <a:ea typeface="Poppins"/>
                <a:cs typeface="Poppins"/>
                <a:sym typeface="Poppins"/>
              </a:rPr>
              <a:t>✔ User registration &amp; authentication</a:t>
            </a:r>
          </a:p>
          <a:p>
            <a:pPr marL="0" lvl="0" indent="0" algn="just">
              <a:lnSpc>
                <a:spcPts val="1679"/>
              </a:lnSpc>
            </a:pPr>
            <a:r>
              <a:rPr lang="en-US" sz="1199" spc="-29">
                <a:solidFill>
                  <a:srgbClr val="3A58E4"/>
                </a:solidFill>
                <a:latin typeface="Poppins"/>
                <a:ea typeface="Poppins"/>
                <a:cs typeface="Poppins"/>
                <a:sym typeface="Poppins"/>
              </a:rPr>
              <a:t>✔ Automated QoS data collection</a:t>
            </a:r>
          </a:p>
          <a:p>
            <a:pPr marL="0" lvl="0" indent="0" algn="just">
              <a:lnSpc>
                <a:spcPts val="1679"/>
              </a:lnSpc>
            </a:pPr>
            <a:r>
              <a:rPr lang="en-US" sz="1199" spc="-29">
                <a:solidFill>
                  <a:srgbClr val="3A58E4"/>
                </a:solidFill>
                <a:latin typeface="Poppins"/>
                <a:ea typeface="Poppins"/>
                <a:cs typeface="Poppins"/>
                <a:sym typeface="Poppins"/>
              </a:rPr>
              <a:t>✔ Local SQLite offline storage</a:t>
            </a:r>
          </a:p>
          <a:p>
            <a:pPr marL="0" lvl="0" indent="0" algn="just">
              <a:lnSpc>
                <a:spcPts val="1679"/>
              </a:lnSpc>
            </a:pPr>
            <a:r>
              <a:rPr lang="en-US" sz="1199" spc="-29">
                <a:solidFill>
                  <a:srgbClr val="3A58E4"/>
                </a:solidFill>
                <a:latin typeface="Poppins"/>
                <a:ea typeface="Poppins"/>
                <a:cs typeface="Poppins"/>
                <a:sym typeface="Poppins"/>
              </a:rPr>
              <a:t>✔ Cloud data upload &amp; sync</a:t>
            </a:r>
          </a:p>
          <a:p>
            <a:pPr marL="0" lvl="0" indent="0" algn="just">
              <a:lnSpc>
                <a:spcPts val="1679"/>
              </a:lnSpc>
            </a:pPr>
            <a:r>
              <a:rPr lang="en-US" sz="1199" spc="-29">
                <a:solidFill>
                  <a:srgbClr val="3A58E4"/>
                </a:solidFill>
                <a:latin typeface="Poppins"/>
                <a:ea typeface="Poppins"/>
                <a:cs typeface="Poppins"/>
                <a:sym typeface="Poppins"/>
              </a:rPr>
              <a:t>✔ Heatmap visualization</a:t>
            </a:r>
          </a:p>
          <a:p>
            <a:pPr marL="0" lvl="0" indent="0" algn="just">
              <a:lnSpc>
                <a:spcPts val="1679"/>
              </a:lnSpc>
            </a:pPr>
            <a:r>
              <a:rPr lang="en-US" sz="1199" spc="-29">
                <a:solidFill>
                  <a:srgbClr val="3A58E4"/>
                </a:solidFill>
                <a:latin typeface="Poppins"/>
                <a:ea typeface="Poppins"/>
                <a:cs typeface="Poppins"/>
                <a:sym typeface="Poppins"/>
              </a:rPr>
              <a:t>✔ Admin filters &amp; dashboard</a:t>
            </a:r>
          </a:p>
          <a:p>
            <a:pPr marL="0" lvl="0" indent="0" algn="just">
              <a:lnSpc>
                <a:spcPts val="1679"/>
              </a:lnSpc>
            </a:pPr>
            <a:r>
              <a:rPr lang="en-US" sz="1199" spc="-29">
                <a:solidFill>
                  <a:srgbClr val="3A58E4"/>
                </a:solidFill>
                <a:latin typeface="Poppins"/>
                <a:ea typeface="Poppins"/>
                <a:cs typeface="Poppins"/>
                <a:sym typeface="Poppins"/>
              </a:rPr>
              <a:t>✔ Bilingual (EN/FR) support</a:t>
            </a:r>
          </a:p>
        </p:txBody>
      </p:sp>
      <p:sp>
        <p:nvSpPr>
          <p:cNvPr id="16" name="TextBox 16"/>
          <p:cNvSpPr txBox="1"/>
          <p:nvPr/>
        </p:nvSpPr>
        <p:spPr>
          <a:xfrm>
            <a:off x="1870201" y="5731424"/>
            <a:ext cx="7273799" cy="1276654"/>
          </a:xfrm>
          <a:prstGeom prst="rect">
            <a:avLst/>
          </a:prstGeom>
        </p:spPr>
        <p:txBody>
          <a:bodyPr lIns="0" tIns="0" rIns="0" bIns="0" rtlCol="0" anchor="t">
            <a:spAutoFit/>
          </a:bodyPr>
          <a:lstStyle/>
          <a:p>
            <a:pPr marL="0" lvl="0" indent="0" algn="just">
              <a:lnSpc>
                <a:spcPts val="1679"/>
              </a:lnSpc>
            </a:pPr>
            <a:r>
              <a:rPr lang="en-US" sz="1199" spc="-29">
                <a:solidFill>
                  <a:srgbClr val="3A58E4"/>
                </a:solidFill>
                <a:latin typeface="Poppins"/>
                <a:ea typeface="Poppins"/>
                <a:cs typeface="Poppins"/>
                <a:sym typeface="Poppins"/>
              </a:rPr>
              <a:t>★ Security &amp; data privacy (JWT, bcrypt)</a:t>
            </a:r>
          </a:p>
          <a:p>
            <a:pPr marL="0" lvl="0" indent="0" algn="just">
              <a:lnSpc>
                <a:spcPts val="1679"/>
              </a:lnSpc>
            </a:pPr>
            <a:r>
              <a:rPr lang="en-US" sz="1199" spc="-29">
                <a:solidFill>
                  <a:srgbClr val="3A58E4"/>
                </a:solidFill>
                <a:latin typeface="Poppins"/>
                <a:ea typeface="Poppins"/>
                <a:cs typeface="Poppins"/>
                <a:sym typeface="Poppins"/>
              </a:rPr>
              <a:t>★ Offline-first capability</a:t>
            </a:r>
          </a:p>
          <a:p>
            <a:pPr marL="0" lvl="0" indent="0" algn="just">
              <a:lnSpc>
                <a:spcPts val="1679"/>
              </a:lnSpc>
            </a:pPr>
            <a:r>
              <a:rPr lang="en-US" sz="1199" spc="-29">
                <a:solidFill>
                  <a:srgbClr val="3A58E4"/>
                </a:solidFill>
                <a:latin typeface="Poppins"/>
                <a:ea typeface="Poppins"/>
                <a:cs typeface="Poppins"/>
                <a:sym typeface="Poppins"/>
              </a:rPr>
              <a:t>★ Battery &amp; data efficiency</a:t>
            </a:r>
          </a:p>
          <a:p>
            <a:pPr marL="0" lvl="0" indent="0" algn="just">
              <a:lnSpc>
                <a:spcPts val="1679"/>
              </a:lnSpc>
            </a:pPr>
            <a:r>
              <a:rPr lang="en-US" sz="1199" spc="-29">
                <a:solidFill>
                  <a:srgbClr val="3A58E4"/>
                </a:solidFill>
                <a:latin typeface="Poppins"/>
                <a:ea typeface="Poppins"/>
                <a:cs typeface="Poppins"/>
                <a:sym typeface="Poppins"/>
              </a:rPr>
              <a:t>★ Scalability &amp; maintainability</a:t>
            </a:r>
          </a:p>
          <a:p>
            <a:pPr marL="0" lvl="0" indent="0" algn="just">
              <a:lnSpc>
                <a:spcPts val="1679"/>
              </a:lnSpc>
            </a:pPr>
            <a:r>
              <a:rPr lang="en-US" sz="1199" spc="-29">
                <a:solidFill>
                  <a:srgbClr val="3A58E4"/>
                </a:solidFill>
                <a:latin typeface="Poppins"/>
                <a:ea typeface="Poppins"/>
                <a:cs typeface="Poppins"/>
                <a:sym typeface="Poppins"/>
              </a:rPr>
              <a:t>★ Responsiveness across devices</a:t>
            </a:r>
          </a:p>
          <a:p>
            <a:pPr marL="0" lvl="0" indent="0" algn="just">
              <a:lnSpc>
                <a:spcPts val="1679"/>
              </a:lnSpc>
            </a:pPr>
            <a:r>
              <a:rPr lang="en-US" sz="1199" spc="-29">
                <a:solidFill>
                  <a:srgbClr val="3A58E4"/>
                </a:solidFill>
                <a:latin typeface="Poppins"/>
                <a:ea typeface="Poppins"/>
                <a:cs typeface="Poppins"/>
                <a:sym typeface="Poppins"/>
              </a:rPr>
              <a:t>★ High performance &amp; reliability</a:t>
            </a:r>
          </a:p>
        </p:txBody>
      </p:sp>
      <p:sp>
        <p:nvSpPr>
          <p:cNvPr id="17" name="TextBox 17"/>
          <p:cNvSpPr txBox="1"/>
          <p:nvPr/>
        </p:nvSpPr>
        <p:spPr>
          <a:xfrm>
            <a:off x="1870201" y="7788181"/>
            <a:ext cx="7273799" cy="211188"/>
          </a:xfrm>
          <a:prstGeom prst="rect">
            <a:avLst/>
          </a:prstGeom>
        </p:spPr>
        <p:txBody>
          <a:bodyPr lIns="0" tIns="0" rIns="0" bIns="0" rtlCol="0" anchor="t">
            <a:spAutoFit/>
          </a:bodyPr>
          <a:lstStyle/>
          <a:p>
            <a:pPr marL="0" lvl="0" indent="0" algn="just">
              <a:lnSpc>
                <a:spcPts val="1679"/>
              </a:lnSpc>
            </a:pPr>
            <a:r>
              <a:rPr lang="en-US" sz="1199" spc="-29">
                <a:solidFill>
                  <a:srgbClr val="3A58E4"/>
                </a:solidFill>
                <a:latin typeface="Poppins"/>
                <a:ea typeface="Poppins"/>
                <a:cs typeface="Poppins"/>
                <a:sym typeface="Poppins"/>
              </a:rPr>
              <a:t>FUNCTIONAL REQUIREMENTS</a:t>
            </a:r>
          </a:p>
        </p:txBody>
      </p:sp>
      <p:sp>
        <p:nvSpPr>
          <p:cNvPr id="18" name="TextBox 18"/>
          <p:cNvSpPr txBox="1"/>
          <p:nvPr/>
        </p:nvSpPr>
        <p:spPr>
          <a:xfrm>
            <a:off x="1870201" y="8779473"/>
            <a:ext cx="7273799" cy="211188"/>
          </a:xfrm>
          <a:prstGeom prst="rect">
            <a:avLst/>
          </a:prstGeom>
        </p:spPr>
        <p:txBody>
          <a:bodyPr lIns="0" tIns="0" rIns="0" bIns="0" rtlCol="0" anchor="t">
            <a:spAutoFit/>
          </a:bodyPr>
          <a:lstStyle/>
          <a:p>
            <a:pPr marL="0" lvl="0" indent="0" algn="just">
              <a:lnSpc>
                <a:spcPts val="1679"/>
              </a:lnSpc>
            </a:pPr>
            <a:r>
              <a:rPr lang="en-US" sz="1199" spc="-29">
                <a:solidFill>
                  <a:srgbClr val="3A58E4"/>
                </a:solidFill>
                <a:latin typeface="Poppins"/>
                <a:ea typeface="Poppins"/>
                <a:cs typeface="Poppins"/>
                <a:sym typeface="Poppins"/>
              </a:rPr>
              <a:t>NON-FUNCTIONAL REQUIREMENTS</a:t>
            </a:r>
          </a:p>
        </p:txBody>
      </p:sp>
      <p:sp>
        <p:nvSpPr>
          <p:cNvPr id="19" name="Freeform 19"/>
          <p:cNvSpPr/>
          <p:nvPr/>
        </p:nvSpPr>
        <p:spPr>
          <a:xfrm>
            <a:off x="1052512" y="5400430"/>
            <a:ext cx="489071" cy="489071"/>
          </a:xfrm>
          <a:custGeom>
            <a:avLst/>
            <a:gdLst/>
            <a:ahLst/>
            <a:cxnLst/>
            <a:rect l="l" t="t" r="r" b="b"/>
            <a:pathLst>
              <a:path w="489071" h="489071">
                <a:moveTo>
                  <a:pt x="0" y="0"/>
                </a:moveTo>
                <a:lnTo>
                  <a:pt x="489072" y="0"/>
                </a:lnTo>
                <a:lnTo>
                  <a:pt x="489072" y="489071"/>
                </a:lnTo>
                <a:lnTo>
                  <a:pt x="0" y="489071"/>
                </a:lnTo>
                <a:lnTo>
                  <a:pt x="0" y="0"/>
                </a:lnTo>
                <a:close/>
              </a:path>
            </a:pathLst>
          </a:custGeom>
          <a:blipFill>
            <a:blip r:embed="rId5">
              <a:extLst>
                <a:ext uri="{96DAC541-7B7A-43D3-8B79-37D633B846F1}">
                  <asvg:svgBlip xmlns:asvg="http://schemas.microsoft.com/office/drawing/2016/SVG/main" xmlns="" r:embed="rId6"/>
                </a:ext>
              </a:extLst>
            </a:blip>
            <a:stretch>
              <a:fillRect/>
            </a:stretch>
          </a:blipFill>
        </p:spPr>
      </p:sp>
      <p:sp>
        <p:nvSpPr>
          <p:cNvPr id="20" name="Freeform 20"/>
          <p:cNvSpPr/>
          <p:nvPr/>
        </p:nvSpPr>
        <p:spPr>
          <a:xfrm>
            <a:off x="1052512" y="6391722"/>
            <a:ext cx="489071" cy="489071"/>
          </a:xfrm>
          <a:custGeom>
            <a:avLst/>
            <a:gdLst/>
            <a:ahLst/>
            <a:cxnLst/>
            <a:rect l="l" t="t" r="r" b="b"/>
            <a:pathLst>
              <a:path w="489071" h="489071">
                <a:moveTo>
                  <a:pt x="0" y="0"/>
                </a:moveTo>
                <a:lnTo>
                  <a:pt x="489072" y="0"/>
                </a:lnTo>
                <a:lnTo>
                  <a:pt x="489072" y="489071"/>
                </a:lnTo>
                <a:lnTo>
                  <a:pt x="0" y="489071"/>
                </a:lnTo>
                <a:lnTo>
                  <a:pt x="0" y="0"/>
                </a:lnTo>
                <a:close/>
              </a:path>
            </a:pathLst>
          </a:custGeom>
          <a:blipFill>
            <a:blip r:embed="rId5">
              <a:extLst>
                <a:ext uri="{96DAC541-7B7A-43D3-8B79-37D633B846F1}">
                  <asvg:svgBlip xmlns:asvg="http://schemas.microsoft.com/office/drawing/2016/SVG/main" xmlns="" r:embed="rId6"/>
                </a:ext>
              </a:extLst>
            </a:blip>
            <a:stretch>
              <a:fillRect/>
            </a:stretch>
          </a:blipFill>
        </p:spPr>
      </p:sp>
      <p:sp>
        <p:nvSpPr>
          <p:cNvPr id="21" name="Freeform 21"/>
          <p:cNvSpPr/>
          <p:nvPr/>
        </p:nvSpPr>
        <p:spPr>
          <a:xfrm>
            <a:off x="1052512" y="7383013"/>
            <a:ext cx="489071" cy="489071"/>
          </a:xfrm>
          <a:custGeom>
            <a:avLst/>
            <a:gdLst/>
            <a:ahLst/>
            <a:cxnLst/>
            <a:rect l="l" t="t" r="r" b="b"/>
            <a:pathLst>
              <a:path w="489071" h="489071">
                <a:moveTo>
                  <a:pt x="0" y="0"/>
                </a:moveTo>
                <a:lnTo>
                  <a:pt x="489072" y="0"/>
                </a:lnTo>
                <a:lnTo>
                  <a:pt x="489072" y="489071"/>
                </a:lnTo>
                <a:lnTo>
                  <a:pt x="0" y="489071"/>
                </a:lnTo>
                <a:lnTo>
                  <a:pt x="0" y="0"/>
                </a:lnTo>
                <a:close/>
              </a:path>
            </a:pathLst>
          </a:custGeom>
          <a:blipFill>
            <a:blip r:embed="rId5">
              <a:extLst>
                <a:ext uri="{96DAC541-7B7A-43D3-8B79-37D633B846F1}">
                  <asvg:svgBlip xmlns:asvg="http://schemas.microsoft.com/office/drawing/2016/SVG/main" xmlns="" r:embed="rId6"/>
                </a:ext>
              </a:extLst>
            </a:blip>
            <a:stretch>
              <a:fillRect/>
            </a:stretch>
          </a:blipFill>
        </p:spPr>
      </p:sp>
      <p:sp>
        <p:nvSpPr>
          <p:cNvPr id="22" name="Freeform 22"/>
          <p:cNvSpPr/>
          <p:nvPr/>
        </p:nvSpPr>
        <p:spPr>
          <a:xfrm>
            <a:off x="1052512" y="8376909"/>
            <a:ext cx="489071" cy="489071"/>
          </a:xfrm>
          <a:custGeom>
            <a:avLst/>
            <a:gdLst/>
            <a:ahLst/>
            <a:cxnLst/>
            <a:rect l="l" t="t" r="r" b="b"/>
            <a:pathLst>
              <a:path w="489071" h="489071">
                <a:moveTo>
                  <a:pt x="0" y="0"/>
                </a:moveTo>
                <a:lnTo>
                  <a:pt x="489072" y="0"/>
                </a:lnTo>
                <a:lnTo>
                  <a:pt x="489072" y="489072"/>
                </a:lnTo>
                <a:lnTo>
                  <a:pt x="0" y="489072"/>
                </a:lnTo>
                <a:lnTo>
                  <a:pt x="0" y="0"/>
                </a:lnTo>
                <a:close/>
              </a:path>
            </a:pathLst>
          </a:custGeom>
          <a:blipFill>
            <a:blip r:embed="rId5">
              <a:extLst>
                <a:ext uri="{96DAC541-7B7A-43D3-8B79-37D633B846F1}">
                  <asvg:svgBlip xmlns:asvg="http://schemas.microsoft.com/office/drawing/2016/SVG/main" xmlns="" r:embed="rId6"/>
                </a:ext>
              </a:extLst>
            </a:blip>
            <a:stretch>
              <a:fillRect/>
            </a:stretch>
          </a:blipFill>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028700" y="1666284"/>
            <a:ext cx="47625" cy="2040668"/>
            <a:chOff x="0" y="0"/>
            <a:chExt cx="12543" cy="537460"/>
          </a:xfrm>
        </p:grpSpPr>
        <p:sp>
          <p:nvSpPr>
            <p:cNvPr id="3" name="Freeform 3"/>
            <p:cNvSpPr/>
            <p:nvPr/>
          </p:nvSpPr>
          <p:spPr>
            <a:xfrm>
              <a:off x="0" y="0"/>
              <a:ext cx="12543" cy="537460"/>
            </a:xfrm>
            <a:custGeom>
              <a:avLst/>
              <a:gdLst/>
              <a:ahLst/>
              <a:cxnLst/>
              <a:rect l="l" t="t" r="r" b="b"/>
              <a:pathLst>
                <a:path w="12543" h="537460">
                  <a:moveTo>
                    <a:pt x="0" y="0"/>
                  </a:moveTo>
                  <a:lnTo>
                    <a:pt x="12543" y="0"/>
                  </a:lnTo>
                  <a:lnTo>
                    <a:pt x="12543" y="537460"/>
                  </a:lnTo>
                  <a:lnTo>
                    <a:pt x="0" y="537460"/>
                  </a:lnTo>
                  <a:close/>
                </a:path>
              </a:pathLst>
            </a:custGeom>
            <a:solidFill>
              <a:srgbClr val="3A58E4"/>
            </a:solidFill>
          </p:spPr>
        </p:sp>
        <p:sp>
          <p:nvSpPr>
            <p:cNvPr id="4" name="TextBox 4"/>
            <p:cNvSpPr txBox="1"/>
            <p:nvPr/>
          </p:nvSpPr>
          <p:spPr>
            <a:xfrm>
              <a:off x="0" y="-38100"/>
              <a:ext cx="12543" cy="57556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5" name="Group 5"/>
          <p:cNvGrpSpPr/>
          <p:nvPr/>
        </p:nvGrpSpPr>
        <p:grpSpPr>
          <a:xfrm>
            <a:off x="16438046" y="129"/>
            <a:ext cx="1849954" cy="1848037"/>
            <a:chOff x="0" y="0"/>
            <a:chExt cx="2466605" cy="2464050"/>
          </a:xfrm>
        </p:grpSpPr>
        <p:grpSp>
          <p:nvGrpSpPr>
            <p:cNvPr id="6" name="Group 6"/>
            <p:cNvGrpSpPr/>
            <p:nvPr/>
          </p:nvGrpSpPr>
          <p:grpSpPr>
            <a:xfrm>
              <a:off x="0" y="0"/>
              <a:ext cx="2466605" cy="2464050"/>
              <a:chOff x="0" y="0"/>
              <a:chExt cx="787566" cy="786750"/>
            </a:xfrm>
          </p:grpSpPr>
          <p:sp>
            <p:nvSpPr>
              <p:cNvPr id="7" name="Freeform 7"/>
              <p:cNvSpPr/>
              <p:nvPr/>
            </p:nvSpPr>
            <p:spPr>
              <a:xfrm>
                <a:off x="0" y="0"/>
                <a:ext cx="787566" cy="786750"/>
              </a:xfrm>
              <a:custGeom>
                <a:avLst/>
                <a:gdLst/>
                <a:ahLst/>
                <a:cxnLst/>
                <a:rect l="l" t="t" r="r" b="b"/>
                <a:pathLst>
                  <a:path w="787566" h="786750">
                    <a:moveTo>
                      <a:pt x="0" y="0"/>
                    </a:moveTo>
                    <a:lnTo>
                      <a:pt x="787566" y="0"/>
                    </a:lnTo>
                    <a:lnTo>
                      <a:pt x="787566" y="786750"/>
                    </a:lnTo>
                    <a:lnTo>
                      <a:pt x="0" y="786750"/>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8" name="TextBox 8"/>
              <p:cNvSpPr txBox="1"/>
              <p:nvPr/>
            </p:nvSpPr>
            <p:spPr>
              <a:xfrm>
                <a:off x="0" y="-38100"/>
                <a:ext cx="787566" cy="82485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9" name="TextBox 9"/>
            <p:cNvSpPr txBox="1"/>
            <p:nvPr/>
          </p:nvSpPr>
          <p:spPr>
            <a:xfrm>
              <a:off x="319164" y="694049"/>
              <a:ext cx="1828278" cy="1199777"/>
            </a:xfrm>
            <a:prstGeom prst="rect">
              <a:avLst/>
            </a:prstGeom>
          </p:spPr>
          <p:txBody>
            <a:bodyPr lIns="0" tIns="0" rIns="0" bIns="0" rtlCol="0" anchor="t">
              <a:spAutoFit/>
            </a:bodyPr>
            <a:lstStyle/>
            <a:p>
              <a:pPr marL="0" lvl="0" indent="0" algn="ctr">
                <a:lnSpc>
                  <a:spcPts val="6421"/>
                </a:lnSpc>
              </a:pPr>
              <a:r>
                <a:rPr lang="en-US" sz="6552" spc="-419">
                  <a:solidFill>
                    <a:srgbClr val="FFFFFF"/>
                  </a:solidFill>
                  <a:latin typeface="Bricolage Grotesque"/>
                  <a:ea typeface="Bricolage Grotesque"/>
                  <a:cs typeface="Bricolage Grotesque"/>
                  <a:sym typeface="Bricolage Grotesque"/>
                </a:rPr>
                <a:t>10</a:t>
              </a:r>
            </a:p>
          </p:txBody>
        </p:sp>
      </p:grpSp>
      <p:sp>
        <p:nvSpPr>
          <p:cNvPr id="10" name="Freeform 10"/>
          <p:cNvSpPr/>
          <p:nvPr/>
        </p:nvSpPr>
        <p:spPr>
          <a:xfrm>
            <a:off x="9258191" y="1844436"/>
            <a:ext cx="8143514" cy="9073553"/>
          </a:xfrm>
          <a:custGeom>
            <a:avLst/>
            <a:gdLst/>
            <a:ahLst/>
            <a:cxnLst/>
            <a:rect l="l" t="t" r="r" b="b"/>
            <a:pathLst>
              <a:path w="8143514" h="9073553">
                <a:moveTo>
                  <a:pt x="0" y="0"/>
                </a:moveTo>
                <a:lnTo>
                  <a:pt x="8143514" y="0"/>
                </a:lnTo>
                <a:lnTo>
                  <a:pt x="8143514" y="9073553"/>
                </a:lnTo>
                <a:lnTo>
                  <a:pt x="0" y="9073553"/>
                </a:lnTo>
                <a:lnTo>
                  <a:pt x="0" y="0"/>
                </a:lnTo>
                <a:close/>
              </a:path>
            </a:pathLst>
          </a:custGeom>
          <a:blipFill>
            <a:blip r:embed="rId2"/>
            <a:stretch>
              <a:fillRect/>
            </a:stretch>
          </a:blipFill>
        </p:spPr>
      </p:sp>
      <p:grpSp>
        <p:nvGrpSpPr>
          <p:cNvPr id="11" name="Group 11"/>
          <p:cNvGrpSpPr/>
          <p:nvPr/>
        </p:nvGrpSpPr>
        <p:grpSpPr>
          <a:xfrm>
            <a:off x="1028700" y="4407668"/>
            <a:ext cx="6730921" cy="379246"/>
            <a:chOff x="0" y="0"/>
            <a:chExt cx="8974562" cy="505662"/>
          </a:xfrm>
        </p:grpSpPr>
        <p:sp>
          <p:nvSpPr>
            <p:cNvPr id="12" name="TextBox 12"/>
            <p:cNvSpPr txBox="1"/>
            <p:nvPr/>
          </p:nvSpPr>
          <p:spPr>
            <a:xfrm>
              <a:off x="0" y="-49117"/>
              <a:ext cx="8974562" cy="554779"/>
            </a:xfrm>
            <a:prstGeom prst="rect">
              <a:avLst/>
            </a:prstGeom>
          </p:spPr>
          <p:txBody>
            <a:bodyPr lIns="0" tIns="0" rIns="0" bIns="0" rtlCol="0" anchor="t">
              <a:spAutoFit/>
            </a:bodyPr>
            <a:lstStyle/>
            <a:p>
              <a:pPr marL="0" lvl="0" indent="0" algn="l">
                <a:lnSpc>
                  <a:spcPts val="3316"/>
                </a:lnSpc>
              </a:pPr>
              <a:r>
                <a:rPr lang="en-US" sz="2368" b="1" spc="-59">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SYSTEM ARCHITECTURE &amp; DIAGRAM OVERVIEW</a:t>
              </a:r>
            </a:p>
          </p:txBody>
        </p:sp>
        <p:sp>
          <p:nvSpPr>
            <p:cNvPr id="13" name="Freeform 13"/>
            <p:cNvSpPr/>
            <p:nvPr/>
          </p:nvSpPr>
          <p:spPr>
            <a:xfrm rot="-8687136">
              <a:off x="8443725" y="44820"/>
              <a:ext cx="252200" cy="304858"/>
            </a:xfrm>
            <a:custGeom>
              <a:avLst/>
              <a:gdLst/>
              <a:ahLst/>
              <a:cxnLst/>
              <a:rect l="l" t="t" r="r" b="b"/>
              <a:pathLst>
                <a:path w="252200" h="304858">
                  <a:moveTo>
                    <a:pt x="0" y="0"/>
                  </a:moveTo>
                  <a:lnTo>
                    <a:pt x="252200" y="0"/>
                  </a:lnTo>
                  <a:lnTo>
                    <a:pt x="252200" y="304857"/>
                  </a:lnTo>
                  <a:lnTo>
                    <a:pt x="0" y="304857"/>
                  </a:lnTo>
                  <a:lnTo>
                    <a:pt x="0" y="0"/>
                  </a:lnTo>
                  <a:close/>
                </a:path>
              </a:pathLst>
            </a:custGeom>
            <a:blipFill>
              <a:blip r:embed="rId3">
                <a:extLst>
                  <a:ext uri="{96DAC541-7B7A-43D3-8B79-37D633B846F1}">
                    <asvg:svgBlip xmlns:asvg="http://schemas.microsoft.com/office/drawing/2016/SVG/main" xmlns="" r:embed="rId4"/>
                  </a:ext>
                </a:extLst>
              </a:blip>
              <a:stretch>
                <a:fillRect/>
              </a:stretch>
            </a:blipFill>
          </p:spPr>
        </p:sp>
      </p:grpSp>
      <p:sp>
        <p:nvSpPr>
          <p:cNvPr id="14" name="TextBox 14"/>
          <p:cNvSpPr txBox="1"/>
          <p:nvPr/>
        </p:nvSpPr>
        <p:spPr>
          <a:xfrm>
            <a:off x="1256766" y="1197264"/>
            <a:ext cx="5412331" cy="2839076"/>
          </a:xfrm>
          <a:prstGeom prst="rect">
            <a:avLst/>
          </a:prstGeom>
        </p:spPr>
        <p:txBody>
          <a:bodyPr lIns="0" tIns="0" rIns="0" bIns="0" rtlCol="0" anchor="t">
            <a:spAutoFit/>
          </a:bodyPr>
          <a:lstStyle/>
          <a:p>
            <a:pPr marL="0" lvl="0" indent="0" algn="l">
              <a:lnSpc>
                <a:spcPts val="7334"/>
              </a:lnSpc>
            </a:pPr>
            <a:r>
              <a:rPr lang="en-US" sz="7484" spc="-478">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System Modelling Overview</a:t>
            </a:r>
          </a:p>
        </p:txBody>
      </p:sp>
      <p:sp>
        <p:nvSpPr>
          <p:cNvPr id="15" name="TextBox 15"/>
          <p:cNvSpPr txBox="1"/>
          <p:nvPr/>
        </p:nvSpPr>
        <p:spPr>
          <a:xfrm>
            <a:off x="1028700" y="5483836"/>
            <a:ext cx="6570559" cy="3466268"/>
          </a:xfrm>
          <a:prstGeom prst="rect">
            <a:avLst/>
          </a:prstGeom>
        </p:spPr>
        <p:txBody>
          <a:bodyPr lIns="0" tIns="0" rIns="0" bIns="0" rtlCol="0" anchor="t">
            <a:spAutoFit/>
          </a:bodyPr>
          <a:lstStyle/>
          <a:p>
            <a:pPr marL="0" lvl="0" indent="0" algn="just">
              <a:lnSpc>
                <a:spcPts val="2145"/>
              </a:lnSpc>
            </a:pPr>
            <a:r>
              <a:rPr lang="en-US" sz="1532" spc="-4">
                <a:solidFill>
                  <a:srgbClr val="3A58E4"/>
                </a:solidFill>
                <a:latin typeface="Poppins"/>
                <a:ea typeface="Poppins"/>
                <a:cs typeface="Poppins"/>
                <a:sym typeface="Poppins"/>
              </a:rPr>
              <a:t>Three core diagrams define the system architecture of the KILObYTES mobile app:</a:t>
            </a:r>
          </a:p>
          <a:p>
            <a:pPr marL="0" lvl="0" indent="0" algn="just">
              <a:lnSpc>
                <a:spcPts val="2145"/>
              </a:lnSpc>
            </a:pPr>
            <a:r>
              <a:rPr lang="en-US" sz="1532" spc="-4">
                <a:solidFill>
                  <a:srgbClr val="3A58E4"/>
                </a:solidFill>
                <a:latin typeface="Poppins"/>
                <a:ea typeface="Poppins"/>
                <a:cs typeface="Poppins"/>
                <a:sym typeface="Poppins"/>
              </a:rPr>
              <a:t>📌 Context Diagram — Illustrates the system boundary and how the mobile app interacts with external entities: subscribers, network infrastructure, the admin dashboard, and the cloud backend.</a:t>
            </a:r>
          </a:p>
          <a:p>
            <a:pPr marL="0" lvl="0" indent="0" algn="just">
              <a:lnSpc>
                <a:spcPts val="2145"/>
              </a:lnSpc>
            </a:pPr>
            <a:r>
              <a:rPr lang="en-US" sz="1532" spc="-4">
                <a:solidFill>
                  <a:srgbClr val="3A58E4"/>
                </a:solidFill>
                <a:latin typeface="Poppins"/>
                <a:ea typeface="Poppins"/>
                <a:cs typeface="Poppins"/>
                <a:sym typeface="Poppins"/>
              </a:rPr>
              <a:t>🔄 Data Flow Diagram (DFD) — Traces the movement of measurement data from collection on the mobile client, through local SQLite storage, to upload via the REST API, and final storage in MongoDB for admin analysis.</a:t>
            </a:r>
          </a:p>
          <a:p>
            <a:pPr marL="0" lvl="0" indent="0" algn="just">
              <a:lnSpc>
                <a:spcPts val="2145"/>
              </a:lnSpc>
            </a:pPr>
            <a:r>
              <a:rPr lang="en-US" sz="1532" spc="-4">
                <a:solidFill>
                  <a:srgbClr val="3A58E4"/>
                </a:solidFill>
                <a:latin typeface="Poppins"/>
                <a:ea typeface="Poppins"/>
                <a:cs typeface="Poppins"/>
                <a:sym typeface="Poppins"/>
              </a:rPr>
              <a:t>👤 Use Case Diagram — Captures the functional interactions between two primary actors (Subscriber and Admin) and the system, covering registration, data collection, heatmap viewing, background consent, and admin filtering.</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8492056" y="1525863"/>
            <a:ext cx="47625" cy="2040668"/>
            <a:chOff x="0" y="0"/>
            <a:chExt cx="12543" cy="537460"/>
          </a:xfrm>
        </p:grpSpPr>
        <p:sp>
          <p:nvSpPr>
            <p:cNvPr id="3" name="Freeform 3"/>
            <p:cNvSpPr/>
            <p:nvPr/>
          </p:nvSpPr>
          <p:spPr>
            <a:xfrm>
              <a:off x="0" y="0"/>
              <a:ext cx="12543" cy="537460"/>
            </a:xfrm>
            <a:custGeom>
              <a:avLst/>
              <a:gdLst/>
              <a:ahLst/>
              <a:cxnLst/>
              <a:rect l="l" t="t" r="r" b="b"/>
              <a:pathLst>
                <a:path w="12543" h="537460">
                  <a:moveTo>
                    <a:pt x="0" y="0"/>
                  </a:moveTo>
                  <a:lnTo>
                    <a:pt x="12543" y="0"/>
                  </a:lnTo>
                  <a:lnTo>
                    <a:pt x="12543" y="537460"/>
                  </a:lnTo>
                  <a:lnTo>
                    <a:pt x="0" y="537460"/>
                  </a:lnTo>
                  <a:close/>
                </a:path>
              </a:pathLst>
            </a:custGeom>
            <a:solidFill>
              <a:srgbClr val="3A58E4"/>
            </a:solidFill>
          </p:spPr>
        </p:sp>
        <p:sp>
          <p:nvSpPr>
            <p:cNvPr id="4" name="TextBox 4"/>
            <p:cNvSpPr txBox="1"/>
            <p:nvPr/>
          </p:nvSpPr>
          <p:spPr>
            <a:xfrm>
              <a:off x="0" y="-38100"/>
              <a:ext cx="12543" cy="57556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5" name="TextBox 5"/>
          <p:cNvSpPr txBox="1"/>
          <p:nvPr/>
        </p:nvSpPr>
        <p:spPr>
          <a:xfrm>
            <a:off x="8492056" y="4424761"/>
            <a:ext cx="7106119" cy="435134"/>
          </a:xfrm>
          <a:prstGeom prst="rect">
            <a:avLst/>
          </a:prstGeom>
        </p:spPr>
        <p:txBody>
          <a:bodyPr lIns="0" tIns="0" rIns="0" bIns="0" rtlCol="0" anchor="t">
            <a:spAutoFit/>
          </a:bodyPr>
          <a:lstStyle/>
          <a:p>
            <a:pPr marL="0" lvl="0" indent="0" algn="l">
              <a:lnSpc>
                <a:spcPts val="3316"/>
              </a:lnSpc>
            </a:pPr>
            <a:r>
              <a:rPr lang="en-US" sz="2368" b="1" spc="-59">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SYSTEM INTERACTION &amp; STRUCTURE MODELS</a:t>
            </a:r>
          </a:p>
        </p:txBody>
      </p:sp>
      <p:sp>
        <p:nvSpPr>
          <p:cNvPr id="6" name="Freeform 6"/>
          <p:cNvSpPr/>
          <p:nvPr/>
        </p:nvSpPr>
        <p:spPr>
          <a:xfrm rot="-8687136">
            <a:off x="15580115" y="4542838"/>
            <a:ext cx="189150" cy="228643"/>
          </a:xfrm>
          <a:custGeom>
            <a:avLst/>
            <a:gdLst/>
            <a:ahLst/>
            <a:cxnLst/>
            <a:rect l="l" t="t" r="r" b="b"/>
            <a:pathLst>
              <a:path w="189150" h="228643">
                <a:moveTo>
                  <a:pt x="0" y="0"/>
                </a:moveTo>
                <a:lnTo>
                  <a:pt x="189150" y="0"/>
                </a:lnTo>
                <a:lnTo>
                  <a:pt x="189150" y="228644"/>
                </a:lnTo>
                <a:lnTo>
                  <a:pt x="0" y="228644"/>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sp>
      <p:grpSp>
        <p:nvGrpSpPr>
          <p:cNvPr id="7" name="Group 7"/>
          <p:cNvGrpSpPr/>
          <p:nvPr/>
        </p:nvGrpSpPr>
        <p:grpSpPr>
          <a:xfrm>
            <a:off x="0" y="0"/>
            <a:ext cx="6352295" cy="10287000"/>
            <a:chOff x="0" y="0"/>
            <a:chExt cx="984137" cy="1593725"/>
          </a:xfrm>
        </p:grpSpPr>
        <p:sp>
          <p:nvSpPr>
            <p:cNvPr id="8" name="Freeform 8"/>
            <p:cNvSpPr/>
            <p:nvPr/>
          </p:nvSpPr>
          <p:spPr>
            <a:xfrm>
              <a:off x="0" y="0"/>
              <a:ext cx="984137" cy="1593725"/>
            </a:xfrm>
            <a:custGeom>
              <a:avLst/>
              <a:gdLst/>
              <a:ahLst/>
              <a:cxnLst/>
              <a:rect l="l" t="t" r="r" b="b"/>
              <a:pathLst>
                <a:path w="984137" h="1593725">
                  <a:moveTo>
                    <a:pt x="0" y="0"/>
                  </a:moveTo>
                  <a:lnTo>
                    <a:pt x="984137" y="0"/>
                  </a:lnTo>
                  <a:lnTo>
                    <a:pt x="984137" y="1593725"/>
                  </a:lnTo>
                  <a:lnTo>
                    <a:pt x="0" y="1593725"/>
                  </a:lnTo>
                  <a:close/>
                </a:path>
              </a:pathLst>
            </a:custGeom>
            <a:blipFill>
              <a:blip r:embed="rId4"/>
              <a:stretch>
                <a:fillRect t="-306" b="-306"/>
              </a:stretch>
            </a:blipFill>
          </p:spPr>
        </p:sp>
      </p:grpSp>
      <p:grpSp>
        <p:nvGrpSpPr>
          <p:cNvPr id="9" name="Group 9"/>
          <p:cNvGrpSpPr/>
          <p:nvPr/>
        </p:nvGrpSpPr>
        <p:grpSpPr>
          <a:xfrm>
            <a:off x="16438046" y="129"/>
            <a:ext cx="1849954" cy="1848037"/>
            <a:chOff x="0" y="0"/>
            <a:chExt cx="2466605" cy="2464050"/>
          </a:xfrm>
        </p:grpSpPr>
        <p:grpSp>
          <p:nvGrpSpPr>
            <p:cNvPr id="10" name="Group 10"/>
            <p:cNvGrpSpPr/>
            <p:nvPr/>
          </p:nvGrpSpPr>
          <p:grpSpPr>
            <a:xfrm>
              <a:off x="0" y="0"/>
              <a:ext cx="2466605" cy="2464050"/>
              <a:chOff x="0" y="0"/>
              <a:chExt cx="787566" cy="786750"/>
            </a:xfrm>
          </p:grpSpPr>
          <p:sp>
            <p:nvSpPr>
              <p:cNvPr id="11" name="Freeform 11"/>
              <p:cNvSpPr/>
              <p:nvPr/>
            </p:nvSpPr>
            <p:spPr>
              <a:xfrm>
                <a:off x="0" y="0"/>
                <a:ext cx="787566" cy="786750"/>
              </a:xfrm>
              <a:custGeom>
                <a:avLst/>
                <a:gdLst/>
                <a:ahLst/>
                <a:cxnLst/>
                <a:rect l="l" t="t" r="r" b="b"/>
                <a:pathLst>
                  <a:path w="787566" h="786750">
                    <a:moveTo>
                      <a:pt x="0" y="0"/>
                    </a:moveTo>
                    <a:lnTo>
                      <a:pt x="787566" y="0"/>
                    </a:lnTo>
                    <a:lnTo>
                      <a:pt x="787566" y="786750"/>
                    </a:lnTo>
                    <a:lnTo>
                      <a:pt x="0" y="786750"/>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12" name="TextBox 12"/>
              <p:cNvSpPr txBox="1"/>
              <p:nvPr/>
            </p:nvSpPr>
            <p:spPr>
              <a:xfrm>
                <a:off x="0" y="-38100"/>
                <a:ext cx="787566" cy="82485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13" name="TextBox 13"/>
            <p:cNvSpPr txBox="1"/>
            <p:nvPr/>
          </p:nvSpPr>
          <p:spPr>
            <a:xfrm>
              <a:off x="319164" y="694049"/>
              <a:ext cx="1828278" cy="1199777"/>
            </a:xfrm>
            <a:prstGeom prst="rect">
              <a:avLst/>
            </a:prstGeom>
          </p:spPr>
          <p:txBody>
            <a:bodyPr lIns="0" tIns="0" rIns="0" bIns="0" rtlCol="0" anchor="t">
              <a:spAutoFit/>
            </a:bodyPr>
            <a:lstStyle/>
            <a:p>
              <a:pPr marL="0" lvl="0" indent="0" algn="ctr">
                <a:lnSpc>
                  <a:spcPts val="6421"/>
                </a:lnSpc>
              </a:pPr>
              <a:r>
                <a:rPr lang="en-US" sz="6552" spc="-419">
                  <a:solidFill>
                    <a:srgbClr val="FFFFFF"/>
                  </a:solidFill>
                  <a:latin typeface="Bricolage Grotesque"/>
                  <a:ea typeface="Bricolage Grotesque"/>
                  <a:cs typeface="Bricolage Grotesque"/>
                  <a:sym typeface="Bricolage Grotesque"/>
                </a:rPr>
                <a:t>11</a:t>
              </a:r>
            </a:p>
          </p:txBody>
        </p:sp>
      </p:grpSp>
      <p:sp>
        <p:nvSpPr>
          <p:cNvPr id="14" name="AutoShape 14"/>
          <p:cNvSpPr/>
          <p:nvPr/>
        </p:nvSpPr>
        <p:spPr>
          <a:xfrm flipH="1">
            <a:off x="6542795" y="0"/>
            <a:ext cx="0" cy="10287000"/>
          </a:xfrm>
          <a:prstGeom prst="line">
            <a:avLst/>
          </a:prstGeom>
          <a:ln w="19050" cap="rnd">
            <a:solidFill>
              <a:srgbClr val="3A58E4"/>
            </a:solidFill>
            <a:prstDash val="solid"/>
            <a:headEnd type="none" w="sm" len="sm"/>
            <a:tailEnd type="none" w="sm" len="sm"/>
          </a:ln>
        </p:spPr>
      </p:sp>
      <p:sp>
        <p:nvSpPr>
          <p:cNvPr id="15" name="Freeform 15"/>
          <p:cNvSpPr/>
          <p:nvPr/>
        </p:nvSpPr>
        <p:spPr>
          <a:xfrm>
            <a:off x="5177017" y="5870652"/>
            <a:ext cx="2350556" cy="457290"/>
          </a:xfrm>
          <a:custGeom>
            <a:avLst/>
            <a:gdLst/>
            <a:ahLst/>
            <a:cxnLst/>
            <a:rect l="l" t="t" r="r" b="b"/>
            <a:pathLst>
              <a:path w="2350556" h="457290">
                <a:moveTo>
                  <a:pt x="0" y="0"/>
                </a:moveTo>
                <a:lnTo>
                  <a:pt x="2350556" y="0"/>
                </a:lnTo>
                <a:lnTo>
                  <a:pt x="2350556" y="457290"/>
                </a:lnTo>
                <a:lnTo>
                  <a:pt x="0" y="457290"/>
                </a:lnTo>
                <a:lnTo>
                  <a:pt x="0" y="0"/>
                </a:lnTo>
                <a:close/>
              </a:path>
            </a:pathLst>
          </a:custGeom>
          <a:blipFill>
            <a:blip r:embed="rId5"/>
            <a:stretch>
              <a:fillRect/>
            </a:stretch>
          </a:blipFill>
        </p:spPr>
      </p:sp>
      <p:grpSp>
        <p:nvGrpSpPr>
          <p:cNvPr id="16" name="Group 16"/>
          <p:cNvGrpSpPr/>
          <p:nvPr/>
        </p:nvGrpSpPr>
        <p:grpSpPr>
          <a:xfrm>
            <a:off x="5262566" y="3959058"/>
            <a:ext cx="2152019" cy="2149322"/>
            <a:chOff x="0" y="0"/>
            <a:chExt cx="567580" cy="566868"/>
          </a:xfrm>
        </p:grpSpPr>
        <p:sp>
          <p:nvSpPr>
            <p:cNvPr id="17" name="Freeform 17"/>
            <p:cNvSpPr/>
            <p:nvPr/>
          </p:nvSpPr>
          <p:spPr>
            <a:xfrm>
              <a:off x="0" y="0"/>
              <a:ext cx="567580" cy="566868"/>
            </a:xfrm>
            <a:custGeom>
              <a:avLst/>
              <a:gdLst/>
              <a:ahLst/>
              <a:cxnLst/>
              <a:rect l="l" t="t" r="r" b="b"/>
              <a:pathLst>
                <a:path w="567580" h="566868">
                  <a:moveTo>
                    <a:pt x="161888" y="0"/>
                  </a:moveTo>
                  <a:lnTo>
                    <a:pt x="405691" y="0"/>
                  </a:lnTo>
                  <a:cubicBezTo>
                    <a:pt x="495100" y="0"/>
                    <a:pt x="567580" y="72480"/>
                    <a:pt x="567580" y="161888"/>
                  </a:cubicBezTo>
                  <a:lnTo>
                    <a:pt x="567580" y="404980"/>
                  </a:lnTo>
                  <a:cubicBezTo>
                    <a:pt x="567580" y="494389"/>
                    <a:pt x="495100" y="566868"/>
                    <a:pt x="405691" y="566868"/>
                  </a:cubicBezTo>
                  <a:lnTo>
                    <a:pt x="161888" y="566868"/>
                  </a:lnTo>
                  <a:cubicBezTo>
                    <a:pt x="72480" y="566868"/>
                    <a:pt x="0" y="494389"/>
                    <a:pt x="0" y="404980"/>
                  </a:cubicBezTo>
                  <a:lnTo>
                    <a:pt x="0" y="161888"/>
                  </a:lnTo>
                  <a:cubicBezTo>
                    <a:pt x="0" y="72480"/>
                    <a:pt x="72480" y="0"/>
                    <a:pt x="161888" y="0"/>
                  </a:cubicBez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a:ln cap="rnd">
              <a:noFill/>
              <a:prstDash val="solid"/>
              <a:round/>
            </a:ln>
          </p:spPr>
        </p:sp>
        <p:sp>
          <p:nvSpPr>
            <p:cNvPr id="18" name="TextBox 18"/>
            <p:cNvSpPr txBox="1"/>
            <p:nvPr/>
          </p:nvSpPr>
          <p:spPr>
            <a:xfrm>
              <a:off x="0" y="28575"/>
              <a:ext cx="567580" cy="538293"/>
            </a:xfrm>
            <a:prstGeom prst="rect">
              <a:avLst/>
            </a:prstGeom>
          </p:spPr>
          <p:txBody>
            <a:bodyPr lIns="48445" tIns="48445" rIns="48445" bIns="48445" rtlCol="0" anchor="ctr"/>
            <a:lstStyle/>
            <a:p>
              <a:pPr marL="0" lvl="0" indent="0" algn="ctr">
                <a:lnSpc>
                  <a:spcPts val="2460"/>
                </a:lnSpc>
              </a:pPr>
              <a:endParaRPr/>
            </a:p>
          </p:txBody>
        </p:sp>
      </p:grpSp>
      <p:sp>
        <p:nvSpPr>
          <p:cNvPr id="19" name="TextBox 19"/>
          <p:cNvSpPr txBox="1"/>
          <p:nvPr/>
        </p:nvSpPr>
        <p:spPr>
          <a:xfrm>
            <a:off x="5602320" y="4444821"/>
            <a:ext cx="1499950" cy="486039"/>
          </a:xfrm>
          <a:prstGeom prst="rect">
            <a:avLst/>
          </a:prstGeom>
        </p:spPr>
        <p:txBody>
          <a:bodyPr lIns="0" tIns="0" rIns="0" bIns="0" rtlCol="0" anchor="t">
            <a:spAutoFit/>
          </a:bodyPr>
          <a:lstStyle/>
          <a:p>
            <a:pPr marL="0" lvl="0" indent="0" algn="ctr">
              <a:lnSpc>
                <a:spcPts val="3674"/>
              </a:lnSpc>
            </a:pPr>
            <a:r>
              <a:rPr lang="en-US" sz="3711" b="1" spc="-111">
                <a:solidFill>
                  <a:srgbClr val="FFFFFF"/>
                </a:solidFill>
                <a:latin typeface="Bricolage Grotesque Bold"/>
                <a:ea typeface="Bricolage Grotesque Bold"/>
                <a:cs typeface="Bricolage Grotesque Bold"/>
                <a:sym typeface="Bricolage Grotesque Bold"/>
              </a:rPr>
              <a:t>11</a:t>
            </a:r>
          </a:p>
        </p:txBody>
      </p:sp>
      <p:sp>
        <p:nvSpPr>
          <p:cNvPr id="20" name="TextBox 20"/>
          <p:cNvSpPr txBox="1"/>
          <p:nvPr/>
        </p:nvSpPr>
        <p:spPr>
          <a:xfrm>
            <a:off x="5746312" y="5064546"/>
            <a:ext cx="1211966" cy="626745"/>
          </a:xfrm>
          <a:prstGeom prst="rect">
            <a:avLst/>
          </a:prstGeom>
        </p:spPr>
        <p:txBody>
          <a:bodyPr lIns="0" tIns="0" rIns="0" bIns="0" rtlCol="0" anchor="t">
            <a:spAutoFit/>
          </a:bodyPr>
          <a:lstStyle/>
          <a:p>
            <a:pPr marL="0" lvl="0" indent="0" algn="ctr">
              <a:lnSpc>
                <a:spcPts val="1679"/>
              </a:lnSpc>
            </a:pPr>
            <a:r>
              <a:rPr lang="en-US" sz="1199" spc="-29">
                <a:solidFill>
                  <a:srgbClr val="FFFFFF"/>
                </a:solidFill>
                <a:latin typeface="Poppins"/>
                <a:ea typeface="Poppins"/>
                <a:cs typeface="Poppins"/>
                <a:sym typeface="Poppins"/>
              </a:rPr>
              <a:t>STEPS IN MEASUREMENT UPLOAD FLOW</a:t>
            </a:r>
          </a:p>
        </p:txBody>
      </p:sp>
      <p:sp>
        <p:nvSpPr>
          <p:cNvPr id="21" name="TextBox 21"/>
          <p:cNvSpPr txBox="1"/>
          <p:nvPr/>
        </p:nvSpPr>
        <p:spPr>
          <a:xfrm>
            <a:off x="8720122" y="2064908"/>
            <a:ext cx="5780387" cy="1831011"/>
          </a:xfrm>
          <a:prstGeom prst="rect">
            <a:avLst/>
          </a:prstGeom>
        </p:spPr>
        <p:txBody>
          <a:bodyPr lIns="0" tIns="0" rIns="0" bIns="0" rtlCol="0" anchor="t">
            <a:spAutoFit/>
          </a:bodyPr>
          <a:lstStyle/>
          <a:p>
            <a:pPr marL="0" lvl="0" indent="0" algn="l">
              <a:lnSpc>
                <a:spcPts val="7032"/>
              </a:lnSpc>
            </a:pPr>
            <a:r>
              <a:rPr lang="en-US" sz="7176" spc="-459">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Sequence &amp; Class Diagrams</a:t>
            </a:r>
          </a:p>
        </p:txBody>
      </p:sp>
      <p:sp>
        <p:nvSpPr>
          <p:cNvPr id="22" name="TextBox 22"/>
          <p:cNvSpPr txBox="1"/>
          <p:nvPr/>
        </p:nvSpPr>
        <p:spPr>
          <a:xfrm>
            <a:off x="8492056" y="5401068"/>
            <a:ext cx="7325824" cy="1574142"/>
          </a:xfrm>
          <a:prstGeom prst="rect">
            <a:avLst/>
          </a:prstGeom>
        </p:spPr>
        <p:txBody>
          <a:bodyPr lIns="0" tIns="0" rIns="0" bIns="0" rtlCol="0" anchor="t">
            <a:spAutoFit/>
          </a:bodyPr>
          <a:lstStyle/>
          <a:p>
            <a:pPr marL="0" lvl="0" indent="0" algn="just">
              <a:lnSpc>
                <a:spcPts val="2486"/>
              </a:lnSpc>
            </a:pPr>
            <a:r>
              <a:rPr lang="en-US" sz="1775" spc="-5">
                <a:solidFill>
                  <a:srgbClr val="3A58E4"/>
                </a:solidFill>
                <a:latin typeface="Poppins"/>
                <a:ea typeface="Poppins"/>
                <a:cs typeface="Poppins"/>
                <a:sym typeface="Poppins"/>
              </a:rPr>
              <a:t>The Sequence Diagram illustrates the 11-step measurement upload flow between the mobile client, local SQLite database, and cloud backend. The Class Diagram defines the core object model with key relationships and responsibilities across all system components.</a:t>
            </a:r>
          </a:p>
        </p:txBody>
      </p:sp>
      <p:sp>
        <p:nvSpPr>
          <p:cNvPr id="23" name="TextBox 23"/>
          <p:cNvSpPr txBox="1"/>
          <p:nvPr/>
        </p:nvSpPr>
        <p:spPr>
          <a:xfrm>
            <a:off x="8274055" y="-1913367"/>
            <a:ext cx="5481943" cy="11003892"/>
          </a:xfrm>
          <a:prstGeom prst="rect">
            <a:avLst/>
          </a:prstGeom>
        </p:spPr>
        <p:txBody>
          <a:bodyPr lIns="0" tIns="0" rIns="0" bIns="0" rtlCol="0" anchor="t">
            <a:spAutoFit/>
          </a:bodyPr>
          <a:lstStyle/>
          <a:p>
            <a:pPr marL="0" lvl="0" indent="0" algn="just">
              <a:lnSpc>
                <a:spcPts val="2486"/>
              </a:lnSpc>
            </a:pPr>
            <a:r>
              <a:rPr lang="en-US" sz="1775" spc="-5">
                <a:solidFill>
                  <a:srgbClr val="3A58E4"/>
                </a:solidFill>
                <a:latin typeface="Poppins"/>
                <a:ea typeface="Poppins"/>
                <a:cs typeface="Poppins"/>
                <a:sym typeface="Poppins"/>
              </a:rPr>
              <a:t>Sequence Diagram – 11-Step Upload Flow:</a:t>
            </a:r>
          </a:p>
          <a:p>
            <a:pPr marL="383417" lvl="1" indent="-191709" algn="just">
              <a:lnSpc>
                <a:spcPts val="2486"/>
              </a:lnSpc>
              <a:buAutoNum type="arabicPeriod"/>
            </a:pPr>
            <a:r>
              <a:rPr lang="en-US" sz="1775" spc="-5">
                <a:solidFill>
                  <a:srgbClr val="3A58E4"/>
                </a:solidFill>
                <a:latin typeface="Poppins"/>
                <a:ea typeface="Poppins"/>
                <a:cs typeface="Poppins"/>
                <a:sym typeface="Poppins"/>
              </a:rPr>
              <a:t>User triggers measurement collection</a:t>
            </a:r>
          </a:p>
          <a:p>
            <a:pPr marL="383417" lvl="1" indent="-191709" algn="just">
              <a:lnSpc>
                <a:spcPts val="2486"/>
              </a:lnSpc>
              <a:buAutoNum type="arabicPeriod"/>
            </a:pPr>
            <a:r>
              <a:rPr lang="en-US" sz="1775" spc="-5">
                <a:solidFill>
                  <a:srgbClr val="3A58E4"/>
                </a:solidFill>
                <a:latin typeface="Poppins"/>
                <a:ea typeface="Poppins"/>
                <a:cs typeface="Poppins"/>
                <a:sym typeface="Poppins"/>
              </a:rPr>
              <a:t>MetricsService runs QoS probes (ping, jitter, packet loss)</a:t>
            </a:r>
          </a:p>
          <a:p>
            <a:pPr marL="383417" lvl="1" indent="-191709" algn="just">
              <a:lnSpc>
                <a:spcPts val="2486"/>
              </a:lnSpc>
              <a:buAutoNum type="arabicPeriod"/>
            </a:pPr>
            <a:r>
              <a:rPr lang="en-US" sz="1775" spc="-5">
                <a:solidFill>
                  <a:srgbClr val="3A58E4"/>
                </a:solidFill>
                <a:latin typeface="Poppins"/>
                <a:ea typeface="Poppins"/>
                <a:cs typeface="Poppins"/>
                <a:sym typeface="Poppins"/>
              </a:rPr>
              <a:t>MetricsService records download/upload speed</a:t>
            </a:r>
          </a:p>
          <a:p>
            <a:pPr marL="383417" lvl="1" indent="-191709" algn="just">
              <a:lnSpc>
                <a:spcPts val="2486"/>
              </a:lnSpc>
              <a:buAutoNum type="arabicPeriod"/>
            </a:pPr>
            <a:r>
              <a:rPr lang="en-US" sz="1775" spc="-5">
                <a:solidFill>
                  <a:srgbClr val="3A58E4"/>
                </a:solidFill>
                <a:latin typeface="Poppins"/>
                <a:ea typeface="Poppins"/>
                <a:cs typeface="Poppins"/>
                <a:sym typeface="Poppins"/>
              </a:rPr>
              <a:t>User submits subjective QoE ratings (1–5 stars)</a:t>
            </a:r>
          </a:p>
          <a:p>
            <a:pPr marL="383417" lvl="1" indent="-191709" algn="just">
              <a:lnSpc>
                <a:spcPts val="2486"/>
              </a:lnSpc>
              <a:buAutoNum type="arabicPeriod"/>
            </a:pPr>
            <a:r>
              <a:rPr lang="en-US" sz="1775" spc="-5">
                <a:solidFill>
                  <a:srgbClr val="3A58E4"/>
                </a:solidFill>
                <a:latin typeface="Poppins"/>
                <a:ea typeface="Poppins"/>
                <a:cs typeface="Poppins"/>
                <a:sym typeface="Poppins"/>
              </a:rPr>
              <a:t>App captures environmental data (GPS, network type, ISP)</a:t>
            </a:r>
          </a:p>
          <a:p>
            <a:pPr marL="383417" lvl="1" indent="-191709" algn="just">
              <a:lnSpc>
                <a:spcPts val="2486"/>
              </a:lnSpc>
              <a:buAutoNum type="arabicPeriod"/>
            </a:pPr>
            <a:r>
              <a:rPr lang="en-US" sz="1775" spc="-5">
                <a:solidFill>
                  <a:srgbClr val="3A58E4"/>
                </a:solidFill>
                <a:latin typeface="Poppins"/>
                <a:ea typeface="Poppins"/>
                <a:cs typeface="Poppins"/>
                <a:sym typeface="Poppins"/>
              </a:rPr>
              <a:t>DatabaseService saves record locally to SQLite</a:t>
            </a:r>
          </a:p>
          <a:p>
            <a:pPr marL="383417" lvl="1" indent="-191709" algn="just">
              <a:lnSpc>
                <a:spcPts val="2486"/>
              </a:lnSpc>
              <a:buAutoNum type="arabicPeriod"/>
            </a:pPr>
            <a:r>
              <a:rPr lang="en-US" sz="1775" spc="-5">
                <a:solidFill>
                  <a:srgbClr val="3A58E4"/>
                </a:solidFill>
                <a:latin typeface="Poppins"/>
                <a:ea typeface="Poppins"/>
                <a:cs typeface="Poppins"/>
                <a:sym typeface="Poppins"/>
              </a:rPr>
              <a:t>App checks network connectivity status</a:t>
            </a:r>
          </a:p>
          <a:p>
            <a:pPr marL="383417" lvl="1" indent="-191709" algn="just">
              <a:lnSpc>
                <a:spcPts val="2486"/>
              </a:lnSpc>
              <a:buAutoNum type="arabicPeriod"/>
            </a:pPr>
            <a:r>
              <a:rPr lang="en-US" sz="1775" spc="-5">
                <a:solidFill>
                  <a:srgbClr val="3A58E4"/>
                </a:solidFill>
                <a:latin typeface="Poppins"/>
                <a:ea typeface="Poppins"/>
                <a:cs typeface="Poppins"/>
                <a:sym typeface="Poppins"/>
              </a:rPr>
              <a:t>If online: DatabaseService fetches unsynced records</a:t>
            </a:r>
          </a:p>
          <a:p>
            <a:pPr marL="383417" lvl="1" indent="-191709" algn="just">
              <a:lnSpc>
                <a:spcPts val="2486"/>
              </a:lnSpc>
              <a:buAutoNum type="arabicPeriod"/>
            </a:pPr>
            <a:r>
              <a:rPr lang="en-US" sz="1775" spc="-5">
                <a:solidFill>
                  <a:srgbClr val="3A58E4"/>
                </a:solidFill>
                <a:latin typeface="Poppins"/>
                <a:ea typeface="Poppins"/>
                <a:cs typeface="Poppins"/>
                <a:sym typeface="Poppins"/>
              </a:rPr>
              <a:t>App sends bulk upload request to backend API</a:t>
            </a:r>
          </a:p>
          <a:p>
            <a:pPr marL="383417" lvl="1" indent="-191709" algn="just">
              <a:lnSpc>
                <a:spcPts val="2486"/>
              </a:lnSpc>
              <a:buAutoNum type="arabicPeriod"/>
            </a:pPr>
            <a:r>
              <a:rPr lang="en-US" sz="1775" spc="-5">
                <a:solidFill>
                  <a:srgbClr val="3A58E4"/>
                </a:solidFill>
                <a:latin typeface="Poppins"/>
                <a:ea typeface="Poppins"/>
                <a:cs typeface="Poppins"/>
                <a:sym typeface="Poppins"/>
              </a:rPr>
              <a:t>Backend validates JWT and stores to MongoDB</a:t>
            </a:r>
          </a:p>
          <a:p>
            <a:pPr marL="383417" lvl="1" indent="-191709" algn="just">
              <a:lnSpc>
                <a:spcPts val="2486"/>
              </a:lnSpc>
              <a:buAutoNum type="arabicPeriod"/>
            </a:pPr>
            <a:r>
              <a:rPr lang="en-US" sz="1775" spc="-5">
                <a:solidFill>
                  <a:srgbClr val="3A58E4"/>
                </a:solidFill>
                <a:latin typeface="Poppins"/>
                <a:ea typeface="Poppins"/>
                <a:cs typeface="Poppins"/>
                <a:sym typeface="Poppins"/>
              </a:rPr>
              <a:t>DatabaseService marks records as uploaded (flag = true)</a:t>
            </a:r>
          </a:p>
          <a:p>
            <a:pPr marL="0" lvl="0" indent="0" algn="just">
              <a:lnSpc>
                <a:spcPts val="2486"/>
              </a:lnSpc>
            </a:pPr>
            <a:r>
              <a:rPr lang="en-US" sz="1775" spc="-5">
                <a:solidFill>
                  <a:srgbClr val="3A58E4"/>
                </a:solidFill>
                <a:latin typeface="Poppins"/>
                <a:ea typeface="Poppins"/>
                <a:cs typeface="Poppins"/>
                <a:sym typeface="Poppins"/>
              </a:rPr>
              <a:t>Class Diagram – Core Classes:</a:t>
            </a:r>
          </a:p>
          <a:p>
            <a:pPr marL="0" lvl="0" indent="0" algn="just">
              <a:lnSpc>
                <a:spcPts val="2486"/>
              </a:lnSpc>
            </a:pPr>
            <a:r>
              <a:rPr lang="en-US" sz="1775" spc="-5">
                <a:solidFill>
                  <a:srgbClr val="3A58E4"/>
                </a:solidFill>
                <a:latin typeface="Poppins"/>
                <a:ea typeface="Poppins"/>
                <a:cs typeface="Poppins"/>
                <a:sym typeface="Poppins"/>
              </a:rPr>
              <a:t>• User: id, email, passwordHash, language, createdAt</a:t>
            </a:r>
          </a:p>
          <a:p>
            <a:pPr marL="0" lvl="0" indent="0" algn="just">
              <a:lnSpc>
                <a:spcPts val="2486"/>
              </a:lnSpc>
            </a:pPr>
            <a:r>
              <a:rPr lang="en-US" sz="1775" spc="-5">
                <a:solidFill>
                  <a:srgbClr val="3A58E4"/>
                </a:solidFill>
                <a:latin typeface="Poppins"/>
                <a:ea typeface="Poppins"/>
                <a:cs typeface="Poppins"/>
                <a:sym typeface="Poppins"/>
              </a:rPr>
              <a:t>• Measurement: id, userId, latency, jitter, packetLoss, downloadSpeed, uploadSpeed, signalStability, browsingSpeed, streamingQuality, timestamp, uploaded</a:t>
            </a:r>
          </a:p>
          <a:p>
            <a:pPr marL="0" lvl="0" indent="0" algn="just">
              <a:lnSpc>
                <a:spcPts val="2486"/>
              </a:lnSpc>
            </a:pPr>
            <a:r>
              <a:rPr lang="en-US" sz="1775" spc="-5">
                <a:solidFill>
                  <a:srgbClr val="3A58E4"/>
                </a:solidFill>
                <a:latin typeface="Poppins"/>
                <a:ea typeface="Poppins"/>
                <a:cs typeface="Poppins"/>
                <a:sym typeface="Poppins"/>
              </a:rPr>
              <a:t>• NetworkCell: id, measurementId, networkType, connectionStatus, ipAddress, provider, latitude, longitude</a:t>
            </a:r>
          </a:p>
          <a:p>
            <a:pPr marL="0" lvl="0" indent="0" algn="just">
              <a:lnSpc>
                <a:spcPts val="2486"/>
              </a:lnSpc>
            </a:pPr>
            <a:r>
              <a:rPr lang="en-US" sz="1775" spc="-5">
                <a:solidFill>
                  <a:srgbClr val="3A58E4"/>
                </a:solidFill>
                <a:latin typeface="Poppins"/>
                <a:ea typeface="Poppins"/>
                <a:cs typeface="Poppins"/>
                <a:sym typeface="Poppins"/>
              </a:rPr>
              <a:t>• DatabaseService: initDB(), saveMeasurement(), getUnsynced(), markUploaded()</a:t>
            </a:r>
          </a:p>
          <a:p>
            <a:pPr marL="0" lvl="0" indent="0" algn="just">
              <a:lnSpc>
                <a:spcPts val="2486"/>
              </a:lnSpc>
            </a:pPr>
            <a:r>
              <a:rPr lang="en-US" sz="1775" spc="-5">
                <a:solidFill>
                  <a:srgbClr val="3A58E4"/>
                </a:solidFill>
                <a:latin typeface="Poppins"/>
                <a:ea typeface="Poppins"/>
                <a:cs typeface="Poppins"/>
                <a:sym typeface="Poppins"/>
              </a:rPr>
              <a:t>• MetricsService: runPing(), measureJitter(), measurePacketLoss(), measureSpeed()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8784141" y="2469815"/>
            <a:ext cx="49740" cy="2131307"/>
            <a:chOff x="0" y="0"/>
            <a:chExt cx="12543" cy="537460"/>
          </a:xfrm>
        </p:grpSpPr>
        <p:sp>
          <p:nvSpPr>
            <p:cNvPr id="3" name="Freeform 3"/>
            <p:cNvSpPr/>
            <p:nvPr/>
          </p:nvSpPr>
          <p:spPr>
            <a:xfrm>
              <a:off x="0" y="0"/>
              <a:ext cx="12543" cy="537460"/>
            </a:xfrm>
            <a:custGeom>
              <a:avLst/>
              <a:gdLst/>
              <a:ahLst/>
              <a:cxnLst/>
              <a:rect l="l" t="t" r="r" b="b"/>
              <a:pathLst>
                <a:path w="12543" h="537460">
                  <a:moveTo>
                    <a:pt x="0" y="0"/>
                  </a:moveTo>
                  <a:lnTo>
                    <a:pt x="12543" y="0"/>
                  </a:lnTo>
                  <a:lnTo>
                    <a:pt x="12543" y="537460"/>
                  </a:lnTo>
                  <a:lnTo>
                    <a:pt x="0" y="537460"/>
                  </a:lnTo>
                  <a:close/>
                </a:path>
              </a:pathLst>
            </a:custGeom>
            <a:solidFill>
              <a:srgbClr val="3A58E4"/>
            </a:solidFill>
          </p:spPr>
        </p:sp>
        <p:sp>
          <p:nvSpPr>
            <p:cNvPr id="4" name="TextBox 4"/>
            <p:cNvSpPr txBox="1"/>
            <p:nvPr/>
          </p:nvSpPr>
          <p:spPr>
            <a:xfrm>
              <a:off x="0" y="-38100"/>
              <a:ext cx="12543" cy="57556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5" name="TextBox 5"/>
          <p:cNvSpPr txBox="1"/>
          <p:nvPr/>
        </p:nvSpPr>
        <p:spPr>
          <a:xfrm>
            <a:off x="8784141" y="5063141"/>
            <a:ext cx="5963604" cy="888792"/>
          </a:xfrm>
          <a:prstGeom prst="rect">
            <a:avLst/>
          </a:prstGeom>
        </p:spPr>
        <p:txBody>
          <a:bodyPr lIns="0" tIns="0" rIns="0" bIns="0" rtlCol="0" anchor="t">
            <a:spAutoFit/>
          </a:bodyPr>
          <a:lstStyle/>
          <a:p>
            <a:pPr marL="0" lvl="0" indent="0" algn="l">
              <a:lnSpc>
                <a:spcPts val="3463"/>
              </a:lnSpc>
            </a:pPr>
            <a:r>
              <a:rPr lang="en-US" sz="2473" b="1" spc="-61">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THREE CORE ENTITIES AND THEIR RELATIONSHIPS</a:t>
            </a:r>
          </a:p>
        </p:txBody>
      </p:sp>
      <p:sp>
        <p:nvSpPr>
          <p:cNvPr id="6" name="Freeform 6"/>
          <p:cNvSpPr/>
          <p:nvPr/>
        </p:nvSpPr>
        <p:spPr>
          <a:xfrm rot="-8687136">
            <a:off x="12136221" y="5582971"/>
            <a:ext cx="142794" cy="184715"/>
          </a:xfrm>
          <a:custGeom>
            <a:avLst/>
            <a:gdLst/>
            <a:ahLst/>
            <a:cxnLst/>
            <a:rect l="l" t="t" r="r" b="b"/>
            <a:pathLst>
              <a:path w="142794" h="184715">
                <a:moveTo>
                  <a:pt x="0" y="0"/>
                </a:moveTo>
                <a:lnTo>
                  <a:pt x="142794" y="0"/>
                </a:lnTo>
                <a:lnTo>
                  <a:pt x="142794" y="184716"/>
                </a:lnTo>
                <a:lnTo>
                  <a:pt x="0" y="184716"/>
                </a:lnTo>
                <a:lnTo>
                  <a:pt x="0" y="0"/>
                </a:lnTo>
                <a:close/>
              </a:path>
            </a:pathLst>
          </a:custGeom>
          <a:blipFill>
            <a:blip r:embed="rId2"/>
            <a:stretch>
              <a:fillRect/>
            </a:stretch>
          </a:blipFill>
        </p:spPr>
      </p:sp>
      <p:grpSp>
        <p:nvGrpSpPr>
          <p:cNvPr id="7" name="Group 7"/>
          <p:cNvGrpSpPr/>
          <p:nvPr/>
        </p:nvGrpSpPr>
        <p:grpSpPr>
          <a:xfrm>
            <a:off x="16438046" y="129"/>
            <a:ext cx="1849954" cy="1848037"/>
            <a:chOff x="0" y="0"/>
            <a:chExt cx="2466605" cy="2464050"/>
          </a:xfrm>
        </p:grpSpPr>
        <p:grpSp>
          <p:nvGrpSpPr>
            <p:cNvPr id="8" name="Group 8"/>
            <p:cNvGrpSpPr/>
            <p:nvPr/>
          </p:nvGrpSpPr>
          <p:grpSpPr>
            <a:xfrm>
              <a:off x="0" y="0"/>
              <a:ext cx="2466605" cy="2464050"/>
              <a:chOff x="0" y="0"/>
              <a:chExt cx="787566" cy="786750"/>
            </a:xfrm>
          </p:grpSpPr>
          <p:sp>
            <p:nvSpPr>
              <p:cNvPr id="9" name="Freeform 9"/>
              <p:cNvSpPr/>
              <p:nvPr/>
            </p:nvSpPr>
            <p:spPr>
              <a:xfrm>
                <a:off x="0" y="0"/>
                <a:ext cx="787566" cy="786750"/>
              </a:xfrm>
              <a:custGeom>
                <a:avLst/>
                <a:gdLst/>
                <a:ahLst/>
                <a:cxnLst/>
                <a:rect l="l" t="t" r="r" b="b"/>
                <a:pathLst>
                  <a:path w="787566" h="786750">
                    <a:moveTo>
                      <a:pt x="0" y="0"/>
                    </a:moveTo>
                    <a:lnTo>
                      <a:pt x="787566" y="0"/>
                    </a:lnTo>
                    <a:lnTo>
                      <a:pt x="787566" y="786750"/>
                    </a:lnTo>
                    <a:lnTo>
                      <a:pt x="0" y="786750"/>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10" name="TextBox 10"/>
              <p:cNvSpPr txBox="1"/>
              <p:nvPr/>
            </p:nvSpPr>
            <p:spPr>
              <a:xfrm>
                <a:off x="0" y="-38100"/>
                <a:ext cx="787566" cy="82485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11" name="TextBox 11"/>
            <p:cNvSpPr txBox="1"/>
            <p:nvPr/>
          </p:nvSpPr>
          <p:spPr>
            <a:xfrm>
              <a:off x="319164" y="694049"/>
              <a:ext cx="1828278" cy="1199777"/>
            </a:xfrm>
            <a:prstGeom prst="rect">
              <a:avLst/>
            </a:prstGeom>
          </p:spPr>
          <p:txBody>
            <a:bodyPr lIns="0" tIns="0" rIns="0" bIns="0" rtlCol="0" anchor="t">
              <a:spAutoFit/>
            </a:bodyPr>
            <a:lstStyle/>
            <a:p>
              <a:pPr marL="0" lvl="0" indent="0" algn="ctr">
                <a:lnSpc>
                  <a:spcPts val="6421"/>
                </a:lnSpc>
              </a:pPr>
              <a:r>
                <a:rPr lang="en-US" sz="6552" spc="-419">
                  <a:solidFill>
                    <a:srgbClr val="FFFFFF"/>
                  </a:solidFill>
                  <a:latin typeface="Bricolage Grotesque"/>
                  <a:ea typeface="Bricolage Grotesque"/>
                  <a:cs typeface="Bricolage Grotesque"/>
                  <a:sym typeface="Bricolage Grotesque"/>
                </a:rPr>
                <a:t>12</a:t>
              </a:r>
            </a:p>
          </p:txBody>
        </p:sp>
      </p:grpSp>
      <p:sp>
        <p:nvSpPr>
          <p:cNvPr id="12" name="Freeform 12"/>
          <p:cNvSpPr/>
          <p:nvPr/>
        </p:nvSpPr>
        <p:spPr>
          <a:xfrm>
            <a:off x="-1459398" y="2368602"/>
            <a:ext cx="12273781" cy="5676624"/>
          </a:xfrm>
          <a:custGeom>
            <a:avLst/>
            <a:gdLst/>
            <a:ahLst/>
            <a:cxnLst/>
            <a:rect l="l" t="t" r="r" b="b"/>
            <a:pathLst>
              <a:path w="12273781" h="5676624">
                <a:moveTo>
                  <a:pt x="0" y="0"/>
                </a:moveTo>
                <a:lnTo>
                  <a:pt x="12273781" y="0"/>
                </a:lnTo>
                <a:lnTo>
                  <a:pt x="12273781" y="5676624"/>
                </a:lnTo>
                <a:lnTo>
                  <a:pt x="0" y="5676624"/>
                </a:lnTo>
                <a:lnTo>
                  <a:pt x="0" y="0"/>
                </a:lnTo>
                <a:close/>
              </a:path>
            </a:pathLst>
          </a:custGeom>
          <a:blipFill>
            <a:blip r:embed="rId3"/>
            <a:stretch>
              <a:fillRect/>
            </a:stretch>
          </a:blipFill>
        </p:spPr>
      </p:sp>
      <p:sp>
        <p:nvSpPr>
          <p:cNvPr id="13" name="TextBox 13"/>
          <p:cNvSpPr txBox="1"/>
          <p:nvPr/>
        </p:nvSpPr>
        <p:spPr>
          <a:xfrm>
            <a:off x="9022336" y="2590881"/>
            <a:ext cx="6037131" cy="2354260"/>
          </a:xfrm>
          <a:prstGeom prst="rect">
            <a:avLst/>
          </a:prstGeom>
        </p:spPr>
        <p:txBody>
          <a:bodyPr lIns="0" tIns="0" rIns="0" bIns="0" rtlCol="0" anchor="t">
            <a:spAutoFit/>
          </a:bodyPr>
          <a:lstStyle/>
          <a:p>
            <a:pPr marL="0" lvl="0" indent="0" algn="l">
              <a:lnSpc>
                <a:spcPts val="9025"/>
              </a:lnSpc>
            </a:pPr>
            <a:r>
              <a:rPr lang="en-US" sz="9209" spc="-589">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Database Design - ERD</a:t>
            </a:r>
          </a:p>
        </p:txBody>
      </p:sp>
      <p:sp>
        <p:nvSpPr>
          <p:cNvPr id="14" name="TextBox 14"/>
          <p:cNvSpPr txBox="1"/>
          <p:nvPr/>
        </p:nvSpPr>
        <p:spPr>
          <a:xfrm>
            <a:off x="8784141" y="6784149"/>
            <a:ext cx="7651211" cy="1377053"/>
          </a:xfrm>
          <a:prstGeom prst="rect">
            <a:avLst/>
          </a:prstGeom>
        </p:spPr>
        <p:txBody>
          <a:bodyPr lIns="0" tIns="0" rIns="0" bIns="0" rtlCol="0" anchor="t">
            <a:spAutoFit/>
          </a:bodyPr>
          <a:lstStyle/>
          <a:p>
            <a:pPr marL="0" lvl="0" indent="0" algn="just">
              <a:lnSpc>
                <a:spcPts val="1867"/>
              </a:lnSpc>
            </a:pPr>
            <a:r>
              <a:rPr lang="en-US" sz="1333" spc="-4">
                <a:solidFill>
                  <a:srgbClr val="3A58E4"/>
                </a:solidFill>
                <a:latin typeface="Poppins"/>
                <a:ea typeface="Poppins"/>
                <a:cs typeface="Poppins"/>
                <a:sym typeface="Poppins"/>
              </a:rPr>
              <a:t>The database schema is built around three main entities: User (stores account credentials and profile data), Measurement (captures QoS/QoE metrics per session), and NetworkCell (records geospatial and network cell data). Relationships are one-to-many: one User can have many Measurements, and each Measurement is linked to one NetworkCell entry. Geospatial fields (latitude, longitude) use 2dsphere indexing in MongoDB for heatmap queries, while SQLite mirrors the schema locally for offline-first sync.</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6438046" y="395901"/>
            <a:ext cx="1849954" cy="1452265"/>
            <a:chOff x="0" y="0"/>
            <a:chExt cx="2466605" cy="1936353"/>
          </a:xfrm>
        </p:grpSpPr>
        <p:grpSp>
          <p:nvGrpSpPr>
            <p:cNvPr id="3" name="Group 3"/>
            <p:cNvGrpSpPr/>
            <p:nvPr/>
          </p:nvGrpSpPr>
          <p:grpSpPr>
            <a:xfrm>
              <a:off x="0" y="0"/>
              <a:ext cx="2466605" cy="1936353"/>
              <a:chOff x="0" y="0"/>
              <a:chExt cx="787566" cy="618261"/>
            </a:xfrm>
          </p:grpSpPr>
          <p:sp>
            <p:nvSpPr>
              <p:cNvPr id="4" name="Freeform 4"/>
              <p:cNvSpPr/>
              <p:nvPr/>
            </p:nvSpPr>
            <p:spPr>
              <a:xfrm>
                <a:off x="0" y="0"/>
                <a:ext cx="787566" cy="618261"/>
              </a:xfrm>
              <a:custGeom>
                <a:avLst/>
                <a:gdLst/>
                <a:ahLst/>
                <a:cxnLst/>
                <a:rect l="l" t="t" r="r" b="b"/>
                <a:pathLst>
                  <a:path w="787566" h="618261">
                    <a:moveTo>
                      <a:pt x="0" y="0"/>
                    </a:moveTo>
                    <a:lnTo>
                      <a:pt x="787566" y="0"/>
                    </a:lnTo>
                    <a:lnTo>
                      <a:pt x="787566" y="618261"/>
                    </a:lnTo>
                    <a:lnTo>
                      <a:pt x="0" y="618261"/>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5" name="TextBox 5"/>
              <p:cNvSpPr txBox="1"/>
              <p:nvPr/>
            </p:nvSpPr>
            <p:spPr>
              <a:xfrm>
                <a:off x="0" y="-38100"/>
                <a:ext cx="787566" cy="656361"/>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6" name="TextBox 6"/>
            <p:cNvSpPr txBox="1"/>
            <p:nvPr/>
          </p:nvSpPr>
          <p:spPr>
            <a:xfrm>
              <a:off x="319164" y="646424"/>
              <a:ext cx="1828278" cy="719705"/>
            </a:xfrm>
            <a:prstGeom prst="rect">
              <a:avLst/>
            </a:prstGeom>
          </p:spPr>
          <p:txBody>
            <a:bodyPr lIns="0" tIns="0" rIns="0" bIns="0" rtlCol="0" anchor="t">
              <a:spAutoFit/>
            </a:bodyPr>
            <a:lstStyle/>
            <a:p>
              <a:pPr marL="0" lvl="0" indent="0" algn="ctr">
                <a:lnSpc>
                  <a:spcPts val="3898"/>
                </a:lnSpc>
              </a:pPr>
              <a:r>
                <a:rPr lang="en-US" sz="3978" spc="-254">
                  <a:solidFill>
                    <a:srgbClr val="FFFFFF"/>
                  </a:solidFill>
                  <a:latin typeface="Bricolage Grotesque"/>
                  <a:ea typeface="Bricolage Grotesque"/>
                  <a:cs typeface="Bricolage Grotesque"/>
                  <a:sym typeface="Bricolage Grotesque"/>
                </a:rPr>
                <a:t>13</a:t>
              </a:r>
            </a:p>
          </p:txBody>
        </p:sp>
      </p:grpSp>
      <p:sp>
        <p:nvSpPr>
          <p:cNvPr id="7" name="TextBox 7"/>
          <p:cNvSpPr txBox="1"/>
          <p:nvPr/>
        </p:nvSpPr>
        <p:spPr>
          <a:xfrm>
            <a:off x="9144000" y="5871212"/>
            <a:ext cx="6563388" cy="2911536"/>
          </a:xfrm>
          <a:prstGeom prst="rect">
            <a:avLst/>
          </a:prstGeom>
        </p:spPr>
        <p:txBody>
          <a:bodyPr lIns="0" tIns="0" rIns="0" bIns="0" rtlCol="0" anchor="t">
            <a:spAutoFit/>
          </a:bodyPr>
          <a:lstStyle/>
          <a:p>
            <a:pPr marL="0" lvl="0" indent="0" algn="just">
              <a:lnSpc>
                <a:spcPts val="2147"/>
              </a:lnSpc>
            </a:pPr>
            <a:r>
              <a:rPr lang="en-US" sz="1534" spc="-4">
                <a:solidFill>
                  <a:srgbClr val="3A58E4"/>
                </a:solidFill>
                <a:latin typeface="Poppins"/>
                <a:ea typeface="Poppins"/>
                <a:cs typeface="Poppins"/>
                <a:sym typeface="Poppins"/>
              </a:rPr>
              <a:t>Each measurement session captures four key QoS indicators using automated probing techniques. Latency is measured via multiple ICMP ping probes with the average response time recorded in milliseconds. Jitter quantifies network instability as the standard deviation of successive latency values. Packet Loss is computed as the ratio of failed probes to total probes, expressed as a percentage. Download and Upload Speed are derived by dividing the transferred file size by elapsed time, reported in Mbps. Together, these metrics provide an objective, reproducible snapshot of the subscriber's real-time network quality, enabling meaningful comparisons across locations, times, and operators.</a:t>
            </a:r>
          </a:p>
        </p:txBody>
      </p:sp>
      <p:grpSp>
        <p:nvGrpSpPr>
          <p:cNvPr id="8" name="Group 8"/>
          <p:cNvGrpSpPr/>
          <p:nvPr/>
        </p:nvGrpSpPr>
        <p:grpSpPr>
          <a:xfrm>
            <a:off x="9144000" y="1783947"/>
            <a:ext cx="40440" cy="1732806"/>
            <a:chOff x="0" y="0"/>
            <a:chExt cx="12543" cy="537460"/>
          </a:xfrm>
        </p:grpSpPr>
        <p:sp>
          <p:nvSpPr>
            <p:cNvPr id="9" name="Freeform 9"/>
            <p:cNvSpPr/>
            <p:nvPr/>
          </p:nvSpPr>
          <p:spPr>
            <a:xfrm>
              <a:off x="0" y="0"/>
              <a:ext cx="12543" cy="537460"/>
            </a:xfrm>
            <a:custGeom>
              <a:avLst/>
              <a:gdLst/>
              <a:ahLst/>
              <a:cxnLst/>
              <a:rect l="l" t="t" r="r" b="b"/>
              <a:pathLst>
                <a:path w="12543" h="537460">
                  <a:moveTo>
                    <a:pt x="0" y="0"/>
                  </a:moveTo>
                  <a:lnTo>
                    <a:pt x="12543" y="0"/>
                  </a:lnTo>
                  <a:lnTo>
                    <a:pt x="12543" y="537460"/>
                  </a:lnTo>
                  <a:lnTo>
                    <a:pt x="0" y="537460"/>
                  </a:lnTo>
                  <a:close/>
                </a:path>
              </a:pathLst>
            </a:custGeom>
            <a:solidFill>
              <a:srgbClr val="3A58E4"/>
            </a:solidFill>
          </p:spPr>
        </p:sp>
        <p:sp>
          <p:nvSpPr>
            <p:cNvPr id="10" name="TextBox 10"/>
            <p:cNvSpPr txBox="1"/>
            <p:nvPr/>
          </p:nvSpPr>
          <p:spPr>
            <a:xfrm>
              <a:off x="0" y="-38100"/>
              <a:ext cx="12543" cy="57556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11" name="Group 11"/>
          <p:cNvGrpSpPr/>
          <p:nvPr/>
        </p:nvGrpSpPr>
        <p:grpSpPr>
          <a:xfrm>
            <a:off x="9144000" y="4074029"/>
            <a:ext cx="6563388" cy="360869"/>
            <a:chOff x="0" y="0"/>
            <a:chExt cx="8751183" cy="481159"/>
          </a:xfrm>
        </p:grpSpPr>
        <p:sp>
          <p:nvSpPr>
            <p:cNvPr id="12" name="TextBox 12"/>
            <p:cNvSpPr txBox="1"/>
            <p:nvPr/>
          </p:nvSpPr>
          <p:spPr>
            <a:xfrm>
              <a:off x="0" y="204032"/>
              <a:ext cx="8507297" cy="277127"/>
            </a:xfrm>
            <a:prstGeom prst="rect">
              <a:avLst/>
            </a:prstGeom>
          </p:spPr>
          <p:txBody>
            <a:bodyPr lIns="0" tIns="0" rIns="0" bIns="0" rtlCol="0" anchor="t">
              <a:spAutoFit/>
            </a:bodyPr>
            <a:lstStyle/>
            <a:p>
              <a:pPr marL="0" lvl="0" indent="0" algn="just">
                <a:lnSpc>
                  <a:spcPts val="1709"/>
                </a:lnSpc>
              </a:pPr>
              <a:r>
                <a:rPr lang="en-US" sz="1221" b="1" spc="-30">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CORE NETWORK PERFORMANCE INDICATORS COLLECTED PER MEASUREMENT SESSION</a:t>
              </a:r>
            </a:p>
          </p:txBody>
        </p:sp>
        <p:sp>
          <p:nvSpPr>
            <p:cNvPr id="13" name="Freeform 13"/>
            <p:cNvSpPr/>
            <p:nvPr/>
          </p:nvSpPr>
          <p:spPr>
            <a:xfrm rot="-8687136">
              <a:off x="8481990" y="38058"/>
              <a:ext cx="214153" cy="258866"/>
            </a:xfrm>
            <a:custGeom>
              <a:avLst/>
              <a:gdLst/>
              <a:ahLst/>
              <a:cxnLst/>
              <a:rect l="l" t="t" r="r" b="b"/>
              <a:pathLst>
                <a:path w="214153" h="258866">
                  <a:moveTo>
                    <a:pt x="0" y="0"/>
                  </a:moveTo>
                  <a:lnTo>
                    <a:pt x="214153" y="0"/>
                  </a:lnTo>
                  <a:lnTo>
                    <a:pt x="214153" y="258866"/>
                  </a:lnTo>
                  <a:lnTo>
                    <a:pt x="0" y="258866"/>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sp>
      </p:grpSp>
      <p:sp>
        <p:nvSpPr>
          <p:cNvPr id="14" name="TextBox 14"/>
          <p:cNvSpPr txBox="1"/>
          <p:nvPr/>
        </p:nvSpPr>
        <p:spPr>
          <a:xfrm>
            <a:off x="9337659" y="1808095"/>
            <a:ext cx="4908339" cy="1988353"/>
          </a:xfrm>
          <a:prstGeom prst="rect">
            <a:avLst/>
          </a:prstGeom>
        </p:spPr>
        <p:txBody>
          <a:bodyPr lIns="0" tIns="0" rIns="0" bIns="0" rtlCol="0" anchor="t">
            <a:spAutoFit/>
          </a:bodyPr>
          <a:lstStyle/>
          <a:p>
            <a:pPr marL="0" lvl="0" indent="0" algn="l">
              <a:lnSpc>
                <a:spcPts val="5118"/>
              </a:lnSpc>
            </a:pPr>
            <a:r>
              <a:rPr lang="en-US" sz="5222" spc="-334">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How We Measure: Technical QoS Metrics</a:t>
            </a:r>
          </a:p>
        </p:txBody>
      </p:sp>
      <p:grpSp>
        <p:nvGrpSpPr>
          <p:cNvPr id="15" name="Group 15"/>
          <p:cNvGrpSpPr/>
          <p:nvPr/>
        </p:nvGrpSpPr>
        <p:grpSpPr>
          <a:xfrm>
            <a:off x="1664564" y="1504251"/>
            <a:ext cx="6376039" cy="1593100"/>
            <a:chOff x="0" y="0"/>
            <a:chExt cx="2754311" cy="688185"/>
          </a:xfrm>
        </p:grpSpPr>
        <p:sp>
          <p:nvSpPr>
            <p:cNvPr id="16" name="Freeform 16"/>
            <p:cNvSpPr/>
            <p:nvPr/>
          </p:nvSpPr>
          <p:spPr>
            <a:xfrm>
              <a:off x="0" y="0"/>
              <a:ext cx="2754311" cy="688185"/>
            </a:xfrm>
            <a:custGeom>
              <a:avLst/>
              <a:gdLst/>
              <a:ahLst/>
              <a:cxnLst/>
              <a:rect l="l" t="t" r="r" b="b"/>
              <a:pathLst>
                <a:path w="2754311" h="688185">
                  <a:moveTo>
                    <a:pt x="52211" y="0"/>
                  </a:moveTo>
                  <a:lnTo>
                    <a:pt x="2702100" y="0"/>
                  </a:lnTo>
                  <a:cubicBezTo>
                    <a:pt x="2715947" y="0"/>
                    <a:pt x="2729227" y="5501"/>
                    <a:pt x="2739019" y="15292"/>
                  </a:cubicBezTo>
                  <a:cubicBezTo>
                    <a:pt x="2748810" y="25084"/>
                    <a:pt x="2754311" y="38364"/>
                    <a:pt x="2754311" y="52211"/>
                  </a:cubicBezTo>
                  <a:lnTo>
                    <a:pt x="2754311" y="635973"/>
                  </a:lnTo>
                  <a:cubicBezTo>
                    <a:pt x="2754311" y="649820"/>
                    <a:pt x="2748810" y="663101"/>
                    <a:pt x="2739019" y="672892"/>
                  </a:cubicBezTo>
                  <a:cubicBezTo>
                    <a:pt x="2729227" y="682684"/>
                    <a:pt x="2715947" y="688185"/>
                    <a:pt x="2702100" y="688185"/>
                  </a:cubicBezTo>
                  <a:lnTo>
                    <a:pt x="52211" y="688185"/>
                  </a:lnTo>
                  <a:cubicBezTo>
                    <a:pt x="38364" y="688185"/>
                    <a:pt x="25084" y="682684"/>
                    <a:pt x="15292" y="672892"/>
                  </a:cubicBezTo>
                  <a:cubicBezTo>
                    <a:pt x="5501" y="663101"/>
                    <a:pt x="0" y="649820"/>
                    <a:pt x="0" y="635973"/>
                  </a:cubicBezTo>
                  <a:lnTo>
                    <a:pt x="0" y="52211"/>
                  </a:lnTo>
                  <a:cubicBezTo>
                    <a:pt x="0" y="38364"/>
                    <a:pt x="5501" y="25084"/>
                    <a:pt x="15292" y="15292"/>
                  </a:cubicBezTo>
                  <a:cubicBezTo>
                    <a:pt x="25084" y="5501"/>
                    <a:pt x="38364" y="0"/>
                    <a:pt x="52211" y="0"/>
                  </a:cubicBez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p:spPr>
        </p:sp>
        <p:sp>
          <p:nvSpPr>
            <p:cNvPr id="17" name="TextBox 17"/>
            <p:cNvSpPr txBox="1"/>
            <p:nvPr/>
          </p:nvSpPr>
          <p:spPr>
            <a:xfrm>
              <a:off x="0" y="-38100"/>
              <a:ext cx="2754311" cy="726285"/>
            </a:xfrm>
            <a:prstGeom prst="rect">
              <a:avLst/>
            </a:prstGeom>
          </p:spPr>
          <p:txBody>
            <a:bodyPr lIns="33379" tIns="33379" rIns="33379" bIns="33379" rtlCol="0" anchor="ctr"/>
            <a:lstStyle/>
            <a:p>
              <a:pPr marL="0" lvl="0" indent="0" algn="ctr">
                <a:lnSpc>
                  <a:spcPts val="2660"/>
                </a:lnSpc>
                <a:spcBef>
                  <a:spcPct val="0"/>
                </a:spcBef>
              </a:pPr>
              <a:endParaRPr/>
            </a:p>
          </p:txBody>
        </p:sp>
      </p:grpSp>
      <p:grpSp>
        <p:nvGrpSpPr>
          <p:cNvPr id="18" name="Group 18"/>
          <p:cNvGrpSpPr/>
          <p:nvPr/>
        </p:nvGrpSpPr>
        <p:grpSpPr>
          <a:xfrm>
            <a:off x="2288087" y="1821243"/>
            <a:ext cx="5128994" cy="820612"/>
            <a:chOff x="0" y="0"/>
            <a:chExt cx="6838659" cy="1094149"/>
          </a:xfrm>
        </p:grpSpPr>
        <p:sp>
          <p:nvSpPr>
            <p:cNvPr id="19" name="TextBox 19"/>
            <p:cNvSpPr txBox="1"/>
            <p:nvPr/>
          </p:nvSpPr>
          <p:spPr>
            <a:xfrm>
              <a:off x="1589864" y="-57150"/>
              <a:ext cx="4202931" cy="325851"/>
            </a:xfrm>
            <a:prstGeom prst="rect">
              <a:avLst/>
            </a:prstGeom>
          </p:spPr>
          <p:txBody>
            <a:bodyPr lIns="0" tIns="0" rIns="0" bIns="0" rtlCol="0" anchor="t">
              <a:spAutoFit/>
            </a:bodyPr>
            <a:lstStyle/>
            <a:p>
              <a:pPr marL="0" lvl="0" indent="0" algn="just">
                <a:lnSpc>
                  <a:spcPts val="2060"/>
                </a:lnSpc>
              </a:pPr>
              <a:r>
                <a:rPr lang="en-US" sz="1355" b="1">
                  <a:solidFill>
                    <a:srgbClr val="FFFFFF"/>
                  </a:solidFill>
                  <a:latin typeface="Poppins Bold"/>
                  <a:ea typeface="Poppins Bold"/>
                  <a:cs typeface="Poppins Bold"/>
                  <a:sym typeface="Poppins Bold"/>
                </a:rPr>
                <a:t>Latency (Ping)</a:t>
              </a:r>
            </a:p>
          </p:txBody>
        </p:sp>
        <p:sp>
          <p:nvSpPr>
            <p:cNvPr id="20" name="TextBox 20"/>
            <p:cNvSpPr txBox="1"/>
            <p:nvPr/>
          </p:nvSpPr>
          <p:spPr>
            <a:xfrm>
              <a:off x="1589864" y="544130"/>
              <a:ext cx="5248795" cy="550019"/>
            </a:xfrm>
            <a:prstGeom prst="rect">
              <a:avLst/>
            </a:prstGeom>
          </p:spPr>
          <p:txBody>
            <a:bodyPr lIns="0" tIns="0" rIns="0" bIns="0" rtlCol="0" anchor="t">
              <a:spAutoFit/>
            </a:bodyPr>
            <a:lstStyle/>
            <a:p>
              <a:pPr marL="0" lvl="0" indent="0" algn="just">
                <a:lnSpc>
                  <a:spcPts val="1679"/>
                </a:lnSpc>
              </a:pPr>
              <a:r>
                <a:rPr lang="en-US" sz="1199">
                  <a:solidFill>
                    <a:srgbClr val="FFFFFF"/>
                  </a:solidFill>
                  <a:latin typeface="Poppins"/>
                  <a:ea typeface="Poppins"/>
                  <a:cs typeface="Poppins"/>
                  <a:sym typeface="Poppins"/>
                </a:rPr>
                <a:t>Multiple ICMP probes sent per session; average round-trip time recorded in milliseconds (ms).</a:t>
              </a:r>
            </a:p>
          </p:txBody>
        </p:sp>
        <p:sp>
          <p:nvSpPr>
            <p:cNvPr id="21" name="TextBox 21"/>
            <p:cNvSpPr txBox="1"/>
            <p:nvPr/>
          </p:nvSpPr>
          <p:spPr>
            <a:xfrm>
              <a:off x="0" y="168565"/>
              <a:ext cx="1165955" cy="581382"/>
            </a:xfrm>
            <a:prstGeom prst="rect">
              <a:avLst/>
            </a:prstGeom>
          </p:spPr>
          <p:txBody>
            <a:bodyPr lIns="0" tIns="0" rIns="0" bIns="0" rtlCol="0" anchor="t">
              <a:spAutoFit/>
            </a:bodyPr>
            <a:lstStyle/>
            <a:p>
              <a:pPr marL="0" lvl="0" indent="0" algn="l">
                <a:lnSpc>
                  <a:spcPts val="2818"/>
                </a:lnSpc>
              </a:pPr>
              <a:r>
                <a:rPr lang="en-US" sz="3132" spc="-93">
                  <a:solidFill>
                    <a:srgbClr val="FFFFFF"/>
                  </a:solidFill>
                  <a:latin typeface="Poppins"/>
                  <a:ea typeface="Poppins"/>
                  <a:cs typeface="Poppins"/>
                  <a:sym typeface="Poppins"/>
                </a:rPr>
                <a:t>01</a:t>
              </a:r>
            </a:p>
          </p:txBody>
        </p:sp>
      </p:grpSp>
      <p:grpSp>
        <p:nvGrpSpPr>
          <p:cNvPr id="22" name="Group 22"/>
          <p:cNvGrpSpPr/>
          <p:nvPr/>
        </p:nvGrpSpPr>
        <p:grpSpPr>
          <a:xfrm>
            <a:off x="1664564" y="3400724"/>
            <a:ext cx="6376039" cy="1593100"/>
            <a:chOff x="0" y="0"/>
            <a:chExt cx="2754311" cy="688185"/>
          </a:xfrm>
        </p:grpSpPr>
        <p:sp>
          <p:nvSpPr>
            <p:cNvPr id="23" name="Freeform 23"/>
            <p:cNvSpPr/>
            <p:nvPr/>
          </p:nvSpPr>
          <p:spPr>
            <a:xfrm>
              <a:off x="0" y="0"/>
              <a:ext cx="2754311" cy="688185"/>
            </a:xfrm>
            <a:custGeom>
              <a:avLst/>
              <a:gdLst/>
              <a:ahLst/>
              <a:cxnLst/>
              <a:rect l="l" t="t" r="r" b="b"/>
              <a:pathLst>
                <a:path w="2754311" h="688185">
                  <a:moveTo>
                    <a:pt x="52211" y="0"/>
                  </a:moveTo>
                  <a:lnTo>
                    <a:pt x="2702100" y="0"/>
                  </a:lnTo>
                  <a:cubicBezTo>
                    <a:pt x="2715947" y="0"/>
                    <a:pt x="2729227" y="5501"/>
                    <a:pt x="2739019" y="15292"/>
                  </a:cubicBezTo>
                  <a:cubicBezTo>
                    <a:pt x="2748810" y="25084"/>
                    <a:pt x="2754311" y="38364"/>
                    <a:pt x="2754311" y="52211"/>
                  </a:cubicBezTo>
                  <a:lnTo>
                    <a:pt x="2754311" y="635973"/>
                  </a:lnTo>
                  <a:cubicBezTo>
                    <a:pt x="2754311" y="649820"/>
                    <a:pt x="2748810" y="663101"/>
                    <a:pt x="2739019" y="672892"/>
                  </a:cubicBezTo>
                  <a:cubicBezTo>
                    <a:pt x="2729227" y="682684"/>
                    <a:pt x="2715947" y="688185"/>
                    <a:pt x="2702100" y="688185"/>
                  </a:cubicBezTo>
                  <a:lnTo>
                    <a:pt x="52211" y="688185"/>
                  </a:lnTo>
                  <a:cubicBezTo>
                    <a:pt x="38364" y="688185"/>
                    <a:pt x="25084" y="682684"/>
                    <a:pt x="15292" y="672892"/>
                  </a:cubicBezTo>
                  <a:cubicBezTo>
                    <a:pt x="5501" y="663101"/>
                    <a:pt x="0" y="649820"/>
                    <a:pt x="0" y="635973"/>
                  </a:cubicBezTo>
                  <a:lnTo>
                    <a:pt x="0" y="52211"/>
                  </a:lnTo>
                  <a:cubicBezTo>
                    <a:pt x="0" y="38364"/>
                    <a:pt x="5501" y="25084"/>
                    <a:pt x="15292" y="15292"/>
                  </a:cubicBezTo>
                  <a:cubicBezTo>
                    <a:pt x="25084" y="5501"/>
                    <a:pt x="38364" y="0"/>
                    <a:pt x="52211" y="0"/>
                  </a:cubicBezTo>
                  <a:close/>
                </a:path>
              </a:pathLst>
            </a:custGeom>
            <a:ln w="38100" cap="rnd">
              <a:gradFill>
                <a:gsLst>
                  <a:gs pos="0">
                    <a:srgbClr val="3A58E4">
                      <a:alpha val="100000"/>
                    </a:srgbClr>
                  </a:gs>
                  <a:gs pos="100000">
                    <a:srgbClr val="293E9C">
                      <a:alpha val="100000"/>
                    </a:srgbClr>
                  </a:gs>
                </a:gsLst>
                <a:path path="circle">
                  <a:fillToRect r="100000" b="100000"/>
                </a:path>
                <a:tileRect l="-100000" t="-100000"/>
              </a:gradFill>
              <a:prstDash val="solid"/>
              <a:round/>
            </a:ln>
          </p:spPr>
        </p:sp>
        <p:sp>
          <p:nvSpPr>
            <p:cNvPr id="24" name="TextBox 24"/>
            <p:cNvSpPr txBox="1"/>
            <p:nvPr/>
          </p:nvSpPr>
          <p:spPr>
            <a:xfrm>
              <a:off x="0" y="-38100"/>
              <a:ext cx="2754311" cy="726285"/>
            </a:xfrm>
            <a:prstGeom prst="rect">
              <a:avLst/>
            </a:prstGeom>
          </p:spPr>
          <p:txBody>
            <a:bodyPr lIns="33379" tIns="33379" rIns="33379" bIns="33379" rtlCol="0" anchor="ctr"/>
            <a:lstStyle/>
            <a:p>
              <a:pPr marL="0" lvl="0" indent="0" algn="ctr">
                <a:lnSpc>
                  <a:spcPts val="2660"/>
                </a:lnSpc>
                <a:spcBef>
                  <a:spcPct val="0"/>
                </a:spcBef>
              </a:pPr>
              <a:endParaRPr/>
            </a:p>
          </p:txBody>
        </p:sp>
      </p:grpSp>
      <p:grpSp>
        <p:nvGrpSpPr>
          <p:cNvPr id="25" name="Group 25"/>
          <p:cNvGrpSpPr/>
          <p:nvPr/>
        </p:nvGrpSpPr>
        <p:grpSpPr>
          <a:xfrm>
            <a:off x="2288087" y="3734859"/>
            <a:ext cx="5128994" cy="1027513"/>
            <a:chOff x="0" y="0"/>
            <a:chExt cx="6838659" cy="1370018"/>
          </a:xfrm>
        </p:grpSpPr>
        <p:sp>
          <p:nvSpPr>
            <p:cNvPr id="26" name="TextBox 26"/>
            <p:cNvSpPr txBox="1"/>
            <p:nvPr/>
          </p:nvSpPr>
          <p:spPr>
            <a:xfrm>
              <a:off x="1589864" y="-57150"/>
              <a:ext cx="4202931" cy="325851"/>
            </a:xfrm>
            <a:prstGeom prst="rect">
              <a:avLst/>
            </a:prstGeom>
          </p:spPr>
          <p:txBody>
            <a:bodyPr lIns="0" tIns="0" rIns="0" bIns="0" rtlCol="0" anchor="t">
              <a:spAutoFit/>
            </a:bodyPr>
            <a:lstStyle/>
            <a:p>
              <a:pPr marL="0" lvl="0" indent="0" algn="just">
                <a:lnSpc>
                  <a:spcPts val="2060"/>
                </a:lnSpc>
              </a:pPr>
              <a:r>
                <a:rPr lang="en-US" sz="1355" b="1">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Jitter</a:t>
              </a:r>
            </a:p>
          </p:txBody>
        </p:sp>
        <p:sp>
          <p:nvSpPr>
            <p:cNvPr id="27" name="TextBox 27"/>
            <p:cNvSpPr txBox="1"/>
            <p:nvPr/>
          </p:nvSpPr>
          <p:spPr>
            <a:xfrm>
              <a:off x="1589864" y="544130"/>
              <a:ext cx="5248795" cy="825888"/>
            </a:xfrm>
            <a:prstGeom prst="rect">
              <a:avLst/>
            </a:prstGeom>
          </p:spPr>
          <p:txBody>
            <a:bodyPr lIns="0" tIns="0" rIns="0" bIns="0" rtlCol="0" anchor="t">
              <a:spAutoFit/>
            </a:bodyPr>
            <a:lstStyle/>
            <a:p>
              <a:pPr marL="0" lvl="0" indent="0" algn="just">
                <a:lnSpc>
                  <a:spcPts val="1690"/>
                </a:lnSpc>
              </a:pPr>
              <a:r>
                <a:rPr lang="en-US" sz="1207">
                  <a:gradFill>
                    <a:gsLst>
                      <a:gs pos="0">
                        <a:srgbClr val="3A58E4">
                          <a:alpha val="100000"/>
                        </a:srgbClr>
                      </a:gs>
                      <a:gs pos="100000">
                        <a:srgbClr val="293E9C">
                          <a:alpha val="100000"/>
                        </a:srgbClr>
                      </a:gs>
                    </a:gsLst>
                    <a:path path="circle">
                      <a:fillToRect r="100000" b="100000"/>
                    </a:path>
                    <a:tileRect l="-100000" t="-100000"/>
                  </a:gradFill>
                  <a:latin typeface="Poppins"/>
                  <a:ea typeface="Poppins"/>
                  <a:cs typeface="Poppins"/>
                  <a:sym typeface="Poppins"/>
                </a:rPr>
                <a:t>Standard deviation of successive latency samples; higher jitter indicates unstable network conditions (ms).</a:t>
              </a:r>
            </a:p>
          </p:txBody>
        </p:sp>
        <p:sp>
          <p:nvSpPr>
            <p:cNvPr id="28" name="TextBox 28"/>
            <p:cNvSpPr txBox="1"/>
            <p:nvPr/>
          </p:nvSpPr>
          <p:spPr>
            <a:xfrm>
              <a:off x="0" y="132399"/>
              <a:ext cx="1165955" cy="581382"/>
            </a:xfrm>
            <a:prstGeom prst="rect">
              <a:avLst/>
            </a:prstGeom>
          </p:spPr>
          <p:txBody>
            <a:bodyPr lIns="0" tIns="0" rIns="0" bIns="0" rtlCol="0" anchor="t">
              <a:spAutoFit/>
            </a:bodyPr>
            <a:lstStyle/>
            <a:p>
              <a:pPr marL="0" lvl="0" indent="0" algn="l">
                <a:lnSpc>
                  <a:spcPts val="2818"/>
                </a:lnSpc>
              </a:pPr>
              <a:r>
                <a:rPr lang="en-US" sz="3132" spc="-93">
                  <a:gradFill>
                    <a:gsLst>
                      <a:gs pos="0">
                        <a:srgbClr val="3A58E4">
                          <a:alpha val="100000"/>
                        </a:srgbClr>
                      </a:gs>
                      <a:gs pos="100000">
                        <a:srgbClr val="293E9C">
                          <a:alpha val="100000"/>
                        </a:srgbClr>
                      </a:gs>
                    </a:gsLst>
                    <a:path path="circle">
                      <a:fillToRect r="100000" b="100000"/>
                    </a:path>
                    <a:tileRect l="-100000" t="-100000"/>
                  </a:gradFill>
                  <a:latin typeface="Poppins"/>
                  <a:ea typeface="Poppins"/>
                  <a:cs typeface="Poppins"/>
                  <a:sym typeface="Poppins"/>
                </a:rPr>
                <a:t>02</a:t>
              </a:r>
            </a:p>
          </p:txBody>
        </p:sp>
      </p:grpSp>
      <p:grpSp>
        <p:nvGrpSpPr>
          <p:cNvPr id="29" name="Group 29"/>
          <p:cNvGrpSpPr/>
          <p:nvPr/>
        </p:nvGrpSpPr>
        <p:grpSpPr>
          <a:xfrm>
            <a:off x="1664564" y="5293177"/>
            <a:ext cx="6376039" cy="1593100"/>
            <a:chOff x="0" y="0"/>
            <a:chExt cx="2754311" cy="688185"/>
          </a:xfrm>
        </p:grpSpPr>
        <p:sp>
          <p:nvSpPr>
            <p:cNvPr id="30" name="Freeform 30"/>
            <p:cNvSpPr/>
            <p:nvPr/>
          </p:nvSpPr>
          <p:spPr>
            <a:xfrm>
              <a:off x="0" y="0"/>
              <a:ext cx="2754311" cy="688185"/>
            </a:xfrm>
            <a:custGeom>
              <a:avLst/>
              <a:gdLst/>
              <a:ahLst/>
              <a:cxnLst/>
              <a:rect l="l" t="t" r="r" b="b"/>
              <a:pathLst>
                <a:path w="2754311" h="688185">
                  <a:moveTo>
                    <a:pt x="52211" y="0"/>
                  </a:moveTo>
                  <a:lnTo>
                    <a:pt x="2702100" y="0"/>
                  </a:lnTo>
                  <a:cubicBezTo>
                    <a:pt x="2715947" y="0"/>
                    <a:pt x="2729227" y="5501"/>
                    <a:pt x="2739019" y="15292"/>
                  </a:cubicBezTo>
                  <a:cubicBezTo>
                    <a:pt x="2748810" y="25084"/>
                    <a:pt x="2754311" y="38364"/>
                    <a:pt x="2754311" y="52211"/>
                  </a:cubicBezTo>
                  <a:lnTo>
                    <a:pt x="2754311" y="635973"/>
                  </a:lnTo>
                  <a:cubicBezTo>
                    <a:pt x="2754311" y="649820"/>
                    <a:pt x="2748810" y="663101"/>
                    <a:pt x="2739019" y="672892"/>
                  </a:cubicBezTo>
                  <a:cubicBezTo>
                    <a:pt x="2729227" y="682684"/>
                    <a:pt x="2715947" y="688185"/>
                    <a:pt x="2702100" y="688185"/>
                  </a:cubicBezTo>
                  <a:lnTo>
                    <a:pt x="52211" y="688185"/>
                  </a:lnTo>
                  <a:cubicBezTo>
                    <a:pt x="38364" y="688185"/>
                    <a:pt x="25084" y="682684"/>
                    <a:pt x="15292" y="672892"/>
                  </a:cubicBezTo>
                  <a:cubicBezTo>
                    <a:pt x="5501" y="663101"/>
                    <a:pt x="0" y="649820"/>
                    <a:pt x="0" y="635973"/>
                  </a:cubicBezTo>
                  <a:lnTo>
                    <a:pt x="0" y="52211"/>
                  </a:lnTo>
                  <a:cubicBezTo>
                    <a:pt x="0" y="38364"/>
                    <a:pt x="5501" y="25084"/>
                    <a:pt x="15292" y="15292"/>
                  </a:cubicBezTo>
                  <a:cubicBezTo>
                    <a:pt x="25084" y="5501"/>
                    <a:pt x="38364" y="0"/>
                    <a:pt x="52211" y="0"/>
                  </a:cubicBez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p:spPr>
        </p:sp>
        <p:sp>
          <p:nvSpPr>
            <p:cNvPr id="31" name="TextBox 31"/>
            <p:cNvSpPr txBox="1"/>
            <p:nvPr/>
          </p:nvSpPr>
          <p:spPr>
            <a:xfrm>
              <a:off x="0" y="-38100"/>
              <a:ext cx="2754311" cy="726285"/>
            </a:xfrm>
            <a:prstGeom prst="rect">
              <a:avLst/>
            </a:prstGeom>
          </p:spPr>
          <p:txBody>
            <a:bodyPr lIns="33379" tIns="33379" rIns="33379" bIns="33379" rtlCol="0" anchor="ctr"/>
            <a:lstStyle/>
            <a:p>
              <a:pPr marL="0" lvl="0" indent="0" algn="ctr">
                <a:lnSpc>
                  <a:spcPts val="2660"/>
                </a:lnSpc>
                <a:spcBef>
                  <a:spcPct val="0"/>
                </a:spcBef>
              </a:pPr>
              <a:endParaRPr/>
            </a:p>
          </p:txBody>
        </p:sp>
      </p:grpSp>
      <p:grpSp>
        <p:nvGrpSpPr>
          <p:cNvPr id="32" name="Group 32"/>
          <p:cNvGrpSpPr/>
          <p:nvPr/>
        </p:nvGrpSpPr>
        <p:grpSpPr>
          <a:xfrm>
            <a:off x="2288087" y="5639303"/>
            <a:ext cx="5128994" cy="820612"/>
            <a:chOff x="0" y="0"/>
            <a:chExt cx="6838659" cy="1094149"/>
          </a:xfrm>
        </p:grpSpPr>
        <p:sp>
          <p:nvSpPr>
            <p:cNvPr id="33" name="TextBox 33"/>
            <p:cNvSpPr txBox="1"/>
            <p:nvPr/>
          </p:nvSpPr>
          <p:spPr>
            <a:xfrm>
              <a:off x="1589864" y="-57150"/>
              <a:ext cx="4202931" cy="325851"/>
            </a:xfrm>
            <a:prstGeom prst="rect">
              <a:avLst/>
            </a:prstGeom>
          </p:spPr>
          <p:txBody>
            <a:bodyPr lIns="0" tIns="0" rIns="0" bIns="0" rtlCol="0" anchor="t">
              <a:spAutoFit/>
            </a:bodyPr>
            <a:lstStyle/>
            <a:p>
              <a:pPr marL="0" lvl="0" indent="0" algn="just">
                <a:lnSpc>
                  <a:spcPts val="2060"/>
                </a:lnSpc>
              </a:pPr>
              <a:r>
                <a:rPr lang="en-US" sz="1355" b="1">
                  <a:solidFill>
                    <a:srgbClr val="FFFFFF"/>
                  </a:solidFill>
                  <a:latin typeface="Poppins Bold"/>
                  <a:ea typeface="Poppins Bold"/>
                  <a:cs typeface="Poppins Bold"/>
                  <a:sym typeface="Poppins Bold"/>
                </a:rPr>
                <a:t>Packet Loss</a:t>
              </a:r>
            </a:p>
          </p:txBody>
        </p:sp>
        <p:sp>
          <p:nvSpPr>
            <p:cNvPr id="34" name="TextBox 34"/>
            <p:cNvSpPr txBox="1"/>
            <p:nvPr/>
          </p:nvSpPr>
          <p:spPr>
            <a:xfrm>
              <a:off x="1589864" y="544130"/>
              <a:ext cx="5248795" cy="550019"/>
            </a:xfrm>
            <a:prstGeom prst="rect">
              <a:avLst/>
            </a:prstGeom>
          </p:spPr>
          <p:txBody>
            <a:bodyPr lIns="0" tIns="0" rIns="0" bIns="0" rtlCol="0" anchor="t">
              <a:spAutoFit/>
            </a:bodyPr>
            <a:lstStyle/>
            <a:p>
              <a:pPr marL="0" lvl="0" indent="0" algn="just">
                <a:lnSpc>
                  <a:spcPts val="1679"/>
                </a:lnSpc>
              </a:pPr>
              <a:r>
                <a:rPr lang="en-US" sz="1199">
                  <a:solidFill>
                    <a:srgbClr val="FFFFFF"/>
                  </a:solidFill>
                  <a:latin typeface="Poppins"/>
                  <a:ea typeface="Poppins"/>
                  <a:cs typeface="Poppins"/>
                  <a:sym typeface="Poppins"/>
                </a:rPr>
                <a:t>Calculated as: (Failed Probes ÷ Total Probes) × 100%. Indicates link reliability and congestion level.</a:t>
              </a:r>
            </a:p>
          </p:txBody>
        </p:sp>
        <p:sp>
          <p:nvSpPr>
            <p:cNvPr id="35" name="TextBox 35"/>
            <p:cNvSpPr txBox="1"/>
            <p:nvPr/>
          </p:nvSpPr>
          <p:spPr>
            <a:xfrm>
              <a:off x="0" y="174625"/>
              <a:ext cx="1165955" cy="581382"/>
            </a:xfrm>
            <a:prstGeom prst="rect">
              <a:avLst/>
            </a:prstGeom>
          </p:spPr>
          <p:txBody>
            <a:bodyPr lIns="0" tIns="0" rIns="0" bIns="0" rtlCol="0" anchor="t">
              <a:spAutoFit/>
            </a:bodyPr>
            <a:lstStyle/>
            <a:p>
              <a:pPr marL="0" lvl="0" indent="0" algn="l">
                <a:lnSpc>
                  <a:spcPts val="2818"/>
                </a:lnSpc>
              </a:pPr>
              <a:r>
                <a:rPr lang="en-US" sz="3132" spc="-93">
                  <a:solidFill>
                    <a:srgbClr val="FFFFFF"/>
                  </a:solidFill>
                  <a:latin typeface="Poppins"/>
                  <a:ea typeface="Poppins"/>
                  <a:cs typeface="Poppins"/>
                  <a:sym typeface="Poppins"/>
                </a:rPr>
                <a:t>03</a:t>
              </a:r>
            </a:p>
          </p:txBody>
        </p:sp>
      </p:grpSp>
      <p:grpSp>
        <p:nvGrpSpPr>
          <p:cNvPr id="36" name="Group 36"/>
          <p:cNvGrpSpPr/>
          <p:nvPr/>
        </p:nvGrpSpPr>
        <p:grpSpPr>
          <a:xfrm>
            <a:off x="1664564" y="7189649"/>
            <a:ext cx="6376039" cy="1593100"/>
            <a:chOff x="0" y="0"/>
            <a:chExt cx="2754311" cy="688185"/>
          </a:xfrm>
        </p:grpSpPr>
        <p:sp>
          <p:nvSpPr>
            <p:cNvPr id="37" name="Freeform 37"/>
            <p:cNvSpPr/>
            <p:nvPr/>
          </p:nvSpPr>
          <p:spPr>
            <a:xfrm>
              <a:off x="0" y="0"/>
              <a:ext cx="2754311" cy="688185"/>
            </a:xfrm>
            <a:custGeom>
              <a:avLst/>
              <a:gdLst/>
              <a:ahLst/>
              <a:cxnLst/>
              <a:rect l="l" t="t" r="r" b="b"/>
              <a:pathLst>
                <a:path w="2754311" h="688185">
                  <a:moveTo>
                    <a:pt x="52211" y="0"/>
                  </a:moveTo>
                  <a:lnTo>
                    <a:pt x="2702100" y="0"/>
                  </a:lnTo>
                  <a:cubicBezTo>
                    <a:pt x="2715947" y="0"/>
                    <a:pt x="2729227" y="5501"/>
                    <a:pt x="2739019" y="15292"/>
                  </a:cubicBezTo>
                  <a:cubicBezTo>
                    <a:pt x="2748810" y="25084"/>
                    <a:pt x="2754311" y="38364"/>
                    <a:pt x="2754311" y="52211"/>
                  </a:cubicBezTo>
                  <a:lnTo>
                    <a:pt x="2754311" y="635973"/>
                  </a:lnTo>
                  <a:cubicBezTo>
                    <a:pt x="2754311" y="649820"/>
                    <a:pt x="2748810" y="663101"/>
                    <a:pt x="2739019" y="672892"/>
                  </a:cubicBezTo>
                  <a:cubicBezTo>
                    <a:pt x="2729227" y="682684"/>
                    <a:pt x="2715947" y="688185"/>
                    <a:pt x="2702100" y="688185"/>
                  </a:cubicBezTo>
                  <a:lnTo>
                    <a:pt x="52211" y="688185"/>
                  </a:lnTo>
                  <a:cubicBezTo>
                    <a:pt x="38364" y="688185"/>
                    <a:pt x="25084" y="682684"/>
                    <a:pt x="15292" y="672892"/>
                  </a:cubicBezTo>
                  <a:cubicBezTo>
                    <a:pt x="5501" y="663101"/>
                    <a:pt x="0" y="649820"/>
                    <a:pt x="0" y="635973"/>
                  </a:cubicBezTo>
                  <a:lnTo>
                    <a:pt x="0" y="52211"/>
                  </a:lnTo>
                  <a:cubicBezTo>
                    <a:pt x="0" y="38364"/>
                    <a:pt x="5501" y="25084"/>
                    <a:pt x="15292" y="15292"/>
                  </a:cubicBezTo>
                  <a:cubicBezTo>
                    <a:pt x="25084" y="5501"/>
                    <a:pt x="38364" y="0"/>
                    <a:pt x="52211" y="0"/>
                  </a:cubicBezTo>
                  <a:close/>
                </a:path>
              </a:pathLst>
            </a:custGeom>
            <a:ln w="38100" cap="rnd">
              <a:gradFill>
                <a:gsLst>
                  <a:gs pos="0">
                    <a:srgbClr val="3A58E4">
                      <a:alpha val="100000"/>
                    </a:srgbClr>
                  </a:gs>
                  <a:gs pos="100000">
                    <a:srgbClr val="293E9C">
                      <a:alpha val="100000"/>
                    </a:srgbClr>
                  </a:gs>
                </a:gsLst>
                <a:path path="circle">
                  <a:fillToRect r="100000" b="100000"/>
                </a:path>
                <a:tileRect l="-100000" t="-100000"/>
              </a:gradFill>
              <a:prstDash val="solid"/>
              <a:round/>
            </a:ln>
          </p:spPr>
        </p:sp>
        <p:sp>
          <p:nvSpPr>
            <p:cNvPr id="38" name="TextBox 38"/>
            <p:cNvSpPr txBox="1"/>
            <p:nvPr/>
          </p:nvSpPr>
          <p:spPr>
            <a:xfrm>
              <a:off x="0" y="-38100"/>
              <a:ext cx="2754311" cy="726285"/>
            </a:xfrm>
            <a:prstGeom prst="rect">
              <a:avLst/>
            </a:prstGeom>
          </p:spPr>
          <p:txBody>
            <a:bodyPr lIns="33379" tIns="33379" rIns="33379" bIns="33379" rtlCol="0" anchor="ctr"/>
            <a:lstStyle/>
            <a:p>
              <a:pPr marL="0" lvl="0" indent="0" algn="ctr">
                <a:lnSpc>
                  <a:spcPts val="2660"/>
                </a:lnSpc>
                <a:spcBef>
                  <a:spcPct val="0"/>
                </a:spcBef>
              </a:pPr>
              <a:endParaRPr/>
            </a:p>
          </p:txBody>
        </p:sp>
      </p:grpSp>
      <p:grpSp>
        <p:nvGrpSpPr>
          <p:cNvPr id="39" name="Group 39"/>
          <p:cNvGrpSpPr/>
          <p:nvPr/>
        </p:nvGrpSpPr>
        <p:grpSpPr>
          <a:xfrm>
            <a:off x="2288087" y="7532526"/>
            <a:ext cx="5128994" cy="820612"/>
            <a:chOff x="0" y="0"/>
            <a:chExt cx="6838659" cy="1094149"/>
          </a:xfrm>
        </p:grpSpPr>
        <p:sp>
          <p:nvSpPr>
            <p:cNvPr id="40" name="TextBox 40"/>
            <p:cNvSpPr txBox="1"/>
            <p:nvPr/>
          </p:nvSpPr>
          <p:spPr>
            <a:xfrm>
              <a:off x="1589864" y="-57150"/>
              <a:ext cx="4202931" cy="325851"/>
            </a:xfrm>
            <a:prstGeom prst="rect">
              <a:avLst/>
            </a:prstGeom>
          </p:spPr>
          <p:txBody>
            <a:bodyPr lIns="0" tIns="0" rIns="0" bIns="0" rtlCol="0" anchor="t">
              <a:spAutoFit/>
            </a:bodyPr>
            <a:lstStyle/>
            <a:p>
              <a:pPr marL="0" lvl="0" indent="0" algn="just">
                <a:lnSpc>
                  <a:spcPts val="2060"/>
                </a:lnSpc>
              </a:pPr>
              <a:r>
                <a:rPr lang="en-US" sz="1355" b="1">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Download / Upload Speed</a:t>
              </a:r>
            </a:p>
          </p:txBody>
        </p:sp>
        <p:sp>
          <p:nvSpPr>
            <p:cNvPr id="41" name="TextBox 41"/>
            <p:cNvSpPr txBox="1"/>
            <p:nvPr/>
          </p:nvSpPr>
          <p:spPr>
            <a:xfrm>
              <a:off x="1589864" y="544130"/>
              <a:ext cx="5248795" cy="550019"/>
            </a:xfrm>
            <a:prstGeom prst="rect">
              <a:avLst/>
            </a:prstGeom>
          </p:spPr>
          <p:txBody>
            <a:bodyPr lIns="0" tIns="0" rIns="0" bIns="0" rtlCol="0" anchor="t">
              <a:spAutoFit/>
            </a:bodyPr>
            <a:lstStyle/>
            <a:p>
              <a:pPr marL="0" lvl="0" indent="0" algn="just">
                <a:lnSpc>
                  <a:spcPts val="1679"/>
                </a:lnSpc>
              </a:pPr>
              <a:r>
                <a:rPr lang="en-US" sz="1199">
                  <a:gradFill>
                    <a:gsLst>
                      <a:gs pos="0">
                        <a:srgbClr val="3A58E4">
                          <a:alpha val="100000"/>
                        </a:srgbClr>
                      </a:gs>
                      <a:gs pos="100000">
                        <a:srgbClr val="293E9C">
                          <a:alpha val="100000"/>
                        </a:srgbClr>
                      </a:gs>
                    </a:gsLst>
                    <a:path path="circle">
                      <a:fillToRect r="100000" b="100000"/>
                    </a:path>
                    <a:tileRect l="-100000" t="-100000"/>
                  </a:gradFill>
                  <a:latin typeface="Poppins"/>
                  <a:ea typeface="Poppins"/>
                  <a:cs typeface="Poppins"/>
                  <a:sym typeface="Poppins"/>
                </a:rPr>
                <a:t>File size divided by transfer time; both directions measured independently and reported in Mbps.</a:t>
              </a:r>
            </a:p>
          </p:txBody>
        </p:sp>
        <p:sp>
          <p:nvSpPr>
            <p:cNvPr id="42" name="TextBox 42"/>
            <p:cNvSpPr txBox="1"/>
            <p:nvPr/>
          </p:nvSpPr>
          <p:spPr>
            <a:xfrm>
              <a:off x="0" y="138459"/>
              <a:ext cx="1165955" cy="581382"/>
            </a:xfrm>
            <a:prstGeom prst="rect">
              <a:avLst/>
            </a:prstGeom>
          </p:spPr>
          <p:txBody>
            <a:bodyPr lIns="0" tIns="0" rIns="0" bIns="0" rtlCol="0" anchor="t">
              <a:spAutoFit/>
            </a:bodyPr>
            <a:lstStyle/>
            <a:p>
              <a:pPr marL="0" lvl="0" indent="0" algn="l">
                <a:lnSpc>
                  <a:spcPts val="2818"/>
                </a:lnSpc>
              </a:pPr>
              <a:r>
                <a:rPr lang="en-US" sz="3132" spc="-93">
                  <a:gradFill>
                    <a:gsLst>
                      <a:gs pos="0">
                        <a:srgbClr val="3A58E4">
                          <a:alpha val="100000"/>
                        </a:srgbClr>
                      </a:gs>
                      <a:gs pos="100000">
                        <a:srgbClr val="293E9C">
                          <a:alpha val="100000"/>
                        </a:srgbClr>
                      </a:gs>
                    </a:gsLst>
                    <a:path path="circle">
                      <a:fillToRect r="100000" b="100000"/>
                    </a:path>
                    <a:tileRect l="-100000" t="-100000"/>
                  </a:gradFill>
                  <a:latin typeface="Poppins"/>
                  <a:ea typeface="Poppins"/>
                  <a:cs typeface="Poppins"/>
                  <a:sym typeface="Poppins"/>
                </a:rPr>
                <a:t>04</a:t>
              </a:r>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6938179" cy="10287000"/>
            <a:chOff x="0" y="0"/>
            <a:chExt cx="1827339" cy="2709333"/>
          </a:xfrm>
        </p:grpSpPr>
        <p:sp>
          <p:nvSpPr>
            <p:cNvPr id="3" name="Freeform 3"/>
            <p:cNvSpPr/>
            <p:nvPr/>
          </p:nvSpPr>
          <p:spPr>
            <a:xfrm>
              <a:off x="0" y="0"/>
              <a:ext cx="1827339" cy="2709333"/>
            </a:xfrm>
            <a:custGeom>
              <a:avLst/>
              <a:gdLst/>
              <a:ahLst/>
              <a:cxnLst/>
              <a:rect l="l" t="t" r="r" b="b"/>
              <a:pathLst>
                <a:path w="1827339" h="2709333">
                  <a:moveTo>
                    <a:pt x="0" y="0"/>
                  </a:moveTo>
                  <a:lnTo>
                    <a:pt x="1827339" y="0"/>
                  </a:lnTo>
                  <a:lnTo>
                    <a:pt x="1827339" y="2709333"/>
                  </a:lnTo>
                  <a:lnTo>
                    <a:pt x="0" y="2709333"/>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4" name="TextBox 4"/>
            <p:cNvSpPr txBox="1"/>
            <p:nvPr/>
          </p:nvSpPr>
          <p:spPr>
            <a:xfrm>
              <a:off x="0" y="-38100"/>
              <a:ext cx="1827339" cy="2747433"/>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5" name="Freeform 5"/>
          <p:cNvSpPr/>
          <p:nvPr/>
        </p:nvSpPr>
        <p:spPr>
          <a:xfrm>
            <a:off x="-31157663" y="3952828"/>
            <a:ext cx="114837092" cy="1004825"/>
          </a:xfrm>
          <a:custGeom>
            <a:avLst/>
            <a:gdLst/>
            <a:ahLst/>
            <a:cxnLst/>
            <a:rect l="l" t="t" r="r" b="b"/>
            <a:pathLst>
              <a:path w="114837092" h="1004825">
                <a:moveTo>
                  <a:pt x="0" y="0"/>
                </a:moveTo>
                <a:lnTo>
                  <a:pt x="114837092" y="0"/>
                </a:lnTo>
                <a:lnTo>
                  <a:pt x="114837092" y="1004824"/>
                </a:lnTo>
                <a:lnTo>
                  <a:pt x="0" y="1004824"/>
                </a:lnTo>
                <a:lnTo>
                  <a:pt x="0" y="0"/>
                </a:lnTo>
                <a:close/>
              </a:path>
            </a:pathLst>
          </a:custGeom>
          <a:blipFill>
            <a:blip r:embed="rId2"/>
            <a:stretch>
              <a:fillRect/>
            </a:stretch>
          </a:blipFill>
        </p:spPr>
      </p:sp>
      <p:grpSp>
        <p:nvGrpSpPr>
          <p:cNvPr id="6" name="Group 6"/>
          <p:cNvGrpSpPr/>
          <p:nvPr/>
        </p:nvGrpSpPr>
        <p:grpSpPr>
          <a:xfrm>
            <a:off x="5459316" y="1438329"/>
            <a:ext cx="2920486" cy="2916826"/>
            <a:chOff x="0" y="0"/>
            <a:chExt cx="567580" cy="566868"/>
          </a:xfrm>
        </p:grpSpPr>
        <p:sp>
          <p:nvSpPr>
            <p:cNvPr id="7" name="Freeform 7"/>
            <p:cNvSpPr/>
            <p:nvPr/>
          </p:nvSpPr>
          <p:spPr>
            <a:xfrm>
              <a:off x="0" y="0"/>
              <a:ext cx="567580" cy="566868"/>
            </a:xfrm>
            <a:custGeom>
              <a:avLst/>
              <a:gdLst/>
              <a:ahLst/>
              <a:cxnLst/>
              <a:rect l="l" t="t" r="r" b="b"/>
              <a:pathLst>
                <a:path w="567580" h="566868">
                  <a:moveTo>
                    <a:pt x="119291" y="0"/>
                  </a:moveTo>
                  <a:lnTo>
                    <a:pt x="448289" y="0"/>
                  </a:lnTo>
                  <a:cubicBezTo>
                    <a:pt x="514171" y="0"/>
                    <a:pt x="567580" y="53408"/>
                    <a:pt x="567580" y="119291"/>
                  </a:cubicBezTo>
                  <a:lnTo>
                    <a:pt x="567580" y="447578"/>
                  </a:lnTo>
                  <a:cubicBezTo>
                    <a:pt x="567580" y="479216"/>
                    <a:pt x="555012" y="509558"/>
                    <a:pt x="532640" y="531929"/>
                  </a:cubicBezTo>
                  <a:cubicBezTo>
                    <a:pt x="510269" y="554300"/>
                    <a:pt x="479927" y="566868"/>
                    <a:pt x="448289" y="566868"/>
                  </a:cubicBezTo>
                  <a:lnTo>
                    <a:pt x="119291" y="566868"/>
                  </a:lnTo>
                  <a:cubicBezTo>
                    <a:pt x="87653" y="566868"/>
                    <a:pt x="57311" y="554300"/>
                    <a:pt x="34939" y="531929"/>
                  </a:cubicBezTo>
                  <a:cubicBezTo>
                    <a:pt x="12568" y="509558"/>
                    <a:pt x="0" y="479216"/>
                    <a:pt x="0" y="447578"/>
                  </a:cubicBezTo>
                  <a:lnTo>
                    <a:pt x="0" y="119291"/>
                  </a:lnTo>
                  <a:cubicBezTo>
                    <a:pt x="0" y="53408"/>
                    <a:pt x="53408" y="0"/>
                    <a:pt x="119291" y="0"/>
                  </a:cubicBez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a:ln cap="rnd">
              <a:noFill/>
              <a:prstDash val="solid"/>
              <a:round/>
            </a:ln>
          </p:spPr>
        </p:sp>
        <p:sp>
          <p:nvSpPr>
            <p:cNvPr id="8" name="TextBox 8"/>
            <p:cNvSpPr txBox="1"/>
            <p:nvPr/>
          </p:nvSpPr>
          <p:spPr>
            <a:xfrm>
              <a:off x="0" y="28575"/>
              <a:ext cx="567580" cy="538293"/>
            </a:xfrm>
            <a:prstGeom prst="rect">
              <a:avLst/>
            </a:prstGeom>
          </p:spPr>
          <p:txBody>
            <a:bodyPr lIns="65745" tIns="65745" rIns="65745" bIns="65745" rtlCol="0" anchor="ctr"/>
            <a:lstStyle/>
            <a:p>
              <a:pPr marL="0" lvl="0" indent="0" algn="ctr">
                <a:lnSpc>
                  <a:spcPts val="2460"/>
                </a:lnSpc>
              </a:pPr>
              <a:endParaRPr/>
            </a:p>
          </p:txBody>
        </p:sp>
      </p:grpSp>
      <p:sp>
        <p:nvSpPr>
          <p:cNvPr id="9" name="TextBox 9"/>
          <p:cNvSpPr txBox="1"/>
          <p:nvPr/>
        </p:nvSpPr>
        <p:spPr>
          <a:xfrm>
            <a:off x="5708475" y="2199673"/>
            <a:ext cx="2459408" cy="807581"/>
          </a:xfrm>
          <a:prstGeom prst="rect">
            <a:avLst/>
          </a:prstGeom>
        </p:spPr>
        <p:txBody>
          <a:bodyPr lIns="0" tIns="0" rIns="0" bIns="0" rtlCol="0" anchor="t">
            <a:spAutoFit/>
          </a:bodyPr>
          <a:lstStyle/>
          <a:p>
            <a:pPr marL="0" lvl="0" indent="0" algn="ctr">
              <a:lnSpc>
                <a:spcPts val="6024"/>
              </a:lnSpc>
            </a:pPr>
            <a:r>
              <a:rPr lang="en-US" sz="6085" b="1" spc="-182">
                <a:solidFill>
                  <a:srgbClr val="FFFFFF"/>
                </a:solidFill>
                <a:latin typeface="Bricolage Grotesque Bold"/>
                <a:ea typeface="Bricolage Grotesque Bold"/>
                <a:cs typeface="Bricolage Grotesque Bold"/>
                <a:sym typeface="Bricolage Grotesque Bold"/>
              </a:rPr>
              <a:t>1–5</a:t>
            </a:r>
          </a:p>
        </p:txBody>
      </p:sp>
      <p:sp>
        <p:nvSpPr>
          <p:cNvPr id="10" name="TextBox 10"/>
          <p:cNvSpPr txBox="1"/>
          <p:nvPr/>
        </p:nvSpPr>
        <p:spPr>
          <a:xfrm>
            <a:off x="5940959" y="3437507"/>
            <a:ext cx="1957200" cy="270604"/>
          </a:xfrm>
          <a:prstGeom prst="rect">
            <a:avLst/>
          </a:prstGeom>
        </p:spPr>
        <p:txBody>
          <a:bodyPr lIns="0" tIns="0" rIns="0" bIns="0" rtlCol="0" anchor="t">
            <a:spAutoFit/>
          </a:bodyPr>
          <a:lstStyle/>
          <a:p>
            <a:pPr marL="0" lvl="0" indent="0" algn="ctr">
              <a:lnSpc>
                <a:spcPts val="2146"/>
              </a:lnSpc>
            </a:pPr>
            <a:r>
              <a:rPr lang="en-US" sz="1533" spc="-38">
                <a:solidFill>
                  <a:srgbClr val="FFFFFF"/>
                </a:solidFill>
                <a:latin typeface="Poppins"/>
                <a:ea typeface="Poppins"/>
                <a:cs typeface="Poppins"/>
                <a:sym typeface="Poppins"/>
              </a:rPr>
              <a:t>STAR RATING SCALE</a:t>
            </a:r>
          </a:p>
        </p:txBody>
      </p:sp>
      <p:sp>
        <p:nvSpPr>
          <p:cNvPr id="11" name="Freeform 11"/>
          <p:cNvSpPr/>
          <p:nvPr/>
        </p:nvSpPr>
        <p:spPr>
          <a:xfrm>
            <a:off x="1009367" y="4127647"/>
            <a:ext cx="1041684" cy="891942"/>
          </a:xfrm>
          <a:custGeom>
            <a:avLst/>
            <a:gdLst/>
            <a:ahLst/>
            <a:cxnLst/>
            <a:rect l="l" t="t" r="r" b="b"/>
            <a:pathLst>
              <a:path w="1041684" h="891942">
                <a:moveTo>
                  <a:pt x="0" y="0"/>
                </a:moveTo>
                <a:lnTo>
                  <a:pt x="1041684" y="0"/>
                </a:lnTo>
                <a:lnTo>
                  <a:pt x="1041684" y="891942"/>
                </a:lnTo>
                <a:lnTo>
                  <a:pt x="0" y="891942"/>
                </a:lnTo>
                <a:lnTo>
                  <a:pt x="0" y="0"/>
                </a:lnTo>
                <a:close/>
              </a:path>
            </a:pathLst>
          </a:custGeom>
          <a:blipFill>
            <a:blip r:embed="rId3"/>
            <a:stretch>
              <a:fillRect/>
            </a:stretch>
          </a:blipFill>
        </p:spPr>
      </p:sp>
      <p:sp>
        <p:nvSpPr>
          <p:cNvPr id="12" name="TextBox 12"/>
          <p:cNvSpPr txBox="1"/>
          <p:nvPr/>
        </p:nvSpPr>
        <p:spPr>
          <a:xfrm>
            <a:off x="1028700" y="5613790"/>
            <a:ext cx="4378886" cy="402399"/>
          </a:xfrm>
          <a:prstGeom prst="rect">
            <a:avLst/>
          </a:prstGeom>
        </p:spPr>
        <p:txBody>
          <a:bodyPr lIns="0" tIns="0" rIns="0" bIns="0" rtlCol="0" anchor="t">
            <a:spAutoFit/>
          </a:bodyPr>
          <a:lstStyle/>
          <a:p>
            <a:pPr marL="0" lvl="0" indent="0" algn="l">
              <a:lnSpc>
                <a:spcPts val="3462"/>
              </a:lnSpc>
            </a:pPr>
            <a:r>
              <a:rPr lang="en-US" sz="1602" b="1">
                <a:solidFill>
                  <a:srgbClr val="FFFFFF"/>
                </a:solidFill>
                <a:latin typeface="Poppins Bold"/>
                <a:ea typeface="Poppins Bold"/>
                <a:cs typeface="Poppins Bold"/>
                <a:sym typeface="Poppins Bold"/>
              </a:rPr>
              <a:t>SUBJECTIVE FEEDBACK</a:t>
            </a:r>
          </a:p>
        </p:txBody>
      </p:sp>
      <p:sp>
        <p:nvSpPr>
          <p:cNvPr id="13" name="TextBox 13"/>
          <p:cNvSpPr txBox="1"/>
          <p:nvPr/>
        </p:nvSpPr>
        <p:spPr>
          <a:xfrm>
            <a:off x="1028700" y="6215346"/>
            <a:ext cx="4378886" cy="426814"/>
          </a:xfrm>
          <a:prstGeom prst="rect">
            <a:avLst/>
          </a:prstGeom>
        </p:spPr>
        <p:txBody>
          <a:bodyPr lIns="0" tIns="0" rIns="0" bIns="0" rtlCol="0" anchor="t">
            <a:spAutoFit/>
          </a:bodyPr>
          <a:lstStyle/>
          <a:p>
            <a:pPr marL="0" lvl="0" indent="0" algn="just">
              <a:lnSpc>
                <a:spcPts val="1663"/>
              </a:lnSpc>
            </a:pPr>
            <a:r>
              <a:rPr lang="en-US" sz="1363">
                <a:solidFill>
                  <a:srgbClr val="FFFFFF"/>
                </a:solidFill>
                <a:latin typeface="Poppins"/>
                <a:ea typeface="Poppins"/>
                <a:cs typeface="Poppins"/>
                <a:sym typeface="Poppins"/>
              </a:rPr>
              <a:t>Users rate their experience on a 1–5 star scale across three key dimensions of network quality.</a:t>
            </a:r>
          </a:p>
        </p:txBody>
      </p:sp>
      <p:grpSp>
        <p:nvGrpSpPr>
          <p:cNvPr id="14" name="Group 14"/>
          <p:cNvGrpSpPr/>
          <p:nvPr/>
        </p:nvGrpSpPr>
        <p:grpSpPr>
          <a:xfrm>
            <a:off x="1028700" y="7229173"/>
            <a:ext cx="4378886" cy="719537"/>
            <a:chOff x="0" y="0"/>
            <a:chExt cx="5838515" cy="959383"/>
          </a:xfrm>
        </p:grpSpPr>
        <p:sp>
          <p:nvSpPr>
            <p:cNvPr id="15" name="TextBox 15"/>
            <p:cNvSpPr txBox="1"/>
            <p:nvPr/>
          </p:nvSpPr>
          <p:spPr>
            <a:xfrm>
              <a:off x="0" y="-161925"/>
              <a:ext cx="5838515" cy="482557"/>
            </a:xfrm>
            <a:prstGeom prst="rect">
              <a:avLst/>
            </a:prstGeom>
          </p:spPr>
          <p:txBody>
            <a:bodyPr lIns="0" tIns="0" rIns="0" bIns="0" rtlCol="0" anchor="t">
              <a:spAutoFit/>
            </a:bodyPr>
            <a:lstStyle/>
            <a:p>
              <a:pPr marL="0" lvl="0" indent="0" algn="l">
                <a:lnSpc>
                  <a:spcPts val="3462"/>
                </a:lnSpc>
              </a:pPr>
              <a:r>
                <a:rPr lang="en-US" sz="1602" b="1">
                  <a:solidFill>
                    <a:srgbClr val="FFFFFF"/>
                  </a:solidFill>
                  <a:latin typeface="Poppins Bold"/>
                  <a:ea typeface="Poppins Bold"/>
                  <a:cs typeface="Poppins Bold"/>
                  <a:sym typeface="Poppins Bold"/>
                </a:rPr>
                <a:t>SIGNAL STABILITY</a:t>
              </a:r>
            </a:p>
          </p:txBody>
        </p:sp>
        <p:sp>
          <p:nvSpPr>
            <p:cNvPr id="16" name="TextBox 16"/>
            <p:cNvSpPr txBox="1"/>
            <p:nvPr/>
          </p:nvSpPr>
          <p:spPr>
            <a:xfrm>
              <a:off x="0" y="396648"/>
              <a:ext cx="5838515" cy="562735"/>
            </a:xfrm>
            <a:prstGeom prst="rect">
              <a:avLst/>
            </a:prstGeom>
          </p:spPr>
          <p:txBody>
            <a:bodyPr lIns="0" tIns="0" rIns="0" bIns="0" rtlCol="0" anchor="t">
              <a:spAutoFit/>
            </a:bodyPr>
            <a:lstStyle/>
            <a:p>
              <a:pPr marL="0" lvl="0" indent="0" algn="just">
                <a:lnSpc>
                  <a:spcPts val="1663"/>
                </a:lnSpc>
              </a:pPr>
              <a:r>
                <a:rPr lang="en-US" sz="1363">
                  <a:solidFill>
                    <a:srgbClr val="FFFFFF"/>
                  </a:solidFill>
                  <a:latin typeface="Poppins"/>
                  <a:ea typeface="Poppins"/>
                  <a:cs typeface="Poppins"/>
                  <a:sym typeface="Poppins"/>
                </a:rPr>
                <a:t>★★★★☆  Rate how stable your signal remains during use (1 = very unstable, 5 = perfectly stable).</a:t>
              </a:r>
            </a:p>
          </p:txBody>
        </p:sp>
      </p:grpSp>
      <p:grpSp>
        <p:nvGrpSpPr>
          <p:cNvPr id="17" name="Group 17"/>
          <p:cNvGrpSpPr/>
          <p:nvPr/>
        </p:nvGrpSpPr>
        <p:grpSpPr>
          <a:xfrm>
            <a:off x="1028700" y="8538763"/>
            <a:ext cx="4378886" cy="719537"/>
            <a:chOff x="0" y="0"/>
            <a:chExt cx="5838515" cy="959383"/>
          </a:xfrm>
        </p:grpSpPr>
        <p:sp>
          <p:nvSpPr>
            <p:cNvPr id="18" name="TextBox 18"/>
            <p:cNvSpPr txBox="1"/>
            <p:nvPr/>
          </p:nvSpPr>
          <p:spPr>
            <a:xfrm>
              <a:off x="0" y="-161925"/>
              <a:ext cx="5838515" cy="482557"/>
            </a:xfrm>
            <a:prstGeom prst="rect">
              <a:avLst/>
            </a:prstGeom>
          </p:spPr>
          <p:txBody>
            <a:bodyPr lIns="0" tIns="0" rIns="0" bIns="0" rtlCol="0" anchor="t">
              <a:spAutoFit/>
            </a:bodyPr>
            <a:lstStyle/>
            <a:p>
              <a:pPr marL="0" lvl="0" indent="0" algn="l">
                <a:lnSpc>
                  <a:spcPts val="3462"/>
                </a:lnSpc>
              </a:pPr>
              <a:r>
                <a:rPr lang="en-US" sz="1602" b="1">
                  <a:solidFill>
                    <a:srgbClr val="FFFFFF"/>
                  </a:solidFill>
                  <a:latin typeface="Poppins Bold"/>
                  <a:ea typeface="Poppins Bold"/>
                  <a:cs typeface="Poppins Bold"/>
                  <a:sym typeface="Poppins Bold"/>
                </a:rPr>
                <a:t>BROWSING SPEED</a:t>
              </a:r>
            </a:p>
          </p:txBody>
        </p:sp>
        <p:sp>
          <p:nvSpPr>
            <p:cNvPr id="19" name="TextBox 19"/>
            <p:cNvSpPr txBox="1"/>
            <p:nvPr/>
          </p:nvSpPr>
          <p:spPr>
            <a:xfrm>
              <a:off x="0" y="396648"/>
              <a:ext cx="5838515" cy="562735"/>
            </a:xfrm>
            <a:prstGeom prst="rect">
              <a:avLst/>
            </a:prstGeom>
          </p:spPr>
          <p:txBody>
            <a:bodyPr lIns="0" tIns="0" rIns="0" bIns="0" rtlCol="0" anchor="t">
              <a:spAutoFit/>
            </a:bodyPr>
            <a:lstStyle/>
            <a:p>
              <a:pPr marL="0" lvl="0" indent="0" algn="just">
                <a:lnSpc>
                  <a:spcPts val="1663"/>
                </a:lnSpc>
              </a:pPr>
              <a:r>
                <a:rPr lang="en-US" sz="1363">
                  <a:solidFill>
                    <a:srgbClr val="FFFFFF"/>
                  </a:solidFill>
                  <a:latin typeface="Poppins"/>
                  <a:ea typeface="Poppins"/>
                  <a:cs typeface="Poppins"/>
                  <a:sym typeface="Poppins"/>
                </a:rPr>
                <a:t>★★★★☆  Rate how fast pages and content load during browsing (1 = very slow, 5 = very fast).</a:t>
              </a:r>
            </a:p>
          </p:txBody>
        </p:sp>
      </p:grpSp>
      <p:grpSp>
        <p:nvGrpSpPr>
          <p:cNvPr id="20" name="Group 20"/>
          <p:cNvGrpSpPr/>
          <p:nvPr/>
        </p:nvGrpSpPr>
        <p:grpSpPr>
          <a:xfrm>
            <a:off x="9345491" y="1450265"/>
            <a:ext cx="7522404" cy="7477037"/>
            <a:chOff x="0" y="0"/>
            <a:chExt cx="10029872" cy="9969383"/>
          </a:xfrm>
        </p:grpSpPr>
        <p:sp>
          <p:nvSpPr>
            <p:cNvPr id="21" name="TextBox 21"/>
            <p:cNvSpPr txBox="1"/>
            <p:nvPr/>
          </p:nvSpPr>
          <p:spPr>
            <a:xfrm>
              <a:off x="1033544" y="-57150"/>
              <a:ext cx="7126880" cy="393009"/>
            </a:xfrm>
            <a:prstGeom prst="rect">
              <a:avLst/>
            </a:prstGeom>
          </p:spPr>
          <p:txBody>
            <a:bodyPr lIns="0" tIns="0" rIns="0" bIns="0" rtlCol="0" anchor="t">
              <a:spAutoFit/>
            </a:bodyPr>
            <a:lstStyle/>
            <a:p>
              <a:pPr marL="0" lvl="0" indent="0" algn="just">
                <a:lnSpc>
                  <a:spcPts val="2391"/>
                </a:lnSpc>
              </a:pPr>
              <a:r>
                <a:rPr lang="en-US" sz="1707" b="1" spc="-42">
                  <a:gradFill>
                    <a:gsLst>
                      <a:gs pos="0">
                        <a:srgbClr val="293E9C">
                          <a:alpha val="100000"/>
                        </a:srgbClr>
                      </a:gs>
                      <a:gs pos="100000">
                        <a:srgbClr val="3A58E4">
                          <a:alpha val="100000"/>
                        </a:srgbClr>
                      </a:gs>
                    </a:gsLst>
                    <a:path path="circle">
                      <a:fillToRect r="100000" b="100000"/>
                    </a:path>
                    <a:tileRect l="-100000" t="-100000"/>
                  </a:gradFill>
                  <a:latin typeface="Poppins Bold"/>
                  <a:ea typeface="Poppins Bold"/>
                  <a:cs typeface="Poppins Bold"/>
                  <a:sym typeface="Poppins Bold"/>
                </a:rPr>
                <a:t>ENVIRONMENTAL DATA</a:t>
              </a:r>
            </a:p>
          </p:txBody>
        </p:sp>
        <p:sp>
          <p:nvSpPr>
            <p:cNvPr id="22" name="TextBox 22"/>
            <p:cNvSpPr txBox="1"/>
            <p:nvPr/>
          </p:nvSpPr>
          <p:spPr>
            <a:xfrm>
              <a:off x="1033544" y="1794552"/>
              <a:ext cx="8996329" cy="1090261"/>
            </a:xfrm>
            <a:prstGeom prst="rect">
              <a:avLst/>
            </a:prstGeom>
          </p:spPr>
          <p:txBody>
            <a:bodyPr lIns="0" tIns="0" rIns="0" bIns="0" rtlCol="0" anchor="t">
              <a:spAutoFit/>
            </a:bodyPr>
            <a:lstStyle/>
            <a:p>
              <a:pPr marL="0" lvl="0" indent="0" algn="just">
                <a:lnSpc>
                  <a:spcPts val="2180"/>
                </a:lnSpc>
              </a:pPr>
              <a:r>
                <a:rPr lang="en-US" sz="1557" spc="-38">
                  <a:solidFill>
                    <a:srgbClr val="3A58E4"/>
                  </a:solidFill>
                  <a:latin typeface="Poppins"/>
                  <a:ea typeface="Poppins"/>
                  <a:cs typeface="Poppins"/>
                  <a:sym typeface="Poppins"/>
                </a:rPr>
                <a:t>Streaming Quality</a:t>
              </a:r>
            </a:p>
            <a:p>
              <a:pPr marL="0" lvl="0" indent="0" algn="just">
                <a:lnSpc>
                  <a:spcPts val="2180"/>
                </a:lnSpc>
              </a:pPr>
              <a:r>
                <a:rPr lang="en-US" sz="1557" spc="-38">
                  <a:solidFill>
                    <a:srgbClr val="3A58E4"/>
                  </a:solidFill>
                  <a:latin typeface="Poppins"/>
                  <a:ea typeface="Poppins"/>
                  <a:cs typeface="Poppins"/>
                  <a:sym typeface="Poppins"/>
                </a:rPr>
                <a:t>★★★★☆  Rate the quality of video and audio streaming (1 = very poor, 5 = excellent quality).</a:t>
              </a:r>
            </a:p>
          </p:txBody>
        </p:sp>
        <p:sp>
          <p:nvSpPr>
            <p:cNvPr id="23" name="TextBox 23"/>
            <p:cNvSpPr txBox="1"/>
            <p:nvPr/>
          </p:nvSpPr>
          <p:spPr>
            <a:xfrm>
              <a:off x="1033544" y="3485135"/>
              <a:ext cx="7126880" cy="393009"/>
            </a:xfrm>
            <a:prstGeom prst="rect">
              <a:avLst/>
            </a:prstGeom>
          </p:spPr>
          <p:txBody>
            <a:bodyPr lIns="0" tIns="0" rIns="0" bIns="0" rtlCol="0" anchor="t">
              <a:spAutoFit/>
            </a:bodyPr>
            <a:lstStyle/>
            <a:p>
              <a:pPr marL="0" lvl="0" indent="0" algn="just">
                <a:lnSpc>
                  <a:spcPts val="2391"/>
                </a:lnSpc>
              </a:pPr>
              <a:r>
                <a:rPr lang="en-US" sz="1707" b="1" spc="-42">
                  <a:gradFill>
                    <a:gsLst>
                      <a:gs pos="0">
                        <a:srgbClr val="293E9C">
                          <a:alpha val="100000"/>
                        </a:srgbClr>
                      </a:gs>
                      <a:gs pos="100000">
                        <a:srgbClr val="3A58E4">
                          <a:alpha val="100000"/>
                        </a:srgbClr>
                      </a:gs>
                    </a:gsLst>
                    <a:path path="circle">
                      <a:fillToRect r="100000" b="100000"/>
                    </a:path>
                    <a:tileRect l="-100000" t="-100000"/>
                  </a:gradFill>
                  <a:latin typeface="Poppins Bold"/>
                  <a:ea typeface="Poppins Bold"/>
                  <a:cs typeface="Poppins Bold"/>
                  <a:sym typeface="Poppins Bold"/>
                </a:rPr>
                <a:t>AUTOMATICALLY CAPTURED</a:t>
              </a:r>
            </a:p>
          </p:txBody>
        </p:sp>
        <p:sp>
          <p:nvSpPr>
            <p:cNvPr id="24" name="TextBox 24"/>
            <p:cNvSpPr txBox="1"/>
            <p:nvPr/>
          </p:nvSpPr>
          <p:spPr>
            <a:xfrm>
              <a:off x="1033544" y="4968537"/>
              <a:ext cx="8996329" cy="1458561"/>
            </a:xfrm>
            <a:prstGeom prst="rect">
              <a:avLst/>
            </a:prstGeom>
          </p:spPr>
          <p:txBody>
            <a:bodyPr lIns="0" tIns="0" rIns="0" bIns="0" rtlCol="0" anchor="t">
              <a:spAutoFit/>
            </a:bodyPr>
            <a:lstStyle/>
            <a:p>
              <a:pPr marL="0" lvl="0" indent="0" algn="just">
                <a:lnSpc>
                  <a:spcPts val="2180"/>
                </a:lnSpc>
              </a:pPr>
              <a:r>
                <a:rPr lang="en-US" sz="1557" spc="-38">
                  <a:solidFill>
                    <a:srgbClr val="3A58E4"/>
                  </a:solidFill>
                  <a:latin typeface="Poppins"/>
                  <a:ea typeface="Poppins"/>
                  <a:cs typeface="Poppins"/>
                  <a:sym typeface="Poppins"/>
                </a:rPr>
                <a:t>📅 Timestamp — Date and time of each measurement session recorded automatically.</a:t>
              </a:r>
            </a:p>
            <a:p>
              <a:pPr marL="0" lvl="0" indent="0" algn="just">
                <a:lnSpc>
                  <a:spcPts val="2180"/>
                </a:lnSpc>
              </a:pPr>
              <a:r>
                <a:rPr lang="en-US" sz="1557" spc="-38">
                  <a:solidFill>
                    <a:srgbClr val="3A58E4"/>
                  </a:solidFill>
                  <a:latin typeface="Poppins"/>
                  <a:ea typeface="Poppins"/>
                  <a:cs typeface="Poppins"/>
                  <a:sym typeface="Poppins"/>
                </a:rPr>
                <a:t>📶 Network Type — Detects current connection: WiFi, 4G LTE, 3G, or 2G.</a:t>
              </a:r>
            </a:p>
            <a:p>
              <a:pPr marL="0" lvl="0" indent="0" algn="just">
                <a:lnSpc>
                  <a:spcPts val="2180"/>
                </a:lnSpc>
              </a:pPr>
              <a:r>
                <a:rPr lang="en-US" sz="1557" spc="-38">
                  <a:solidFill>
                    <a:srgbClr val="3A58E4"/>
                  </a:solidFill>
                  <a:latin typeface="Poppins"/>
                  <a:ea typeface="Poppins"/>
                  <a:cs typeface="Poppins"/>
                  <a:sym typeface="Poppins"/>
                </a:rPr>
                <a:t>🔗 Connection Status — Online or offline state at time of data collection.</a:t>
              </a:r>
            </a:p>
          </p:txBody>
        </p:sp>
        <p:sp>
          <p:nvSpPr>
            <p:cNvPr id="25" name="TextBox 25"/>
            <p:cNvSpPr txBox="1"/>
            <p:nvPr/>
          </p:nvSpPr>
          <p:spPr>
            <a:xfrm>
              <a:off x="1033544" y="7027419"/>
              <a:ext cx="7126880" cy="393009"/>
            </a:xfrm>
            <a:prstGeom prst="rect">
              <a:avLst/>
            </a:prstGeom>
          </p:spPr>
          <p:txBody>
            <a:bodyPr lIns="0" tIns="0" rIns="0" bIns="0" rtlCol="0" anchor="t">
              <a:spAutoFit/>
            </a:bodyPr>
            <a:lstStyle/>
            <a:p>
              <a:pPr marL="0" lvl="0" indent="0" algn="just">
                <a:lnSpc>
                  <a:spcPts val="2391"/>
                </a:lnSpc>
              </a:pPr>
              <a:r>
                <a:rPr lang="en-US" sz="1707" b="1" spc="-42">
                  <a:gradFill>
                    <a:gsLst>
                      <a:gs pos="0">
                        <a:srgbClr val="293E9C">
                          <a:alpha val="100000"/>
                        </a:srgbClr>
                      </a:gs>
                      <a:gs pos="100000">
                        <a:srgbClr val="3A58E4">
                          <a:alpha val="100000"/>
                        </a:srgbClr>
                      </a:gs>
                    </a:gsLst>
                    <a:path path="circle">
                      <a:fillToRect r="100000" b="100000"/>
                    </a:path>
                    <a:tileRect l="-100000" t="-100000"/>
                  </a:gradFill>
                  <a:latin typeface="Poppins Bold"/>
                  <a:ea typeface="Poppins Bold"/>
                  <a:cs typeface="Poppins Bold"/>
                  <a:sym typeface="Poppins Bold"/>
                </a:rPr>
                <a:t>LOCATION &amp; IDENTITY</a:t>
              </a:r>
            </a:p>
          </p:txBody>
        </p:sp>
        <p:sp>
          <p:nvSpPr>
            <p:cNvPr id="26" name="TextBox 26"/>
            <p:cNvSpPr txBox="1"/>
            <p:nvPr/>
          </p:nvSpPr>
          <p:spPr>
            <a:xfrm>
              <a:off x="1033544" y="7037621"/>
              <a:ext cx="8996329" cy="2931761"/>
            </a:xfrm>
            <a:prstGeom prst="rect">
              <a:avLst/>
            </a:prstGeom>
          </p:spPr>
          <p:txBody>
            <a:bodyPr lIns="0" tIns="0" rIns="0" bIns="0" rtlCol="0" anchor="t">
              <a:spAutoFit/>
            </a:bodyPr>
            <a:lstStyle/>
            <a:p>
              <a:pPr marL="0" lvl="0" indent="0" algn="just">
                <a:lnSpc>
                  <a:spcPts val="2180"/>
                </a:lnSpc>
              </a:pPr>
              <a:r>
                <a:rPr lang="en-US" sz="1557" spc="-38">
                  <a:solidFill>
                    <a:srgbClr val="3A58E4"/>
                  </a:solidFill>
                  <a:latin typeface="Poppins"/>
                  <a:ea typeface="Poppins"/>
                  <a:cs typeface="Poppins"/>
                  <a:sym typeface="Poppins"/>
                </a:rPr>
                <a:t>🌐 IP Address — Captured to identify network session and provider context.</a:t>
              </a:r>
            </a:p>
            <a:p>
              <a:pPr marL="0" lvl="0" indent="0" algn="just">
                <a:lnSpc>
                  <a:spcPts val="2180"/>
                </a:lnSpc>
              </a:pPr>
              <a:r>
                <a:rPr lang="en-US" sz="1557" spc="-38">
                  <a:solidFill>
                    <a:srgbClr val="3A58E4"/>
                  </a:solidFill>
                  <a:latin typeface="Poppins"/>
                  <a:ea typeface="Poppins"/>
                  <a:cs typeface="Poppins"/>
                  <a:sym typeface="Poppins"/>
                </a:rPr>
                <a:t>🏢 ISP / Provider — Identifies the subscriber's network operator automatically.</a:t>
              </a:r>
            </a:p>
            <a:p>
              <a:pPr marL="0" lvl="0" indent="0" algn="just">
                <a:lnSpc>
                  <a:spcPts val="2180"/>
                </a:lnSpc>
              </a:pPr>
              <a:r>
                <a:rPr lang="en-US" sz="1557" spc="-38">
                  <a:solidFill>
                    <a:srgbClr val="3A58E4"/>
                  </a:solidFill>
                  <a:latin typeface="Poppins"/>
                  <a:ea typeface="Poppins"/>
                  <a:cs typeface="Poppins"/>
                  <a:sym typeface="Poppins"/>
                </a:rPr>
                <a:t>📍 GPS Location — Precise coordinates via Expo Location API for geospatial mapping.</a:t>
              </a:r>
            </a:p>
            <a:p>
              <a:pPr marL="0" lvl="0" indent="0" algn="just">
                <a:lnSpc>
                  <a:spcPts val="2180"/>
                </a:lnSpc>
              </a:pPr>
              <a:r>
                <a:rPr lang="en-US" sz="1557" spc="-38">
                  <a:solidFill>
                    <a:srgbClr val="3A58E4"/>
                  </a:solidFill>
                  <a:latin typeface="Poppins"/>
                  <a:ea typeface="Poppins"/>
                  <a:cs typeface="Poppins"/>
                  <a:sym typeface="Poppins"/>
                </a:rPr>
                <a:t>🗺️ Reverse Geocoding — Converts GPS coordinates into human-readable address details.</a:t>
              </a:r>
            </a:p>
          </p:txBody>
        </p:sp>
        <p:sp>
          <p:nvSpPr>
            <p:cNvPr id="27" name="TextBox 27"/>
            <p:cNvSpPr txBox="1"/>
            <p:nvPr/>
          </p:nvSpPr>
          <p:spPr>
            <a:xfrm>
              <a:off x="0" y="1225068"/>
              <a:ext cx="643052" cy="249946"/>
            </a:xfrm>
            <a:prstGeom prst="rect">
              <a:avLst/>
            </a:prstGeom>
          </p:spPr>
          <p:txBody>
            <a:bodyPr lIns="0" tIns="0" rIns="0" bIns="0" rtlCol="0" anchor="t">
              <a:spAutoFit/>
            </a:bodyPr>
            <a:lstStyle/>
            <a:p>
              <a:pPr marL="0" lvl="0" indent="0" algn="l">
                <a:lnSpc>
                  <a:spcPts val="1389"/>
                </a:lnSpc>
              </a:pPr>
              <a:r>
                <a:rPr lang="en-US" sz="1403" spc="-42">
                  <a:solidFill>
                    <a:srgbClr val="3A58E4"/>
                  </a:solidFill>
                  <a:latin typeface="Bricolage Grotesque"/>
                  <a:ea typeface="Bricolage Grotesque"/>
                  <a:cs typeface="Bricolage Grotesque"/>
                  <a:sym typeface="Bricolage Grotesque"/>
                </a:rPr>
                <a:t>01</a:t>
              </a:r>
            </a:p>
          </p:txBody>
        </p:sp>
        <p:sp>
          <p:nvSpPr>
            <p:cNvPr id="28" name="TextBox 28"/>
            <p:cNvSpPr txBox="1"/>
            <p:nvPr/>
          </p:nvSpPr>
          <p:spPr>
            <a:xfrm>
              <a:off x="0" y="4767352"/>
              <a:ext cx="643052" cy="249946"/>
            </a:xfrm>
            <a:prstGeom prst="rect">
              <a:avLst/>
            </a:prstGeom>
          </p:spPr>
          <p:txBody>
            <a:bodyPr lIns="0" tIns="0" rIns="0" bIns="0" rtlCol="0" anchor="t">
              <a:spAutoFit/>
            </a:bodyPr>
            <a:lstStyle/>
            <a:p>
              <a:pPr marL="0" lvl="0" indent="0" algn="l">
                <a:lnSpc>
                  <a:spcPts val="1389"/>
                </a:lnSpc>
              </a:pPr>
              <a:r>
                <a:rPr lang="en-US" sz="1403" spc="-42">
                  <a:solidFill>
                    <a:srgbClr val="3A58E4"/>
                  </a:solidFill>
                  <a:latin typeface="Bricolage Grotesque"/>
                  <a:ea typeface="Bricolage Grotesque"/>
                  <a:cs typeface="Bricolage Grotesque"/>
                  <a:sym typeface="Bricolage Grotesque"/>
                </a:rPr>
                <a:t>02</a:t>
              </a:r>
            </a:p>
          </p:txBody>
        </p:sp>
        <p:sp>
          <p:nvSpPr>
            <p:cNvPr id="29" name="TextBox 29"/>
            <p:cNvSpPr txBox="1"/>
            <p:nvPr/>
          </p:nvSpPr>
          <p:spPr>
            <a:xfrm>
              <a:off x="0" y="8309637"/>
              <a:ext cx="643052" cy="249946"/>
            </a:xfrm>
            <a:prstGeom prst="rect">
              <a:avLst/>
            </a:prstGeom>
          </p:spPr>
          <p:txBody>
            <a:bodyPr lIns="0" tIns="0" rIns="0" bIns="0" rtlCol="0" anchor="t">
              <a:spAutoFit/>
            </a:bodyPr>
            <a:lstStyle/>
            <a:p>
              <a:pPr marL="0" lvl="0" indent="0" algn="l">
                <a:lnSpc>
                  <a:spcPts val="1389"/>
                </a:lnSpc>
              </a:pPr>
              <a:r>
                <a:rPr lang="en-US" sz="1403" spc="-42">
                  <a:solidFill>
                    <a:srgbClr val="3A58E4"/>
                  </a:solidFill>
                  <a:latin typeface="Bricolage Grotesque"/>
                  <a:ea typeface="Bricolage Grotesque"/>
                  <a:cs typeface="Bricolage Grotesque"/>
                  <a:sym typeface="Bricolage Grotesque"/>
                </a:rPr>
                <a:t>14</a:t>
              </a:r>
            </a:p>
          </p:txBody>
        </p:sp>
      </p:grpSp>
      <p:grpSp>
        <p:nvGrpSpPr>
          <p:cNvPr id="30" name="Group 30"/>
          <p:cNvGrpSpPr/>
          <p:nvPr/>
        </p:nvGrpSpPr>
        <p:grpSpPr>
          <a:xfrm>
            <a:off x="1028700" y="1196251"/>
            <a:ext cx="24226" cy="1038034"/>
            <a:chOff x="0" y="0"/>
            <a:chExt cx="12543" cy="537460"/>
          </a:xfrm>
        </p:grpSpPr>
        <p:sp>
          <p:nvSpPr>
            <p:cNvPr id="31" name="Freeform 31"/>
            <p:cNvSpPr/>
            <p:nvPr/>
          </p:nvSpPr>
          <p:spPr>
            <a:xfrm>
              <a:off x="0" y="0"/>
              <a:ext cx="12543" cy="537460"/>
            </a:xfrm>
            <a:custGeom>
              <a:avLst/>
              <a:gdLst/>
              <a:ahLst/>
              <a:cxnLst/>
              <a:rect l="l" t="t" r="r" b="b"/>
              <a:pathLst>
                <a:path w="12543" h="537460">
                  <a:moveTo>
                    <a:pt x="0" y="0"/>
                  </a:moveTo>
                  <a:lnTo>
                    <a:pt x="12543" y="0"/>
                  </a:lnTo>
                  <a:lnTo>
                    <a:pt x="12543" y="537460"/>
                  </a:lnTo>
                  <a:lnTo>
                    <a:pt x="0" y="537460"/>
                  </a:lnTo>
                  <a:close/>
                </a:path>
              </a:pathLst>
            </a:custGeom>
            <a:solidFill>
              <a:srgbClr val="FFFFFF"/>
            </a:solidFill>
          </p:spPr>
        </p:sp>
        <p:sp>
          <p:nvSpPr>
            <p:cNvPr id="32" name="TextBox 32"/>
            <p:cNvSpPr txBox="1"/>
            <p:nvPr/>
          </p:nvSpPr>
          <p:spPr>
            <a:xfrm>
              <a:off x="0" y="-38100"/>
              <a:ext cx="12543" cy="57556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33" name="TextBox 33"/>
          <p:cNvSpPr txBox="1"/>
          <p:nvPr/>
        </p:nvSpPr>
        <p:spPr>
          <a:xfrm>
            <a:off x="1144711" y="1372295"/>
            <a:ext cx="2753109" cy="1029541"/>
          </a:xfrm>
          <a:prstGeom prst="rect">
            <a:avLst/>
          </a:prstGeom>
        </p:spPr>
        <p:txBody>
          <a:bodyPr lIns="0" tIns="0" rIns="0" bIns="0" rtlCol="0" anchor="t">
            <a:spAutoFit/>
          </a:bodyPr>
          <a:lstStyle/>
          <a:p>
            <a:pPr marL="0" lvl="0" indent="0" algn="l">
              <a:lnSpc>
                <a:spcPts val="2656"/>
              </a:lnSpc>
            </a:pPr>
            <a:r>
              <a:rPr lang="en-US" sz="2711" spc="-173">
                <a:solidFill>
                  <a:srgbClr val="FFFFFF"/>
                </a:solidFill>
                <a:latin typeface="Bricolage Grotesque"/>
                <a:ea typeface="Bricolage Grotesque"/>
                <a:cs typeface="Bricolage Grotesque"/>
                <a:sym typeface="Bricolage Grotesque"/>
              </a:rPr>
              <a:t>How We Measure: Subjective QoE &amp; Environmental Data</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8492056" y="1525863"/>
            <a:ext cx="47625" cy="2040668"/>
            <a:chOff x="0" y="0"/>
            <a:chExt cx="12543" cy="537460"/>
          </a:xfrm>
        </p:grpSpPr>
        <p:sp>
          <p:nvSpPr>
            <p:cNvPr id="3" name="Freeform 3"/>
            <p:cNvSpPr/>
            <p:nvPr/>
          </p:nvSpPr>
          <p:spPr>
            <a:xfrm>
              <a:off x="0" y="0"/>
              <a:ext cx="12543" cy="537460"/>
            </a:xfrm>
            <a:custGeom>
              <a:avLst/>
              <a:gdLst/>
              <a:ahLst/>
              <a:cxnLst/>
              <a:rect l="l" t="t" r="r" b="b"/>
              <a:pathLst>
                <a:path w="12543" h="537460">
                  <a:moveTo>
                    <a:pt x="0" y="0"/>
                  </a:moveTo>
                  <a:lnTo>
                    <a:pt x="12543" y="0"/>
                  </a:lnTo>
                  <a:lnTo>
                    <a:pt x="12543" y="537460"/>
                  </a:lnTo>
                  <a:lnTo>
                    <a:pt x="0" y="537460"/>
                  </a:lnTo>
                  <a:close/>
                </a:path>
              </a:pathLst>
            </a:custGeom>
            <a:solidFill>
              <a:srgbClr val="3A58E4"/>
            </a:solidFill>
          </p:spPr>
        </p:sp>
        <p:sp>
          <p:nvSpPr>
            <p:cNvPr id="4" name="TextBox 4"/>
            <p:cNvSpPr txBox="1"/>
            <p:nvPr/>
          </p:nvSpPr>
          <p:spPr>
            <a:xfrm>
              <a:off x="0" y="-38100"/>
              <a:ext cx="12543" cy="57556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5" name="TextBox 5"/>
          <p:cNvSpPr txBox="1"/>
          <p:nvPr/>
        </p:nvSpPr>
        <p:spPr>
          <a:xfrm>
            <a:off x="8492056" y="4424761"/>
            <a:ext cx="7106119" cy="435134"/>
          </a:xfrm>
          <a:prstGeom prst="rect">
            <a:avLst/>
          </a:prstGeom>
        </p:spPr>
        <p:txBody>
          <a:bodyPr lIns="0" tIns="0" rIns="0" bIns="0" rtlCol="0" anchor="t">
            <a:spAutoFit/>
          </a:bodyPr>
          <a:lstStyle/>
          <a:p>
            <a:pPr marL="0" lvl="0" indent="0" algn="l">
              <a:lnSpc>
                <a:spcPts val="3316"/>
              </a:lnSpc>
            </a:pPr>
            <a:r>
              <a:rPr lang="en-US" sz="2368" b="1" spc="-59">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OFFLINE-FIRST ARCHITECTURE &amp; SCHEMA DESIGN</a:t>
            </a:r>
          </a:p>
        </p:txBody>
      </p:sp>
      <p:sp>
        <p:nvSpPr>
          <p:cNvPr id="6" name="Freeform 6"/>
          <p:cNvSpPr/>
          <p:nvPr/>
        </p:nvSpPr>
        <p:spPr>
          <a:xfrm rot="-8687136">
            <a:off x="15580115" y="4542838"/>
            <a:ext cx="189150" cy="228643"/>
          </a:xfrm>
          <a:custGeom>
            <a:avLst/>
            <a:gdLst/>
            <a:ahLst/>
            <a:cxnLst/>
            <a:rect l="l" t="t" r="r" b="b"/>
            <a:pathLst>
              <a:path w="189150" h="228643">
                <a:moveTo>
                  <a:pt x="0" y="0"/>
                </a:moveTo>
                <a:lnTo>
                  <a:pt x="189150" y="0"/>
                </a:lnTo>
                <a:lnTo>
                  <a:pt x="189150" y="228644"/>
                </a:lnTo>
                <a:lnTo>
                  <a:pt x="0" y="228644"/>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sp>
      <p:grpSp>
        <p:nvGrpSpPr>
          <p:cNvPr id="7" name="Group 7"/>
          <p:cNvGrpSpPr/>
          <p:nvPr/>
        </p:nvGrpSpPr>
        <p:grpSpPr>
          <a:xfrm>
            <a:off x="0" y="0"/>
            <a:ext cx="6352295" cy="10287000"/>
            <a:chOff x="0" y="0"/>
            <a:chExt cx="984137" cy="1593725"/>
          </a:xfrm>
        </p:grpSpPr>
        <p:sp>
          <p:nvSpPr>
            <p:cNvPr id="8" name="Freeform 8"/>
            <p:cNvSpPr/>
            <p:nvPr/>
          </p:nvSpPr>
          <p:spPr>
            <a:xfrm>
              <a:off x="0" y="0"/>
              <a:ext cx="984137" cy="1593725"/>
            </a:xfrm>
            <a:custGeom>
              <a:avLst/>
              <a:gdLst/>
              <a:ahLst/>
              <a:cxnLst/>
              <a:rect l="l" t="t" r="r" b="b"/>
              <a:pathLst>
                <a:path w="984137" h="1593725">
                  <a:moveTo>
                    <a:pt x="0" y="0"/>
                  </a:moveTo>
                  <a:lnTo>
                    <a:pt x="984137" y="0"/>
                  </a:lnTo>
                  <a:lnTo>
                    <a:pt x="984137" y="1593725"/>
                  </a:lnTo>
                  <a:lnTo>
                    <a:pt x="0" y="1593725"/>
                  </a:lnTo>
                  <a:close/>
                </a:path>
              </a:pathLst>
            </a:custGeom>
            <a:blipFill>
              <a:blip r:embed="rId4"/>
              <a:stretch>
                <a:fillRect t="-306" b="-306"/>
              </a:stretch>
            </a:blipFill>
          </p:spPr>
        </p:sp>
      </p:grpSp>
      <p:grpSp>
        <p:nvGrpSpPr>
          <p:cNvPr id="9" name="Group 9"/>
          <p:cNvGrpSpPr/>
          <p:nvPr/>
        </p:nvGrpSpPr>
        <p:grpSpPr>
          <a:xfrm>
            <a:off x="16438046" y="129"/>
            <a:ext cx="1849954" cy="1848037"/>
            <a:chOff x="0" y="0"/>
            <a:chExt cx="2466605" cy="2464050"/>
          </a:xfrm>
        </p:grpSpPr>
        <p:grpSp>
          <p:nvGrpSpPr>
            <p:cNvPr id="10" name="Group 10"/>
            <p:cNvGrpSpPr/>
            <p:nvPr/>
          </p:nvGrpSpPr>
          <p:grpSpPr>
            <a:xfrm>
              <a:off x="0" y="0"/>
              <a:ext cx="2466605" cy="2464050"/>
              <a:chOff x="0" y="0"/>
              <a:chExt cx="787566" cy="786750"/>
            </a:xfrm>
          </p:grpSpPr>
          <p:sp>
            <p:nvSpPr>
              <p:cNvPr id="11" name="Freeform 11"/>
              <p:cNvSpPr/>
              <p:nvPr/>
            </p:nvSpPr>
            <p:spPr>
              <a:xfrm>
                <a:off x="0" y="0"/>
                <a:ext cx="787566" cy="786750"/>
              </a:xfrm>
              <a:custGeom>
                <a:avLst/>
                <a:gdLst/>
                <a:ahLst/>
                <a:cxnLst/>
                <a:rect l="l" t="t" r="r" b="b"/>
                <a:pathLst>
                  <a:path w="787566" h="786750">
                    <a:moveTo>
                      <a:pt x="0" y="0"/>
                    </a:moveTo>
                    <a:lnTo>
                      <a:pt x="787566" y="0"/>
                    </a:lnTo>
                    <a:lnTo>
                      <a:pt x="787566" y="786750"/>
                    </a:lnTo>
                    <a:lnTo>
                      <a:pt x="0" y="786750"/>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12" name="TextBox 12"/>
              <p:cNvSpPr txBox="1"/>
              <p:nvPr/>
            </p:nvSpPr>
            <p:spPr>
              <a:xfrm>
                <a:off x="0" y="-38100"/>
                <a:ext cx="787566" cy="82485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13" name="TextBox 13"/>
            <p:cNvSpPr txBox="1"/>
            <p:nvPr/>
          </p:nvSpPr>
          <p:spPr>
            <a:xfrm>
              <a:off x="319164" y="694049"/>
              <a:ext cx="1828278" cy="1199777"/>
            </a:xfrm>
            <a:prstGeom prst="rect">
              <a:avLst/>
            </a:prstGeom>
          </p:spPr>
          <p:txBody>
            <a:bodyPr lIns="0" tIns="0" rIns="0" bIns="0" rtlCol="0" anchor="t">
              <a:spAutoFit/>
            </a:bodyPr>
            <a:lstStyle/>
            <a:p>
              <a:pPr marL="0" lvl="0" indent="0" algn="ctr">
                <a:lnSpc>
                  <a:spcPts val="6421"/>
                </a:lnSpc>
              </a:pPr>
              <a:r>
                <a:rPr lang="en-US" sz="6552" spc="-419">
                  <a:solidFill>
                    <a:srgbClr val="FFFFFF"/>
                  </a:solidFill>
                  <a:latin typeface="Bricolage Grotesque"/>
                  <a:ea typeface="Bricolage Grotesque"/>
                  <a:cs typeface="Bricolage Grotesque"/>
                  <a:sym typeface="Bricolage Grotesque"/>
                </a:rPr>
                <a:t>15</a:t>
              </a:r>
            </a:p>
          </p:txBody>
        </p:sp>
      </p:grpSp>
      <p:sp>
        <p:nvSpPr>
          <p:cNvPr id="14" name="AutoShape 14"/>
          <p:cNvSpPr/>
          <p:nvPr/>
        </p:nvSpPr>
        <p:spPr>
          <a:xfrm flipH="1">
            <a:off x="6542795" y="0"/>
            <a:ext cx="0" cy="10287000"/>
          </a:xfrm>
          <a:prstGeom prst="line">
            <a:avLst/>
          </a:prstGeom>
          <a:ln w="19050" cap="rnd">
            <a:solidFill>
              <a:srgbClr val="3A58E4"/>
            </a:solidFill>
            <a:prstDash val="solid"/>
            <a:headEnd type="none" w="sm" len="sm"/>
            <a:tailEnd type="none" w="sm" len="sm"/>
          </a:ln>
        </p:spPr>
      </p:sp>
      <p:sp>
        <p:nvSpPr>
          <p:cNvPr id="15" name="Freeform 15"/>
          <p:cNvSpPr/>
          <p:nvPr/>
        </p:nvSpPr>
        <p:spPr>
          <a:xfrm>
            <a:off x="5177017" y="5870652"/>
            <a:ext cx="2350556" cy="457290"/>
          </a:xfrm>
          <a:custGeom>
            <a:avLst/>
            <a:gdLst/>
            <a:ahLst/>
            <a:cxnLst/>
            <a:rect l="l" t="t" r="r" b="b"/>
            <a:pathLst>
              <a:path w="2350556" h="457290">
                <a:moveTo>
                  <a:pt x="0" y="0"/>
                </a:moveTo>
                <a:lnTo>
                  <a:pt x="2350556" y="0"/>
                </a:lnTo>
                <a:lnTo>
                  <a:pt x="2350556" y="457290"/>
                </a:lnTo>
                <a:lnTo>
                  <a:pt x="0" y="457290"/>
                </a:lnTo>
                <a:lnTo>
                  <a:pt x="0" y="0"/>
                </a:lnTo>
                <a:close/>
              </a:path>
            </a:pathLst>
          </a:custGeom>
          <a:blipFill>
            <a:blip r:embed="rId5"/>
            <a:stretch>
              <a:fillRect/>
            </a:stretch>
          </a:blipFill>
        </p:spPr>
      </p:sp>
      <p:grpSp>
        <p:nvGrpSpPr>
          <p:cNvPr id="16" name="Group 16"/>
          <p:cNvGrpSpPr/>
          <p:nvPr/>
        </p:nvGrpSpPr>
        <p:grpSpPr>
          <a:xfrm>
            <a:off x="5262566" y="3959058"/>
            <a:ext cx="2152019" cy="2149322"/>
            <a:chOff x="0" y="0"/>
            <a:chExt cx="567580" cy="566868"/>
          </a:xfrm>
        </p:grpSpPr>
        <p:sp>
          <p:nvSpPr>
            <p:cNvPr id="17" name="Freeform 17"/>
            <p:cNvSpPr/>
            <p:nvPr/>
          </p:nvSpPr>
          <p:spPr>
            <a:xfrm>
              <a:off x="0" y="0"/>
              <a:ext cx="567580" cy="566868"/>
            </a:xfrm>
            <a:custGeom>
              <a:avLst/>
              <a:gdLst/>
              <a:ahLst/>
              <a:cxnLst/>
              <a:rect l="l" t="t" r="r" b="b"/>
              <a:pathLst>
                <a:path w="567580" h="566868">
                  <a:moveTo>
                    <a:pt x="161888" y="0"/>
                  </a:moveTo>
                  <a:lnTo>
                    <a:pt x="405691" y="0"/>
                  </a:lnTo>
                  <a:cubicBezTo>
                    <a:pt x="495100" y="0"/>
                    <a:pt x="567580" y="72480"/>
                    <a:pt x="567580" y="161888"/>
                  </a:cubicBezTo>
                  <a:lnTo>
                    <a:pt x="567580" y="404980"/>
                  </a:lnTo>
                  <a:cubicBezTo>
                    <a:pt x="567580" y="494389"/>
                    <a:pt x="495100" y="566868"/>
                    <a:pt x="405691" y="566868"/>
                  </a:cubicBezTo>
                  <a:lnTo>
                    <a:pt x="161888" y="566868"/>
                  </a:lnTo>
                  <a:cubicBezTo>
                    <a:pt x="72480" y="566868"/>
                    <a:pt x="0" y="494389"/>
                    <a:pt x="0" y="404980"/>
                  </a:cubicBezTo>
                  <a:lnTo>
                    <a:pt x="0" y="161888"/>
                  </a:lnTo>
                  <a:cubicBezTo>
                    <a:pt x="0" y="72480"/>
                    <a:pt x="72480" y="0"/>
                    <a:pt x="161888" y="0"/>
                  </a:cubicBez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a:ln cap="rnd">
              <a:noFill/>
              <a:prstDash val="solid"/>
              <a:round/>
            </a:ln>
          </p:spPr>
        </p:sp>
        <p:sp>
          <p:nvSpPr>
            <p:cNvPr id="18" name="TextBox 18"/>
            <p:cNvSpPr txBox="1"/>
            <p:nvPr/>
          </p:nvSpPr>
          <p:spPr>
            <a:xfrm>
              <a:off x="0" y="28575"/>
              <a:ext cx="567580" cy="538293"/>
            </a:xfrm>
            <a:prstGeom prst="rect">
              <a:avLst/>
            </a:prstGeom>
          </p:spPr>
          <p:txBody>
            <a:bodyPr lIns="48445" tIns="48445" rIns="48445" bIns="48445" rtlCol="0" anchor="ctr"/>
            <a:lstStyle/>
            <a:p>
              <a:pPr marL="0" lvl="0" indent="0" algn="ctr">
                <a:lnSpc>
                  <a:spcPts val="2460"/>
                </a:lnSpc>
              </a:pPr>
              <a:endParaRPr/>
            </a:p>
          </p:txBody>
        </p:sp>
      </p:grpSp>
      <p:sp>
        <p:nvSpPr>
          <p:cNvPr id="19" name="TextBox 19"/>
          <p:cNvSpPr txBox="1"/>
          <p:nvPr/>
        </p:nvSpPr>
        <p:spPr>
          <a:xfrm>
            <a:off x="5602320" y="4444821"/>
            <a:ext cx="1499950" cy="486039"/>
          </a:xfrm>
          <a:prstGeom prst="rect">
            <a:avLst/>
          </a:prstGeom>
        </p:spPr>
        <p:txBody>
          <a:bodyPr lIns="0" tIns="0" rIns="0" bIns="0" rtlCol="0" anchor="t">
            <a:spAutoFit/>
          </a:bodyPr>
          <a:lstStyle/>
          <a:p>
            <a:pPr marL="0" lvl="0" indent="0" algn="ctr">
              <a:lnSpc>
                <a:spcPts val="3674"/>
              </a:lnSpc>
            </a:pPr>
            <a:r>
              <a:rPr lang="en-US" sz="3711" b="1" spc="-111">
                <a:solidFill>
                  <a:srgbClr val="FFFFFF"/>
                </a:solidFill>
                <a:latin typeface="Bricolage Grotesque Bold"/>
                <a:ea typeface="Bricolage Grotesque Bold"/>
                <a:cs typeface="Bricolage Grotesque Bold"/>
                <a:sym typeface="Bricolage Grotesque Bold"/>
              </a:rPr>
              <a:t>SQLite</a:t>
            </a:r>
          </a:p>
        </p:txBody>
      </p:sp>
      <p:sp>
        <p:nvSpPr>
          <p:cNvPr id="20" name="TextBox 20"/>
          <p:cNvSpPr txBox="1"/>
          <p:nvPr/>
        </p:nvSpPr>
        <p:spPr>
          <a:xfrm>
            <a:off x="5746312" y="5274096"/>
            <a:ext cx="1211966" cy="417195"/>
          </a:xfrm>
          <a:prstGeom prst="rect">
            <a:avLst/>
          </a:prstGeom>
        </p:spPr>
        <p:txBody>
          <a:bodyPr lIns="0" tIns="0" rIns="0" bIns="0" rtlCol="0" anchor="t">
            <a:spAutoFit/>
          </a:bodyPr>
          <a:lstStyle/>
          <a:p>
            <a:pPr marL="0" lvl="0" indent="0" algn="ctr">
              <a:lnSpc>
                <a:spcPts val="1679"/>
              </a:lnSpc>
            </a:pPr>
            <a:r>
              <a:rPr lang="en-US" sz="1199" spc="-29">
                <a:solidFill>
                  <a:srgbClr val="FFFFFF"/>
                </a:solidFill>
                <a:latin typeface="Poppins"/>
                <a:ea typeface="Poppins"/>
                <a:cs typeface="Poppins"/>
                <a:sym typeface="Poppins"/>
              </a:rPr>
              <a:t>LOCAL DB ENGINE</a:t>
            </a:r>
          </a:p>
        </p:txBody>
      </p:sp>
      <p:sp>
        <p:nvSpPr>
          <p:cNvPr id="21" name="TextBox 21"/>
          <p:cNvSpPr txBox="1"/>
          <p:nvPr/>
        </p:nvSpPr>
        <p:spPr>
          <a:xfrm>
            <a:off x="8720122" y="1799832"/>
            <a:ext cx="5780387" cy="2096086"/>
          </a:xfrm>
          <a:prstGeom prst="rect">
            <a:avLst/>
          </a:prstGeom>
        </p:spPr>
        <p:txBody>
          <a:bodyPr lIns="0" tIns="0" rIns="0" bIns="0" rtlCol="0" anchor="t">
            <a:spAutoFit/>
          </a:bodyPr>
          <a:lstStyle/>
          <a:p>
            <a:pPr marL="0" lvl="0" indent="0" algn="l">
              <a:lnSpc>
                <a:spcPts val="8038"/>
              </a:lnSpc>
            </a:pPr>
            <a:r>
              <a:rPr lang="en-US" sz="8202" spc="-524">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Local Storage</a:t>
            </a:r>
          </a:p>
          <a:p>
            <a:pPr marL="0" lvl="0" indent="0" algn="l">
              <a:lnSpc>
                <a:spcPts val="8038"/>
              </a:lnSpc>
            </a:pPr>
            <a:r>
              <a:rPr lang="en-US" sz="8202" spc="-524">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(SQLite)</a:t>
            </a:r>
          </a:p>
        </p:txBody>
      </p:sp>
      <p:sp>
        <p:nvSpPr>
          <p:cNvPr id="22" name="TextBox 22"/>
          <p:cNvSpPr txBox="1"/>
          <p:nvPr/>
        </p:nvSpPr>
        <p:spPr>
          <a:xfrm>
            <a:off x="8492056" y="5401068"/>
            <a:ext cx="7325824" cy="1574142"/>
          </a:xfrm>
          <a:prstGeom prst="rect">
            <a:avLst/>
          </a:prstGeom>
        </p:spPr>
        <p:txBody>
          <a:bodyPr lIns="0" tIns="0" rIns="0" bIns="0" rtlCol="0" anchor="t">
            <a:spAutoFit/>
          </a:bodyPr>
          <a:lstStyle/>
          <a:p>
            <a:pPr marL="0" lvl="0" indent="0" algn="just">
              <a:lnSpc>
                <a:spcPts val="2486"/>
              </a:lnSpc>
            </a:pPr>
            <a:r>
              <a:rPr lang="en-US" sz="1775" spc="-5">
                <a:solidFill>
                  <a:srgbClr val="3A58E4"/>
                </a:solidFill>
                <a:latin typeface="Poppins"/>
                <a:ea typeface="Poppins"/>
                <a:cs typeface="Poppins"/>
                <a:sym typeface="Poppins"/>
              </a:rPr>
              <a:t>SQLite was chosen as the local database engine to support an offline-first approach. It stores measurement data directly on the device, ensuring the app functions reliably even without internet connectivity. Data is synced to the cloud once a connection is restored, using the "uploaded" flag to track sync status.</a:t>
            </a:r>
          </a:p>
        </p:txBody>
      </p:sp>
      <p:sp>
        <p:nvSpPr>
          <p:cNvPr id="23" name="TextBox 23"/>
          <p:cNvSpPr txBox="1"/>
          <p:nvPr/>
        </p:nvSpPr>
        <p:spPr>
          <a:xfrm>
            <a:off x="8274055" y="6887733"/>
            <a:ext cx="5481943" cy="2202792"/>
          </a:xfrm>
          <a:prstGeom prst="rect">
            <a:avLst/>
          </a:prstGeom>
        </p:spPr>
        <p:txBody>
          <a:bodyPr lIns="0" tIns="0" rIns="0" bIns="0" rtlCol="0" anchor="t">
            <a:spAutoFit/>
          </a:bodyPr>
          <a:lstStyle/>
          <a:p>
            <a:pPr marL="0" lvl="0" indent="0" algn="just">
              <a:lnSpc>
                <a:spcPts val="2486"/>
              </a:lnSpc>
            </a:pPr>
            <a:r>
              <a:rPr lang="en-US" sz="1775" spc="-5">
                <a:solidFill>
                  <a:srgbClr val="3A58E4"/>
                </a:solidFill>
                <a:latin typeface="Poppins"/>
                <a:ea typeface="Poppins"/>
                <a:cs typeface="Poppins"/>
                <a:sym typeface="Poppins"/>
              </a:rPr>
              <a:t>id — Unique record identifier</a:t>
            </a:r>
          </a:p>
          <a:p>
            <a:pPr marL="0" lvl="0" indent="0" algn="just">
              <a:lnSpc>
                <a:spcPts val="2486"/>
              </a:lnSpc>
            </a:pPr>
            <a:r>
              <a:rPr lang="en-US" sz="1775" spc="-5">
                <a:solidFill>
                  <a:srgbClr val="3A58E4"/>
                </a:solidFill>
                <a:latin typeface="Poppins"/>
                <a:ea typeface="Poppins"/>
                <a:cs typeface="Poppins"/>
                <a:sym typeface="Poppins"/>
              </a:rPr>
              <a:t>localId — Device-side local reference</a:t>
            </a:r>
          </a:p>
          <a:p>
            <a:pPr marL="0" lvl="0" indent="0" algn="just">
              <a:lnSpc>
                <a:spcPts val="2486"/>
              </a:lnSpc>
            </a:pPr>
            <a:r>
              <a:rPr lang="en-US" sz="1775" spc="-5">
                <a:solidFill>
                  <a:srgbClr val="3A58E4"/>
                </a:solidFill>
                <a:latin typeface="Poppins"/>
                <a:ea typeface="Poppins"/>
                <a:cs typeface="Poppins"/>
                <a:sym typeface="Poppins"/>
              </a:rPr>
              <a:t>latitude / longitude — GPS coordinates</a:t>
            </a:r>
          </a:p>
          <a:p>
            <a:pPr marL="0" lvl="0" indent="0" algn="just">
              <a:lnSpc>
                <a:spcPts val="2486"/>
              </a:lnSpc>
            </a:pPr>
            <a:r>
              <a:rPr lang="en-US" sz="1775" spc="-5">
                <a:solidFill>
                  <a:srgbClr val="3A58E4"/>
                </a:solidFill>
                <a:latin typeface="Poppins"/>
                <a:ea typeface="Poppins"/>
                <a:cs typeface="Poppins"/>
                <a:sym typeface="Poppins"/>
              </a:rPr>
              <a:t>latency — Measured ping in ms</a:t>
            </a:r>
          </a:p>
          <a:p>
            <a:pPr marL="0" lvl="0" indent="0" algn="just">
              <a:lnSpc>
                <a:spcPts val="2486"/>
              </a:lnSpc>
            </a:pPr>
            <a:r>
              <a:rPr lang="en-US" sz="1775" spc="-5">
                <a:solidFill>
                  <a:srgbClr val="3A58E4"/>
                </a:solidFill>
                <a:latin typeface="Poppins"/>
                <a:ea typeface="Poppins"/>
                <a:cs typeface="Poppins"/>
                <a:sym typeface="Poppins"/>
              </a:rPr>
              <a:t>downloadSpeed — Speed in Mbps</a:t>
            </a:r>
          </a:p>
          <a:p>
            <a:pPr marL="0" lvl="0" indent="0" algn="just">
              <a:lnSpc>
                <a:spcPts val="2486"/>
              </a:lnSpc>
            </a:pPr>
            <a:r>
              <a:rPr lang="en-US" sz="1775" spc="-5">
                <a:solidFill>
                  <a:srgbClr val="3A58E4"/>
                </a:solidFill>
                <a:latin typeface="Poppins"/>
                <a:ea typeface="Poppins"/>
                <a:cs typeface="Poppins"/>
                <a:sym typeface="Poppins"/>
              </a:rPr>
              <a:t>signalStability — User rating (1–5)</a:t>
            </a:r>
          </a:p>
          <a:p>
            <a:pPr marL="0" lvl="0" indent="0" algn="just">
              <a:lnSpc>
                <a:spcPts val="2486"/>
              </a:lnSpc>
            </a:pPr>
            <a:r>
              <a:rPr lang="en-US" sz="1775" spc="-5">
                <a:solidFill>
                  <a:srgbClr val="3A58E4"/>
                </a:solidFill>
                <a:latin typeface="Poppins"/>
                <a:ea typeface="Poppins"/>
                <a:cs typeface="Poppins"/>
                <a:sym typeface="Poppins"/>
              </a:rPr>
              <a:t>uploaded — Sync flag (0 = pending, 1 = synced)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028700" y="1666284"/>
            <a:ext cx="47625" cy="2040668"/>
            <a:chOff x="0" y="0"/>
            <a:chExt cx="12543" cy="537460"/>
          </a:xfrm>
        </p:grpSpPr>
        <p:sp>
          <p:nvSpPr>
            <p:cNvPr id="3" name="Freeform 3"/>
            <p:cNvSpPr/>
            <p:nvPr/>
          </p:nvSpPr>
          <p:spPr>
            <a:xfrm>
              <a:off x="0" y="0"/>
              <a:ext cx="12543" cy="537460"/>
            </a:xfrm>
            <a:custGeom>
              <a:avLst/>
              <a:gdLst/>
              <a:ahLst/>
              <a:cxnLst/>
              <a:rect l="l" t="t" r="r" b="b"/>
              <a:pathLst>
                <a:path w="12543" h="537460">
                  <a:moveTo>
                    <a:pt x="0" y="0"/>
                  </a:moveTo>
                  <a:lnTo>
                    <a:pt x="12543" y="0"/>
                  </a:lnTo>
                  <a:lnTo>
                    <a:pt x="12543" y="537460"/>
                  </a:lnTo>
                  <a:lnTo>
                    <a:pt x="0" y="537460"/>
                  </a:lnTo>
                  <a:close/>
                </a:path>
              </a:pathLst>
            </a:custGeom>
            <a:solidFill>
              <a:srgbClr val="3A58E4"/>
            </a:solidFill>
          </p:spPr>
        </p:sp>
        <p:sp>
          <p:nvSpPr>
            <p:cNvPr id="4" name="TextBox 4"/>
            <p:cNvSpPr txBox="1"/>
            <p:nvPr/>
          </p:nvSpPr>
          <p:spPr>
            <a:xfrm>
              <a:off x="0" y="-38100"/>
              <a:ext cx="12543" cy="57556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5" name="Group 5"/>
          <p:cNvGrpSpPr/>
          <p:nvPr/>
        </p:nvGrpSpPr>
        <p:grpSpPr>
          <a:xfrm>
            <a:off x="16438046" y="36375"/>
            <a:ext cx="1849954" cy="1811791"/>
            <a:chOff x="0" y="0"/>
            <a:chExt cx="2466605" cy="2415721"/>
          </a:xfrm>
        </p:grpSpPr>
        <p:grpSp>
          <p:nvGrpSpPr>
            <p:cNvPr id="6" name="Group 6"/>
            <p:cNvGrpSpPr/>
            <p:nvPr/>
          </p:nvGrpSpPr>
          <p:grpSpPr>
            <a:xfrm>
              <a:off x="0" y="0"/>
              <a:ext cx="2466605" cy="2415721"/>
              <a:chOff x="0" y="0"/>
              <a:chExt cx="787566" cy="771319"/>
            </a:xfrm>
          </p:grpSpPr>
          <p:sp>
            <p:nvSpPr>
              <p:cNvPr id="7" name="Freeform 7"/>
              <p:cNvSpPr/>
              <p:nvPr/>
            </p:nvSpPr>
            <p:spPr>
              <a:xfrm>
                <a:off x="0" y="0"/>
                <a:ext cx="787566" cy="771319"/>
              </a:xfrm>
              <a:custGeom>
                <a:avLst/>
                <a:gdLst/>
                <a:ahLst/>
                <a:cxnLst/>
                <a:rect l="l" t="t" r="r" b="b"/>
                <a:pathLst>
                  <a:path w="787566" h="771319">
                    <a:moveTo>
                      <a:pt x="0" y="0"/>
                    </a:moveTo>
                    <a:lnTo>
                      <a:pt x="787566" y="0"/>
                    </a:lnTo>
                    <a:lnTo>
                      <a:pt x="787566" y="771319"/>
                    </a:lnTo>
                    <a:lnTo>
                      <a:pt x="0" y="771319"/>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8" name="TextBox 8"/>
              <p:cNvSpPr txBox="1"/>
              <p:nvPr/>
            </p:nvSpPr>
            <p:spPr>
              <a:xfrm>
                <a:off x="0" y="-38100"/>
                <a:ext cx="787566" cy="809419"/>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9" name="TextBox 9"/>
            <p:cNvSpPr txBox="1"/>
            <p:nvPr/>
          </p:nvSpPr>
          <p:spPr>
            <a:xfrm>
              <a:off x="319164" y="694049"/>
              <a:ext cx="1828278" cy="1151448"/>
            </a:xfrm>
            <a:prstGeom prst="rect">
              <a:avLst/>
            </a:prstGeom>
          </p:spPr>
          <p:txBody>
            <a:bodyPr lIns="0" tIns="0" rIns="0" bIns="0" rtlCol="0" anchor="t">
              <a:spAutoFit/>
            </a:bodyPr>
            <a:lstStyle/>
            <a:p>
              <a:pPr marL="0" lvl="0" indent="0" algn="ctr">
                <a:lnSpc>
                  <a:spcPts val="6152"/>
                </a:lnSpc>
              </a:pPr>
              <a:r>
                <a:rPr lang="en-US" sz="6277" spc="-401">
                  <a:solidFill>
                    <a:srgbClr val="FFFFFF"/>
                  </a:solidFill>
                  <a:latin typeface="Bricolage Grotesque"/>
                  <a:ea typeface="Bricolage Grotesque"/>
                  <a:cs typeface="Bricolage Grotesque"/>
                  <a:sym typeface="Bricolage Grotesque"/>
                </a:rPr>
                <a:t>16</a:t>
              </a:r>
            </a:p>
          </p:txBody>
        </p:sp>
      </p:grpSp>
      <p:sp>
        <p:nvSpPr>
          <p:cNvPr id="10" name="Freeform 10"/>
          <p:cNvSpPr/>
          <p:nvPr/>
        </p:nvSpPr>
        <p:spPr>
          <a:xfrm>
            <a:off x="8586054" y="2822604"/>
            <a:ext cx="9306315" cy="6467889"/>
          </a:xfrm>
          <a:custGeom>
            <a:avLst/>
            <a:gdLst/>
            <a:ahLst/>
            <a:cxnLst/>
            <a:rect l="l" t="t" r="r" b="b"/>
            <a:pathLst>
              <a:path w="9306315" h="6467889">
                <a:moveTo>
                  <a:pt x="0" y="0"/>
                </a:moveTo>
                <a:lnTo>
                  <a:pt x="9306315" y="0"/>
                </a:lnTo>
                <a:lnTo>
                  <a:pt x="9306315" y="6467889"/>
                </a:lnTo>
                <a:lnTo>
                  <a:pt x="0" y="6467889"/>
                </a:lnTo>
                <a:lnTo>
                  <a:pt x="0" y="0"/>
                </a:lnTo>
                <a:close/>
              </a:path>
            </a:pathLst>
          </a:custGeom>
          <a:blipFill>
            <a:blip r:embed="rId2"/>
            <a:stretch>
              <a:fillRect/>
            </a:stretch>
          </a:blipFill>
        </p:spPr>
      </p:sp>
      <p:grpSp>
        <p:nvGrpSpPr>
          <p:cNvPr id="11" name="Group 11"/>
          <p:cNvGrpSpPr/>
          <p:nvPr/>
        </p:nvGrpSpPr>
        <p:grpSpPr>
          <a:xfrm>
            <a:off x="1028700" y="4407668"/>
            <a:ext cx="6730921" cy="379246"/>
            <a:chOff x="0" y="0"/>
            <a:chExt cx="8974562" cy="505662"/>
          </a:xfrm>
        </p:grpSpPr>
        <p:sp>
          <p:nvSpPr>
            <p:cNvPr id="12" name="TextBox 12"/>
            <p:cNvSpPr txBox="1"/>
            <p:nvPr/>
          </p:nvSpPr>
          <p:spPr>
            <a:xfrm>
              <a:off x="0" y="-17554"/>
              <a:ext cx="8974562" cy="523216"/>
            </a:xfrm>
            <a:prstGeom prst="rect">
              <a:avLst/>
            </a:prstGeom>
          </p:spPr>
          <p:txBody>
            <a:bodyPr lIns="0" tIns="0" rIns="0" bIns="0" rtlCol="0" anchor="t">
              <a:spAutoFit/>
            </a:bodyPr>
            <a:lstStyle/>
            <a:p>
              <a:pPr marL="0" lvl="0" indent="0" algn="l">
                <a:lnSpc>
                  <a:spcPts val="3177"/>
                </a:lnSpc>
              </a:pPr>
              <a:r>
                <a:rPr lang="en-US" sz="2269" b="1" spc="-56">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ANALYTICS &amp; ADMIN ACCESS – WHY MONGODB?</a:t>
              </a:r>
            </a:p>
          </p:txBody>
        </p:sp>
        <p:sp>
          <p:nvSpPr>
            <p:cNvPr id="13" name="Freeform 13"/>
            <p:cNvSpPr/>
            <p:nvPr/>
          </p:nvSpPr>
          <p:spPr>
            <a:xfrm rot="-8687136">
              <a:off x="8443725" y="44820"/>
              <a:ext cx="252200" cy="304858"/>
            </a:xfrm>
            <a:custGeom>
              <a:avLst/>
              <a:gdLst/>
              <a:ahLst/>
              <a:cxnLst/>
              <a:rect l="l" t="t" r="r" b="b"/>
              <a:pathLst>
                <a:path w="252200" h="304858">
                  <a:moveTo>
                    <a:pt x="0" y="0"/>
                  </a:moveTo>
                  <a:lnTo>
                    <a:pt x="252200" y="0"/>
                  </a:lnTo>
                  <a:lnTo>
                    <a:pt x="252200" y="304857"/>
                  </a:lnTo>
                  <a:lnTo>
                    <a:pt x="0" y="304857"/>
                  </a:lnTo>
                  <a:lnTo>
                    <a:pt x="0" y="0"/>
                  </a:lnTo>
                  <a:close/>
                </a:path>
              </a:pathLst>
            </a:custGeom>
            <a:blipFill>
              <a:blip r:embed="rId3">
                <a:extLst>
                  <a:ext uri="{96DAC541-7B7A-43D3-8B79-37D633B846F1}">
                    <asvg:svgBlip xmlns:asvg="http://schemas.microsoft.com/office/drawing/2016/SVG/main" xmlns="" r:embed="rId4"/>
                  </a:ext>
                </a:extLst>
              </a:blip>
              <a:stretch>
                <a:fillRect/>
              </a:stretch>
            </a:blipFill>
          </p:spPr>
        </p:sp>
      </p:grpSp>
      <p:sp>
        <p:nvSpPr>
          <p:cNvPr id="14" name="TextBox 14"/>
          <p:cNvSpPr txBox="1"/>
          <p:nvPr/>
        </p:nvSpPr>
        <p:spPr>
          <a:xfrm>
            <a:off x="1256766" y="1197264"/>
            <a:ext cx="5412331" cy="2839076"/>
          </a:xfrm>
          <a:prstGeom prst="rect">
            <a:avLst/>
          </a:prstGeom>
        </p:spPr>
        <p:txBody>
          <a:bodyPr lIns="0" tIns="0" rIns="0" bIns="0" rtlCol="0" anchor="t">
            <a:spAutoFit/>
          </a:bodyPr>
          <a:lstStyle/>
          <a:p>
            <a:pPr marL="0" lvl="0" indent="0" algn="l">
              <a:lnSpc>
                <a:spcPts val="7334"/>
              </a:lnSpc>
            </a:pPr>
            <a:r>
              <a:rPr lang="en-US" sz="7484" spc="-478">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Cloud Database</a:t>
            </a:r>
          </a:p>
          <a:p>
            <a:pPr marL="0" lvl="0" indent="0" algn="l">
              <a:lnSpc>
                <a:spcPts val="7334"/>
              </a:lnSpc>
            </a:pPr>
            <a:r>
              <a:rPr lang="en-US" sz="7484" spc="-478">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(MongoDB)</a:t>
            </a:r>
          </a:p>
        </p:txBody>
      </p:sp>
      <p:sp>
        <p:nvSpPr>
          <p:cNvPr id="15" name="TextBox 15"/>
          <p:cNvSpPr txBox="1"/>
          <p:nvPr/>
        </p:nvSpPr>
        <p:spPr>
          <a:xfrm>
            <a:off x="1028700" y="5352257"/>
            <a:ext cx="6570559" cy="3597847"/>
          </a:xfrm>
          <a:prstGeom prst="rect">
            <a:avLst/>
          </a:prstGeom>
        </p:spPr>
        <p:txBody>
          <a:bodyPr lIns="0" tIns="0" rIns="0" bIns="0" rtlCol="0" anchor="t">
            <a:spAutoFit/>
          </a:bodyPr>
          <a:lstStyle/>
          <a:p>
            <a:pPr marL="0" lvl="0" indent="0" algn="just">
              <a:lnSpc>
                <a:spcPts val="2243"/>
              </a:lnSpc>
            </a:pPr>
            <a:r>
              <a:rPr lang="en-US" sz="1602" spc="-4">
                <a:solidFill>
                  <a:srgbClr val="3A58E4"/>
                </a:solidFill>
                <a:latin typeface="Poppins"/>
                <a:ea typeface="Poppins"/>
                <a:cs typeface="Poppins"/>
                <a:sym typeface="Poppins"/>
              </a:rPr>
              <a:t>MongoDB powers the cloud layer of KILObYTES, offering key advantages for network data analytics:</a:t>
            </a:r>
          </a:p>
          <a:p>
            <a:pPr marL="0" lvl="0" indent="0" algn="just">
              <a:lnSpc>
                <a:spcPts val="2243"/>
              </a:lnSpc>
            </a:pPr>
            <a:r>
              <a:rPr lang="en-US" sz="1602" spc="-4">
                <a:solidFill>
                  <a:srgbClr val="3A58E4"/>
                </a:solidFill>
                <a:latin typeface="Poppins"/>
                <a:ea typeface="Poppins"/>
                <a:cs typeface="Poppins"/>
                <a:sym typeface="Poppins"/>
              </a:rPr>
              <a:t>● Flexible Schema – Easily adapts to evolving measurement fields without migrations</a:t>
            </a:r>
          </a:p>
          <a:p>
            <a:pPr marL="0" lvl="0" indent="0" algn="just">
              <a:lnSpc>
                <a:spcPts val="2243"/>
              </a:lnSpc>
            </a:pPr>
            <a:r>
              <a:rPr lang="en-US" sz="1602" spc="-4">
                <a:solidFill>
                  <a:srgbClr val="3A58E4"/>
                </a:solidFill>
                <a:latin typeface="Poppins"/>
                <a:ea typeface="Poppins"/>
                <a:cs typeface="Poppins"/>
                <a:sym typeface="Poppins"/>
              </a:rPr>
              <a:t>● Geospatial Support – Native 2dsphere index enables location-based heatmap queries</a:t>
            </a:r>
          </a:p>
          <a:p>
            <a:pPr marL="0" lvl="0" indent="0" algn="just">
              <a:lnSpc>
                <a:spcPts val="2243"/>
              </a:lnSpc>
            </a:pPr>
            <a:r>
              <a:rPr lang="en-US" sz="1602" spc="-4">
                <a:solidFill>
                  <a:srgbClr val="3A58E4"/>
                </a:solidFill>
                <a:latin typeface="Poppins"/>
                <a:ea typeface="Poppins"/>
                <a:cs typeface="Poppins"/>
                <a:sym typeface="Poppins"/>
              </a:rPr>
              <a:t>● Scalable – Handles large volumes of subscriber measurement documents efficiently</a:t>
            </a:r>
          </a:p>
          <a:p>
            <a:pPr marL="0" lvl="0" indent="0" algn="just">
              <a:lnSpc>
                <a:spcPts val="2243"/>
              </a:lnSpc>
            </a:pPr>
            <a:r>
              <a:rPr lang="en-US" sz="1602" spc="-4">
                <a:solidFill>
                  <a:srgbClr val="3A58E4"/>
                </a:solidFill>
                <a:latin typeface="Poppins"/>
                <a:ea typeface="Poppins"/>
                <a:cs typeface="Poppins"/>
                <a:sym typeface="Poppins"/>
              </a:rPr>
              <a:t>● JSON-like Documents – Seamless integration with Node.js/Express.js backend</a:t>
            </a:r>
          </a:p>
          <a:p>
            <a:pPr marL="0" lvl="0" indent="0" algn="just">
              <a:lnSpc>
                <a:spcPts val="2243"/>
              </a:lnSpc>
            </a:pPr>
            <a:r>
              <a:rPr lang="en-US" sz="1602" spc="-4">
                <a:solidFill>
                  <a:srgbClr val="3A58E4"/>
                </a:solidFill>
                <a:latin typeface="Poppins"/>
                <a:ea typeface="Poppins"/>
                <a:cs typeface="Poppins"/>
                <a:sym typeface="Poppins"/>
              </a:rPr>
              <a:t>Collections: User · Measurement · NetworkCell</a:t>
            </a:r>
          </a:p>
          <a:p>
            <a:pPr marL="0" lvl="0" indent="0" algn="just">
              <a:lnSpc>
                <a:spcPts val="2243"/>
              </a:lnSpc>
            </a:pPr>
            <a:r>
              <a:rPr lang="en-US" sz="1602" spc="-4">
                <a:solidFill>
                  <a:srgbClr val="3A58E4"/>
                </a:solidFill>
                <a:latin typeface="Poppins"/>
                <a:ea typeface="Poppins"/>
                <a:cs typeface="Poppins"/>
                <a:sym typeface="Poppins"/>
              </a:rPr>
              <a:t>Key fields: qualityCategory, 2dsphere index, uploaded flag for sync</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256766" y="1228725"/>
            <a:ext cx="5217559" cy="2499419"/>
          </a:xfrm>
          <a:prstGeom prst="rect">
            <a:avLst/>
          </a:prstGeom>
        </p:spPr>
        <p:txBody>
          <a:bodyPr lIns="0" tIns="0" rIns="0" bIns="0" rtlCol="0" anchor="t">
            <a:spAutoFit/>
          </a:bodyPr>
          <a:lstStyle/>
          <a:p>
            <a:pPr marL="0" lvl="0" indent="0" algn="l">
              <a:lnSpc>
                <a:spcPts val="9603"/>
              </a:lnSpc>
            </a:pPr>
            <a:r>
              <a:rPr lang="en-US" sz="9799" spc="-627">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Mobile App UI</a:t>
            </a:r>
          </a:p>
        </p:txBody>
      </p:sp>
      <p:grpSp>
        <p:nvGrpSpPr>
          <p:cNvPr id="3" name="Group 3"/>
          <p:cNvGrpSpPr/>
          <p:nvPr/>
        </p:nvGrpSpPr>
        <p:grpSpPr>
          <a:xfrm>
            <a:off x="1028700" y="1358088"/>
            <a:ext cx="47625" cy="2040668"/>
            <a:chOff x="0" y="0"/>
            <a:chExt cx="12543" cy="537460"/>
          </a:xfrm>
        </p:grpSpPr>
        <p:sp>
          <p:nvSpPr>
            <p:cNvPr id="4" name="Freeform 4"/>
            <p:cNvSpPr/>
            <p:nvPr/>
          </p:nvSpPr>
          <p:spPr>
            <a:xfrm>
              <a:off x="0" y="0"/>
              <a:ext cx="12543" cy="537460"/>
            </a:xfrm>
            <a:custGeom>
              <a:avLst/>
              <a:gdLst/>
              <a:ahLst/>
              <a:cxnLst/>
              <a:rect l="l" t="t" r="r" b="b"/>
              <a:pathLst>
                <a:path w="12543" h="537460">
                  <a:moveTo>
                    <a:pt x="0" y="0"/>
                  </a:moveTo>
                  <a:lnTo>
                    <a:pt x="12543" y="0"/>
                  </a:lnTo>
                  <a:lnTo>
                    <a:pt x="12543" y="537460"/>
                  </a:lnTo>
                  <a:lnTo>
                    <a:pt x="0" y="537460"/>
                  </a:lnTo>
                  <a:close/>
                </a:path>
              </a:pathLst>
            </a:custGeom>
            <a:solidFill>
              <a:srgbClr val="3A58E4"/>
            </a:solidFill>
          </p:spPr>
        </p:sp>
        <p:sp>
          <p:nvSpPr>
            <p:cNvPr id="5" name="TextBox 5"/>
            <p:cNvSpPr txBox="1"/>
            <p:nvPr/>
          </p:nvSpPr>
          <p:spPr>
            <a:xfrm>
              <a:off x="0" y="-38100"/>
              <a:ext cx="12543" cy="57556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6" name="Group 6"/>
          <p:cNvGrpSpPr/>
          <p:nvPr/>
        </p:nvGrpSpPr>
        <p:grpSpPr>
          <a:xfrm>
            <a:off x="1028700" y="4312874"/>
            <a:ext cx="8172450" cy="379246"/>
            <a:chOff x="0" y="0"/>
            <a:chExt cx="10896600" cy="505662"/>
          </a:xfrm>
        </p:grpSpPr>
        <p:sp>
          <p:nvSpPr>
            <p:cNvPr id="7" name="TextBox 7"/>
            <p:cNvSpPr txBox="1"/>
            <p:nvPr/>
          </p:nvSpPr>
          <p:spPr>
            <a:xfrm>
              <a:off x="0" y="-49061"/>
              <a:ext cx="10820400" cy="554723"/>
            </a:xfrm>
            <a:prstGeom prst="rect">
              <a:avLst/>
            </a:prstGeom>
          </p:spPr>
          <p:txBody>
            <a:bodyPr lIns="0" tIns="0" rIns="0" bIns="0" rtlCol="0" anchor="t">
              <a:spAutoFit/>
            </a:bodyPr>
            <a:lstStyle/>
            <a:p>
              <a:pPr marL="0" lvl="0" indent="0" algn="l">
                <a:lnSpc>
                  <a:spcPts val="3318"/>
                </a:lnSpc>
              </a:pPr>
              <a:r>
                <a:rPr lang="en-US" sz="2370" b="1" spc="-59">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KILOBYTES IN ACTION – APP SCREEN WALKTHROUGH</a:t>
              </a:r>
            </a:p>
          </p:txBody>
        </p:sp>
        <p:sp>
          <p:nvSpPr>
            <p:cNvPr id="8" name="Freeform 8"/>
            <p:cNvSpPr/>
            <p:nvPr/>
          </p:nvSpPr>
          <p:spPr>
            <a:xfrm rot="-8687136">
              <a:off x="10579580" y="44820"/>
              <a:ext cx="252200" cy="304858"/>
            </a:xfrm>
            <a:custGeom>
              <a:avLst/>
              <a:gdLst/>
              <a:ahLst/>
              <a:cxnLst/>
              <a:rect l="l" t="t" r="r" b="b"/>
              <a:pathLst>
                <a:path w="252200" h="304858">
                  <a:moveTo>
                    <a:pt x="0" y="0"/>
                  </a:moveTo>
                  <a:lnTo>
                    <a:pt x="252200" y="0"/>
                  </a:lnTo>
                  <a:lnTo>
                    <a:pt x="252200" y="304857"/>
                  </a:lnTo>
                  <a:lnTo>
                    <a:pt x="0" y="304857"/>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sp>
      </p:grpSp>
      <p:grpSp>
        <p:nvGrpSpPr>
          <p:cNvPr id="9" name="Group 9"/>
          <p:cNvGrpSpPr/>
          <p:nvPr/>
        </p:nvGrpSpPr>
        <p:grpSpPr>
          <a:xfrm>
            <a:off x="16438046" y="0"/>
            <a:ext cx="1849954" cy="1848166"/>
            <a:chOff x="0" y="0"/>
            <a:chExt cx="2466605" cy="2464222"/>
          </a:xfrm>
        </p:grpSpPr>
        <p:grpSp>
          <p:nvGrpSpPr>
            <p:cNvPr id="10" name="Group 10"/>
            <p:cNvGrpSpPr/>
            <p:nvPr/>
          </p:nvGrpSpPr>
          <p:grpSpPr>
            <a:xfrm>
              <a:off x="0" y="0"/>
              <a:ext cx="2466605" cy="2464222"/>
              <a:chOff x="0" y="0"/>
              <a:chExt cx="787566" cy="786805"/>
            </a:xfrm>
          </p:grpSpPr>
          <p:sp>
            <p:nvSpPr>
              <p:cNvPr id="11" name="Freeform 11"/>
              <p:cNvSpPr/>
              <p:nvPr/>
            </p:nvSpPr>
            <p:spPr>
              <a:xfrm>
                <a:off x="0" y="0"/>
                <a:ext cx="787566" cy="786805"/>
              </a:xfrm>
              <a:custGeom>
                <a:avLst/>
                <a:gdLst/>
                <a:ahLst/>
                <a:cxnLst/>
                <a:rect l="l" t="t" r="r" b="b"/>
                <a:pathLst>
                  <a:path w="787566" h="786805">
                    <a:moveTo>
                      <a:pt x="0" y="0"/>
                    </a:moveTo>
                    <a:lnTo>
                      <a:pt x="787566" y="0"/>
                    </a:lnTo>
                    <a:lnTo>
                      <a:pt x="787566" y="786805"/>
                    </a:lnTo>
                    <a:lnTo>
                      <a:pt x="0" y="786805"/>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12" name="TextBox 12"/>
              <p:cNvSpPr txBox="1"/>
              <p:nvPr/>
            </p:nvSpPr>
            <p:spPr>
              <a:xfrm>
                <a:off x="0" y="-38100"/>
                <a:ext cx="787566" cy="824905"/>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13" name="TextBox 13"/>
            <p:cNvSpPr txBox="1"/>
            <p:nvPr/>
          </p:nvSpPr>
          <p:spPr>
            <a:xfrm>
              <a:off x="319164" y="694049"/>
              <a:ext cx="1828278" cy="1199949"/>
            </a:xfrm>
            <a:prstGeom prst="rect">
              <a:avLst/>
            </a:prstGeom>
          </p:spPr>
          <p:txBody>
            <a:bodyPr lIns="0" tIns="0" rIns="0" bIns="0" rtlCol="0" anchor="t">
              <a:spAutoFit/>
            </a:bodyPr>
            <a:lstStyle/>
            <a:p>
              <a:pPr marL="0" lvl="0" indent="0" algn="ctr">
                <a:lnSpc>
                  <a:spcPts val="6425"/>
                </a:lnSpc>
              </a:pPr>
              <a:r>
                <a:rPr lang="en-US" sz="6557" spc="-419">
                  <a:solidFill>
                    <a:srgbClr val="FFFFFF"/>
                  </a:solidFill>
                  <a:latin typeface="Bricolage Grotesque"/>
                  <a:ea typeface="Bricolage Grotesque"/>
                  <a:cs typeface="Bricolage Grotesque"/>
                  <a:sym typeface="Bricolage Grotesque"/>
                </a:rPr>
                <a:t>17</a:t>
              </a:r>
            </a:p>
          </p:txBody>
        </p:sp>
      </p:grpSp>
      <p:sp>
        <p:nvSpPr>
          <p:cNvPr id="14" name="Freeform 14"/>
          <p:cNvSpPr/>
          <p:nvPr/>
        </p:nvSpPr>
        <p:spPr>
          <a:xfrm>
            <a:off x="10898610" y="1009838"/>
            <a:ext cx="4933260" cy="9878977"/>
          </a:xfrm>
          <a:custGeom>
            <a:avLst/>
            <a:gdLst/>
            <a:ahLst/>
            <a:cxnLst/>
            <a:rect l="l" t="t" r="r" b="b"/>
            <a:pathLst>
              <a:path w="4933260" h="9878977">
                <a:moveTo>
                  <a:pt x="0" y="0"/>
                </a:moveTo>
                <a:lnTo>
                  <a:pt x="4933260" y="0"/>
                </a:lnTo>
                <a:lnTo>
                  <a:pt x="4933260" y="9878977"/>
                </a:lnTo>
                <a:lnTo>
                  <a:pt x="0" y="9878977"/>
                </a:lnTo>
                <a:lnTo>
                  <a:pt x="0" y="0"/>
                </a:lnTo>
                <a:close/>
              </a:path>
            </a:pathLst>
          </a:custGeom>
          <a:blipFill>
            <a:blip r:embed="rId4"/>
            <a:stretch>
              <a:fillRect/>
            </a:stretch>
          </a:blipFill>
        </p:spPr>
      </p:sp>
      <p:sp>
        <p:nvSpPr>
          <p:cNvPr id="15" name="TextBox 15"/>
          <p:cNvSpPr txBox="1"/>
          <p:nvPr/>
        </p:nvSpPr>
        <p:spPr>
          <a:xfrm>
            <a:off x="1870201" y="5206470"/>
            <a:ext cx="7273799" cy="810317"/>
          </a:xfrm>
          <a:prstGeom prst="rect">
            <a:avLst/>
          </a:prstGeom>
        </p:spPr>
        <p:txBody>
          <a:bodyPr lIns="0" tIns="0" rIns="0" bIns="0" rtlCol="0" anchor="t">
            <a:spAutoFit/>
          </a:bodyPr>
          <a:lstStyle/>
          <a:p>
            <a:pPr marL="0" lvl="0" indent="0" algn="just">
              <a:lnSpc>
                <a:spcPts val="3174"/>
              </a:lnSpc>
            </a:pPr>
            <a:r>
              <a:rPr lang="en-US" sz="2267" spc="-56">
                <a:solidFill>
                  <a:srgbClr val="3A58E4"/>
                </a:solidFill>
                <a:latin typeface="Poppins"/>
                <a:ea typeface="Poppins"/>
                <a:cs typeface="Poppins"/>
                <a:sym typeface="Poppins"/>
              </a:rPr>
              <a:t>Auth Screen – Secure login and registration with bilingual support and consent flow.</a:t>
            </a:r>
          </a:p>
        </p:txBody>
      </p:sp>
      <p:sp>
        <p:nvSpPr>
          <p:cNvPr id="16" name="TextBox 16"/>
          <p:cNvSpPr txBox="1"/>
          <p:nvPr/>
        </p:nvSpPr>
        <p:spPr>
          <a:xfrm>
            <a:off x="1870201" y="6197762"/>
            <a:ext cx="7273799" cy="810317"/>
          </a:xfrm>
          <a:prstGeom prst="rect">
            <a:avLst/>
          </a:prstGeom>
        </p:spPr>
        <p:txBody>
          <a:bodyPr lIns="0" tIns="0" rIns="0" bIns="0" rtlCol="0" anchor="t">
            <a:spAutoFit/>
          </a:bodyPr>
          <a:lstStyle/>
          <a:p>
            <a:pPr marL="0" lvl="0" indent="0" algn="just">
              <a:lnSpc>
                <a:spcPts val="3174"/>
              </a:lnSpc>
            </a:pPr>
            <a:r>
              <a:rPr lang="en-US" sz="2267" spc="-56">
                <a:solidFill>
                  <a:srgbClr val="3A58E4"/>
                </a:solidFill>
                <a:latin typeface="Poppins"/>
                <a:ea typeface="Poppins"/>
                <a:cs typeface="Poppins"/>
                <a:sym typeface="Poppins"/>
              </a:rPr>
              <a:t>Collect Screen – Dashboard to trigger QoS measurements and view real-time metrics.</a:t>
            </a:r>
          </a:p>
        </p:txBody>
      </p:sp>
      <p:sp>
        <p:nvSpPr>
          <p:cNvPr id="17" name="TextBox 17"/>
          <p:cNvSpPr txBox="1"/>
          <p:nvPr/>
        </p:nvSpPr>
        <p:spPr>
          <a:xfrm>
            <a:off x="1870201" y="7189053"/>
            <a:ext cx="7273799" cy="810317"/>
          </a:xfrm>
          <a:prstGeom prst="rect">
            <a:avLst/>
          </a:prstGeom>
        </p:spPr>
        <p:txBody>
          <a:bodyPr lIns="0" tIns="0" rIns="0" bIns="0" rtlCol="0" anchor="t">
            <a:spAutoFit/>
          </a:bodyPr>
          <a:lstStyle/>
          <a:p>
            <a:pPr marL="0" lvl="0" indent="0" algn="just">
              <a:lnSpc>
                <a:spcPts val="3174"/>
              </a:lnSpc>
            </a:pPr>
            <a:r>
              <a:rPr lang="en-US" sz="2267" spc="-56">
                <a:solidFill>
                  <a:srgbClr val="3A58E4"/>
                </a:solidFill>
                <a:latin typeface="Poppins"/>
                <a:ea typeface="Poppins"/>
                <a:cs typeface="Poppins"/>
                <a:sym typeface="Poppins"/>
              </a:rPr>
              <a:t>Heatmap Screen – Geospatial visualization of network quality across locations.</a:t>
            </a:r>
          </a:p>
        </p:txBody>
      </p:sp>
      <p:sp>
        <p:nvSpPr>
          <p:cNvPr id="18" name="TextBox 18"/>
          <p:cNvSpPr txBox="1"/>
          <p:nvPr/>
        </p:nvSpPr>
        <p:spPr>
          <a:xfrm>
            <a:off x="1870201" y="8180345"/>
            <a:ext cx="7273799" cy="810317"/>
          </a:xfrm>
          <a:prstGeom prst="rect">
            <a:avLst/>
          </a:prstGeom>
        </p:spPr>
        <p:txBody>
          <a:bodyPr lIns="0" tIns="0" rIns="0" bIns="0" rtlCol="0" anchor="t">
            <a:spAutoFit/>
          </a:bodyPr>
          <a:lstStyle/>
          <a:p>
            <a:pPr marL="0" lvl="0" indent="0" algn="just">
              <a:lnSpc>
                <a:spcPts val="3174"/>
              </a:lnSpc>
            </a:pPr>
            <a:r>
              <a:rPr lang="en-US" sz="2267" spc="-56">
                <a:solidFill>
                  <a:srgbClr val="3A58E4"/>
                </a:solidFill>
                <a:latin typeface="Poppins"/>
                <a:ea typeface="Poppins"/>
                <a:cs typeface="Poppins"/>
                <a:sym typeface="Poppins"/>
              </a:rPr>
              <a:t>Settings &amp; Consent – Manage background data collection permissions and preferences.</a:t>
            </a:r>
          </a:p>
        </p:txBody>
      </p:sp>
      <p:sp>
        <p:nvSpPr>
          <p:cNvPr id="19" name="Freeform 19"/>
          <p:cNvSpPr/>
          <p:nvPr/>
        </p:nvSpPr>
        <p:spPr>
          <a:xfrm>
            <a:off x="1052512" y="5400430"/>
            <a:ext cx="489071" cy="489071"/>
          </a:xfrm>
          <a:custGeom>
            <a:avLst/>
            <a:gdLst/>
            <a:ahLst/>
            <a:cxnLst/>
            <a:rect l="l" t="t" r="r" b="b"/>
            <a:pathLst>
              <a:path w="489071" h="489071">
                <a:moveTo>
                  <a:pt x="0" y="0"/>
                </a:moveTo>
                <a:lnTo>
                  <a:pt x="489072" y="0"/>
                </a:lnTo>
                <a:lnTo>
                  <a:pt x="489072" y="489071"/>
                </a:lnTo>
                <a:lnTo>
                  <a:pt x="0" y="489071"/>
                </a:lnTo>
                <a:lnTo>
                  <a:pt x="0" y="0"/>
                </a:lnTo>
                <a:close/>
              </a:path>
            </a:pathLst>
          </a:custGeom>
          <a:blipFill>
            <a:blip r:embed="rId5">
              <a:extLst>
                <a:ext uri="{96DAC541-7B7A-43D3-8B79-37D633B846F1}">
                  <asvg:svgBlip xmlns:asvg="http://schemas.microsoft.com/office/drawing/2016/SVG/main" xmlns="" r:embed="rId6"/>
                </a:ext>
              </a:extLst>
            </a:blip>
            <a:stretch>
              <a:fillRect/>
            </a:stretch>
          </a:blipFill>
        </p:spPr>
      </p:sp>
      <p:sp>
        <p:nvSpPr>
          <p:cNvPr id="20" name="Freeform 20"/>
          <p:cNvSpPr/>
          <p:nvPr/>
        </p:nvSpPr>
        <p:spPr>
          <a:xfrm>
            <a:off x="1052512" y="6391722"/>
            <a:ext cx="489071" cy="489071"/>
          </a:xfrm>
          <a:custGeom>
            <a:avLst/>
            <a:gdLst/>
            <a:ahLst/>
            <a:cxnLst/>
            <a:rect l="l" t="t" r="r" b="b"/>
            <a:pathLst>
              <a:path w="489071" h="489071">
                <a:moveTo>
                  <a:pt x="0" y="0"/>
                </a:moveTo>
                <a:lnTo>
                  <a:pt x="489072" y="0"/>
                </a:lnTo>
                <a:lnTo>
                  <a:pt x="489072" y="489071"/>
                </a:lnTo>
                <a:lnTo>
                  <a:pt x="0" y="489071"/>
                </a:lnTo>
                <a:lnTo>
                  <a:pt x="0" y="0"/>
                </a:lnTo>
                <a:close/>
              </a:path>
            </a:pathLst>
          </a:custGeom>
          <a:blipFill>
            <a:blip r:embed="rId5">
              <a:extLst>
                <a:ext uri="{96DAC541-7B7A-43D3-8B79-37D633B846F1}">
                  <asvg:svgBlip xmlns:asvg="http://schemas.microsoft.com/office/drawing/2016/SVG/main" xmlns="" r:embed="rId6"/>
                </a:ext>
              </a:extLst>
            </a:blip>
            <a:stretch>
              <a:fillRect/>
            </a:stretch>
          </a:blipFill>
        </p:spPr>
      </p:sp>
      <p:sp>
        <p:nvSpPr>
          <p:cNvPr id="21" name="Freeform 21"/>
          <p:cNvSpPr/>
          <p:nvPr/>
        </p:nvSpPr>
        <p:spPr>
          <a:xfrm>
            <a:off x="1052512" y="7383013"/>
            <a:ext cx="489071" cy="489071"/>
          </a:xfrm>
          <a:custGeom>
            <a:avLst/>
            <a:gdLst/>
            <a:ahLst/>
            <a:cxnLst/>
            <a:rect l="l" t="t" r="r" b="b"/>
            <a:pathLst>
              <a:path w="489071" h="489071">
                <a:moveTo>
                  <a:pt x="0" y="0"/>
                </a:moveTo>
                <a:lnTo>
                  <a:pt x="489072" y="0"/>
                </a:lnTo>
                <a:lnTo>
                  <a:pt x="489072" y="489071"/>
                </a:lnTo>
                <a:lnTo>
                  <a:pt x="0" y="489071"/>
                </a:lnTo>
                <a:lnTo>
                  <a:pt x="0" y="0"/>
                </a:lnTo>
                <a:close/>
              </a:path>
            </a:pathLst>
          </a:custGeom>
          <a:blipFill>
            <a:blip r:embed="rId5">
              <a:extLst>
                <a:ext uri="{96DAC541-7B7A-43D3-8B79-37D633B846F1}">
                  <asvg:svgBlip xmlns:asvg="http://schemas.microsoft.com/office/drawing/2016/SVG/main" xmlns="" r:embed="rId6"/>
                </a:ext>
              </a:extLst>
            </a:blip>
            <a:stretch>
              <a:fillRect/>
            </a:stretch>
          </a:blipFill>
        </p:spPr>
      </p:sp>
      <p:sp>
        <p:nvSpPr>
          <p:cNvPr id="22" name="Freeform 22"/>
          <p:cNvSpPr/>
          <p:nvPr/>
        </p:nvSpPr>
        <p:spPr>
          <a:xfrm>
            <a:off x="1052512" y="8376909"/>
            <a:ext cx="489071" cy="489071"/>
          </a:xfrm>
          <a:custGeom>
            <a:avLst/>
            <a:gdLst/>
            <a:ahLst/>
            <a:cxnLst/>
            <a:rect l="l" t="t" r="r" b="b"/>
            <a:pathLst>
              <a:path w="489071" h="489071">
                <a:moveTo>
                  <a:pt x="0" y="0"/>
                </a:moveTo>
                <a:lnTo>
                  <a:pt x="489072" y="0"/>
                </a:lnTo>
                <a:lnTo>
                  <a:pt x="489072" y="489072"/>
                </a:lnTo>
                <a:lnTo>
                  <a:pt x="0" y="489072"/>
                </a:lnTo>
                <a:lnTo>
                  <a:pt x="0" y="0"/>
                </a:lnTo>
                <a:close/>
              </a:path>
            </a:pathLst>
          </a:custGeom>
          <a:blipFill>
            <a:blip r:embed="rId5">
              <a:extLst>
                <a:ext uri="{96DAC541-7B7A-43D3-8B79-37D633B846F1}">
                  <asvg:svgBlip xmlns:asvg="http://schemas.microsoft.com/office/drawing/2016/SVG/main" xmlns="" r:embed="rId6"/>
                </a:ext>
              </a:extLst>
            </a:blip>
            <a:stretch>
              <a:fillRect/>
            </a:stretch>
          </a:blipFill>
        </p:spPr>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6438046" y="409262"/>
            <a:ext cx="1849954" cy="1438904"/>
            <a:chOff x="0" y="0"/>
            <a:chExt cx="2466605" cy="1918539"/>
          </a:xfrm>
        </p:grpSpPr>
        <p:grpSp>
          <p:nvGrpSpPr>
            <p:cNvPr id="3" name="Group 3"/>
            <p:cNvGrpSpPr/>
            <p:nvPr/>
          </p:nvGrpSpPr>
          <p:grpSpPr>
            <a:xfrm>
              <a:off x="0" y="0"/>
              <a:ext cx="2466605" cy="1918539"/>
              <a:chOff x="0" y="0"/>
              <a:chExt cx="787566" cy="612573"/>
            </a:xfrm>
          </p:grpSpPr>
          <p:sp>
            <p:nvSpPr>
              <p:cNvPr id="4" name="Freeform 4"/>
              <p:cNvSpPr/>
              <p:nvPr/>
            </p:nvSpPr>
            <p:spPr>
              <a:xfrm>
                <a:off x="0" y="0"/>
                <a:ext cx="787566" cy="612573"/>
              </a:xfrm>
              <a:custGeom>
                <a:avLst/>
                <a:gdLst/>
                <a:ahLst/>
                <a:cxnLst/>
                <a:rect l="l" t="t" r="r" b="b"/>
                <a:pathLst>
                  <a:path w="787566" h="612573">
                    <a:moveTo>
                      <a:pt x="0" y="0"/>
                    </a:moveTo>
                    <a:lnTo>
                      <a:pt x="787566" y="0"/>
                    </a:lnTo>
                    <a:lnTo>
                      <a:pt x="787566" y="612573"/>
                    </a:lnTo>
                    <a:lnTo>
                      <a:pt x="0" y="612573"/>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5" name="TextBox 5"/>
              <p:cNvSpPr txBox="1"/>
              <p:nvPr/>
            </p:nvSpPr>
            <p:spPr>
              <a:xfrm>
                <a:off x="0" y="-38100"/>
                <a:ext cx="787566" cy="650673"/>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6" name="TextBox 6"/>
            <p:cNvSpPr txBox="1"/>
            <p:nvPr/>
          </p:nvSpPr>
          <p:spPr>
            <a:xfrm>
              <a:off x="319164" y="646424"/>
              <a:ext cx="1828278" cy="701891"/>
            </a:xfrm>
            <a:prstGeom prst="rect">
              <a:avLst/>
            </a:prstGeom>
          </p:spPr>
          <p:txBody>
            <a:bodyPr lIns="0" tIns="0" rIns="0" bIns="0" rtlCol="0" anchor="t">
              <a:spAutoFit/>
            </a:bodyPr>
            <a:lstStyle/>
            <a:p>
              <a:pPr marL="0" lvl="0" indent="0" algn="ctr">
                <a:lnSpc>
                  <a:spcPts val="3764"/>
                </a:lnSpc>
              </a:pPr>
              <a:r>
                <a:rPr lang="en-US" sz="3841" spc="-245">
                  <a:solidFill>
                    <a:srgbClr val="FFFFFF"/>
                  </a:solidFill>
                  <a:latin typeface="Bricolage Grotesque"/>
                  <a:ea typeface="Bricolage Grotesque"/>
                  <a:cs typeface="Bricolage Grotesque"/>
                  <a:sym typeface="Bricolage Grotesque"/>
                </a:rPr>
                <a:t>18</a:t>
              </a:r>
            </a:p>
          </p:txBody>
        </p:sp>
      </p:grpSp>
      <p:grpSp>
        <p:nvGrpSpPr>
          <p:cNvPr id="7" name="Group 7"/>
          <p:cNvGrpSpPr/>
          <p:nvPr/>
        </p:nvGrpSpPr>
        <p:grpSpPr>
          <a:xfrm>
            <a:off x="5545788" y="3062727"/>
            <a:ext cx="7196424" cy="379246"/>
            <a:chOff x="0" y="0"/>
            <a:chExt cx="9595232" cy="505662"/>
          </a:xfrm>
        </p:grpSpPr>
        <p:sp>
          <p:nvSpPr>
            <p:cNvPr id="8" name="TextBox 8"/>
            <p:cNvSpPr txBox="1"/>
            <p:nvPr/>
          </p:nvSpPr>
          <p:spPr>
            <a:xfrm>
              <a:off x="0" y="187562"/>
              <a:ext cx="9378912" cy="318100"/>
            </a:xfrm>
            <a:prstGeom prst="rect">
              <a:avLst/>
            </a:prstGeom>
          </p:spPr>
          <p:txBody>
            <a:bodyPr lIns="0" tIns="0" rIns="0" bIns="0" rtlCol="0" anchor="t">
              <a:spAutoFit/>
            </a:bodyPr>
            <a:lstStyle/>
            <a:p>
              <a:pPr marL="0" lvl="0" indent="0" algn="l">
                <a:lnSpc>
                  <a:spcPts val="1943"/>
                </a:lnSpc>
              </a:pPr>
              <a:r>
                <a:rPr lang="en-US" sz="1388" b="1" spc="-34">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ADMIN INTERFACE FOR MONITORING SUBSCRIBER DATA AND NETWORK ANALYTICS</a:t>
              </a:r>
            </a:p>
          </p:txBody>
        </p:sp>
        <p:sp>
          <p:nvSpPr>
            <p:cNvPr id="9" name="Freeform 9"/>
            <p:cNvSpPr/>
            <p:nvPr/>
          </p:nvSpPr>
          <p:spPr>
            <a:xfrm rot="-8687136">
              <a:off x="9278212" y="44820"/>
              <a:ext cx="252200" cy="304858"/>
            </a:xfrm>
            <a:custGeom>
              <a:avLst/>
              <a:gdLst/>
              <a:ahLst/>
              <a:cxnLst/>
              <a:rect l="l" t="t" r="r" b="b"/>
              <a:pathLst>
                <a:path w="252200" h="304858">
                  <a:moveTo>
                    <a:pt x="0" y="0"/>
                  </a:moveTo>
                  <a:lnTo>
                    <a:pt x="252200" y="0"/>
                  </a:lnTo>
                  <a:lnTo>
                    <a:pt x="252200" y="304857"/>
                  </a:lnTo>
                  <a:lnTo>
                    <a:pt x="0" y="304857"/>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sp>
      </p:grpSp>
      <p:grpSp>
        <p:nvGrpSpPr>
          <p:cNvPr id="10" name="Group 10"/>
          <p:cNvGrpSpPr/>
          <p:nvPr/>
        </p:nvGrpSpPr>
        <p:grpSpPr>
          <a:xfrm>
            <a:off x="1463921" y="4926041"/>
            <a:ext cx="3746706" cy="3746706"/>
            <a:chOff x="0" y="0"/>
            <a:chExt cx="812800" cy="812800"/>
          </a:xfrm>
        </p:grpSpPr>
        <p:sp>
          <p:nvSpPr>
            <p:cNvPr id="11" name="Freeform 1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28575" cap="sq">
              <a:gradFill>
                <a:gsLst>
                  <a:gs pos="0">
                    <a:srgbClr val="293E9C">
                      <a:alpha val="100000"/>
                    </a:srgbClr>
                  </a:gs>
                  <a:gs pos="100000">
                    <a:srgbClr val="3A58E4">
                      <a:alpha val="100000"/>
                    </a:srgbClr>
                  </a:gs>
                </a:gsLst>
                <a:path path="circle">
                  <a:fillToRect r="100000" b="100000"/>
                </a:path>
                <a:tileRect l="-100000" t="-100000"/>
              </a:gradFill>
              <a:prstDash val="solid"/>
              <a:miter/>
            </a:ln>
          </p:spPr>
        </p:sp>
        <p:sp>
          <p:nvSpPr>
            <p:cNvPr id="12" name="TextBox 12"/>
            <p:cNvSpPr txBox="1"/>
            <p:nvPr/>
          </p:nvSpPr>
          <p:spPr>
            <a:xfrm>
              <a:off x="76200" y="38100"/>
              <a:ext cx="660400" cy="698500"/>
            </a:xfrm>
            <a:prstGeom prst="rect">
              <a:avLst/>
            </a:prstGeom>
          </p:spPr>
          <p:txBody>
            <a:bodyPr lIns="40108" tIns="40108" rIns="40108" bIns="40108" rtlCol="0" anchor="ctr"/>
            <a:lstStyle/>
            <a:p>
              <a:pPr marL="0" lvl="0" indent="0" algn="ctr">
                <a:lnSpc>
                  <a:spcPts val="2659"/>
                </a:lnSpc>
              </a:pPr>
              <a:endParaRPr/>
            </a:p>
          </p:txBody>
        </p:sp>
      </p:grpSp>
      <p:grpSp>
        <p:nvGrpSpPr>
          <p:cNvPr id="13" name="Group 13"/>
          <p:cNvGrpSpPr/>
          <p:nvPr/>
        </p:nvGrpSpPr>
        <p:grpSpPr>
          <a:xfrm>
            <a:off x="5334452" y="4926041"/>
            <a:ext cx="3746706" cy="3746706"/>
            <a:chOff x="0" y="0"/>
            <a:chExt cx="812800" cy="812800"/>
          </a:xfrm>
        </p:grpSpPr>
        <p:sp>
          <p:nvSpPr>
            <p:cNvPr id="14" name="Freeform 1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a:ln cap="sq">
              <a:noFill/>
              <a:prstDash val="solid"/>
              <a:miter/>
            </a:ln>
          </p:spPr>
        </p:sp>
        <p:sp>
          <p:nvSpPr>
            <p:cNvPr id="15" name="TextBox 15"/>
            <p:cNvSpPr txBox="1"/>
            <p:nvPr/>
          </p:nvSpPr>
          <p:spPr>
            <a:xfrm>
              <a:off x="76200" y="38100"/>
              <a:ext cx="660400" cy="698500"/>
            </a:xfrm>
            <a:prstGeom prst="rect">
              <a:avLst/>
            </a:prstGeom>
          </p:spPr>
          <p:txBody>
            <a:bodyPr lIns="40108" tIns="40108" rIns="40108" bIns="40108" rtlCol="0" anchor="ctr"/>
            <a:lstStyle/>
            <a:p>
              <a:pPr marL="0" lvl="0" indent="0" algn="ctr">
                <a:lnSpc>
                  <a:spcPts val="2659"/>
                </a:lnSpc>
              </a:pPr>
              <a:endParaRPr/>
            </a:p>
          </p:txBody>
        </p:sp>
      </p:grpSp>
      <p:grpSp>
        <p:nvGrpSpPr>
          <p:cNvPr id="16" name="Group 16"/>
          <p:cNvGrpSpPr/>
          <p:nvPr/>
        </p:nvGrpSpPr>
        <p:grpSpPr>
          <a:xfrm>
            <a:off x="9205912" y="4926041"/>
            <a:ext cx="3746706" cy="3746706"/>
            <a:chOff x="0" y="0"/>
            <a:chExt cx="812800" cy="812800"/>
          </a:xfrm>
        </p:grpSpPr>
        <p:sp>
          <p:nvSpPr>
            <p:cNvPr id="17" name="Freeform 1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28575" cap="sq">
              <a:gradFill>
                <a:gsLst>
                  <a:gs pos="0">
                    <a:srgbClr val="293E9C">
                      <a:alpha val="100000"/>
                    </a:srgbClr>
                  </a:gs>
                  <a:gs pos="100000">
                    <a:srgbClr val="3A58E4">
                      <a:alpha val="100000"/>
                    </a:srgbClr>
                  </a:gs>
                </a:gsLst>
                <a:path path="circle">
                  <a:fillToRect r="100000" b="100000"/>
                </a:path>
                <a:tileRect l="-100000" t="-100000"/>
              </a:gradFill>
              <a:prstDash val="solid"/>
              <a:miter/>
            </a:ln>
          </p:spPr>
        </p:sp>
        <p:sp>
          <p:nvSpPr>
            <p:cNvPr id="18" name="TextBox 18"/>
            <p:cNvSpPr txBox="1"/>
            <p:nvPr/>
          </p:nvSpPr>
          <p:spPr>
            <a:xfrm>
              <a:off x="76200" y="38100"/>
              <a:ext cx="660400" cy="698500"/>
            </a:xfrm>
            <a:prstGeom prst="rect">
              <a:avLst/>
            </a:prstGeom>
          </p:spPr>
          <p:txBody>
            <a:bodyPr lIns="40108" tIns="40108" rIns="40108" bIns="40108" rtlCol="0" anchor="ctr"/>
            <a:lstStyle/>
            <a:p>
              <a:pPr marL="0" lvl="0" indent="0" algn="ctr">
                <a:lnSpc>
                  <a:spcPts val="2659"/>
                </a:lnSpc>
              </a:pPr>
              <a:endParaRPr/>
            </a:p>
          </p:txBody>
        </p:sp>
      </p:grpSp>
      <p:grpSp>
        <p:nvGrpSpPr>
          <p:cNvPr id="19" name="Group 19"/>
          <p:cNvGrpSpPr/>
          <p:nvPr/>
        </p:nvGrpSpPr>
        <p:grpSpPr>
          <a:xfrm>
            <a:off x="13077373" y="4926041"/>
            <a:ext cx="3746706" cy="3746706"/>
            <a:chOff x="0" y="0"/>
            <a:chExt cx="812800" cy="812800"/>
          </a:xfrm>
        </p:grpSpPr>
        <p:sp>
          <p:nvSpPr>
            <p:cNvPr id="20" name="Freeform 2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a:ln cap="sq">
              <a:noFill/>
              <a:prstDash val="solid"/>
              <a:miter/>
            </a:ln>
          </p:spPr>
        </p:sp>
        <p:sp>
          <p:nvSpPr>
            <p:cNvPr id="21" name="TextBox 21"/>
            <p:cNvSpPr txBox="1"/>
            <p:nvPr/>
          </p:nvSpPr>
          <p:spPr>
            <a:xfrm>
              <a:off x="76200" y="38100"/>
              <a:ext cx="660400" cy="698500"/>
            </a:xfrm>
            <a:prstGeom prst="rect">
              <a:avLst/>
            </a:prstGeom>
          </p:spPr>
          <p:txBody>
            <a:bodyPr lIns="40108" tIns="40108" rIns="40108" bIns="40108" rtlCol="0" anchor="ctr"/>
            <a:lstStyle/>
            <a:p>
              <a:pPr marL="0" lvl="0" indent="0" algn="ctr">
                <a:lnSpc>
                  <a:spcPts val="2659"/>
                </a:lnSpc>
              </a:pPr>
              <a:endParaRPr/>
            </a:p>
          </p:txBody>
        </p:sp>
      </p:grpSp>
      <p:sp>
        <p:nvSpPr>
          <p:cNvPr id="22" name="TextBox 22"/>
          <p:cNvSpPr txBox="1"/>
          <p:nvPr/>
        </p:nvSpPr>
        <p:spPr>
          <a:xfrm>
            <a:off x="2345222" y="6343927"/>
            <a:ext cx="1984104" cy="216065"/>
          </a:xfrm>
          <a:prstGeom prst="rect">
            <a:avLst/>
          </a:prstGeom>
        </p:spPr>
        <p:txBody>
          <a:bodyPr lIns="0" tIns="0" rIns="0" bIns="0" rtlCol="0" anchor="t">
            <a:spAutoFit/>
          </a:bodyPr>
          <a:lstStyle/>
          <a:p>
            <a:pPr marL="0" lvl="0" indent="0" algn="ctr">
              <a:lnSpc>
                <a:spcPts val="1697"/>
              </a:lnSpc>
            </a:pPr>
            <a:r>
              <a:rPr lang="en-US" sz="1315" b="1" spc="-3">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SUBSCRIBER RECORDS</a:t>
            </a:r>
          </a:p>
        </p:txBody>
      </p:sp>
      <p:sp>
        <p:nvSpPr>
          <p:cNvPr id="23" name="TextBox 23"/>
          <p:cNvSpPr txBox="1"/>
          <p:nvPr/>
        </p:nvSpPr>
        <p:spPr>
          <a:xfrm>
            <a:off x="2124549" y="6765742"/>
            <a:ext cx="2425450" cy="842586"/>
          </a:xfrm>
          <a:prstGeom prst="rect">
            <a:avLst/>
          </a:prstGeom>
        </p:spPr>
        <p:txBody>
          <a:bodyPr lIns="0" tIns="0" rIns="0" bIns="0" rtlCol="0" anchor="t">
            <a:spAutoFit/>
          </a:bodyPr>
          <a:lstStyle/>
          <a:p>
            <a:pPr marL="0" lvl="0" indent="0" algn="ctr">
              <a:lnSpc>
                <a:spcPts val="1654"/>
              </a:lnSpc>
            </a:pPr>
            <a:r>
              <a:rPr lang="en-US" sz="1282" spc="-3">
                <a:solidFill>
                  <a:srgbClr val="3A58E4"/>
                </a:solidFill>
                <a:latin typeface="Poppins"/>
                <a:ea typeface="Poppins"/>
                <a:cs typeface="Poppins"/>
                <a:sym typeface="Poppins"/>
              </a:rPr>
              <a:t>Expandable cards showing per-user measurement history with timestamps and QoS scores</a:t>
            </a:r>
          </a:p>
        </p:txBody>
      </p:sp>
      <p:sp>
        <p:nvSpPr>
          <p:cNvPr id="24" name="TextBox 24"/>
          <p:cNvSpPr txBox="1"/>
          <p:nvPr/>
        </p:nvSpPr>
        <p:spPr>
          <a:xfrm>
            <a:off x="6215753" y="6343927"/>
            <a:ext cx="1984104" cy="216065"/>
          </a:xfrm>
          <a:prstGeom prst="rect">
            <a:avLst/>
          </a:prstGeom>
        </p:spPr>
        <p:txBody>
          <a:bodyPr lIns="0" tIns="0" rIns="0" bIns="0" rtlCol="0" anchor="t">
            <a:spAutoFit/>
          </a:bodyPr>
          <a:lstStyle/>
          <a:p>
            <a:pPr marL="0" lvl="0" indent="0" algn="ctr">
              <a:lnSpc>
                <a:spcPts val="1697"/>
              </a:lnSpc>
            </a:pPr>
            <a:r>
              <a:rPr lang="en-US" sz="1315" b="1" spc="-3">
                <a:solidFill>
                  <a:srgbClr val="FFFFFF"/>
                </a:solidFill>
                <a:latin typeface="Poppins Bold"/>
                <a:ea typeface="Poppins Bold"/>
                <a:cs typeface="Poppins Bold"/>
                <a:sym typeface="Poppins Bold"/>
              </a:rPr>
              <a:t>ADMIN DASHBOARD</a:t>
            </a:r>
          </a:p>
        </p:txBody>
      </p:sp>
      <p:sp>
        <p:nvSpPr>
          <p:cNvPr id="25" name="TextBox 25"/>
          <p:cNvSpPr txBox="1"/>
          <p:nvPr/>
        </p:nvSpPr>
        <p:spPr>
          <a:xfrm>
            <a:off x="5995080" y="6975292"/>
            <a:ext cx="2425450" cy="633036"/>
          </a:xfrm>
          <a:prstGeom prst="rect">
            <a:avLst/>
          </a:prstGeom>
        </p:spPr>
        <p:txBody>
          <a:bodyPr lIns="0" tIns="0" rIns="0" bIns="0" rtlCol="0" anchor="t">
            <a:spAutoFit/>
          </a:bodyPr>
          <a:lstStyle/>
          <a:p>
            <a:pPr marL="0" lvl="0" indent="0" algn="ctr">
              <a:lnSpc>
                <a:spcPts val="1654"/>
              </a:lnSpc>
            </a:pPr>
            <a:r>
              <a:rPr lang="en-US" sz="1282" spc="-3">
                <a:solidFill>
                  <a:srgbClr val="FFFFFF"/>
                </a:solidFill>
                <a:latin typeface="Poppins"/>
                <a:ea typeface="Poppins"/>
                <a:cs typeface="Poppins"/>
                <a:sym typeface="Poppins"/>
              </a:rPr>
              <a:t>Metrics overview with filters by date, region, network type, and subscriber segment</a:t>
            </a:r>
          </a:p>
        </p:txBody>
      </p:sp>
      <p:sp>
        <p:nvSpPr>
          <p:cNvPr id="26" name="TextBox 26"/>
          <p:cNvSpPr txBox="1"/>
          <p:nvPr/>
        </p:nvSpPr>
        <p:spPr>
          <a:xfrm>
            <a:off x="9901910" y="6343927"/>
            <a:ext cx="2354710" cy="216065"/>
          </a:xfrm>
          <a:prstGeom prst="rect">
            <a:avLst/>
          </a:prstGeom>
        </p:spPr>
        <p:txBody>
          <a:bodyPr lIns="0" tIns="0" rIns="0" bIns="0" rtlCol="0" anchor="t">
            <a:spAutoFit/>
          </a:bodyPr>
          <a:lstStyle/>
          <a:p>
            <a:pPr marL="0" lvl="0" indent="0" algn="ctr">
              <a:lnSpc>
                <a:spcPts val="1697"/>
              </a:lnSpc>
            </a:pPr>
            <a:r>
              <a:rPr lang="en-US" sz="1315" b="1" spc="-3">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ADMIN HEATMAP</a:t>
            </a:r>
          </a:p>
        </p:txBody>
      </p:sp>
      <p:sp>
        <p:nvSpPr>
          <p:cNvPr id="27" name="TextBox 27"/>
          <p:cNvSpPr txBox="1"/>
          <p:nvPr/>
        </p:nvSpPr>
        <p:spPr>
          <a:xfrm>
            <a:off x="9866540" y="6765742"/>
            <a:ext cx="2425450" cy="842586"/>
          </a:xfrm>
          <a:prstGeom prst="rect">
            <a:avLst/>
          </a:prstGeom>
        </p:spPr>
        <p:txBody>
          <a:bodyPr lIns="0" tIns="0" rIns="0" bIns="0" rtlCol="0" anchor="t">
            <a:spAutoFit/>
          </a:bodyPr>
          <a:lstStyle/>
          <a:p>
            <a:pPr marL="0" lvl="0" indent="0" algn="ctr">
              <a:lnSpc>
                <a:spcPts val="1654"/>
              </a:lnSpc>
            </a:pPr>
            <a:r>
              <a:rPr lang="en-US" sz="1282" spc="-3">
                <a:solidFill>
                  <a:srgbClr val="3A58E4"/>
                </a:solidFill>
                <a:latin typeface="Poppins"/>
                <a:ea typeface="Poppins"/>
                <a:cs typeface="Poppins"/>
                <a:sym typeface="Poppins"/>
              </a:rPr>
              <a:t>Geospatial heatmap visualizing signal quality and latency hotspots across regions</a:t>
            </a:r>
          </a:p>
        </p:txBody>
      </p:sp>
      <p:sp>
        <p:nvSpPr>
          <p:cNvPr id="28" name="TextBox 28"/>
          <p:cNvSpPr txBox="1"/>
          <p:nvPr/>
        </p:nvSpPr>
        <p:spPr>
          <a:xfrm>
            <a:off x="13958674" y="6343927"/>
            <a:ext cx="1984104" cy="216065"/>
          </a:xfrm>
          <a:prstGeom prst="rect">
            <a:avLst/>
          </a:prstGeom>
        </p:spPr>
        <p:txBody>
          <a:bodyPr lIns="0" tIns="0" rIns="0" bIns="0" rtlCol="0" anchor="t">
            <a:spAutoFit/>
          </a:bodyPr>
          <a:lstStyle/>
          <a:p>
            <a:pPr marL="0" lvl="0" indent="0" algn="ctr">
              <a:lnSpc>
                <a:spcPts val="1697"/>
              </a:lnSpc>
            </a:pPr>
            <a:r>
              <a:rPr lang="en-US" sz="1315" b="1" spc="-3">
                <a:solidFill>
                  <a:srgbClr val="FFFFFF"/>
                </a:solidFill>
                <a:latin typeface="Poppins Bold"/>
                <a:ea typeface="Poppins Bold"/>
                <a:cs typeface="Poppins Bold"/>
                <a:sym typeface="Poppins Bold"/>
              </a:rPr>
              <a:t>DATA MANAGEMENT</a:t>
            </a:r>
          </a:p>
        </p:txBody>
      </p:sp>
      <p:sp>
        <p:nvSpPr>
          <p:cNvPr id="29" name="TextBox 29"/>
          <p:cNvSpPr txBox="1"/>
          <p:nvPr/>
        </p:nvSpPr>
        <p:spPr>
          <a:xfrm>
            <a:off x="13738001" y="6975292"/>
            <a:ext cx="2425450" cy="633036"/>
          </a:xfrm>
          <a:prstGeom prst="rect">
            <a:avLst/>
          </a:prstGeom>
        </p:spPr>
        <p:txBody>
          <a:bodyPr lIns="0" tIns="0" rIns="0" bIns="0" rtlCol="0" anchor="t">
            <a:spAutoFit/>
          </a:bodyPr>
          <a:lstStyle/>
          <a:p>
            <a:pPr marL="0" lvl="0" indent="0" algn="ctr">
              <a:lnSpc>
                <a:spcPts val="1654"/>
              </a:lnSpc>
            </a:pPr>
            <a:r>
              <a:rPr lang="en-US" sz="1282" spc="-3">
                <a:solidFill>
                  <a:srgbClr val="FFFFFF"/>
                </a:solidFill>
                <a:latin typeface="Poppins"/>
                <a:ea typeface="Poppins"/>
                <a:cs typeface="Poppins"/>
                <a:sym typeface="Poppins"/>
              </a:rPr>
              <a:t>Bulk export, sync status tracking, and uploaded flag monitoring for offline records</a:t>
            </a:r>
          </a:p>
        </p:txBody>
      </p:sp>
      <p:grpSp>
        <p:nvGrpSpPr>
          <p:cNvPr id="30" name="Group 30"/>
          <p:cNvGrpSpPr/>
          <p:nvPr/>
        </p:nvGrpSpPr>
        <p:grpSpPr>
          <a:xfrm>
            <a:off x="4176506" y="4926023"/>
            <a:ext cx="746986" cy="747004"/>
            <a:chOff x="0" y="0"/>
            <a:chExt cx="995981" cy="996005"/>
          </a:xfrm>
        </p:grpSpPr>
        <p:grpSp>
          <p:nvGrpSpPr>
            <p:cNvPr id="31" name="Group 31"/>
            <p:cNvGrpSpPr/>
            <p:nvPr/>
          </p:nvGrpSpPr>
          <p:grpSpPr>
            <a:xfrm>
              <a:off x="0" y="0"/>
              <a:ext cx="995981" cy="996005"/>
              <a:chOff x="0" y="0"/>
              <a:chExt cx="812800" cy="812819"/>
            </a:xfrm>
          </p:grpSpPr>
          <p:sp>
            <p:nvSpPr>
              <p:cNvPr id="32" name="Freeform 32"/>
              <p:cNvSpPr/>
              <p:nvPr/>
            </p:nvSpPr>
            <p:spPr>
              <a:xfrm>
                <a:off x="0" y="0"/>
                <a:ext cx="812800" cy="812819"/>
              </a:xfrm>
              <a:custGeom>
                <a:avLst/>
                <a:gdLst/>
                <a:ahLst/>
                <a:cxnLst/>
                <a:rect l="l" t="t" r="r" b="b"/>
                <a:pathLst>
                  <a:path w="812800" h="812819">
                    <a:moveTo>
                      <a:pt x="406400" y="0"/>
                    </a:moveTo>
                    <a:cubicBezTo>
                      <a:pt x="181951" y="0"/>
                      <a:pt x="0" y="181956"/>
                      <a:pt x="0" y="406410"/>
                    </a:cubicBezTo>
                    <a:cubicBezTo>
                      <a:pt x="0" y="630864"/>
                      <a:pt x="181951" y="812819"/>
                      <a:pt x="406400" y="812819"/>
                    </a:cubicBezTo>
                    <a:cubicBezTo>
                      <a:pt x="630849" y="812819"/>
                      <a:pt x="812800" y="630864"/>
                      <a:pt x="812800" y="406410"/>
                    </a:cubicBezTo>
                    <a:cubicBezTo>
                      <a:pt x="812800" y="181956"/>
                      <a:pt x="630849" y="0"/>
                      <a:pt x="406400" y="0"/>
                    </a:cubicBez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a:ln cap="sq">
                <a:noFill/>
                <a:prstDash val="solid"/>
                <a:miter/>
              </a:ln>
            </p:spPr>
          </p:sp>
          <p:sp>
            <p:nvSpPr>
              <p:cNvPr id="33" name="TextBox 33"/>
              <p:cNvSpPr txBox="1"/>
              <p:nvPr/>
            </p:nvSpPr>
            <p:spPr>
              <a:xfrm>
                <a:off x="76200" y="38102"/>
                <a:ext cx="660400" cy="698516"/>
              </a:xfrm>
              <a:prstGeom prst="rect">
                <a:avLst/>
              </a:prstGeom>
            </p:spPr>
            <p:txBody>
              <a:bodyPr lIns="50800" tIns="50800" rIns="50800" bIns="50800" rtlCol="0" anchor="ctr"/>
              <a:lstStyle/>
              <a:p>
                <a:pPr marL="0" lvl="0" indent="0" algn="ctr">
                  <a:lnSpc>
                    <a:spcPts val="2659"/>
                  </a:lnSpc>
                </a:pPr>
                <a:endParaRPr/>
              </a:p>
            </p:txBody>
          </p:sp>
        </p:grpSp>
        <p:sp>
          <p:nvSpPr>
            <p:cNvPr id="34" name="TextBox 34"/>
            <p:cNvSpPr txBox="1"/>
            <p:nvPr/>
          </p:nvSpPr>
          <p:spPr>
            <a:xfrm>
              <a:off x="175623" y="235561"/>
              <a:ext cx="644736" cy="486783"/>
            </a:xfrm>
            <a:prstGeom prst="rect">
              <a:avLst/>
            </a:prstGeom>
          </p:spPr>
          <p:txBody>
            <a:bodyPr lIns="0" tIns="0" rIns="0" bIns="0" rtlCol="0" anchor="t">
              <a:spAutoFit/>
            </a:bodyPr>
            <a:lstStyle/>
            <a:p>
              <a:pPr marL="0" lvl="0" indent="0" algn="ctr">
                <a:lnSpc>
                  <a:spcPts val="2870"/>
                </a:lnSpc>
              </a:pPr>
              <a:r>
                <a:rPr lang="en-US" sz="2225" spc="-6">
                  <a:solidFill>
                    <a:srgbClr val="FFFFFF"/>
                  </a:solidFill>
                  <a:latin typeface="Poppins"/>
                  <a:ea typeface="Poppins"/>
                  <a:cs typeface="Poppins"/>
                  <a:sym typeface="Poppins"/>
                </a:rPr>
                <a:t>01</a:t>
              </a:r>
            </a:p>
          </p:txBody>
        </p:sp>
      </p:grpSp>
      <p:grpSp>
        <p:nvGrpSpPr>
          <p:cNvPr id="35" name="Group 35"/>
          <p:cNvGrpSpPr/>
          <p:nvPr/>
        </p:nvGrpSpPr>
        <p:grpSpPr>
          <a:xfrm>
            <a:off x="8047037" y="4926023"/>
            <a:ext cx="746986" cy="747004"/>
            <a:chOff x="0" y="0"/>
            <a:chExt cx="995981" cy="996005"/>
          </a:xfrm>
        </p:grpSpPr>
        <p:grpSp>
          <p:nvGrpSpPr>
            <p:cNvPr id="36" name="Group 36"/>
            <p:cNvGrpSpPr/>
            <p:nvPr/>
          </p:nvGrpSpPr>
          <p:grpSpPr>
            <a:xfrm>
              <a:off x="0" y="0"/>
              <a:ext cx="995981" cy="996005"/>
              <a:chOff x="0" y="0"/>
              <a:chExt cx="812800" cy="812819"/>
            </a:xfrm>
          </p:grpSpPr>
          <p:sp>
            <p:nvSpPr>
              <p:cNvPr id="37" name="Freeform 37"/>
              <p:cNvSpPr/>
              <p:nvPr/>
            </p:nvSpPr>
            <p:spPr>
              <a:xfrm>
                <a:off x="0" y="0"/>
                <a:ext cx="812800" cy="812819"/>
              </a:xfrm>
              <a:custGeom>
                <a:avLst/>
                <a:gdLst/>
                <a:ahLst/>
                <a:cxnLst/>
                <a:rect l="l" t="t" r="r" b="b"/>
                <a:pathLst>
                  <a:path w="812800" h="812819">
                    <a:moveTo>
                      <a:pt x="406400" y="0"/>
                    </a:moveTo>
                    <a:cubicBezTo>
                      <a:pt x="181951" y="0"/>
                      <a:pt x="0" y="181956"/>
                      <a:pt x="0" y="406410"/>
                    </a:cubicBezTo>
                    <a:cubicBezTo>
                      <a:pt x="0" y="630864"/>
                      <a:pt x="181951" y="812819"/>
                      <a:pt x="406400" y="812819"/>
                    </a:cubicBezTo>
                    <a:cubicBezTo>
                      <a:pt x="630849" y="812819"/>
                      <a:pt x="812800" y="630864"/>
                      <a:pt x="812800" y="406410"/>
                    </a:cubicBezTo>
                    <a:cubicBezTo>
                      <a:pt x="812800" y="181956"/>
                      <a:pt x="630849" y="0"/>
                      <a:pt x="406400" y="0"/>
                    </a:cubicBezTo>
                    <a:close/>
                  </a:path>
                </a:pathLst>
              </a:custGeom>
              <a:solidFill>
                <a:srgbClr val="FFFFFF"/>
              </a:solidFill>
              <a:ln w="47625" cap="sq">
                <a:gradFill>
                  <a:gsLst>
                    <a:gs pos="0">
                      <a:srgbClr val="293E9C">
                        <a:alpha val="100000"/>
                      </a:srgbClr>
                    </a:gs>
                    <a:gs pos="100000">
                      <a:srgbClr val="3A58E4">
                        <a:alpha val="100000"/>
                      </a:srgbClr>
                    </a:gs>
                  </a:gsLst>
                  <a:path path="circle">
                    <a:fillToRect r="100000" b="100000"/>
                  </a:path>
                  <a:tileRect l="-100000" t="-100000"/>
                </a:gradFill>
                <a:prstDash val="solid"/>
                <a:miter/>
              </a:ln>
            </p:spPr>
          </p:sp>
          <p:sp>
            <p:nvSpPr>
              <p:cNvPr id="38" name="TextBox 38"/>
              <p:cNvSpPr txBox="1"/>
              <p:nvPr/>
            </p:nvSpPr>
            <p:spPr>
              <a:xfrm>
                <a:off x="76200" y="38102"/>
                <a:ext cx="660400" cy="698516"/>
              </a:xfrm>
              <a:prstGeom prst="rect">
                <a:avLst/>
              </a:prstGeom>
            </p:spPr>
            <p:txBody>
              <a:bodyPr lIns="50800" tIns="50800" rIns="50800" bIns="50800" rtlCol="0" anchor="ctr"/>
              <a:lstStyle/>
              <a:p>
                <a:pPr marL="0" lvl="0" indent="0" algn="ctr">
                  <a:lnSpc>
                    <a:spcPts val="2659"/>
                  </a:lnSpc>
                </a:pPr>
                <a:endParaRPr/>
              </a:p>
            </p:txBody>
          </p:sp>
        </p:grpSp>
        <p:sp>
          <p:nvSpPr>
            <p:cNvPr id="39" name="TextBox 39"/>
            <p:cNvSpPr txBox="1"/>
            <p:nvPr/>
          </p:nvSpPr>
          <p:spPr>
            <a:xfrm>
              <a:off x="175623" y="235561"/>
              <a:ext cx="644736" cy="486783"/>
            </a:xfrm>
            <a:prstGeom prst="rect">
              <a:avLst/>
            </a:prstGeom>
          </p:spPr>
          <p:txBody>
            <a:bodyPr lIns="0" tIns="0" rIns="0" bIns="0" rtlCol="0" anchor="t">
              <a:spAutoFit/>
            </a:bodyPr>
            <a:lstStyle/>
            <a:p>
              <a:pPr marL="0" lvl="0" indent="0" algn="ctr">
                <a:lnSpc>
                  <a:spcPts val="2870"/>
                </a:lnSpc>
              </a:pPr>
              <a:r>
                <a:rPr lang="en-US" sz="2225" spc="-6">
                  <a:gradFill>
                    <a:gsLst>
                      <a:gs pos="0">
                        <a:srgbClr val="293E9C">
                          <a:alpha val="100000"/>
                        </a:srgbClr>
                      </a:gs>
                      <a:gs pos="100000">
                        <a:srgbClr val="3A58E4">
                          <a:alpha val="100000"/>
                        </a:srgbClr>
                      </a:gs>
                    </a:gsLst>
                    <a:path path="circle">
                      <a:fillToRect r="100000" b="100000"/>
                    </a:path>
                    <a:tileRect l="-100000" t="-100000"/>
                  </a:gradFill>
                  <a:latin typeface="Poppins"/>
                  <a:ea typeface="Poppins"/>
                  <a:cs typeface="Poppins"/>
                  <a:sym typeface="Poppins"/>
                </a:rPr>
                <a:t>02</a:t>
              </a:r>
            </a:p>
          </p:txBody>
        </p:sp>
      </p:grpSp>
      <p:grpSp>
        <p:nvGrpSpPr>
          <p:cNvPr id="40" name="Group 40"/>
          <p:cNvGrpSpPr/>
          <p:nvPr/>
        </p:nvGrpSpPr>
        <p:grpSpPr>
          <a:xfrm>
            <a:off x="11919608" y="4926023"/>
            <a:ext cx="746986" cy="747004"/>
            <a:chOff x="0" y="0"/>
            <a:chExt cx="995981" cy="996005"/>
          </a:xfrm>
        </p:grpSpPr>
        <p:grpSp>
          <p:nvGrpSpPr>
            <p:cNvPr id="41" name="Group 41"/>
            <p:cNvGrpSpPr/>
            <p:nvPr/>
          </p:nvGrpSpPr>
          <p:grpSpPr>
            <a:xfrm>
              <a:off x="0" y="0"/>
              <a:ext cx="995981" cy="996005"/>
              <a:chOff x="0" y="0"/>
              <a:chExt cx="812800" cy="812819"/>
            </a:xfrm>
          </p:grpSpPr>
          <p:sp>
            <p:nvSpPr>
              <p:cNvPr id="42" name="Freeform 42"/>
              <p:cNvSpPr/>
              <p:nvPr/>
            </p:nvSpPr>
            <p:spPr>
              <a:xfrm>
                <a:off x="0" y="0"/>
                <a:ext cx="812800" cy="812819"/>
              </a:xfrm>
              <a:custGeom>
                <a:avLst/>
                <a:gdLst/>
                <a:ahLst/>
                <a:cxnLst/>
                <a:rect l="l" t="t" r="r" b="b"/>
                <a:pathLst>
                  <a:path w="812800" h="812819">
                    <a:moveTo>
                      <a:pt x="406400" y="0"/>
                    </a:moveTo>
                    <a:cubicBezTo>
                      <a:pt x="181951" y="0"/>
                      <a:pt x="0" y="181956"/>
                      <a:pt x="0" y="406410"/>
                    </a:cubicBezTo>
                    <a:cubicBezTo>
                      <a:pt x="0" y="630864"/>
                      <a:pt x="181951" y="812819"/>
                      <a:pt x="406400" y="812819"/>
                    </a:cubicBezTo>
                    <a:cubicBezTo>
                      <a:pt x="630849" y="812819"/>
                      <a:pt x="812800" y="630864"/>
                      <a:pt x="812800" y="406410"/>
                    </a:cubicBezTo>
                    <a:cubicBezTo>
                      <a:pt x="812800" y="181956"/>
                      <a:pt x="630849" y="0"/>
                      <a:pt x="406400" y="0"/>
                    </a:cubicBez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a:ln cap="sq">
                <a:noFill/>
                <a:prstDash val="solid"/>
                <a:miter/>
              </a:ln>
            </p:spPr>
          </p:sp>
          <p:sp>
            <p:nvSpPr>
              <p:cNvPr id="43" name="TextBox 43"/>
              <p:cNvSpPr txBox="1"/>
              <p:nvPr/>
            </p:nvSpPr>
            <p:spPr>
              <a:xfrm>
                <a:off x="76200" y="38102"/>
                <a:ext cx="660400" cy="698516"/>
              </a:xfrm>
              <a:prstGeom prst="rect">
                <a:avLst/>
              </a:prstGeom>
            </p:spPr>
            <p:txBody>
              <a:bodyPr lIns="50800" tIns="50800" rIns="50800" bIns="50800" rtlCol="0" anchor="ctr"/>
              <a:lstStyle/>
              <a:p>
                <a:pPr marL="0" lvl="0" indent="0" algn="ctr">
                  <a:lnSpc>
                    <a:spcPts val="2659"/>
                  </a:lnSpc>
                </a:pPr>
                <a:endParaRPr/>
              </a:p>
            </p:txBody>
          </p:sp>
        </p:grpSp>
        <p:sp>
          <p:nvSpPr>
            <p:cNvPr id="44" name="TextBox 44"/>
            <p:cNvSpPr txBox="1"/>
            <p:nvPr/>
          </p:nvSpPr>
          <p:spPr>
            <a:xfrm>
              <a:off x="175623" y="235561"/>
              <a:ext cx="644736" cy="486783"/>
            </a:xfrm>
            <a:prstGeom prst="rect">
              <a:avLst/>
            </a:prstGeom>
          </p:spPr>
          <p:txBody>
            <a:bodyPr lIns="0" tIns="0" rIns="0" bIns="0" rtlCol="0" anchor="t">
              <a:spAutoFit/>
            </a:bodyPr>
            <a:lstStyle/>
            <a:p>
              <a:pPr marL="0" lvl="0" indent="0" algn="ctr">
                <a:lnSpc>
                  <a:spcPts val="2870"/>
                </a:lnSpc>
              </a:pPr>
              <a:r>
                <a:rPr lang="en-US" sz="2225" spc="-6">
                  <a:solidFill>
                    <a:srgbClr val="FFFFFF"/>
                  </a:solidFill>
                  <a:latin typeface="Poppins"/>
                  <a:ea typeface="Poppins"/>
                  <a:cs typeface="Poppins"/>
                  <a:sym typeface="Poppins"/>
                </a:rPr>
                <a:t>03</a:t>
              </a:r>
            </a:p>
          </p:txBody>
        </p:sp>
      </p:grpSp>
      <p:grpSp>
        <p:nvGrpSpPr>
          <p:cNvPr id="45" name="Group 45"/>
          <p:cNvGrpSpPr/>
          <p:nvPr/>
        </p:nvGrpSpPr>
        <p:grpSpPr>
          <a:xfrm>
            <a:off x="15791068" y="4926023"/>
            <a:ext cx="746986" cy="747004"/>
            <a:chOff x="0" y="0"/>
            <a:chExt cx="995981" cy="996005"/>
          </a:xfrm>
        </p:grpSpPr>
        <p:grpSp>
          <p:nvGrpSpPr>
            <p:cNvPr id="46" name="Group 46"/>
            <p:cNvGrpSpPr/>
            <p:nvPr/>
          </p:nvGrpSpPr>
          <p:grpSpPr>
            <a:xfrm>
              <a:off x="0" y="0"/>
              <a:ext cx="995981" cy="996005"/>
              <a:chOff x="0" y="0"/>
              <a:chExt cx="812800" cy="812819"/>
            </a:xfrm>
          </p:grpSpPr>
          <p:sp>
            <p:nvSpPr>
              <p:cNvPr id="47" name="Freeform 47"/>
              <p:cNvSpPr/>
              <p:nvPr/>
            </p:nvSpPr>
            <p:spPr>
              <a:xfrm>
                <a:off x="0" y="0"/>
                <a:ext cx="812800" cy="812819"/>
              </a:xfrm>
              <a:custGeom>
                <a:avLst/>
                <a:gdLst/>
                <a:ahLst/>
                <a:cxnLst/>
                <a:rect l="l" t="t" r="r" b="b"/>
                <a:pathLst>
                  <a:path w="812800" h="812819">
                    <a:moveTo>
                      <a:pt x="406400" y="0"/>
                    </a:moveTo>
                    <a:cubicBezTo>
                      <a:pt x="181951" y="0"/>
                      <a:pt x="0" y="181956"/>
                      <a:pt x="0" y="406410"/>
                    </a:cubicBezTo>
                    <a:cubicBezTo>
                      <a:pt x="0" y="630864"/>
                      <a:pt x="181951" y="812819"/>
                      <a:pt x="406400" y="812819"/>
                    </a:cubicBezTo>
                    <a:cubicBezTo>
                      <a:pt x="630849" y="812819"/>
                      <a:pt x="812800" y="630864"/>
                      <a:pt x="812800" y="406410"/>
                    </a:cubicBezTo>
                    <a:cubicBezTo>
                      <a:pt x="812800" y="181956"/>
                      <a:pt x="630849" y="0"/>
                      <a:pt x="406400" y="0"/>
                    </a:cubicBezTo>
                    <a:close/>
                  </a:path>
                </a:pathLst>
              </a:custGeom>
              <a:solidFill>
                <a:srgbClr val="FFFFFF"/>
              </a:solidFill>
              <a:ln w="47625" cap="sq">
                <a:gradFill>
                  <a:gsLst>
                    <a:gs pos="0">
                      <a:srgbClr val="293E9C">
                        <a:alpha val="100000"/>
                      </a:srgbClr>
                    </a:gs>
                    <a:gs pos="100000">
                      <a:srgbClr val="3A58E4">
                        <a:alpha val="100000"/>
                      </a:srgbClr>
                    </a:gs>
                  </a:gsLst>
                  <a:path path="circle">
                    <a:fillToRect r="100000" b="100000"/>
                  </a:path>
                  <a:tileRect l="-100000" t="-100000"/>
                </a:gradFill>
                <a:prstDash val="solid"/>
                <a:miter/>
              </a:ln>
            </p:spPr>
          </p:sp>
          <p:sp>
            <p:nvSpPr>
              <p:cNvPr id="48" name="TextBox 48"/>
              <p:cNvSpPr txBox="1"/>
              <p:nvPr/>
            </p:nvSpPr>
            <p:spPr>
              <a:xfrm>
                <a:off x="76200" y="38102"/>
                <a:ext cx="660400" cy="698516"/>
              </a:xfrm>
              <a:prstGeom prst="rect">
                <a:avLst/>
              </a:prstGeom>
            </p:spPr>
            <p:txBody>
              <a:bodyPr lIns="50800" tIns="50800" rIns="50800" bIns="50800" rtlCol="0" anchor="ctr"/>
              <a:lstStyle/>
              <a:p>
                <a:pPr marL="0" lvl="0" indent="0" algn="ctr">
                  <a:lnSpc>
                    <a:spcPts val="2659"/>
                  </a:lnSpc>
                </a:pPr>
                <a:endParaRPr/>
              </a:p>
            </p:txBody>
          </p:sp>
        </p:grpSp>
        <p:sp>
          <p:nvSpPr>
            <p:cNvPr id="49" name="TextBox 49"/>
            <p:cNvSpPr txBox="1"/>
            <p:nvPr/>
          </p:nvSpPr>
          <p:spPr>
            <a:xfrm>
              <a:off x="175623" y="235561"/>
              <a:ext cx="644736" cy="486783"/>
            </a:xfrm>
            <a:prstGeom prst="rect">
              <a:avLst/>
            </a:prstGeom>
          </p:spPr>
          <p:txBody>
            <a:bodyPr lIns="0" tIns="0" rIns="0" bIns="0" rtlCol="0" anchor="t">
              <a:spAutoFit/>
            </a:bodyPr>
            <a:lstStyle/>
            <a:p>
              <a:pPr marL="0" lvl="0" indent="0" algn="ctr">
                <a:lnSpc>
                  <a:spcPts val="2870"/>
                </a:lnSpc>
              </a:pPr>
              <a:r>
                <a:rPr lang="en-US" sz="2225" spc="-6">
                  <a:gradFill>
                    <a:gsLst>
                      <a:gs pos="0">
                        <a:srgbClr val="293E9C">
                          <a:alpha val="100000"/>
                        </a:srgbClr>
                      </a:gs>
                      <a:gs pos="100000">
                        <a:srgbClr val="3A58E4">
                          <a:alpha val="100000"/>
                        </a:srgbClr>
                      </a:gs>
                    </a:gsLst>
                    <a:path path="circle">
                      <a:fillToRect r="100000" b="100000"/>
                    </a:path>
                    <a:tileRect l="-100000" t="-100000"/>
                  </a:gradFill>
                  <a:latin typeface="Poppins"/>
                  <a:ea typeface="Poppins"/>
                  <a:cs typeface="Poppins"/>
                  <a:sym typeface="Poppins"/>
                </a:rPr>
                <a:t>04</a:t>
              </a:r>
            </a:p>
          </p:txBody>
        </p:sp>
      </p:grpSp>
      <p:sp>
        <p:nvSpPr>
          <p:cNvPr id="50" name="TextBox 50"/>
          <p:cNvSpPr txBox="1"/>
          <p:nvPr/>
        </p:nvSpPr>
        <p:spPr>
          <a:xfrm>
            <a:off x="3363658" y="1957866"/>
            <a:ext cx="11560683" cy="847193"/>
          </a:xfrm>
          <a:prstGeom prst="rect">
            <a:avLst/>
          </a:prstGeom>
        </p:spPr>
        <p:txBody>
          <a:bodyPr lIns="0" tIns="0" rIns="0" bIns="0" rtlCol="0" anchor="t">
            <a:spAutoFit/>
          </a:bodyPr>
          <a:lstStyle/>
          <a:p>
            <a:pPr marL="0" lvl="0" indent="0" algn="ctr">
              <a:lnSpc>
                <a:spcPts val="6329"/>
              </a:lnSpc>
            </a:pPr>
            <a:r>
              <a:rPr lang="en-US" sz="6458" spc="-413">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Records View &amp; Admin Dashboard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933665" y="4840814"/>
            <a:ext cx="3625123" cy="3738500"/>
          </a:xfrm>
          <a:prstGeom prst="rect">
            <a:avLst/>
          </a:prstGeom>
        </p:spPr>
        <p:txBody>
          <a:bodyPr lIns="0" tIns="0" rIns="0" bIns="0" rtlCol="0" anchor="t">
            <a:spAutoFit/>
          </a:bodyPr>
          <a:lstStyle/>
          <a:p>
            <a:pPr marL="0" lvl="0" indent="0" algn="l">
              <a:lnSpc>
                <a:spcPts val="3743"/>
              </a:lnSpc>
            </a:pPr>
            <a:r>
              <a:rPr lang="en-US" sz="1497" spc="-95">
                <a:solidFill>
                  <a:srgbClr val="3A58E4"/>
                </a:solidFill>
                <a:latin typeface="Poppins"/>
                <a:ea typeface="Poppins"/>
                <a:cs typeface="Poppins"/>
                <a:sym typeface="Poppins"/>
              </a:rPr>
              <a:t>ENDPOINT</a:t>
            </a:r>
          </a:p>
          <a:p>
            <a:pPr marL="0" lvl="0" indent="0" algn="l">
              <a:lnSpc>
                <a:spcPts val="3743"/>
              </a:lnSpc>
            </a:pPr>
            <a:r>
              <a:rPr lang="en-US" sz="1497" spc="-95">
                <a:solidFill>
                  <a:srgbClr val="3A58E4"/>
                </a:solidFill>
                <a:latin typeface="Poppins"/>
                <a:ea typeface="Poppins"/>
                <a:cs typeface="Poppins"/>
                <a:sym typeface="Poppins"/>
              </a:rPr>
              <a:t>/api/auth/login</a:t>
            </a:r>
          </a:p>
          <a:p>
            <a:pPr marL="0" lvl="0" indent="0" algn="l">
              <a:lnSpc>
                <a:spcPts val="3743"/>
              </a:lnSpc>
            </a:pPr>
            <a:r>
              <a:rPr lang="en-US" sz="1497" spc="-95">
                <a:solidFill>
                  <a:srgbClr val="3A58E4"/>
                </a:solidFill>
                <a:latin typeface="Poppins"/>
                <a:ea typeface="Poppins"/>
                <a:cs typeface="Poppins"/>
                <a:sym typeface="Poppins"/>
              </a:rPr>
              <a:t>/api/auth/register</a:t>
            </a:r>
          </a:p>
          <a:p>
            <a:pPr marL="0" lvl="0" indent="0" algn="l">
              <a:lnSpc>
                <a:spcPts val="3743"/>
              </a:lnSpc>
            </a:pPr>
            <a:r>
              <a:rPr lang="en-US" sz="1497" spc="-95">
                <a:solidFill>
                  <a:srgbClr val="3A58E4"/>
                </a:solidFill>
                <a:latin typeface="Poppins"/>
                <a:ea typeface="Poppins"/>
                <a:cs typeface="Poppins"/>
                <a:sym typeface="Poppins"/>
              </a:rPr>
              <a:t>/api/measurements/bulk</a:t>
            </a:r>
          </a:p>
          <a:p>
            <a:pPr marL="0" lvl="0" indent="0" algn="l">
              <a:lnSpc>
                <a:spcPts val="3743"/>
              </a:lnSpc>
            </a:pPr>
            <a:r>
              <a:rPr lang="en-US" sz="1497" spc="-95">
                <a:solidFill>
                  <a:srgbClr val="3A58E4"/>
                </a:solidFill>
                <a:latin typeface="Poppins"/>
                <a:ea typeface="Poppins"/>
                <a:cs typeface="Poppins"/>
                <a:sym typeface="Poppins"/>
              </a:rPr>
              <a:t>/api/measurements/user</a:t>
            </a:r>
          </a:p>
          <a:p>
            <a:pPr marL="0" lvl="0" indent="0" algn="l">
              <a:lnSpc>
                <a:spcPts val="3743"/>
              </a:lnSpc>
            </a:pPr>
            <a:r>
              <a:rPr lang="en-US" sz="1497" spc="-95">
                <a:solidFill>
                  <a:srgbClr val="3A58E4"/>
                </a:solidFill>
                <a:latin typeface="Poppins"/>
                <a:ea typeface="Poppins"/>
                <a:cs typeface="Poppins"/>
                <a:sym typeface="Poppins"/>
              </a:rPr>
              <a:t>/api/admin/measurements</a:t>
            </a:r>
          </a:p>
          <a:p>
            <a:pPr marL="0" lvl="0" indent="0" algn="l">
              <a:lnSpc>
                <a:spcPts val="3743"/>
              </a:lnSpc>
            </a:pPr>
            <a:r>
              <a:rPr lang="en-US" sz="1497" spc="-95">
                <a:solidFill>
                  <a:srgbClr val="3A58E4"/>
                </a:solidFill>
                <a:latin typeface="Poppins"/>
                <a:ea typeface="Poppins"/>
                <a:cs typeface="Poppins"/>
                <a:sym typeface="Poppins"/>
              </a:rPr>
              <a:t>/api/admin/heatmap</a:t>
            </a:r>
          </a:p>
          <a:p>
            <a:pPr marL="0" lvl="0" indent="0" algn="l">
              <a:lnSpc>
                <a:spcPts val="3743"/>
              </a:lnSpc>
            </a:pPr>
            <a:r>
              <a:rPr lang="en-US" sz="1497" spc="-95">
                <a:solidFill>
                  <a:srgbClr val="3A58E4"/>
                </a:solidFill>
                <a:latin typeface="Poppins"/>
                <a:ea typeface="Poppins"/>
                <a:cs typeface="Poppins"/>
                <a:sym typeface="Poppins"/>
              </a:rPr>
              <a:t>/api/admin/stats</a:t>
            </a:r>
          </a:p>
        </p:txBody>
      </p:sp>
      <p:sp>
        <p:nvSpPr>
          <p:cNvPr id="3" name="AutoShape 3"/>
          <p:cNvSpPr/>
          <p:nvPr/>
        </p:nvSpPr>
        <p:spPr>
          <a:xfrm>
            <a:off x="4188847" y="5233301"/>
            <a:ext cx="3866216" cy="0"/>
          </a:xfrm>
          <a:prstGeom prst="line">
            <a:avLst/>
          </a:prstGeom>
          <a:ln w="9525" cap="rnd">
            <a:solidFill>
              <a:srgbClr val="3A58E4"/>
            </a:solidFill>
            <a:prstDash val="solid"/>
            <a:headEnd type="none" w="sm" len="sm"/>
            <a:tailEnd type="none" w="sm" len="sm"/>
          </a:ln>
        </p:spPr>
      </p:sp>
      <p:sp>
        <p:nvSpPr>
          <p:cNvPr id="4" name="AutoShape 4"/>
          <p:cNvSpPr/>
          <p:nvPr/>
        </p:nvSpPr>
        <p:spPr>
          <a:xfrm>
            <a:off x="4188847" y="6026742"/>
            <a:ext cx="3866216" cy="0"/>
          </a:xfrm>
          <a:prstGeom prst="line">
            <a:avLst/>
          </a:prstGeom>
          <a:ln w="9525" cap="rnd">
            <a:solidFill>
              <a:srgbClr val="3A58E4"/>
            </a:solidFill>
            <a:prstDash val="solid"/>
            <a:headEnd type="none" w="sm" len="sm"/>
            <a:tailEnd type="none" w="sm" len="sm"/>
          </a:ln>
        </p:spPr>
      </p:sp>
      <p:sp>
        <p:nvSpPr>
          <p:cNvPr id="5" name="AutoShape 5"/>
          <p:cNvSpPr/>
          <p:nvPr/>
        </p:nvSpPr>
        <p:spPr>
          <a:xfrm>
            <a:off x="3875499" y="6820183"/>
            <a:ext cx="4179564" cy="0"/>
          </a:xfrm>
          <a:prstGeom prst="line">
            <a:avLst/>
          </a:prstGeom>
          <a:ln w="9525" cap="rnd">
            <a:solidFill>
              <a:srgbClr val="3A58E4"/>
            </a:solidFill>
            <a:prstDash val="solid"/>
            <a:headEnd type="none" w="sm" len="sm"/>
            <a:tailEnd type="none" w="sm" len="sm"/>
          </a:ln>
        </p:spPr>
      </p:sp>
      <p:sp>
        <p:nvSpPr>
          <p:cNvPr id="6" name="AutoShape 6"/>
          <p:cNvSpPr/>
          <p:nvPr/>
        </p:nvSpPr>
        <p:spPr>
          <a:xfrm>
            <a:off x="4355079" y="7611677"/>
            <a:ext cx="3699984" cy="0"/>
          </a:xfrm>
          <a:prstGeom prst="line">
            <a:avLst/>
          </a:prstGeom>
          <a:ln w="9525" cap="rnd">
            <a:solidFill>
              <a:srgbClr val="3A58E4"/>
            </a:solidFill>
            <a:prstDash val="solid"/>
            <a:headEnd type="none" w="sm" len="sm"/>
            <a:tailEnd type="none" w="sm" len="sm"/>
          </a:ln>
        </p:spPr>
      </p:sp>
      <p:sp>
        <p:nvSpPr>
          <p:cNvPr id="7" name="AutoShape 7"/>
          <p:cNvSpPr/>
          <p:nvPr/>
        </p:nvSpPr>
        <p:spPr>
          <a:xfrm>
            <a:off x="4883376" y="8403541"/>
            <a:ext cx="3171687" cy="0"/>
          </a:xfrm>
          <a:prstGeom prst="line">
            <a:avLst/>
          </a:prstGeom>
          <a:ln w="9525" cap="rnd">
            <a:solidFill>
              <a:srgbClr val="3A58E4"/>
            </a:solidFill>
            <a:prstDash val="solid"/>
            <a:headEnd type="none" w="sm" len="sm"/>
            <a:tailEnd type="none" w="sm" len="sm"/>
          </a:ln>
        </p:spPr>
      </p:sp>
      <p:sp>
        <p:nvSpPr>
          <p:cNvPr id="8" name="TextBox 8"/>
          <p:cNvSpPr txBox="1"/>
          <p:nvPr/>
        </p:nvSpPr>
        <p:spPr>
          <a:xfrm>
            <a:off x="8275007" y="4367604"/>
            <a:ext cx="504523" cy="4211710"/>
          </a:xfrm>
          <a:prstGeom prst="rect">
            <a:avLst/>
          </a:prstGeom>
        </p:spPr>
        <p:txBody>
          <a:bodyPr lIns="0" tIns="0" rIns="0" bIns="0" rtlCol="0" anchor="t">
            <a:spAutoFit/>
          </a:bodyPr>
          <a:lstStyle/>
          <a:p>
            <a:pPr marL="0" lvl="0" indent="0" algn="l">
              <a:lnSpc>
                <a:spcPts val="3743"/>
              </a:lnSpc>
            </a:pPr>
            <a:r>
              <a:rPr lang="en-US" sz="1497" spc="-95">
                <a:solidFill>
                  <a:srgbClr val="3A58E4"/>
                </a:solidFill>
                <a:latin typeface="Poppins"/>
                <a:ea typeface="Poppins"/>
                <a:cs typeface="Poppins"/>
                <a:sym typeface="Poppins"/>
              </a:rPr>
              <a:t>METHOD</a:t>
            </a:r>
          </a:p>
          <a:p>
            <a:pPr marL="0" lvl="0" indent="0" algn="l">
              <a:lnSpc>
                <a:spcPts val="3743"/>
              </a:lnSpc>
            </a:pPr>
            <a:r>
              <a:rPr lang="en-US" sz="1497" spc="-95">
                <a:solidFill>
                  <a:srgbClr val="3A58E4"/>
                </a:solidFill>
                <a:latin typeface="Poppins"/>
                <a:ea typeface="Poppins"/>
                <a:cs typeface="Poppins"/>
                <a:sym typeface="Poppins"/>
              </a:rPr>
              <a:t>POST</a:t>
            </a:r>
          </a:p>
          <a:p>
            <a:pPr marL="0" lvl="0" indent="0" algn="l">
              <a:lnSpc>
                <a:spcPts val="3743"/>
              </a:lnSpc>
            </a:pPr>
            <a:r>
              <a:rPr lang="en-US" sz="1497" spc="-95">
                <a:solidFill>
                  <a:srgbClr val="3A58E4"/>
                </a:solidFill>
                <a:latin typeface="Poppins"/>
                <a:ea typeface="Poppins"/>
                <a:cs typeface="Poppins"/>
                <a:sym typeface="Poppins"/>
              </a:rPr>
              <a:t>POST</a:t>
            </a:r>
          </a:p>
          <a:p>
            <a:pPr marL="0" lvl="0" indent="0" algn="l">
              <a:lnSpc>
                <a:spcPts val="3743"/>
              </a:lnSpc>
            </a:pPr>
            <a:r>
              <a:rPr lang="en-US" sz="1497" spc="-95">
                <a:solidFill>
                  <a:srgbClr val="3A58E4"/>
                </a:solidFill>
                <a:latin typeface="Poppins"/>
                <a:ea typeface="Poppins"/>
                <a:cs typeface="Poppins"/>
                <a:sym typeface="Poppins"/>
              </a:rPr>
              <a:t>POST</a:t>
            </a:r>
          </a:p>
          <a:p>
            <a:pPr marL="0" lvl="0" indent="0" algn="l">
              <a:lnSpc>
                <a:spcPts val="3743"/>
              </a:lnSpc>
            </a:pPr>
            <a:r>
              <a:rPr lang="en-US" sz="1497" spc="-95">
                <a:solidFill>
                  <a:srgbClr val="3A58E4"/>
                </a:solidFill>
                <a:latin typeface="Poppins"/>
                <a:ea typeface="Poppins"/>
                <a:cs typeface="Poppins"/>
                <a:sym typeface="Poppins"/>
              </a:rPr>
              <a:t>GET</a:t>
            </a:r>
          </a:p>
          <a:p>
            <a:pPr marL="0" lvl="0" indent="0" algn="l">
              <a:lnSpc>
                <a:spcPts val="3743"/>
              </a:lnSpc>
            </a:pPr>
            <a:r>
              <a:rPr lang="en-US" sz="1497" spc="-95">
                <a:solidFill>
                  <a:srgbClr val="3A58E4"/>
                </a:solidFill>
                <a:latin typeface="Poppins"/>
                <a:ea typeface="Poppins"/>
                <a:cs typeface="Poppins"/>
                <a:sym typeface="Poppins"/>
              </a:rPr>
              <a:t>GET</a:t>
            </a:r>
          </a:p>
          <a:p>
            <a:pPr marL="0" lvl="0" indent="0" algn="l">
              <a:lnSpc>
                <a:spcPts val="3743"/>
              </a:lnSpc>
            </a:pPr>
            <a:r>
              <a:rPr lang="en-US" sz="1497" spc="-95">
                <a:solidFill>
                  <a:srgbClr val="3A58E4"/>
                </a:solidFill>
                <a:latin typeface="Poppins"/>
                <a:ea typeface="Poppins"/>
                <a:cs typeface="Poppins"/>
                <a:sym typeface="Poppins"/>
              </a:rPr>
              <a:t>GET</a:t>
            </a:r>
          </a:p>
          <a:p>
            <a:pPr marL="0" lvl="0" indent="0" algn="l">
              <a:lnSpc>
                <a:spcPts val="3743"/>
              </a:lnSpc>
            </a:pPr>
            <a:r>
              <a:rPr lang="en-US" sz="1497" spc="-95">
                <a:solidFill>
                  <a:srgbClr val="3A58E4"/>
                </a:solidFill>
                <a:latin typeface="Poppins"/>
                <a:ea typeface="Poppins"/>
                <a:cs typeface="Poppins"/>
                <a:sym typeface="Poppins"/>
              </a:rPr>
              <a:t>GET</a:t>
            </a:r>
          </a:p>
        </p:txBody>
      </p:sp>
      <p:sp>
        <p:nvSpPr>
          <p:cNvPr id="9" name="TextBox 9"/>
          <p:cNvSpPr txBox="1"/>
          <p:nvPr/>
        </p:nvSpPr>
        <p:spPr>
          <a:xfrm>
            <a:off x="9452665" y="4840814"/>
            <a:ext cx="3625123" cy="3738500"/>
          </a:xfrm>
          <a:prstGeom prst="rect">
            <a:avLst/>
          </a:prstGeom>
        </p:spPr>
        <p:txBody>
          <a:bodyPr lIns="0" tIns="0" rIns="0" bIns="0" rtlCol="0" anchor="t">
            <a:spAutoFit/>
          </a:bodyPr>
          <a:lstStyle/>
          <a:p>
            <a:pPr marL="0" lvl="0" indent="0" algn="l">
              <a:lnSpc>
                <a:spcPts val="3743"/>
              </a:lnSpc>
            </a:pPr>
            <a:r>
              <a:rPr lang="en-US" sz="1497" spc="-95">
                <a:solidFill>
                  <a:srgbClr val="3A58E4"/>
                </a:solidFill>
                <a:latin typeface="Poppins"/>
                <a:ea typeface="Poppins"/>
                <a:cs typeface="Poppins"/>
                <a:sym typeface="Poppins"/>
              </a:rPr>
              <a:t>PURPOSE</a:t>
            </a:r>
          </a:p>
          <a:p>
            <a:pPr marL="0" lvl="0" indent="0" algn="l">
              <a:lnSpc>
                <a:spcPts val="3743"/>
              </a:lnSpc>
            </a:pPr>
            <a:r>
              <a:rPr lang="en-US" sz="1497" spc="-95">
                <a:solidFill>
                  <a:srgbClr val="3A58E4"/>
                </a:solidFill>
                <a:latin typeface="Poppins"/>
                <a:ea typeface="Poppins"/>
                <a:cs typeface="Poppins"/>
                <a:sym typeface="Poppins"/>
              </a:rPr>
              <a:t>Authenticate user, return JWT token</a:t>
            </a:r>
          </a:p>
          <a:p>
            <a:pPr marL="0" lvl="0" indent="0" algn="l">
              <a:lnSpc>
                <a:spcPts val="3743"/>
              </a:lnSpc>
            </a:pPr>
            <a:r>
              <a:rPr lang="en-US" sz="1497" spc="-95">
                <a:solidFill>
                  <a:srgbClr val="3A58E4"/>
                </a:solidFill>
                <a:latin typeface="Poppins"/>
                <a:ea typeface="Poppins"/>
                <a:cs typeface="Poppins"/>
                <a:sym typeface="Poppins"/>
              </a:rPr>
              <a:t>Create new subscriber account</a:t>
            </a:r>
          </a:p>
          <a:p>
            <a:pPr marL="0" lvl="0" indent="0" algn="l">
              <a:lnSpc>
                <a:spcPts val="3743"/>
              </a:lnSpc>
            </a:pPr>
            <a:r>
              <a:rPr lang="en-US" sz="1497" spc="-95">
                <a:solidFill>
                  <a:srgbClr val="3A58E4"/>
                </a:solidFill>
                <a:latin typeface="Poppins"/>
                <a:ea typeface="Poppins"/>
                <a:cs typeface="Poppins"/>
                <a:sym typeface="Poppins"/>
              </a:rPr>
              <a:t>Upload batch of measurements</a:t>
            </a:r>
          </a:p>
          <a:p>
            <a:pPr marL="0" lvl="0" indent="0" algn="l">
              <a:lnSpc>
                <a:spcPts val="3743"/>
              </a:lnSpc>
            </a:pPr>
            <a:r>
              <a:rPr lang="en-US" sz="1497" spc="-95">
                <a:solidFill>
                  <a:srgbClr val="3A58E4"/>
                </a:solidFill>
                <a:latin typeface="Poppins"/>
                <a:ea typeface="Poppins"/>
                <a:cs typeface="Poppins"/>
                <a:sym typeface="Poppins"/>
              </a:rPr>
              <a:t>Fetch current user's records</a:t>
            </a:r>
          </a:p>
          <a:p>
            <a:pPr marL="0" lvl="0" indent="0" algn="l">
              <a:lnSpc>
                <a:spcPts val="3743"/>
              </a:lnSpc>
            </a:pPr>
            <a:r>
              <a:rPr lang="en-US" sz="1497" spc="-95">
                <a:solidFill>
                  <a:srgbClr val="3A58E4"/>
                </a:solidFill>
                <a:latin typeface="Poppins"/>
                <a:ea typeface="Poppins"/>
                <a:cs typeface="Poppins"/>
                <a:sym typeface="Poppins"/>
              </a:rPr>
              <a:t>Admin: filter all measurements</a:t>
            </a:r>
          </a:p>
          <a:p>
            <a:pPr marL="0" lvl="0" indent="0" algn="l">
              <a:lnSpc>
                <a:spcPts val="3743"/>
              </a:lnSpc>
            </a:pPr>
            <a:r>
              <a:rPr lang="en-US" sz="1497" spc="-95">
                <a:solidFill>
                  <a:srgbClr val="3A58E4"/>
                </a:solidFill>
                <a:latin typeface="Poppins"/>
                <a:ea typeface="Poppins"/>
                <a:cs typeface="Poppins"/>
                <a:sym typeface="Poppins"/>
              </a:rPr>
              <a:t>Admin: geospatial heatmap data</a:t>
            </a:r>
          </a:p>
          <a:p>
            <a:pPr marL="0" lvl="0" indent="0" algn="l">
              <a:lnSpc>
                <a:spcPts val="3743"/>
              </a:lnSpc>
            </a:pPr>
            <a:r>
              <a:rPr lang="en-US" sz="1497" spc="-95">
                <a:solidFill>
                  <a:srgbClr val="3A58E4"/>
                </a:solidFill>
                <a:latin typeface="Poppins"/>
                <a:ea typeface="Poppins"/>
                <a:cs typeface="Poppins"/>
                <a:sym typeface="Poppins"/>
              </a:rPr>
              <a:t>Admin: aggregated statistics</a:t>
            </a:r>
          </a:p>
        </p:txBody>
      </p:sp>
      <p:sp>
        <p:nvSpPr>
          <p:cNvPr id="10" name="AutoShape 10"/>
          <p:cNvSpPr/>
          <p:nvPr/>
        </p:nvSpPr>
        <p:spPr>
          <a:xfrm flipV="1">
            <a:off x="12399512" y="5233301"/>
            <a:ext cx="4174552" cy="0"/>
          </a:xfrm>
          <a:prstGeom prst="line">
            <a:avLst/>
          </a:prstGeom>
          <a:ln w="9525" cap="rnd">
            <a:solidFill>
              <a:srgbClr val="3A58E4"/>
            </a:solidFill>
            <a:prstDash val="solid"/>
            <a:headEnd type="none" w="sm" len="sm"/>
            <a:tailEnd type="none" w="sm" len="sm"/>
          </a:ln>
        </p:spPr>
      </p:sp>
      <p:sp>
        <p:nvSpPr>
          <p:cNvPr id="11" name="AutoShape 11"/>
          <p:cNvSpPr/>
          <p:nvPr/>
        </p:nvSpPr>
        <p:spPr>
          <a:xfrm flipV="1">
            <a:off x="13077788" y="6026742"/>
            <a:ext cx="3496276" cy="0"/>
          </a:xfrm>
          <a:prstGeom prst="line">
            <a:avLst/>
          </a:prstGeom>
          <a:ln w="9525" cap="rnd">
            <a:solidFill>
              <a:srgbClr val="3A58E4"/>
            </a:solidFill>
            <a:prstDash val="solid"/>
            <a:headEnd type="none" w="sm" len="sm"/>
            <a:tailEnd type="none" w="sm" len="sm"/>
          </a:ln>
        </p:spPr>
      </p:sp>
      <p:sp>
        <p:nvSpPr>
          <p:cNvPr id="12" name="AutoShape 12"/>
          <p:cNvSpPr/>
          <p:nvPr/>
        </p:nvSpPr>
        <p:spPr>
          <a:xfrm>
            <a:off x="12714894" y="6820183"/>
            <a:ext cx="3859170" cy="0"/>
          </a:xfrm>
          <a:prstGeom prst="line">
            <a:avLst/>
          </a:prstGeom>
          <a:ln w="9525" cap="rnd">
            <a:solidFill>
              <a:srgbClr val="3A58E4"/>
            </a:solidFill>
            <a:prstDash val="solid"/>
            <a:headEnd type="none" w="sm" len="sm"/>
            <a:tailEnd type="none" w="sm" len="sm"/>
          </a:ln>
        </p:spPr>
      </p:sp>
      <p:sp>
        <p:nvSpPr>
          <p:cNvPr id="13" name="AutoShape 13"/>
          <p:cNvSpPr/>
          <p:nvPr/>
        </p:nvSpPr>
        <p:spPr>
          <a:xfrm>
            <a:off x="11908397" y="7611677"/>
            <a:ext cx="4665667" cy="0"/>
          </a:xfrm>
          <a:prstGeom prst="line">
            <a:avLst/>
          </a:prstGeom>
          <a:ln w="9525" cap="rnd">
            <a:solidFill>
              <a:srgbClr val="3A58E4"/>
            </a:solidFill>
            <a:prstDash val="solid"/>
            <a:headEnd type="none" w="sm" len="sm"/>
            <a:tailEnd type="none" w="sm" len="sm"/>
          </a:ln>
        </p:spPr>
      </p:sp>
      <p:sp>
        <p:nvSpPr>
          <p:cNvPr id="14" name="AutoShape 14"/>
          <p:cNvSpPr/>
          <p:nvPr/>
        </p:nvSpPr>
        <p:spPr>
          <a:xfrm>
            <a:off x="13077788" y="8403541"/>
            <a:ext cx="3496276" cy="0"/>
          </a:xfrm>
          <a:prstGeom prst="line">
            <a:avLst/>
          </a:prstGeom>
          <a:ln w="9525" cap="rnd">
            <a:solidFill>
              <a:srgbClr val="3A58E4"/>
            </a:solidFill>
            <a:prstDash val="solid"/>
            <a:headEnd type="none" w="sm" len="sm"/>
            <a:tailEnd type="none" w="sm" len="sm"/>
          </a:ln>
        </p:spPr>
      </p:sp>
      <p:sp>
        <p:nvSpPr>
          <p:cNvPr id="15" name="TextBox 15"/>
          <p:cNvSpPr txBox="1"/>
          <p:nvPr/>
        </p:nvSpPr>
        <p:spPr>
          <a:xfrm>
            <a:off x="16794008" y="3421184"/>
            <a:ext cx="560327" cy="5158130"/>
          </a:xfrm>
          <a:prstGeom prst="rect">
            <a:avLst/>
          </a:prstGeom>
        </p:spPr>
        <p:txBody>
          <a:bodyPr lIns="0" tIns="0" rIns="0" bIns="0" rtlCol="0" anchor="t">
            <a:spAutoFit/>
          </a:bodyPr>
          <a:lstStyle/>
          <a:p>
            <a:pPr marL="0" lvl="0" indent="0" algn="l">
              <a:lnSpc>
                <a:spcPts val="3743"/>
              </a:lnSpc>
            </a:pPr>
            <a:r>
              <a:rPr lang="en-US" sz="1497" spc="-95">
                <a:solidFill>
                  <a:srgbClr val="3A58E4"/>
                </a:solidFill>
                <a:latin typeface="Poppins"/>
                <a:ea typeface="Poppins"/>
                <a:cs typeface="Poppins"/>
                <a:sym typeface="Poppins"/>
              </a:rPr>
              <a:t>AUTH</a:t>
            </a:r>
          </a:p>
          <a:p>
            <a:pPr marL="0" lvl="0" indent="0" algn="l">
              <a:lnSpc>
                <a:spcPts val="3743"/>
              </a:lnSpc>
            </a:pPr>
            <a:r>
              <a:rPr lang="en-US" sz="1497" spc="-95">
                <a:solidFill>
                  <a:srgbClr val="3A58E4"/>
                </a:solidFill>
                <a:latin typeface="Poppins"/>
                <a:ea typeface="Poppins"/>
                <a:cs typeface="Poppins"/>
                <a:sym typeface="Poppins"/>
              </a:rPr>
              <a:t>Public</a:t>
            </a:r>
          </a:p>
          <a:p>
            <a:pPr marL="0" lvl="0" indent="0" algn="l">
              <a:lnSpc>
                <a:spcPts val="3743"/>
              </a:lnSpc>
            </a:pPr>
            <a:r>
              <a:rPr lang="en-US" sz="1497" spc="-95">
                <a:solidFill>
                  <a:srgbClr val="3A58E4"/>
                </a:solidFill>
                <a:latin typeface="Poppins"/>
                <a:ea typeface="Poppins"/>
                <a:cs typeface="Poppins"/>
                <a:sym typeface="Poppins"/>
              </a:rPr>
              <a:t>Public</a:t>
            </a:r>
          </a:p>
          <a:p>
            <a:pPr marL="0" lvl="0" indent="0" algn="l">
              <a:lnSpc>
                <a:spcPts val="3743"/>
              </a:lnSpc>
            </a:pPr>
            <a:r>
              <a:rPr lang="en-US" sz="1497" spc="-95">
                <a:solidFill>
                  <a:srgbClr val="3A58E4"/>
                </a:solidFill>
                <a:latin typeface="Poppins"/>
                <a:ea typeface="Poppins"/>
                <a:cs typeface="Poppins"/>
                <a:sym typeface="Poppins"/>
              </a:rPr>
              <a:t>JWT</a:t>
            </a:r>
          </a:p>
          <a:p>
            <a:pPr marL="0" lvl="0" indent="0" algn="l">
              <a:lnSpc>
                <a:spcPts val="3743"/>
              </a:lnSpc>
            </a:pPr>
            <a:r>
              <a:rPr lang="en-US" sz="1497" spc="-95">
                <a:solidFill>
                  <a:srgbClr val="3A58E4"/>
                </a:solidFill>
                <a:latin typeface="Poppins"/>
                <a:ea typeface="Poppins"/>
                <a:cs typeface="Poppins"/>
                <a:sym typeface="Poppins"/>
              </a:rPr>
              <a:t>JWT</a:t>
            </a:r>
          </a:p>
          <a:p>
            <a:pPr marL="0" lvl="0" indent="0" algn="l">
              <a:lnSpc>
                <a:spcPts val="3743"/>
              </a:lnSpc>
            </a:pPr>
            <a:r>
              <a:rPr lang="en-US" sz="1497" spc="-95">
                <a:solidFill>
                  <a:srgbClr val="3A58E4"/>
                </a:solidFill>
                <a:latin typeface="Poppins"/>
                <a:ea typeface="Poppins"/>
                <a:cs typeface="Poppins"/>
                <a:sym typeface="Poppins"/>
              </a:rPr>
              <a:t>Admin JWT</a:t>
            </a:r>
          </a:p>
          <a:p>
            <a:pPr marL="0" lvl="0" indent="0" algn="l">
              <a:lnSpc>
                <a:spcPts val="3743"/>
              </a:lnSpc>
            </a:pPr>
            <a:r>
              <a:rPr lang="en-US" sz="1497" spc="-95">
                <a:solidFill>
                  <a:srgbClr val="3A58E4"/>
                </a:solidFill>
                <a:latin typeface="Poppins"/>
                <a:ea typeface="Poppins"/>
                <a:cs typeface="Poppins"/>
                <a:sym typeface="Poppins"/>
              </a:rPr>
              <a:t>Admin JWT</a:t>
            </a:r>
          </a:p>
          <a:p>
            <a:pPr marL="0" lvl="0" indent="0" algn="l">
              <a:lnSpc>
                <a:spcPts val="3743"/>
              </a:lnSpc>
            </a:pPr>
            <a:r>
              <a:rPr lang="en-US" sz="1497" spc="-95">
                <a:solidFill>
                  <a:srgbClr val="3A58E4"/>
                </a:solidFill>
                <a:latin typeface="Poppins"/>
                <a:ea typeface="Poppins"/>
                <a:cs typeface="Poppins"/>
                <a:sym typeface="Poppins"/>
              </a:rPr>
              <a:t>Admin JWT</a:t>
            </a:r>
          </a:p>
        </p:txBody>
      </p:sp>
      <p:grpSp>
        <p:nvGrpSpPr>
          <p:cNvPr id="16" name="Group 16"/>
          <p:cNvGrpSpPr/>
          <p:nvPr/>
        </p:nvGrpSpPr>
        <p:grpSpPr>
          <a:xfrm>
            <a:off x="4208579" y="3311917"/>
            <a:ext cx="9870843" cy="379246"/>
            <a:chOff x="0" y="0"/>
            <a:chExt cx="13161124" cy="505662"/>
          </a:xfrm>
        </p:grpSpPr>
        <p:sp>
          <p:nvSpPr>
            <p:cNvPr id="17" name="TextBox 17"/>
            <p:cNvSpPr txBox="1"/>
            <p:nvPr/>
          </p:nvSpPr>
          <p:spPr>
            <a:xfrm>
              <a:off x="0" y="183068"/>
              <a:ext cx="13021857" cy="322594"/>
            </a:xfrm>
            <a:prstGeom prst="rect">
              <a:avLst/>
            </a:prstGeom>
          </p:spPr>
          <p:txBody>
            <a:bodyPr lIns="0" tIns="0" rIns="0" bIns="0" rtlCol="0" anchor="t">
              <a:spAutoFit/>
            </a:bodyPr>
            <a:lstStyle/>
            <a:p>
              <a:pPr marL="0" lvl="0" indent="0" algn="l">
                <a:lnSpc>
                  <a:spcPts val="1978"/>
                </a:lnSpc>
              </a:pPr>
              <a:r>
                <a:rPr lang="en-US" sz="1413" spc="-35">
                  <a:gradFill>
                    <a:gsLst>
                      <a:gs pos="0">
                        <a:srgbClr val="3A58E4">
                          <a:alpha val="100000"/>
                        </a:srgbClr>
                      </a:gs>
                      <a:gs pos="100000">
                        <a:srgbClr val="293E9C">
                          <a:alpha val="100000"/>
                        </a:srgbClr>
                      </a:gs>
                    </a:gsLst>
                    <a:path path="circle">
                      <a:fillToRect r="100000" b="100000"/>
                    </a:path>
                    <a:tileRect l="-100000" t="-100000"/>
                  </a:gradFill>
                  <a:latin typeface="Poppins"/>
                  <a:ea typeface="Poppins"/>
                  <a:cs typeface="Poppins"/>
                  <a:sym typeface="Poppins"/>
                </a:rPr>
                <a:t>RESTful API built with Node.js &amp; Express.js — secure, scalable, and structured for mobile data collection</a:t>
              </a:r>
            </a:p>
          </p:txBody>
        </p:sp>
        <p:sp>
          <p:nvSpPr>
            <p:cNvPr id="18" name="Freeform 18"/>
            <p:cNvSpPr/>
            <p:nvPr/>
          </p:nvSpPr>
          <p:spPr>
            <a:xfrm rot="-8687136">
              <a:off x="12844104" y="60812"/>
              <a:ext cx="252200" cy="272873"/>
            </a:xfrm>
            <a:custGeom>
              <a:avLst/>
              <a:gdLst/>
              <a:ahLst/>
              <a:cxnLst/>
              <a:rect l="l" t="t" r="r" b="b"/>
              <a:pathLst>
                <a:path w="252200" h="272873">
                  <a:moveTo>
                    <a:pt x="0" y="0"/>
                  </a:moveTo>
                  <a:lnTo>
                    <a:pt x="252200" y="0"/>
                  </a:lnTo>
                  <a:lnTo>
                    <a:pt x="252200" y="272873"/>
                  </a:lnTo>
                  <a:lnTo>
                    <a:pt x="0" y="272873"/>
                  </a:lnTo>
                  <a:lnTo>
                    <a:pt x="0" y="0"/>
                  </a:lnTo>
                  <a:close/>
                </a:path>
              </a:pathLst>
            </a:custGeom>
            <a:blipFill>
              <a:blip r:embed="rId2"/>
              <a:stretch>
                <a:fillRect/>
              </a:stretch>
            </a:blipFill>
          </p:spPr>
        </p:sp>
      </p:grpSp>
      <p:sp>
        <p:nvSpPr>
          <p:cNvPr id="19" name="AutoShape 19"/>
          <p:cNvSpPr/>
          <p:nvPr/>
        </p:nvSpPr>
        <p:spPr>
          <a:xfrm>
            <a:off x="4208579" y="3853088"/>
            <a:ext cx="9870843" cy="0"/>
          </a:xfrm>
          <a:prstGeom prst="line">
            <a:avLst/>
          </a:prstGeom>
          <a:ln w="19050" cap="rnd">
            <a:solidFill>
              <a:srgbClr val="3A58E4"/>
            </a:solidFill>
            <a:prstDash val="solid"/>
            <a:headEnd type="none" w="sm" len="sm"/>
            <a:tailEnd type="none" w="sm" len="sm"/>
          </a:ln>
        </p:spPr>
      </p:sp>
      <p:sp>
        <p:nvSpPr>
          <p:cNvPr id="20" name="TextBox 20"/>
          <p:cNvSpPr txBox="1"/>
          <p:nvPr/>
        </p:nvSpPr>
        <p:spPr>
          <a:xfrm>
            <a:off x="3626085" y="2041682"/>
            <a:ext cx="11035829" cy="872640"/>
          </a:xfrm>
          <a:prstGeom prst="rect">
            <a:avLst/>
          </a:prstGeom>
        </p:spPr>
        <p:txBody>
          <a:bodyPr lIns="0" tIns="0" rIns="0" bIns="0" rtlCol="0" anchor="t">
            <a:spAutoFit/>
          </a:bodyPr>
          <a:lstStyle/>
          <a:p>
            <a:pPr marL="0" lvl="0" indent="0" algn="ctr">
              <a:lnSpc>
                <a:spcPts val="6553"/>
              </a:lnSpc>
            </a:pPr>
            <a:r>
              <a:rPr lang="en-US" sz="6687" spc="-427">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Backend API – Key Endpoints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256766" y="2451271"/>
            <a:ext cx="5217559" cy="1276872"/>
          </a:xfrm>
          <a:prstGeom prst="rect">
            <a:avLst/>
          </a:prstGeom>
        </p:spPr>
        <p:txBody>
          <a:bodyPr lIns="0" tIns="0" rIns="0" bIns="0" rtlCol="0" anchor="t">
            <a:spAutoFit/>
          </a:bodyPr>
          <a:lstStyle/>
          <a:p>
            <a:pPr marL="0" lvl="0" indent="0" algn="l">
              <a:lnSpc>
                <a:spcPts val="9596"/>
              </a:lnSpc>
            </a:pPr>
            <a:r>
              <a:rPr lang="en-US" sz="9792" spc="-626">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Evaluation</a:t>
            </a:r>
          </a:p>
        </p:txBody>
      </p:sp>
      <p:grpSp>
        <p:nvGrpSpPr>
          <p:cNvPr id="3" name="Group 3"/>
          <p:cNvGrpSpPr/>
          <p:nvPr/>
        </p:nvGrpSpPr>
        <p:grpSpPr>
          <a:xfrm>
            <a:off x="1028700" y="1358088"/>
            <a:ext cx="47625" cy="2040668"/>
            <a:chOff x="0" y="0"/>
            <a:chExt cx="12543" cy="537460"/>
          </a:xfrm>
        </p:grpSpPr>
        <p:sp>
          <p:nvSpPr>
            <p:cNvPr id="4" name="Freeform 4"/>
            <p:cNvSpPr/>
            <p:nvPr/>
          </p:nvSpPr>
          <p:spPr>
            <a:xfrm>
              <a:off x="0" y="0"/>
              <a:ext cx="12543" cy="537460"/>
            </a:xfrm>
            <a:custGeom>
              <a:avLst/>
              <a:gdLst/>
              <a:ahLst/>
              <a:cxnLst/>
              <a:rect l="l" t="t" r="r" b="b"/>
              <a:pathLst>
                <a:path w="12543" h="537460">
                  <a:moveTo>
                    <a:pt x="0" y="0"/>
                  </a:moveTo>
                  <a:lnTo>
                    <a:pt x="12543" y="0"/>
                  </a:lnTo>
                  <a:lnTo>
                    <a:pt x="12543" y="537460"/>
                  </a:lnTo>
                  <a:lnTo>
                    <a:pt x="0" y="537460"/>
                  </a:lnTo>
                  <a:close/>
                </a:path>
              </a:pathLst>
            </a:custGeom>
            <a:solidFill>
              <a:srgbClr val="3A58E4"/>
            </a:solidFill>
          </p:spPr>
        </p:sp>
        <p:sp>
          <p:nvSpPr>
            <p:cNvPr id="5" name="TextBox 5"/>
            <p:cNvSpPr txBox="1"/>
            <p:nvPr/>
          </p:nvSpPr>
          <p:spPr>
            <a:xfrm>
              <a:off x="0" y="-38100"/>
              <a:ext cx="12543" cy="575560"/>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6" name="Group 6"/>
          <p:cNvGrpSpPr/>
          <p:nvPr/>
        </p:nvGrpSpPr>
        <p:grpSpPr>
          <a:xfrm>
            <a:off x="1028700" y="4312874"/>
            <a:ext cx="8172450" cy="379246"/>
            <a:chOff x="0" y="0"/>
            <a:chExt cx="10896600" cy="505662"/>
          </a:xfrm>
        </p:grpSpPr>
        <p:sp>
          <p:nvSpPr>
            <p:cNvPr id="7" name="TextBox 7"/>
            <p:cNvSpPr txBox="1"/>
            <p:nvPr/>
          </p:nvSpPr>
          <p:spPr>
            <a:xfrm>
              <a:off x="0" y="-17974"/>
              <a:ext cx="10820400" cy="523636"/>
            </a:xfrm>
            <a:prstGeom prst="rect">
              <a:avLst/>
            </a:prstGeom>
          </p:spPr>
          <p:txBody>
            <a:bodyPr lIns="0" tIns="0" rIns="0" bIns="0" rtlCol="0" anchor="t">
              <a:spAutoFit/>
            </a:bodyPr>
            <a:lstStyle/>
            <a:p>
              <a:pPr marL="0" lvl="0" indent="0" algn="l">
                <a:lnSpc>
                  <a:spcPts val="3159"/>
                </a:lnSpc>
              </a:pPr>
              <a:r>
                <a:rPr lang="en-US" sz="2257" b="1" spc="-56">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STRENGTHS &amp; LIMITATIONS OF THE KILOBYTES APPLICATION</a:t>
              </a:r>
            </a:p>
          </p:txBody>
        </p:sp>
        <p:sp>
          <p:nvSpPr>
            <p:cNvPr id="8" name="Freeform 8"/>
            <p:cNvSpPr/>
            <p:nvPr/>
          </p:nvSpPr>
          <p:spPr>
            <a:xfrm rot="-8687136">
              <a:off x="10579580" y="44820"/>
              <a:ext cx="252200" cy="304858"/>
            </a:xfrm>
            <a:custGeom>
              <a:avLst/>
              <a:gdLst/>
              <a:ahLst/>
              <a:cxnLst/>
              <a:rect l="l" t="t" r="r" b="b"/>
              <a:pathLst>
                <a:path w="252200" h="304858">
                  <a:moveTo>
                    <a:pt x="0" y="0"/>
                  </a:moveTo>
                  <a:lnTo>
                    <a:pt x="252200" y="0"/>
                  </a:lnTo>
                  <a:lnTo>
                    <a:pt x="252200" y="304857"/>
                  </a:lnTo>
                  <a:lnTo>
                    <a:pt x="0" y="304857"/>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sp>
      </p:grpSp>
      <p:grpSp>
        <p:nvGrpSpPr>
          <p:cNvPr id="9" name="Group 9"/>
          <p:cNvGrpSpPr/>
          <p:nvPr/>
        </p:nvGrpSpPr>
        <p:grpSpPr>
          <a:xfrm>
            <a:off x="16438046" y="46860"/>
            <a:ext cx="1849954" cy="1801307"/>
            <a:chOff x="0" y="0"/>
            <a:chExt cx="2466605" cy="2401742"/>
          </a:xfrm>
        </p:grpSpPr>
        <p:grpSp>
          <p:nvGrpSpPr>
            <p:cNvPr id="10" name="Group 10"/>
            <p:cNvGrpSpPr/>
            <p:nvPr/>
          </p:nvGrpSpPr>
          <p:grpSpPr>
            <a:xfrm>
              <a:off x="0" y="0"/>
              <a:ext cx="2466605" cy="2401742"/>
              <a:chOff x="0" y="0"/>
              <a:chExt cx="787566" cy="766856"/>
            </a:xfrm>
          </p:grpSpPr>
          <p:sp>
            <p:nvSpPr>
              <p:cNvPr id="11" name="Freeform 11"/>
              <p:cNvSpPr/>
              <p:nvPr/>
            </p:nvSpPr>
            <p:spPr>
              <a:xfrm>
                <a:off x="0" y="0"/>
                <a:ext cx="787566" cy="766856"/>
              </a:xfrm>
              <a:custGeom>
                <a:avLst/>
                <a:gdLst/>
                <a:ahLst/>
                <a:cxnLst/>
                <a:rect l="l" t="t" r="r" b="b"/>
                <a:pathLst>
                  <a:path w="787566" h="766856">
                    <a:moveTo>
                      <a:pt x="0" y="0"/>
                    </a:moveTo>
                    <a:lnTo>
                      <a:pt x="787566" y="0"/>
                    </a:lnTo>
                    <a:lnTo>
                      <a:pt x="787566" y="766856"/>
                    </a:lnTo>
                    <a:lnTo>
                      <a:pt x="0" y="766856"/>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12" name="TextBox 12"/>
              <p:cNvSpPr txBox="1"/>
              <p:nvPr/>
            </p:nvSpPr>
            <p:spPr>
              <a:xfrm>
                <a:off x="0" y="-38100"/>
                <a:ext cx="787566" cy="804956"/>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13" name="TextBox 13"/>
            <p:cNvSpPr txBox="1"/>
            <p:nvPr/>
          </p:nvSpPr>
          <p:spPr>
            <a:xfrm>
              <a:off x="319164" y="694049"/>
              <a:ext cx="1828278" cy="1137469"/>
            </a:xfrm>
            <a:prstGeom prst="rect">
              <a:avLst/>
            </a:prstGeom>
          </p:spPr>
          <p:txBody>
            <a:bodyPr lIns="0" tIns="0" rIns="0" bIns="0" rtlCol="0" anchor="t">
              <a:spAutoFit/>
            </a:bodyPr>
            <a:lstStyle/>
            <a:p>
              <a:pPr marL="0" lvl="0" indent="0" algn="ctr">
                <a:lnSpc>
                  <a:spcPts val="6118"/>
                </a:lnSpc>
              </a:pPr>
              <a:r>
                <a:rPr lang="en-US" sz="6243" spc="-399">
                  <a:solidFill>
                    <a:srgbClr val="FFFFFF"/>
                  </a:solidFill>
                  <a:latin typeface="Bricolage Grotesque"/>
                  <a:ea typeface="Bricolage Grotesque"/>
                  <a:cs typeface="Bricolage Grotesque"/>
                  <a:sym typeface="Bricolage Grotesque"/>
                </a:rPr>
                <a:t>20</a:t>
              </a:r>
            </a:p>
          </p:txBody>
        </p:sp>
      </p:grpSp>
      <p:sp>
        <p:nvSpPr>
          <p:cNvPr id="14" name="Freeform 14"/>
          <p:cNvSpPr/>
          <p:nvPr/>
        </p:nvSpPr>
        <p:spPr>
          <a:xfrm>
            <a:off x="9923800" y="2454424"/>
            <a:ext cx="6963686" cy="6519751"/>
          </a:xfrm>
          <a:custGeom>
            <a:avLst/>
            <a:gdLst/>
            <a:ahLst/>
            <a:cxnLst/>
            <a:rect l="l" t="t" r="r" b="b"/>
            <a:pathLst>
              <a:path w="6963686" h="6519751">
                <a:moveTo>
                  <a:pt x="0" y="0"/>
                </a:moveTo>
                <a:lnTo>
                  <a:pt x="6963686" y="0"/>
                </a:lnTo>
                <a:lnTo>
                  <a:pt x="6963686" y="6519751"/>
                </a:lnTo>
                <a:lnTo>
                  <a:pt x="0" y="6519751"/>
                </a:lnTo>
                <a:lnTo>
                  <a:pt x="0" y="0"/>
                </a:lnTo>
                <a:close/>
              </a:path>
            </a:pathLst>
          </a:custGeom>
          <a:blipFill>
            <a:blip r:embed="rId4"/>
            <a:stretch>
              <a:fillRect/>
            </a:stretch>
          </a:blipFill>
        </p:spPr>
      </p:sp>
      <p:sp>
        <p:nvSpPr>
          <p:cNvPr id="15" name="TextBox 15"/>
          <p:cNvSpPr txBox="1"/>
          <p:nvPr/>
        </p:nvSpPr>
        <p:spPr>
          <a:xfrm>
            <a:off x="1870201" y="5165980"/>
            <a:ext cx="7273799" cy="850806"/>
          </a:xfrm>
          <a:prstGeom prst="rect">
            <a:avLst/>
          </a:prstGeom>
        </p:spPr>
        <p:txBody>
          <a:bodyPr lIns="0" tIns="0" rIns="0" bIns="0" rtlCol="0" anchor="t">
            <a:spAutoFit/>
          </a:bodyPr>
          <a:lstStyle/>
          <a:p>
            <a:pPr marL="0" lvl="0" indent="0" algn="just">
              <a:lnSpc>
                <a:spcPts val="2241"/>
              </a:lnSpc>
            </a:pPr>
            <a:r>
              <a:rPr lang="en-US" sz="1601" spc="-40">
                <a:solidFill>
                  <a:srgbClr val="3A58E4"/>
                </a:solidFill>
                <a:latin typeface="Poppins"/>
                <a:ea typeface="Poppins"/>
                <a:cs typeface="Poppins"/>
                <a:sym typeface="Poppins"/>
              </a:rPr>
              <a:t>✅ STRENGTHS: Cross-platform (Android &amp; iOS), offline-first architecture, privacy-by-design consent model, and comprehensive QoS + QoE data collection.</a:t>
            </a:r>
          </a:p>
        </p:txBody>
      </p:sp>
      <p:sp>
        <p:nvSpPr>
          <p:cNvPr id="16" name="TextBox 16"/>
          <p:cNvSpPr txBox="1"/>
          <p:nvPr/>
        </p:nvSpPr>
        <p:spPr>
          <a:xfrm>
            <a:off x="1870201" y="6438555"/>
            <a:ext cx="7273799" cy="569523"/>
          </a:xfrm>
          <a:prstGeom prst="rect">
            <a:avLst/>
          </a:prstGeom>
        </p:spPr>
        <p:txBody>
          <a:bodyPr lIns="0" tIns="0" rIns="0" bIns="0" rtlCol="0" anchor="t">
            <a:spAutoFit/>
          </a:bodyPr>
          <a:lstStyle/>
          <a:p>
            <a:pPr marL="0" lvl="0" indent="0" algn="just">
              <a:lnSpc>
                <a:spcPts val="2241"/>
              </a:lnSpc>
            </a:pPr>
            <a:r>
              <a:rPr lang="en-US" sz="1601" spc="-40">
                <a:solidFill>
                  <a:srgbClr val="3A58E4"/>
                </a:solidFill>
                <a:latin typeface="Poppins"/>
                <a:ea typeface="Poppins"/>
                <a:cs typeface="Poppins"/>
                <a:sym typeface="Poppins"/>
              </a:rPr>
              <a:t>✅ Geospatial heatmap visualization, bilingual support (English &amp; French), scalable cloud backend, and secure JWT-based authentication.</a:t>
            </a:r>
          </a:p>
        </p:txBody>
      </p:sp>
      <p:sp>
        <p:nvSpPr>
          <p:cNvPr id="17" name="TextBox 17"/>
          <p:cNvSpPr txBox="1"/>
          <p:nvPr/>
        </p:nvSpPr>
        <p:spPr>
          <a:xfrm>
            <a:off x="1870201" y="7429846"/>
            <a:ext cx="7273799" cy="569523"/>
          </a:xfrm>
          <a:prstGeom prst="rect">
            <a:avLst/>
          </a:prstGeom>
        </p:spPr>
        <p:txBody>
          <a:bodyPr lIns="0" tIns="0" rIns="0" bIns="0" rtlCol="0" anchor="t">
            <a:spAutoFit/>
          </a:bodyPr>
          <a:lstStyle/>
          <a:p>
            <a:pPr marL="0" lvl="0" indent="0" algn="just">
              <a:lnSpc>
                <a:spcPts val="2241"/>
              </a:lnSpc>
            </a:pPr>
            <a:r>
              <a:rPr lang="en-US" sz="1601" spc="-40">
                <a:solidFill>
                  <a:srgbClr val="3A58E4"/>
                </a:solidFill>
                <a:latin typeface="Poppins"/>
                <a:ea typeface="Poppins"/>
                <a:cs typeface="Poppins"/>
                <a:sym typeface="Poppins"/>
              </a:rPr>
              <a:t>⚠️ LIMITATIONS: Signal strength data unavailable via Expo APIs; SIM card detection and network generation (3G/4G/5G) not fully implemented.</a:t>
            </a:r>
          </a:p>
        </p:txBody>
      </p:sp>
      <p:sp>
        <p:nvSpPr>
          <p:cNvPr id="18" name="TextBox 18"/>
          <p:cNvSpPr txBox="1"/>
          <p:nvPr/>
        </p:nvSpPr>
        <p:spPr>
          <a:xfrm>
            <a:off x="1870201" y="8421138"/>
            <a:ext cx="7273799" cy="569523"/>
          </a:xfrm>
          <a:prstGeom prst="rect">
            <a:avLst/>
          </a:prstGeom>
        </p:spPr>
        <p:txBody>
          <a:bodyPr lIns="0" tIns="0" rIns="0" bIns="0" rtlCol="0" anchor="t">
            <a:spAutoFit/>
          </a:bodyPr>
          <a:lstStyle/>
          <a:p>
            <a:pPr marL="0" lvl="0" indent="0" algn="just">
              <a:lnSpc>
                <a:spcPts val="2241"/>
              </a:lnSpc>
            </a:pPr>
            <a:r>
              <a:rPr lang="en-US" sz="1601" spc="-40">
                <a:solidFill>
                  <a:srgbClr val="3A58E4"/>
                </a:solidFill>
                <a:latin typeface="Poppins"/>
                <a:ea typeface="Poppins"/>
                <a:cs typeface="Poppins"/>
                <a:sym typeface="Poppins"/>
              </a:rPr>
              <a:t>⚠️ Field naming inconsistencies in early data models; app requires production deployment configuration and further real-world field testing.</a:t>
            </a:r>
          </a:p>
        </p:txBody>
      </p:sp>
      <p:sp>
        <p:nvSpPr>
          <p:cNvPr id="19" name="Freeform 19"/>
          <p:cNvSpPr/>
          <p:nvPr/>
        </p:nvSpPr>
        <p:spPr>
          <a:xfrm>
            <a:off x="1052512" y="5400430"/>
            <a:ext cx="489071" cy="489071"/>
          </a:xfrm>
          <a:custGeom>
            <a:avLst/>
            <a:gdLst/>
            <a:ahLst/>
            <a:cxnLst/>
            <a:rect l="l" t="t" r="r" b="b"/>
            <a:pathLst>
              <a:path w="489071" h="489071">
                <a:moveTo>
                  <a:pt x="0" y="0"/>
                </a:moveTo>
                <a:lnTo>
                  <a:pt x="489072" y="0"/>
                </a:lnTo>
                <a:lnTo>
                  <a:pt x="489072" y="489071"/>
                </a:lnTo>
                <a:lnTo>
                  <a:pt x="0" y="489071"/>
                </a:lnTo>
                <a:lnTo>
                  <a:pt x="0" y="0"/>
                </a:lnTo>
                <a:close/>
              </a:path>
            </a:pathLst>
          </a:custGeom>
          <a:blipFill>
            <a:blip r:embed="rId5">
              <a:extLst>
                <a:ext uri="{96DAC541-7B7A-43D3-8B79-37D633B846F1}">
                  <asvg:svgBlip xmlns:asvg="http://schemas.microsoft.com/office/drawing/2016/SVG/main" xmlns="" r:embed="rId6"/>
                </a:ext>
              </a:extLst>
            </a:blip>
            <a:stretch>
              <a:fillRect/>
            </a:stretch>
          </a:blipFill>
        </p:spPr>
      </p:sp>
      <p:sp>
        <p:nvSpPr>
          <p:cNvPr id="20" name="Freeform 20"/>
          <p:cNvSpPr/>
          <p:nvPr/>
        </p:nvSpPr>
        <p:spPr>
          <a:xfrm>
            <a:off x="1052512" y="6391722"/>
            <a:ext cx="489071" cy="489071"/>
          </a:xfrm>
          <a:custGeom>
            <a:avLst/>
            <a:gdLst/>
            <a:ahLst/>
            <a:cxnLst/>
            <a:rect l="l" t="t" r="r" b="b"/>
            <a:pathLst>
              <a:path w="489071" h="489071">
                <a:moveTo>
                  <a:pt x="0" y="0"/>
                </a:moveTo>
                <a:lnTo>
                  <a:pt x="489072" y="0"/>
                </a:lnTo>
                <a:lnTo>
                  <a:pt x="489072" y="489071"/>
                </a:lnTo>
                <a:lnTo>
                  <a:pt x="0" y="489071"/>
                </a:lnTo>
                <a:lnTo>
                  <a:pt x="0" y="0"/>
                </a:lnTo>
                <a:close/>
              </a:path>
            </a:pathLst>
          </a:custGeom>
          <a:blipFill>
            <a:blip r:embed="rId5">
              <a:extLst>
                <a:ext uri="{96DAC541-7B7A-43D3-8B79-37D633B846F1}">
                  <asvg:svgBlip xmlns:asvg="http://schemas.microsoft.com/office/drawing/2016/SVG/main" xmlns="" r:embed="rId6"/>
                </a:ext>
              </a:extLst>
            </a:blip>
            <a:stretch>
              <a:fillRect/>
            </a:stretch>
          </a:blipFill>
        </p:spPr>
      </p:sp>
      <p:sp>
        <p:nvSpPr>
          <p:cNvPr id="21" name="Freeform 21"/>
          <p:cNvSpPr/>
          <p:nvPr/>
        </p:nvSpPr>
        <p:spPr>
          <a:xfrm>
            <a:off x="1052512" y="7383013"/>
            <a:ext cx="489071" cy="489071"/>
          </a:xfrm>
          <a:custGeom>
            <a:avLst/>
            <a:gdLst/>
            <a:ahLst/>
            <a:cxnLst/>
            <a:rect l="l" t="t" r="r" b="b"/>
            <a:pathLst>
              <a:path w="489071" h="489071">
                <a:moveTo>
                  <a:pt x="0" y="0"/>
                </a:moveTo>
                <a:lnTo>
                  <a:pt x="489072" y="0"/>
                </a:lnTo>
                <a:lnTo>
                  <a:pt x="489072" y="489071"/>
                </a:lnTo>
                <a:lnTo>
                  <a:pt x="0" y="489071"/>
                </a:lnTo>
                <a:lnTo>
                  <a:pt x="0" y="0"/>
                </a:lnTo>
                <a:close/>
              </a:path>
            </a:pathLst>
          </a:custGeom>
          <a:blipFill>
            <a:blip r:embed="rId5">
              <a:extLst>
                <a:ext uri="{96DAC541-7B7A-43D3-8B79-37D633B846F1}">
                  <asvg:svgBlip xmlns:asvg="http://schemas.microsoft.com/office/drawing/2016/SVG/main" xmlns="" r:embed="rId6"/>
                </a:ext>
              </a:extLst>
            </a:blip>
            <a:stretch>
              <a:fillRect/>
            </a:stretch>
          </a:blipFill>
        </p:spPr>
      </p:sp>
      <p:sp>
        <p:nvSpPr>
          <p:cNvPr id="22" name="Freeform 22"/>
          <p:cNvSpPr/>
          <p:nvPr/>
        </p:nvSpPr>
        <p:spPr>
          <a:xfrm>
            <a:off x="1052512" y="8376909"/>
            <a:ext cx="489071" cy="489071"/>
          </a:xfrm>
          <a:custGeom>
            <a:avLst/>
            <a:gdLst/>
            <a:ahLst/>
            <a:cxnLst/>
            <a:rect l="l" t="t" r="r" b="b"/>
            <a:pathLst>
              <a:path w="489071" h="489071">
                <a:moveTo>
                  <a:pt x="0" y="0"/>
                </a:moveTo>
                <a:lnTo>
                  <a:pt x="489072" y="0"/>
                </a:lnTo>
                <a:lnTo>
                  <a:pt x="489072" y="489072"/>
                </a:lnTo>
                <a:lnTo>
                  <a:pt x="0" y="489072"/>
                </a:lnTo>
                <a:lnTo>
                  <a:pt x="0" y="0"/>
                </a:lnTo>
                <a:close/>
              </a:path>
            </a:pathLst>
          </a:custGeom>
          <a:blipFill>
            <a:blip r:embed="rId5">
              <a:extLst>
                <a:ext uri="{96DAC541-7B7A-43D3-8B79-37D633B846F1}">
                  <asvg:svgBlip xmlns:asvg="http://schemas.microsoft.com/office/drawing/2016/SVG/main" xmlns="" r:embed="rId6"/>
                </a:ext>
              </a:extLst>
            </a:blip>
            <a:stretch>
              <a:fillRect/>
            </a:stretch>
          </a:blipFill>
        </p:spPr>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8492056" y="1525863"/>
            <a:ext cx="47625" cy="2040668"/>
            <a:chOff x="0" y="0"/>
            <a:chExt cx="12543" cy="537460"/>
          </a:xfrm>
        </p:grpSpPr>
        <p:sp>
          <p:nvSpPr>
            <p:cNvPr id="3" name="Freeform 3"/>
            <p:cNvSpPr/>
            <p:nvPr/>
          </p:nvSpPr>
          <p:spPr>
            <a:xfrm>
              <a:off x="0" y="0"/>
              <a:ext cx="12543" cy="537460"/>
            </a:xfrm>
            <a:custGeom>
              <a:avLst/>
              <a:gdLst/>
              <a:ahLst/>
              <a:cxnLst/>
              <a:rect l="l" t="t" r="r" b="b"/>
              <a:pathLst>
                <a:path w="12543" h="537460">
                  <a:moveTo>
                    <a:pt x="0" y="0"/>
                  </a:moveTo>
                  <a:lnTo>
                    <a:pt x="12543" y="0"/>
                  </a:lnTo>
                  <a:lnTo>
                    <a:pt x="12543" y="537460"/>
                  </a:lnTo>
                  <a:lnTo>
                    <a:pt x="0" y="537460"/>
                  </a:lnTo>
                  <a:close/>
                </a:path>
              </a:pathLst>
            </a:custGeom>
            <a:solidFill>
              <a:srgbClr val="3A58E4"/>
            </a:solidFill>
          </p:spPr>
        </p:sp>
        <p:sp>
          <p:nvSpPr>
            <p:cNvPr id="4" name="TextBox 4"/>
            <p:cNvSpPr txBox="1"/>
            <p:nvPr/>
          </p:nvSpPr>
          <p:spPr>
            <a:xfrm>
              <a:off x="0" y="-38100"/>
              <a:ext cx="12543" cy="57556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5" name="TextBox 5"/>
          <p:cNvSpPr txBox="1"/>
          <p:nvPr/>
        </p:nvSpPr>
        <p:spPr>
          <a:xfrm>
            <a:off x="8492056" y="4424761"/>
            <a:ext cx="7106119" cy="435134"/>
          </a:xfrm>
          <a:prstGeom prst="rect">
            <a:avLst/>
          </a:prstGeom>
        </p:spPr>
        <p:txBody>
          <a:bodyPr lIns="0" tIns="0" rIns="0" bIns="0" rtlCol="0" anchor="t">
            <a:spAutoFit/>
          </a:bodyPr>
          <a:lstStyle/>
          <a:p>
            <a:pPr marL="0" lvl="0" indent="0" algn="l">
              <a:lnSpc>
                <a:spcPts val="3316"/>
              </a:lnSpc>
            </a:pPr>
            <a:r>
              <a:rPr lang="en-US" sz="2368" b="1" spc="-59">
                <a:gradFill>
                  <a:gsLst>
                    <a:gs pos="0">
                      <a:srgbClr val="3A58E4">
                        <a:alpha val="100000"/>
                      </a:srgbClr>
                    </a:gs>
                    <a:gs pos="100000">
                      <a:srgbClr val="293E9C">
                        <a:alpha val="100000"/>
                      </a:srgbClr>
                    </a:gs>
                  </a:gsLst>
                  <a:path path="circle">
                    <a:fillToRect r="100000" b="100000"/>
                  </a:path>
                  <a:tileRect l="-100000" t="-100000"/>
                </a:gradFill>
                <a:latin typeface="Poppins Bold"/>
                <a:ea typeface="Poppins Bold"/>
                <a:cs typeface="Poppins Bold"/>
                <a:sym typeface="Poppins Bold"/>
              </a:rPr>
              <a:t>PROJECT SUMMARY &amp; FUTURE DIRECTIONS</a:t>
            </a:r>
          </a:p>
        </p:txBody>
      </p:sp>
      <p:sp>
        <p:nvSpPr>
          <p:cNvPr id="6" name="Freeform 6"/>
          <p:cNvSpPr/>
          <p:nvPr/>
        </p:nvSpPr>
        <p:spPr>
          <a:xfrm rot="-8687136">
            <a:off x="15580115" y="4542838"/>
            <a:ext cx="189150" cy="228643"/>
          </a:xfrm>
          <a:custGeom>
            <a:avLst/>
            <a:gdLst/>
            <a:ahLst/>
            <a:cxnLst/>
            <a:rect l="l" t="t" r="r" b="b"/>
            <a:pathLst>
              <a:path w="189150" h="228643">
                <a:moveTo>
                  <a:pt x="0" y="0"/>
                </a:moveTo>
                <a:lnTo>
                  <a:pt x="189150" y="0"/>
                </a:lnTo>
                <a:lnTo>
                  <a:pt x="189150" y="228644"/>
                </a:lnTo>
                <a:lnTo>
                  <a:pt x="0" y="228644"/>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sp>
      <p:grpSp>
        <p:nvGrpSpPr>
          <p:cNvPr id="7" name="Group 7"/>
          <p:cNvGrpSpPr/>
          <p:nvPr/>
        </p:nvGrpSpPr>
        <p:grpSpPr>
          <a:xfrm>
            <a:off x="0" y="0"/>
            <a:ext cx="6352295" cy="10287000"/>
            <a:chOff x="0" y="0"/>
            <a:chExt cx="984137" cy="1593725"/>
          </a:xfrm>
        </p:grpSpPr>
        <p:sp>
          <p:nvSpPr>
            <p:cNvPr id="8" name="Freeform 8"/>
            <p:cNvSpPr/>
            <p:nvPr/>
          </p:nvSpPr>
          <p:spPr>
            <a:xfrm>
              <a:off x="0" y="0"/>
              <a:ext cx="984137" cy="1593725"/>
            </a:xfrm>
            <a:custGeom>
              <a:avLst/>
              <a:gdLst/>
              <a:ahLst/>
              <a:cxnLst/>
              <a:rect l="l" t="t" r="r" b="b"/>
              <a:pathLst>
                <a:path w="984137" h="1593725">
                  <a:moveTo>
                    <a:pt x="0" y="0"/>
                  </a:moveTo>
                  <a:lnTo>
                    <a:pt x="984137" y="0"/>
                  </a:lnTo>
                  <a:lnTo>
                    <a:pt x="984137" y="1593725"/>
                  </a:lnTo>
                  <a:lnTo>
                    <a:pt x="0" y="1593725"/>
                  </a:lnTo>
                  <a:close/>
                </a:path>
              </a:pathLst>
            </a:custGeom>
            <a:blipFill>
              <a:blip r:embed="rId4"/>
              <a:stretch>
                <a:fillRect t="-306" b="-306"/>
              </a:stretch>
            </a:blipFill>
          </p:spPr>
        </p:sp>
      </p:grpSp>
      <p:grpSp>
        <p:nvGrpSpPr>
          <p:cNvPr id="9" name="Group 9"/>
          <p:cNvGrpSpPr/>
          <p:nvPr/>
        </p:nvGrpSpPr>
        <p:grpSpPr>
          <a:xfrm>
            <a:off x="16438046" y="129"/>
            <a:ext cx="1849954" cy="1848037"/>
            <a:chOff x="0" y="0"/>
            <a:chExt cx="2466605" cy="2464050"/>
          </a:xfrm>
        </p:grpSpPr>
        <p:grpSp>
          <p:nvGrpSpPr>
            <p:cNvPr id="10" name="Group 10"/>
            <p:cNvGrpSpPr/>
            <p:nvPr/>
          </p:nvGrpSpPr>
          <p:grpSpPr>
            <a:xfrm>
              <a:off x="0" y="0"/>
              <a:ext cx="2466605" cy="2464050"/>
              <a:chOff x="0" y="0"/>
              <a:chExt cx="787566" cy="786750"/>
            </a:xfrm>
          </p:grpSpPr>
          <p:sp>
            <p:nvSpPr>
              <p:cNvPr id="11" name="Freeform 11"/>
              <p:cNvSpPr/>
              <p:nvPr/>
            </p:nvSpPr>
            <p:spPr>
              <a:xfrm>
                <a:off x="0" y="0"/>
                <a:ext cx="787566" cy="786750"/>
              </a:xfrm>
              <a:custGeom>
                <a:avLst/>
                <a:gdLst/>
                <a:ahLst/>
                <a:cxnLst/>
                <a:rect l="l" t="t" r="r" b="b"/>
                <a:pathLst>
                  <a:path w="787566" h="786750">
                    <a:moveTo>
                      <a:pt x="0" y="0"/>
                    </a:moveTo>
                    <a:lnTo>
                      <a:pt x="787566" y="0"/>
                    </a:lnTo>
                    <a:lnTo>
                      <a:pt x="787566" y="786750"/>
                    </a:lnTo>
                    <a:lnTo>
                      <a:pt x="0" y="786750"/>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12" name="TextBox 12"/>
              <p:cNvSpPr txBox="1"/>
              <p:nvPr/>
            </p:nvSpPr>
            <p:spPr>
              <a:xfrm>
                <a:off x="0" y="-38100"/>
                <a:ext cx="787566" cy="82485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13" name="TextBox 13"/>
            <p:cNvSpPr txBox="1"/>
            <p:nvPr/>
          </p:nvSpPr>
          <p:spPr>
            <a:xfrm>
              <a:off x="319164" y="694049"/>
              <a:ext cx="1828278" cy="1199777"/>
            </a:xfrm>
            <a:prstGeom prst="rect">
              <a:avLst/>
            </a:prstGeom>
          </p:spPr>
          <p:txBody>
            <a:bodyPr lIns="0" tIns="0" rIns="0" bIns="0" rtlCol="0" anchor="t">
              <a:spAutoFit/>
            </a:bodyPr>
            <a:lstStyle/>
            <a:p>
              <a:pPr marL="0" lvl="0" indent="0" algn="ctr">
                <a:lnSpc>
                  <a:spcPts val="6421"/>
                </a:lnSpc>
              </a:pPr>
              <a:r>
                <a:rPr lang="en-US" sz="6552" spc="-419">
                  <a:solidFill>
                    <a:srgbClr val="FFFFFF"/>
                  </a:solidFill>
                  <a:latin typeface="Bricolage Grotesque"/>
                  <a:ea typeface="Bricolage Grotesque"/>
                  <a:cs typeface="Bricolage Grotesque"/>
                  <a:sym typeface="Bricolage Grotesque"/>
                </a:rPr>
                <a:t>21</a:t>
              </a:r>
            </a:p>
          </p:txBody>
        </p:sp>
      </p:grpSp>
      <p:sp>
        <p:nvSpPr>
          <p:cNvPr id="14" name="AutoShape 14"/>
          <p:cNvSpPr/>
          <p:nvPr/>
        </p:nvSpPr>
        <p:spPr>
          <a:xfrm flipH="1">
            <a:off x="6542795" y="0"/>
            <a:ext cx="0" cy="10287000"/>
          </a:xfrm>
          <a:prstGeom prst="line">
            <a:avLst/>
          </a:prstGeom>
          <a:ln w="19050" cap="rnd">
            <a:solidFill>
              <a:srgbClr val="3A58E4"/>
            </a:solidFill>
            <a:prstDash val="solid"/>
            <a:headEnd type="none" w="sm" len="sm"/>
            <a:tailEnd type="none" w="sm" len="sm"/>
          </a:ln>
        </p:spPr>
      </p:sp>
      <p:sp>
        <p:nvSpPr>
          <p:cNvPr id="15" name="Freeform 15"/>
          <p:cNvSpPr/>
          <p:nvPr/>
        </p:nvSpPr>
        <p:spPr>
          <a:xfrm>
            <a:off x="5177017" y="5870652"/>
            <a:ext cx="2350556" cy="457290"/>
          </a:xfrm>
          <a:custGeom>
            <a:avLst/>
            <a:gdLst/>
            <a:ahLst/>
            <a:cxnLst/>
            <a:rect l="l" t="t" r="r" b="b"/>
            <a:pathLst>
              <a:path w="2350556" h="457290">
                <a:moveTo>
                  <a:pt x="0" y="0"/>
                </a:moveTo>
                <a:lnTo>
                  <a:pt x="2350556" y="0"/>
                </a:lnTo>
                <a:lnTo>
                  <a:pt x="2350556" y="457290"/>
                </a:lnTo>
                <a:lnTo>
                  <a:pt x="0" y="457290"/>
                </a:lnTo>
                <a:lnTo>
                  <a:pt x="0" y="0"/>
                </a:lnTo>
                <a:close/>
              </a:path>
            </a:pathLst>
          </a:custGeom>
          <a:blipFill>
            <a:blip r:embed="rId5"/>
            <a:stretch>
              <a:fillRect/>
            </a:stretch>
          </a:blipFill>
        </p:spPr>
      </p:sp>
      <p:grpSp>
        <p:nvGrpSpPr>
          <p:cNvPr id="16" name="Group 16"/>
          <p:cNvGrpSpPr/>
          <p:nvPr/>
        </p:nvGrpSpPr>
        <p:grpSpPr>
          <a:xfrm>
            <a:off x="5262566" y="3959058"/>
            <a:ext cx="2152019" cy="2149322"/>
            <a:chOff x="0" y="0"/>
            <a:chExt cx="567580" cy="566868"/>
          </a:xfrm>
        </p:grpSpPr>
        <p:sp>
          <p:nvSpPr>
            <p:cNvPr id="17" name="Freeform 17"/>
            <p:cNvSpPr/>
            <p:nvPr/>
          </p:nvSpPr>
          <p:spPr>
            <a:xfrm>
              <a:off x="0" y="0"/>
              <a:ext cx="567580" cy="566868"/>
            </a:xfrm>
            <a:custGeom>
              <a:avLst/>
              <a:gdLst/>
              <a:ahLst/>
              <a:cxnLst/>
              <a:rect l="l" t="t" r="r" b="b"/>
              <a:pathLst>
                <a:path w="567580" h="566868">
                  <a:moveTo>
                    <a:pt x="161888" y="0"/>
                  </a:moveTo>
                  <a:lnTo>
                    <a:pt x="405691" y="0"/>
                  </a:lnTo>
                  <a:cubicBezTo>
                    <a:pt x="495100" y="0"/>
                    <a:pt x="567580" y="72480"/>
                    <a:pt x="567580" y="161888"/>
                  </a:cubicBezTo>
                  <a:lnTo>
                    <a:pt x="567580" y="404980"/>
                  </a:lnTo>
                  <a:cubicBezTo>
                    <a:pt x="567580" y="494389"/>
                    <a:pt x="495100" y="566868"/>
                    <a:pt x="405691" y="566868"/>
                  </a:cubicBezTo>
                  <a:lnTo>
                    <a:pt x="161888" y="566868"/>
                  </a:lnTo>
                  <a:cubicBezTo>
                    <a:pt x="72480" y="566868"/>
                    <a:pt x="0" y="494389"/>
                    <a:pt x="0" y="404980"/>
                  </a:cubicBezTo>
                  <a:lnTo>
                    <a:pt x="0" y="161888"/>
                  </a:lnTo>
                  <a:cubicBezTo>
                    <a:pt x="0" y="72480"/>
                    <a:pt x="72480" y="0"/>
                    <a:pt x="161888" y="0"/>
                  </a:cubicBezTo>
                  <a:close/>
                </a:path>
              </a:pathLst>
            </a:custGeom>
            <a:gradFill rotWithShape="1">
              <a:gsLst>
                <a:gs pos="0">
                  <a:srgbClr val="293E9C">
                    <a:alpha val="100000"/>
                  </a:srgbClr>
                </a:gs>
                <a:gs pos="100000">
                  <a:srgbClr val="3A58E4">
                    <a:alpha val="100000"/>
                  </a:srgbClr>
                </a:gs>
              </a:gsLst>
              <a:path path="circle">
                <a:fillToRect r="100000" b="100000"/>
              </a:path>
              <a:tileRect l="-100000" t="-100000"/>
            </a:gradFill>
            <a:ln cap="rnd">
              <a:noFill/>
              <a:prstDash val="solid"/>
              <a:round/>
            </a:ln>
          </p:spPr>
        </p:sp>
        <p:sp>
          <p:nvSpPr>
            <p:cNvPr id="18" name="TextBox 18"/>
            <p:cNvSpPr txBox="1"/>
            <p:nvPr/>
          </p:nvSpPr>
          <p:spPr>
            <a:xfrm>
              <a:off x="0" y="28575"/>
              <a:ext cx="567580" cy="538293"/>
            </a:xfrm>
            <a:prstGeom prst="rect">
              <a:avLst/>
            </a:prstGeom>
          </p:spPr>
          <p:txBody>
            <a:bodyPr lIns="48445" tIns="48445" rIns="48445" bIns="48445" rtlCol="0" anchor="ctr"/>
            <a:lstStyle/>
            <a:p>
              <a:pPr marL="0" lvl="0" indent="0" algn="ctr">
                <a:lnSpc>
                  <a:spcPts val="2460"/>
                </a:lnSpc>
              </a:pPr>
              <a:endParaRPr/>
            </a:p>
          </p:txBody>
        </p:sp>
      </p:grpSp>
      <p:sp>
        <p:nvSpPr>
          <p:cNvPr id="19" name="TextBox 19"/>
          <p:cNvSpPr txBox="1"/>
          <p:nvPr/>
        </p:nvSpPr>
        <p:spPr>
          <a:xfrm>
            <a:off x="5602320" y="4444821"/>
            <a:ext cx="1499950" cy="486039"/>
          </a:xfrm>
          <a:prstGeom prst="rect">
            <a:avLst/>
          </a:prstGeom>
        </p:spPr>
        <p:txBody>
          <a:bodyPr lIns="0" tIns="0" rIns="0" bIns="0" rtlCol="0" anchor="t">
            <a:spAutoFit/>
          </a:bodyPr>
          <a:lstStyle/>
          <a:p>
            <a:pPr marL="0" lvl="0" indent="0" algn="ctr">
              <a:lnSpc>
                <a:spcPts val="3674"/>
              </a:lnSpc>
            </a:pPr>
            <a:r>
              <a:rPr lang="en-US" sz="3711" b="1" spc="-111">
                <a:solidFill>
                  <a:srgbClr val="FFFFFF"/>
                </a:solidFill>
                <a:latin typeface="Bricolage Grotesque Bold"/>
                <a:ea typeface="Bricolage Grotesque Bold"/>
                <a:cs typeface="Bricolage Grotesque Bold"/>
                <a:sym typeface="Bricolage Grotesque Bold"/>
              </a:rPr>
              <a:t>✓</a:t>
            </a:r>
          </a:p>
        </p:txBody>
      </p:sp>
      <p:sp>
        <p:nvSpPr>
          <p:cNvPr id="20" name="TextBox 20"/>
          <p:cNvSpPr txBox="1"/>
          <p:nvPr/>
        </p:nvSpPr>
        <p:spPr>
          <a:xfrm>
            <a:off x="5746312" y="5274096"/>
            <a:ext cx="1211966" cy="417195"/>
          </a:xfrm>
          <a:prstGeom prst="rect">
            <a:avLst/>
          </a:prstGeom>
        </p:spPr>
        <p:txBody>
          <a:bodyPr lIns="0" tIns="0" rIns="0" bIns="0" rtlCol="0" anchor="t">
            <a:spAutoFit/>
          </a:bodyPr>
          <a:lstStyle/>
          <a:p>
            <a:pPr marL="0" lvl="0" indent="0" algn="ctr">
              <a:lnSpc>
                <a:spcPts val="1679"/>
              </a:lnSpc>
            </a:pPr>
            <a:r>
              <a:rPr lang="en-US" sz="1199" spc="-29">
                <a:solidFill>
                  <a:srgbClr val="FFFFFF"/>
                </a:solidFill>
                <a:latin typeface="Poppins"/>
                <a:ea typeface="Poppins"/>
                <a:cs typeface="Poppins"/>
                <a:sym typeface="Poppins"/>
              </a:rPr>
              <a:t>KILOBYTES APP DELIVERED</a:t>
            </a:r>
          </a:p>
        </p:txBody>
      </p:sp>
      <p:sp>
        <p:nvSpPr>
          <p:cNvPr id="21" name="TextBox 21"/>
          <p:cNvSpPr txBox="1"/>
          <p:nvPr/>
        </p:nvSpPr>
        <p:spPr>
          <a:xfrm>
            <a:off x="8720122" y="1178218"/>
            <a:ext cx="5780387" cy="2717700"/>
          </a:xfrm>
          <a:prstGeom prst="rect">
            <a:avLst/>
          </a:prstGeom>
        </p:spPr>
        <p:txBody>
          <a:bodyPr lIns="0" tIns="0" rIns="0" bIns="0" rtlCol="0" anchor="t">
            <a:spAutoFit/>
          </a:bodyPr>
          <a:lstStyle/>
          <a:p>
            <a:pPr marL="0" lvl="0" indent="0" algn="l">
              <a:lnSpc>
                <a:spcPts val="7032"/>
              </a:lnSpc>
            </a:pPr>
            <a:r>
              <a:rPr lang="en-US" sz="7176" spc="-459">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Conclusion &amp; Recommendations</a:t>
            </a:r>
          </a:p>
        </p:txBody>
      </p:sp>
      <p:sp>
        <p:nvSpPr>
          <p:cNvPr id="22" name="TextBox 22"/>
          <p:cNvSpPr txBox="1"/>
          <p:nvPr/>
        </p:nvSpPr>
        <p:spPr>
          <a:xfrm>
            <a:off x="8492056" y="4772418"/>
            <a:ext cx="7325824" cy="2202792"/>
          </a:xfrm>
          <a:prstGeom prst="rect">
            <a:avLst/>
          </a:prstGeom>
        </p:spPr>
        <p:txBody>
          <a:bodyPr lIns="0" tIns="0" rIns="0" bIns="0" rtlCol="0" anchor="t">
            <a:spAutoFit/>
          </a:bodyPr>
          <a:lstStyle/>
          <a:p>
            <a:pPr marL="0" lvl="0" indent="0" algn="just">
              <a:lnSpc>
                <a:spcPts val="2486"/>
              </a:lnSpc>
            </a:pPr>
            <a:r>
              <a:rPr lang="en-US" sz="1775" spc="-5">
                <a:solidFill>
                  <a:srgbClr val="3A58E4"/>
                </a:solidFill>
                <a:latin typeface="Poppins"/>
                <a:ea typeface="Poppins"/>
                <a:cs typeface="Poppins"/>
                <a:sym typeface="Poppins"/>
              </a:rPr>
              <a:t>The KILObYTES mobile application was successfully designed and implemented, combining objective QoS metrics (latency, jitter, packet loss, speed) with subjective QoE ratings. The system leverages SQLite for offline-first local storage and MongoDB for scalable cloud analytics, supported by a secure Node.js/Express backend and an intuitive React Native frontend with bilingual support and admin dashboard.</a:t>
            </a:r>
          </a:p>
        </p:txBody>
      </p:sp>
      <p:sp>
        <p:nvSpPr>
          <p:cNvPr id="23" name="TextBox 23"/>
          <p:cNvSpPr txBox="1"/>
          <p:nvPr/>
        </p:nvSpPr>
        <p:spPr>
          <a:xfrm>
            <a:off x="8274055" y="5316108"/>
            <a:ext cx="5481943" cy="3774417"/>
          </a:xfrm>
          <a:prstGeom prst="rect">
            <a:avLst/>
          </a:prstGeom>
        </p:spPr>
        <p:txBody>
          <a:bodyPr lIns="0" tIns="0" rIns="0" bIns="0" rtlCol="0" anchor="t">
            <a:spAutoFit/>
          </a:bodyPr>
          <a:lstStyle/>
          <a:p>
            <a:pPr marL="0" lvl="0" indent="0" algn="just">
              <a:lnSpc>
                <a:spcPts val="2486"/>
              </a:lnSpc>
            </a:pPr>
            <a:r>
              <a:rPr lang="en-US" sz="1775" spc="-5">
                <a:solidFill>
                  <a:srgbClr val="3A58E4"/>
                </a:solidFill>
                <a:latin typeface="Poppins"/>
                <a:ea typeface="Poppins"/>
                <a:cs typeface="Poppins"/>
                <a:sym typeface="Poppins"/>
              </a:rPr>
              <a:t>Conduct real-world field testing across diverse network environments</a:t>
            </a:r>
          </a:p>
          <a:p>
            <a:pPr marL="0" lvl="0" indent="0" algn="just">
              <a:lnSpc>
                <a:spcPts val="2486"/>
              </a:lnSpc>
            </a:pPr>
            <a:r>
              <a:rPr lang="en-US" sz="1775" spc="-5">
                <a:solidFill>
                  <a:srgbClr val="3A58E4"/>
                </a:solidFill>
                <a:latin typeface="Poppins"/>
                <a:ea typeface="Poppins"/>
                <a:cs typeface="Poppins"/>
                <a:sym typeface="Poppins"/>
              </a:rPr>
              <a:t>Integrate native modules for SIM detection &amp; signal strength (dBm)</a:t>
            </a:r>
          </a:p>
          <a:p>
            <a:pPr marL="0" lvl="0" indent="0" algn="just">
              <a:lnSpc>
                <a:spcPts val="2486"/>
              </a:lnSpc>
            </a:pPr>
            <a:r>
              <a:rPr lang="en-US" sz="1775" spc="-5">
                <a:solidFill>
                  <a:srgbClr val="3A58E4"/>
                </a:solidFill>
                <a:latin typeface="Poppins"/>
                <a:ea typeface="Poppins"/>
                <a:cs typeface="Poppins"/>
                <a:sym typeface="Poppins"/>
              </a:rPr>
              <a:t>Deploy backend with HTTPS, rate limiting &amp; production security</a:t>
            </a:r>
          </a:p>
          <a:p>
            <a:pPr marL="0" lvl="0" indent="0" algn="just">
              <a:lnSpc>
                <a:spcPts val="2486"/>
              </a:lnSpc>
            </a:pPr>
            <a:r>
              <a:rPr lang="en-US" sz="1775" spc="-5">
                <a:solidFill>
                  <a:srgbClr val="3A58E4"/>
                </a:solidFill>
                <a:latin typeface="Poppins"/>
                <a:ea typeface="Poppins"/>
                <a:cs typeface="Poppins"/>
                <a:sym typeface="Poppins"/>
              </a:rPr>
              <a:t>Build advanced admin dashboards with real-time analytics filters</a:t>
            </a:r>
          </a:p>
          <a:p>
            <a:pPr marL="0" lvl="0" indent="0" algn="just">
              <a:lnSpc>
                <a:spcPts val="2486"/>
              </a:lnSpc>
            </a:pPr>
            <a:r>
              <a:rPr lang="en-US" sz="1775" spc="-5">
                <a:solidFill>
                  <a:srgbClr val="3A58E4"/>
                </a:solidFill>
                <a:latin typeface="Poppins"/>
                <a:ea typeface="Poppins"/>
                <a:cs typeface="Poppins"/>
                <a:sym typeface="Poppins"/>
              </a:rPr>
              <a:t>Apply ML models to predict QoE from QoS measurements</a:t>
            </a:r>
          </a:p>
          <a:p>
            <a:pPr marL="0" lvl="0" indent="0" algn="just">
              <a:lnSpc>
                <a:spcPts val="2486"/>
              </a:lnSpc>
            </a:pPr>
            <a:r>
              <a:rPr lang="en-US" sz="1775" spc="-5">
                <a:solidFill>
                  <a:srgbClr val="3A58E4"/>
                </a:solidFill>
                <a:latin typeface="Poppins"/>
                <a:ea typeface="Poppins"/>
                <a:cs typeface="Poppins"/>
                <a:sym typeface="Poppins"/>
              </a:rPr>
              <a:t>Publish to Google Play Store &amp; Apple App Store</a:t>
            </a:r>
          </a:p>
          <a:p>
            <a:pPr marL="0" lvl="0" indent="0" algn="just">
              <a:lnSpc>
                <a:spcPts val="2486"/>
              </a:lnSpc>
            </a:pPr>
            <a:r>
              <a:rPr lang="en-US" sz="1775" spc="-5">
                <a:solidFill>
                  <a:srgbClr val="3A58E4"/>
                </a:solidFill>
                <a:latin typeface="Poppins"/>
                <a:ea typeface="Poppins"/>
                <a:cs typeface="Poppins"/>
                <a:sym typeface="Poppins"/>
              </a:rPr>
              <a:t>Thank You — Questions Welcome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3641386" y="0"/>
            <a:ext cx="4646614" cy="10287000"/>
            <a:chOff x="0" y="0"/>
            <a:chExt cx="1223800" cy="2709333"/>
          </a:xfrm>
        </p:grpSpPr>
        <p:sp>
          <p:nvSpPr>
            <p:cNvPr id="3" name="Freeform 3"/>
            <p:cNvSpPr/>
            <p:nvPr/>
          </p:nvSpPr>
          <p:spPr>
            <a:xfrm>
              <a:off x="0" y="0"/>
              <a:ext cx="1223800" cy="2709333"/>
            </a:xfrm>
            <a:custGeom>
              <a:avLst/>
              <a:gdLst/>
              <a:ahLst/>
              <a:cxnLst/>
              <a:rect l="l" t="t" r="r" b="b"/>
              <a:pathLst>
                <a:path w="1223800" h="2709333">
                  <a:moveTo>
                    <a:pt x="0" y="0"/>
                  </a:moveTo>
                  <a:lnTo>
                    <a:pt x="1223800" y="0"/>
                  </a:lnTo>
                  <a:lnTo>
                    <a:pt x="1223800" y="2709333"/>
                  </a:lnTo>
                  <a:lnTo>
                    <a:pt x="0" y="2709333"/>
                  </a:lnTo>
                  <a:close/>
                </a:path>
              </a:pathLst>
            </a:custGeom>
            <a:gradFill rotWithShape="1">
              <a:gsLst>
                <a:gs pos="0">
                  <a:srgbClr val="3A58E4">
                    <a:alpha val="100000"/>
                  </a:srgbClr>
                </a:gs>
                <a:gs pos="100000">
                  <a:srgbClr val="293E9C">
                    <a:alpha val="100000"/>
                  </a:srgbClr>
                </a:gs>
              </a:gsLst>
              <a:path path="circle">
                <a:fillToRect r="100000" b="100000"/>
              </a:path>
              <a:tileRect l="-100000" t="-100000"/>
            </a:gradFill>
          </p:spPr>
        </p:sp>
        <p:sp>
          <p:nvSpPr>
            <p:cNvPr id="4" name="TextBox 4"/>
            <p:cNvSpPr txBox="1"/>
            <p:nvPr/>
          </p:nvSpPr>
          <p:spPr>
            <a:xfrm>
              <a:off x="0" y="-38100"/>
              <a:ext cx="1223800" cy="2747433"/>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5" name="Group 5"/>
          <p:cNvGrpSpPr/>
          <p:nvPr/>
        </p:nvGrpSpPr>
        <p:grpSpPr>
          <a:xfrm>
            <a:off x="15102839" y="1172167"/>
            <a:ext cx="1723707" cy="7473533"/>
            <a:chOff x="0" y="0"/>
            <a:chExt cx="2298277" cy="9964711"/>
          </a:xfrm>
        </p:grpSpPr>
        <p:sp>
          <p:nvSpPr>
            <p:cNvPr id="6" name="Freeform 6"/>
            <p:cNvSpPr/>
            <p:nvPr/>
          </p:nvSpPr>
          <p:spPr>
            <a:xfrm>
              <a:off x="651979" y="0"/>
              <a:ext cx="981294" cy="947395"/>
            </a:xfrm>
            <a:custGeom>
              <a:avLst/>
              <a:gdLst/>
              <a:ahLst/>
              <a:cxnLst/>
              <a:rect l="l" t="t" r="r" b="b"/>
              <a:pathLst>
                <a:path w="981294" h="947395">
                  <a:moveTo>
                    <a:pt x="0" y="0"/>
                  </a:moveTo>
                  <a:lnTo>
                    <a:pt x="981294" y="0"/>
                  </a:lnTo>
                  <a:lnTo>
                    <a:pt x="981294" y="947395"/>
                  </a:lnTo>
                  <a:lnTo>
                    <a:pt x="0" y="947395"/>
                  </a:lnTo>
                  <a:lnTo>
                    <a:pt x="0" y="0"/>
                  </a:lnTo>
                  <a:close/>
                </a:path>
              </a:pathLst>
            </a:custGeom>
            <a:blipFill>
              <a:blip r:embed="rId2">
                <a:extLst>
                  <a:ext uri="{96DAC541-7B7A-43D3-8B79-37D633B846F1}">
                    <asvg:svgBlip xmlns:asvg="http://schemas.microsoft.com/office/drawing/2016/SVG/main" xmlns="" r:embed="rId3"/>
                  </a:ext>
                </a:extLst>
              </a:blip>
              <a:stretch>
                <a:fillRect/>
              </a:stretch>
            </a:blipFill>
          </p:spPr>
        </p:sp>
        <p:sp>
          <p:nvSpPr>
            <p:cNvPr id="7" name="TextBox 7"/>
            <p:cNvSpPr txBox="1"/>
            <p:nvPr/>
          </p:nvSpPr>
          <p:spPr>
            <a:xfrm>
              <a:off x="0" y="1253510"/>
              <a:ext cx="2272228" cy="299834"/>
            </a:xfrm>
            <a:prstGeom prst="rect">
              <a:avLst/>
            </a:prstGeom>
          </p:spPr>
          <p:txBody>
            <a:bodyPr lIns="0" tIns="0" rIns="0" bIns="0" rtlCol="0" anchor="t">
              <a:spAutoFit/>
            </a:bodyPr>
            <a:lstStyle/>
            <a:p>
              <a:pPr marL="0" lvl="0" indent="0" algn="ctr">
                <a:lnSpc>
                  <a:spcPts val="1610"/>
                </a:lnSpc>
              </a:pPr>
              <a:r>
                <a:rPr lang="en-US" sz="1505" b="1">
                  <a:solidFill>
                    <a:srgbClr val="FFFFFF"/>
                  </a:solidFill>
                  <a:latin typeface="Poppins Bold"/>
                  <a:ea typeface="Poppins Bold"/>
                  <a:cs typeface="Poppins Bold"/>
                  <a:sym typeface="Poppins Bold"/>
                </a:rPr>
                <a:t>Group 5</a:t>
              </a:r>
            </a:p>
          </p:txBody>
        </p:sp>
        <p:sp>
          <p:nvSpPr>
            <p:cNvPr id="8" name="TextBox 8"/>
            <p:cNvSpPr txBox="1"/>
            <p:nvPr/>
          </p:nvSpPr>
          <p:spPr>
            <a:xfrm>
              <a:off x="13024" y="1553343"/>
              <a:ext cx="2272228" cy="299834"/>
            </a:xfrm>
            <a:prstGeom prst="rect">
              <a:avLst/>
            </a:prstGeom>
          </p:spPr>
          <p:txBody>
            <a:bodyPr lIns="0" tIns="0" rIns="0" bIns="0" rtlCol="0" anchor="t">
              <a:spAutoFit/>
            </a:bodyPr>
            <a:lstStyle/>
            <a:p>
              <a:pPr marL="0" lvl="0" indent="0" algn="ctr">
                <a:lnSpc>
                  <a:spcPts val="1610"/>
                </a:lnSpc>
              </a:pPr>
              <a:r>
                <a:rPr lang="en-US" sz="1505">
                  <a:solidFill>
                    <a:srgbClr val="FFFFFF"/>
                  </a:solidFill>
                  <a:latin typeface="Poppins"/>
                  <a:ea typeface="Poppins"/>
                  <a:cs typeface="Poppins"/>
                  <a:sym typeface="Poppins"/>
                </a:rPr>
                <a:t>CEF440</a:t>
              </a:r>
            </a:p>
          </p:txBody>
        </p:sp>
        <p:sp>
          <p:nvSpPr>
            <p:cNvPr id="9" name="TextBox 9"/>
            <p:cNvSpPr txBox="1"/>
            <p:nvPr/>
          </p:nvSpPr>
          <p:spPr>
            <a:xfrm>
              <a:off x="13024" y="9365044"/>
              <a:ext cx="2272228" cy="299834"/>
            </a:xfrm>
            <a:prstGeom prst="rect">
              <a:avLst/>
            </a:prstGeom>
          </p:spPr>
          <p:txBody>
            <a:bodyPr lIns="0" tIns="0" rIns="0" bIns="0" rtlCol="0" anchor="t">
              <a:spAutoFit/>
            </a:bodyPr>
            <a:lstStyle/>
            <a:p>
              <a:pPr marL="0" lvl="0" indent="0" algn="ctr">
                <a:lnSpc>
                  <a:spcPts val="1610"/>
                </a:lnSpc>
              </a:pPr>
              <a:r>
                <a:rPr lang="en-US" sz="1505" b="1">
                  <a:solidFill>
                    <a:srgbClr val="FFFFFF"/>
                  </a:solidFill>
                  <a:latin typeface="Poppins Bold"/>
                  <a:ea typeface="Poppins Bold"/>
                  <a:cs typeface="Poppins Bold"/>
                  <a:sym typeface="Poppins Bold"/>
                </a:rPr>
                <a:t>2024</a:t>
              </a:r>
            </a:p>
          </p:txBody>
        </p:sp>
        <p:sp>
          <p:nvSpPr>
            <p:cNvPr id="10" name="TextBox 10"/>
            <p:cNvSpPr txBox="1"/>
            <p:nvPr/>
          </p:nvSpPr>
          <p:spPr>
            <a:xfrm>
              <a:off x="26049" y="9664877"/>
              <a:ext cx="2272228" cy="299834"/>
            </a:xfrm>
            <a:prstGeom prst="rect">
              <a:avLst/>
            </a:prstGeom>
          </p:spPr>
          <p:txBody>
            <a:bodyPr lIns="0" tIns="0" rIns="0" bIns="0" rtlCol="0" anchor="t">
              <a:spAutoFit/>
            </a:bodyPr>
            <a:lstStyle/>
            <a:p>
              <a:pPr marL="0" lvl="0" indent="0" algn="ctr">
                <a:lnSpc>
                  <a:spcPts val="1610"/>
                </a:lnSpc>
              </a:pPr>
              <a:r>
                <a:rPr lang="en-US" sz="1505">
                  <a:solidFill>
                    <a:srgbClr val="FFFFFF"/>
                  </a:solidFill>
                  <a:latin typeface="Poppins"/>
                  <a:ea typeface="Poppins"/>
                  <a:cs typeface="Poppins"/>
                  <a:sym typeface="Poppins"/>
                </a:rPr>
                <a:t>UBa</a:t>
              </a:r>
            </a:p>
          </p:txBody>
        </p:sp>
      </p:grpSp>
      <p:sp>
        <p:nvSpPr>
          <p:cNvPr id="11" name="Freeform 11"/>
          <p:cNvSpPr/>
          <p:nvPr/>
        </p:nvSpPr>
        <p:spPr>
          <a:xfrm>
            <a:off x="1028700" y="7308293"/>
            <a:ext cx="441831" cy="441831"/>
          </a:xfrm>
          <a:custGeom>
            <a:avLst/>
            <a:gdLst/>
            <a:ahLst/>
            <a:cxnLst/>
            <a:rect l="l" t="t" r="r" b="b"/>
            <a:pathLst>
              <a:path w="441831" h="441831">
                <a:moveTo>
                  <a:pt x="0" y="0"/>
                </a:moveTo>
                <a:lnTo>
                  <a:pt x="441831" y="0"/>
                </a:lnTo>
                <a:lnTo>
                  <a:pt x="441831" y="441831"/>
                </a:lnTo>
                <a:lnTo>
                  <a:pt x="0" y="441831"/>
                </a:lnTo>
                <a:lnTo>
                  <a:pt x="0" y="0"/>
                </a:lnTo>
                <a:close/>
              </a:path>
            </a:pathLst>
          </a:custGeom>
          <a:blipFill>
            <a:blip r:embed="rId4">
              <a:extLst>
                <a:ext uri="{96DAC541-7B7A-43D3-8B79-37D633B846F1}">
                  <asvg:svgBlip xmlns:asvg="http://schemas.microsoft.com/office/drawing/2016/SVG/main" xmlns="" r:embed="rId5"/>
                </a:ext>
              </a:extLst>
            </a:blip>
            <a:stretch>
              <a:fillRect/>
            </a:stretch>
          </a:blipFill>
        </p:spPr>
      </p:sp>
      <p:sp>
        <p:nvSpPr>
          <p:cNvPr id="12" name="Freeform 12"/>
          <p:cNvSpPr/>
          <p:nvPr/>
        </p:nvSpPr>
        <p:spPr>
          <a:xfrm>
            <a:off x="1028700" y="7988737"/>
            <a:ext cx="441831" cy="441831"/>
          </a:xfrm>
          <a:custGeom>
            <a:avLst/>
            <a:gdLst/>
            <a:ahLst/>
            <a:cxnLst/>
            <a:rect l="l" t="t" r="r" b="b"/>
            <a:pathLst>
              <a:path w="441831" h="441831">
                <a:moveTo>
                  <a:pt x="0" y="0"/>
                </a:moveTo>
                <a:lnTo>
                  <a:pt x="441831" y="0"/>
                </a:lnTo>
                <a:lnTo>
                  <a:pt x="441831" y="441831"/>
                </a:lnTo>
                <a:lnTo>
                  <a:pt x="0" y="441831"/>
                </a:lnTo>
                <a:lnTo>
                  <a:pt x="0" y="0"/>
                </a:lnTo>
                <a:close/>
              </a:path>
            </a:pathLst>
          </a:custGeom>
          <a:blipFill>
            <a:blip r:embed="rId6">
              <a:extLst>
                <a:ext uri="{96DAC541-7B7A-43D3-8B79-37D633B846F1}">
                  <asvg:svgBlip xmlns:asvg="http://schemas.microsoft.com/office/drawing/2016/SVG/main" xmlns="" r:embed="rId7"/>
                </a:ext>
              </a:extLst>
            </a:blip>
            <a:stretch>
              <a:fillRect/>
            </a:stretch>
          </a:blipFill>
        </p:spPr>
      </p:sp>
      <p:sp>
        <p:nvSpPr>
          <p:cNvPr id="13" name="Freeform 13"/>
          <p:cNvSpPr/>
          <p:nvPr/>
        </p:nvSpPr>
        <p:spPr>
          <a:xfrm>
            <a:off x="1028700" y="8673002"/>
            <a:ext cx="441831" cy="441831"/>
          </a:xfrm>
          <a:custGeom>
            <a:avLst/>
            <a:gdLst/>
            <a:ahLst/>
            <a:cxnLst/>
            <a:rect l="l" t="t" r="r" b="b"/>
            <a:pathLst>
              <a:path w="441831" h="441831">
                <a:moveTo>
                  <a:pt x="0" y="0"/>
                </a:moveTo>
                <a:lnTo>
                  <a:pt x="441831" y="0"/>
                </a:lnTo>
                <a:lnTo>
                  <a:pt x="441831" y="441831"/>
                </a:lnTo>
                <a:lnTo>
                  <a:pt x="0" y="441831"/>
                </a:lnTo>
                <a:lnTo>
                  <a:pt x="0" y="0"/>
                </a:lnTo>
                <a:close/>
              </a:path>
            </a:pathLst>
          </a:custGeom>
          <a:blipFill>
            <a:blip r:embed="rId8">
              <a:extLst>
                <a:ext uri="{96DAC541-7B7A-43D3-8B79-37D633B846F1}">
                  <asvg:svgBlip xmlns:asvg="http://schemas.microsoft.com/office/drawing/2016/SVG/main" xmlns="" r:embed="rId9"/>
                </a:ext>
              </a:extLst>
            </a:blip>
            <a:stretch>
              <a:fillRect/>
            </a:stretch>
          </a:blipFill>
        </p:spPr>
      </p:sp>
      <p:grpSp>
        <p:nvGrpSpPr>
          <p:cNvPr id="14" name="Group 14"/>
          <p:cNvGrpSpPr/>
          <p:nvPr/>
        </p:nvGrpSpPr>
        <p:grpSpPr>
          <a:xfrm>
            <a:off x="8986465" y="0"/>
            <a:ext cx="4378150" cy="10287000"/>
            <a:chOff x="0" y="0"/>
            <a:chExt cx="678290" cy="1593725"/>
          </a:xfrm>
        </p:grpSpPr>
        <p:sp>
          <p:nvSpPr>
            <p:cNvPr id="15" name="Freeform 15"/>
            <p:cNvSpPr/>
            <p:nvPr/>
          </p:nvSpPr>
          <p:spPr>
            <a:xfrm>
              <a:off x="0" y="0"/>
              <a:ext cx="678290" cy="1593725"/>
            </a:xfrm>
            <a:custGeom>
              <a:avLst/>
              <a:gdLst/>
              <a:ahLst/>
              <a:cxnLst/>
              <a:rect l="l" t="t" r="r" b="b"/>
              <a:pathLst>
                <a:path w="678290" h="1593725">
                  <a:moveTo>
                    <a:pt x="0" y="0"/>
                  </a:moveTo>
                  <a:lnTo>
                    <a:pt x="678290" y="0"/>
                  </a:lnTo>
                  <a:lnTo>
                    <a:pt x="678290" y="1593725"/>
                  </a:lnTo>
                  <a:lnTo>
                    <a:pt x="0" y="1593725"/>
                  </a:lnTo>
                  <a:close/>
                </a:path>
              </a:pathLst>
            </a:custGeom>
            <a:blipFill>
              <a:blip r:embed="rId10"/>
              <a:stretch>
                <a:fillRect t="-70" b="-70"/>
              </a:stretch>
            </a:blipFill>
          </p:spPr>
        </p:sp>
      </p:grpSp>
      <p:sp>
        <p:nvSpPr>
          <p:cNvPr id="16" name="AutoShape 16"/>
          <p:cNvSpPr/>
          <p:nvPr/>
        </p:nvSpPr>
        <p:spPr>
          <a:xfrm>
            <a:off x="13503000" y="0"/>
            <a:ext cx="0" cy="10287000"/>
          </a:xfrm>
          <a:prstGeom prst="line">
            <a:avLst/>
          </a:prstGeom>
          <a:ln w="19050" cap="rnd">
            <a:solidFill>
              <a:srgbClr val="3A58E4"/>
            </a:solidFill>
            <a:prstDash val="solid"/>
            <a:headEnd type="none" w="sm" len="sm"/>
            <a:tailEnd type="none" w="sm" len="sm"/>
          </a:ln>
        </p:spPr>
      </p:sp>
      <p:sp>
        <p:nvSpPr>
          <p:cNvPr id="17" name="TextBox 17"/>
          <p:cNvSpPr txBox="1"/>
          <p:nvPr/>
        </p:nvSpPr>
        <p:spPr>
          <a:xfrm>
            <a:off x="14650619" y="5289477"/>
            <a:ext cx="2628148" cy="1670068"/>
          </a:xfrm>
          <a:prstGeom prst="rect">
            <a:avLst/>
          </a:prstGeom>
        </p:spPr>
        <p:txBody>
          <a:bodyPr lIns="0" tIns="0" rIns="0" bIns="0" rtlCol="0" anchor="t">
            <a:spAutoFit/>
          </a:bodyPr>
          <a:lstStyle/>
          <a:p>
            <a:pPr marL="0" lvl="0" indent="0" algn="just">
              <a:lnSpc>
                <a:spcPts val="1680"/>
              </a:lnSpc>
            </a:pPr>
            <a:r>
              <a:rPr lang="en-US" sz="1200" spc="-3">
                <a:solidFill>
                  <a:srgbClr val="FFFFFF"/>
                </a:solidFill>
                <a:latin typeface="Poppins"/>
                <a:ea typeface="Poppins"/>
                <a:cs typeface="Poppins"/>
                <a:sym typeface="Poppins"/>
              </a:rPr>
              <a:t>University of Buea</a:t>
            </a:r>
          </a:p>
          <a:p>
            <a:pPr marL="0" lvl="0" indent="0" algn="just">
              <a:lnSpc>
                <a:spcPts val="1680"/>
              </a:lnSpc>
            </a:pPr>
            <a:r>
              <a:rPr lang="en-US" sz="1200" spc="-3">
                <a:solidFill>
                  <a:srgbClr val="FFFFFF"/>
                </a:solidFill>
                <a:latin typeface="Poppins"/>
                <a:ea typeface="Poppins"/>
                <a:cs typeface="Poppins"/>
                <a:sym typeface="Poppins"/>
              </a:rPr>
              <a:t>Faculty of Engineering &amp; Technology</a:t>
            </a:r>
          </a:p>
          <a:p>
            <a:pPr marL="0" lvl="0" indent="0" algn="just">
              <a:lnSpc>
                <a:spcPts val="1680"/>
              </a:lnSpc>
            </a:pPr>
            <a:r>
              <a:rPr lang="en-US" sz="1200" spc="-3">
                <a:solidFill>
                  <a:srgbClr val="FFFFFF"/>
                </a:solidFill>
                <a:latin typeface="Poppins"/>
                <a:ea typeface="Poppins"/>
                <a:cs typeface="Poppins"/>
                <a:sym typeface="Poppins"/>
              </a:rPr>
              <a:t>Dept. of Computer Engineering</a:t>
            </a:r>
          </a:p>
          <a:p>
            <a:pPr marL="0" lvl="0" indent="0" algn="just">
              <a:lnSpc>
                <a:spcPts val="1680"/>
              </a:lnSpc>
            </a:pPr>
            <a:r>
              <a:rPr lang="en-US" sz="1200" spc="-3">
                <a:solidFill>
                  <a:srgbClr val="FFFFFF"/>
                </a:solidFill>
                <a:latin typeface="Poppins"/>
                <a:ea typeface="Poppins"/>
                <a:cs typeface="Poppins"/>
                <a:sym typeface="Poppins"/>
              </a:rPr>
              <a:t>CEF440 – Internet &amp; Mobile Programming</a:t>
            </a:r>
          </a:p>
          <a:p>
            <a:pPr marL="0" lvl="0" indent="0" algn="just">
              <a:lnSpc>
                <a:spcPts val="1680"/>
              </a:lnSpc>
            </a:pPr>
            <a:r>
              <a:rPr lang="en-US" sz="1200" spc="-3">
                <a:solidFill>
                  <a:srgbClr val="FFFFFF"/>
                </a:solidFill>
                <a:latin typeface="Poppins"/>
                <a:ea typeface="Poppins"/>
                <a:cs typeface="Poppins"/>
                <a:sym typeface="Poppins"/>
              </a:rPr>
              <a:t>Software Engineering Option</a:t>
            </a:r>
          </a:p>
          <a:p>
            <a:pPr marL="0" lvl="0" indent="0" algn="just">
              <a:lnSpc>
                <a:spcPts val="1680"/>
              </a:lnSpc>
            </a:pPr>
            <a:r>
              <a:rPr lang="en-US" sz="1200" spc="-3">
                <a:solidFill>
                  <a:srgbClr val="FFFFFF"/>
                </a:solidFill>
                <a:latin typeface="Poppins"/>
                <a:ea typeface="Poppins"/>
                <a:cs typeface="Poppins"/>
                <a:sym typeface="Poppins"/>
              </a:rPr>
              <a:t>Academic Year 2023/2024</a:t>
            </a:r>
          </a:p>
        </p:txBody>
      </p:sp>
      <p:sp>
        <p:nvSpPr>
          <p:cNvPr id="18" name="TextBox 18"/>
          <p:cNvSpPr txBox="1"/>
          <p:nvPr/>
        </p:nvSpPr>
        <p:spPr>
          <a:xfrm>
            <a:off x="1638585" y="7334015"/>
            <a:ext cx="2891575" cy="534774"/>
          </a:xfrm>
          <a:prstGeom prst="rect">
            <a:avLst/>
          </a:prstGeom>
        </p:spPr>
        <p:txBody>
          <a:bodyPr lIns="0" tIns="0" rIns="0" bIns="0" rtlCol="0" anchor="t">
            <a:spAutoFit/>
          </a:bodyPr>
          <a:lstStyle/>
          <a:p>
            <a:pPr marL="0" lvl="0" indent="0" algn="l">
              <a:lnSpc>
                <a:spcPts val="2092"/>
              </a:lnSpc>
            </a:pPr>
            <a:r>
              <a:rPr lang="en-US" sz="1835" spc="-69">
                <a:gradFill>
                  <a:gsLst>
                    <a:gs pos="0">
                      <a:srgbClr val="293E9C">
                        <a:alpha val="100000"/>
                      </a:srgbClr>
                    </a:gs>
                    <a:gs pos="100000">
                      <a:srgbClr val="3A58E4">
                        <a:alpha val="100000"/>
                      </a:srgbClr>
                    </a:gs>
                  </a:gsLst>
                  <a:path path="circle">
                    <a:fillToRect r="100000" b="100000"/>
                  </a:path>
                  <a:tileRect l="-100000" t="-100000"/>
                </a:gradFill>
                <a:latin typeface="Poppins"/>
                <a:ea typeface="Poppins"/>
                <a:cs typeface="Poppins"/>
                <a:sym typeface="Poppins"/>
              </a:rPr>
              <a:t>github.com/group5-cef440/kilbytes-app</a:t>
            </a:r>
          </a:p>
        </p:txBody>
      </p:sp>
      <p:sp>
        <p:nvSpPr>
          <p:cNvPr id="19" name="TextBox 19"/>
          <p:cNvSpPr txBox="1"/>
          <p:nvPr/>
        </p:nvSpPr>
        <p:spPr>
          <a:xfrm>
            <a:off x="1638585" y="8001598"/>
            <a:ext cx="5248389" cy="274382"/>
          </a:xfrm>
          <a:prstGeom prst="rect">
            <a:avLst/>
          </a:prstGeom>
        </p:spPr>
        <p:txBody>
          <a:bodyPr lIns="0" tIns="0" rIns="0" bIns="0" rtlCol="0" anchor="t">
            <a:spAutoFit/>
          </a:bodyPr>
          <a:lstStyle/>
          <a:p>
            <a:pPr marL="0" lvl="0" indent="0" algn="l">
              <a:lnSpc>
                <a:spcPts val="2092"/>
              </a:lnSpc>
            </a:pPr>
            <a:r>
              <a:rPr lang="en-US" sz="1835" spc="-69">
                <a:gradFill>
                  <a:gsLst>
                    <a:gs pos="0">
                      <a:srgbClr val="293E9C">
                        <a:alpha val="100000"/>
                      </a:srgbClr>
                    </a:gs>
                    <a:gs pos="100000">
                      <a:srgbClr val="3A58E4">
                        <a:alpha val="100000"/>
                      </a:srgbClr>
                    </a:gs>
                  </a:gsLst>
                  <a:path path="circle">
                    <a:fillToRect r="100000" b="100000"/>
                  </a:path>
                  <a:tileRect l="-100000" t="-100000"/>
                </a:gradFill>
                <a:latin typeface="Poppins"/>
                <a:ea typeface="Poppins"/>
                <a:cs typeface="Poppins"/>
                <a:sym typeface="Poppins"/>
              </a:rPr>
              <a:t>cef440.group5@ubuea.cm</a:t>
            </a:r>
          </a:p>
        </p:txBody>
      </p:sp>
      <p:sp>
        <p:nvSpPr>
          <p:cNvPr id="20" name="TextBox 20"/>
          <p:cNvSpPr txBox="1"/>
          <p:nvPr/>
        </p:nvSpPr>
        <p:spPr>
          <a:xfrm>
            <a:off x="1638585" y="8698724"/>
            <a:ext cx="4805157" cy="274382"/>
          </a:xfrm>
          <a:prstGeom prst="rect">
            <a:avLst/>
          </a:prstGeom>
        </p:spPr>
        <p:txBody>
          <a:bodyPr lIns="0" tIns="0" rIns="0" bIns="0" rtlCol="0" anchor="t">
            <a:spAutoFit/>
          </a:bodyPr>
          <a:lstStyle/>
          <a:p>
            <a:pPr marL="0" lvl="0" indent="0" algn="l">
              <a:lnSpc>
                <a:spcPts val="2092"/>
              </a:lnSpc>
            </a:pPr>
            <a:r>
              <a:rPr lang="en-US" sz="1835" spc="-69">
                <a:gradFill>
                  <a:gsLst>
                    <a:gs pos="0">
                      <a:srgbClr val="293E9C">
                        <a:alpha val="100000"/>
                      </a:srgbClr>
                    </a:gs>
                    <a:gs pos="100000">
                      <a:srgbClr val="3A58E4">
                        <a:alpha val="100000"/>
                      </a:srgbClr>
                    </a:gs>
                  </a:gsLst>
                  <a:path path="circle">
                    <a:fillToRect r="100000" b="100000"/>
                  </a:path>
                  <a:tileRect l="-100000" t="-100000"/>
                </a:gradFill>
                <a:latin typeface="Poppins"/>
                <a:ea typeface="Poppins"/>
                <a:cs typeface="Poppins"/>
                <a:sym typeface="Poppins"/>
              </a:rPr>
              <a:t>www.ubuea.cm/engineering/cef440</a:t>
            </a:r>
          </a:p>
        </p:txBody>
      </p:sp>
      <p:sp>
        <p:nvSpPr>
          <p:cNvPr id="21" name="TextBox 21"/>
          <p:cNvSpPr txBox="1"/>
          <p:nvPr/>
        </p:nvSpPr>
        <p:spPr>
          <a:xfrm>
            <a:off x="1028700" y="857250"/>
            <a:ext cx="6671890" cy="1460398"/>
          </a:xfrm>
          <a:prstGeom prst="rect">
            <a:avLst/>
          </a:prstGeom>
        </p:spPr>
        <p:txBody>
          <a:bodyPr lIns="0" tIns="0" rIns="0" bIns="0" rtlCol="0" anchor="t">
            <a:spAutoFit/>
          </a:bodyPr>
          <a:lstStyle/>
          <a:p>
            <a:pPr marL="0" lvl="0" indent="0" algn="l">
              <a:lnSpc>
                <a:spcPts val="11905"/>
              </a:lnSpc>
              <a:spcBef>
                <a:spcPct val="0"/>
              </a:spcBef>
            </a:pPr>
            <a:r>
              <a:rPr lang="en-US" sz="8504" b="1" spc="-544">
                <a:gradFill>
                  <a:gsLst>
                    <a:gs pos="0">
                      <a:srgbClr val="293E9C">
                        <a:alpha val="100000"/>
                      </a:srgbClr>
                    </a:gs>
                    <a:gs pos="100000">
                      <a:srgbClr val="3A58E4">
                        <a:alpha val="100000"/>
                      </a:srgbClr>
                    </a:gs>
                  </a:gsLst>
                  <a:path path="circle">
                    <a:fillToRect r="100000" b="100000"/>
                  </a:path>
                  <a:tileRect l="-100000" t="-100000"/>
                </a:gradFill>
                <a:latin typeface="Canva Sans Bold"/>
                <a:ea typeface="Canva Sans Bold"/>
                <a:cs typeface="Canva Sans Bold"/>
                <a:sym typeface="Canva Sans Bold"/>
              </a:rPr>
              <a:t>Thank You!</a:t>
            </a:r>
          </a:p>
        </p:txBody>
      </p:sp>
      <p:sp>
        <p:nvSpPr>
          <p:cNvPr id="22" name="TextBox 22"/>
          <p:cNvSpPr txBox="1"/>
          <p:nvPr/>
        </p:nvSpPr>
        <p:spPr>
          <a:xfrm>
            <a:off x="1028700" y="2316167"/>
            <a:ext cx="6671890" cy="2180870"/>
          </a:xfrm>
          <a:prstGeom prst="rect">
            <a:avLst/>
          </a:prstGeom>
        </p:spPr>
        <p:txBody>
          <a:bodyPr lIns="0" tIns="0" rIns="0" bIns="0" rtlCol="0" anchor="t">
            <a:spAutoFit/>
          </a:bodyPr>
          <a:lstStyle/>
          <a:p>
            <a:pPr marL="0" lvl="0" indent="0" algn="just">
              <a:lnSpc>
                <a:spcPts val="8339"/>
              </a:lnSpc>
            </a:pPr>
            <a:r>
              <a:rPr lang="en-US" sz="8510" spc="-544">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Questions &amp;</a:t>
            </a:r>
          </a:p>
          <a:p>
            <a:pPr marL="0" lvl="0" indent="0" algn="just">
              <a:lnSpc>
                <a:spcPts val="8339"/>
              </a:lnSpc>
            </a:pPr>
            <a:r>
              <a:rPr lang="en-US" sz="8510" spc="-544">
                <a:gradFill>
                  <a:gsLst>
                    <a:gs pos="0">
                      <a:srgbClr val="293E9C">
                        <a:alpha val="100000"/>
                      </a:srgbClr>
                    </a:gs>
                    <a:gs pos="100000">
                      <a:srgbClr val="3A58E4">
                        <a:alpha val="100000"/>
                      </a:srgbClr>
                    </a:gs>
                  </a:gsLst>
                  <a:path path="circle">
                    <a:fillToRect r="100000" b="100000"/>
                  </a:path>
                  <a:tileRect l="-100000" t="-100000"/>
                </a:gradFill>
                <a:latin typeface="Bricolage Grotesque"/>
                <a:ea typeface="Bricolage Grotesque"/>
                <a:cs typeface="Bricolage Grotesque"/>
                <a:sym typeface="Bricolage Grotesque"/>
              </a:rPr>
              <a:t>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58</TotalTime>
  <Words>2444</Words>
  <Application>Microsoft Office PowerPoint</Application>
  <PresentationFormat>Personnalisé</PresentationFormat>
  <Paragraphs>331</Paragraphs>
  <Slides>22</Slides>
  <Notes>0</Notes>
  <HiddenSlides>0</HiddenSlides>
  <MMClips>0</MMClips>
  <ScaleCrop>false</ScaleCrop>
  <HeadingPairs>
    <vt:vector size="6" baseType="variant">
      <vt:variant>
        <vt:lpstr>Polices utilisées</vt:lpstr>
      </vt:variant>
      <vt:variant>
        <vt:i4>7</vt:i4>
      </vt:variant>
      <vt:variant>
        <vt:lpstr>Thème</vt:lpstr>
      </vt:variant>
      <vt:variant>
        <vt:i4>1</vt:i4>
      </vt:variant>
      <vt:variant>
        <vt:lpstr>Titres des diapositives</vt:lpstr>
      </vt:variant>
      <vt:variant>
        <vt:i4>22</vt:i4>
      </vt:variant>
    </vt:vector>
  </HeadingPairs>
  <TitlesOfParts>
    <vt:vector size="30" baseType="lpstr">
      <vt:lpstr>Poppins</vt:lpstr>
      <vt:lpstr>Calibri</vt:lpstr>
      <vt:lpstr>Arial</vt:lpstr>
      <vt:lpstr>Poppins Bold</vt:lpstr>
      <vt:lpstr>Canva Sans Bold</vt:lpstr>
      <vt:lpstr>Bricolage Grotesque</vt:lpstr>
      <vt:lpstr>Bricolage Grotesque Bold</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Design &amp; Implementation of a UX Data App</dc:title>
  <cp:lastModifiedBy>NgoLien Lucy</cp:lastModifiedBy>
  <cp:revision>2</cp:revision>
  <dcterms:created xsi:type="dcterms:W3CDTF">2006-08-16T00:00:00Z</dcterms:created>
  <dcterms:modified xsi:type="dcterms:W3CDTF">2026-07-03T12:39:43Z</dcterms:modified>
  <dc:identifier>DAHN9_rmalk</dc:identifier>
</cp:coreProperties>
</file>